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2.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4"/>
  </p:notesMasterIdLst>
  <p:handoutMasterIdLst>
    <p:handoutMasterId r:id="rId75"/>
  </p:handoutMasterIdLst>
  <p:sldIdLst>
    <p:sldId id="1524" r:id="rId2"/>
    <p:sldId id="1424" r:id="rId3"/>
    <p:sldId id="1712" r:id="rId4"/>
    <p:sldId id="1737" r:id="rId5"/>
    <p:sldId id="1738" r:id="rId6"/>
    <p:sldId id="1723" r:id="rId7"/>
    <p:sldId id="1772" r:id="rId8"/>
    <p:sldId id="1730" r:id="rId9"/>
    <p:sldId id="1792" r:id="rId10"/>
    <p:sldId id="1791" r:id="rId11"/>
    <p:sldId id="1796" r:id="rId12"/>
    <p:sldId id="1768" r:id="rId13"/>
    <p:sldId id="1793" r:id="rId14"/>
    <p:sldId id="1794" r:id="rId15"/>
    <p:sldId id="1798" r:id="rId16"/>
    <p:sldId id="1808" r:id="rId17"/>
    <p:sldId id="1844" r:id="rId18"/>
    <p:sldId id="1845" r:id="rId19"/>
    <p:sldId id="1784" r:id="rId20"/>
    <p:sldId id="1783" r:id="rId21"/>
    <p:sldId id="1799" r:id="rId22"/>
    <p:sldId id="1853" r:id="rId23"/>
    <p:sldId id="1785" r:id="rId24"/>
    <p:sldId id="1854" r:id="rId25"/>
    <p:sldId id="1800" r:id="rId26"/>
    <p:sldId id="1752" r:id="rId27"/>
    <p:sldId id="1806" r:id="rId28"/>
    <p:sldId id="1807" r:id="rId29"/>
    <p:sldId id="1831" r:id="rId30"/>
    <p:sldId id="1802" r:id="rId31"/>
    <p:sldId id="1815" r:id="rId32"/>
    <p:sldId id="1816" r:id="rId33"/>
    <p:sldId id="1817" r:id="rId34"/>
    <p:sldId id="1855" r:id="rId35"/>
    <p:sldId id="1818" r:id="rId36"/>
    <p:sldId id="1819" r:id="rId37"/>
    <p:sldId id="1820" r:id="rId38"/>
    <p:sldId id="1821" r:id="rId39"/>
    <p:sldId id="1822" r:id="rId40"/>
    <p:sldId id="1823" r:id="rId41"/>
    <p:sldId id="1824" r:id="rId42"/>
    <p:sldId id="1757" r:id="rId43"/>
    <p:sldId id="1825" r:id="rId44"/>
    <p:sldId id="1827" r:id="rId45"/>
    <p:sldId id="1826" r:id="rId46"/>
    <p:sldId id="1828" r:id="rId47"/>
    <p:sldId id="1829" r:id="rId48"/>
    <p:sldId id="1830" r:id="rId49"/>
    <p:sldId id="1836" r:id="rId50"/>
    <p:sldId id="1839" r:id="rId51"/>
    <p:sldId id="1838" r:id="rId52"/>
    <p:sldId id="1837" r:id="rId53"/>
    <p:sldId id="1840" r:id="rId54"/>
    <p:sldId id="1832" r:id="rId55"/>
    <p:sldId id="1833" r:id="rId56"/>
    <p:sldId id="1834" r:id="rId57"/>
    <p:sldId id="1835" r:id="rId58"/>
    <p:sldId id="1841" r:id="rId59"/>
    <p:sldId id="1846" r:id="rId60"/>
    <p:sldId id="1847" r:id="rId61"/>
    <p:sldId id="1842" r:id="rId62"/>
    <p:sldId id="1848" r:id="rId63"/>
    <p:sldId id="1849" r:id="rId64"/>
    <p:sldId id="1743" r:id="rId65"/>
    <p:sldId id="1851" r:id="rId66"/>
    <p:sldId id="1850" r:id="rId67"/>
    <p:sldId id="1786" r:id="rId68"/>
    <p:sldId id="1852" r:id="rId69"/>
    <p:sldId id="1759" r:id="rId70"/>
    <p:sldId id="1403" r:id="rId71"/>
    <p:sldId id="1727" r:id="rId72"/>
    <p:sldId id="1096" r:id="rId73"/>
  </p:sldIdLst>
  <p:sldSz cx="9144000" cy="6858000" type="screen4x3"/>
  <p:notesSz cx="6858000" cy="9144000"/>
  <p:custDataLst>
    <p:tags r:id="rId7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46" userDrawn="1">
          <p15:clr>
            <a:srgbClr val="A4A3A4"/>
          </p15:clr>
        </p15:guide>
        <p15:guide id="2" orient="horz" pos="534" userDrawn="1">
          <p15:clr>
            <a:srgbClr val="A4A3A4"/>
          </p15:clr>
        </p15:guide>
        <p15:guide id="3" orient="horz" pos="2448" userDrawn="1">
          <p15:clr>
            <a:srgbClr val="A4A3A4"/>
          </p15:clr>
        </p15:guide>
        <p15:guide id="4" pos="3016" userDrawn="1">
          <p15:clr>
            <a:srgbClr val="A4A3A4"/>
          </p15:clr>
        </p15:guide>
        <p15:guide id="5" orient="horz" pos="3353" userDrawn="1">
          <p15:clr>
            <a:srgbClr val="A4A3A4"/>
          </p15:clr>
        </p15:guide>
        <p15:guide id="6" orient="horz" pos="4155">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ingfei Xiong" initials="XYF" lastIdx="4" clrIdx="0"/>
  <p:cmAuthor id="2" name="Xiong Yingfei" initials="XY" lastIdx="4" clrIdx="1"/>
  <p:cmAuthor id="3" name="Lin Dan" initials="LD" lastIdx="1" clrIdx="2"/>
  <p:cmAuthor id="4" name="马新建" initials="MXJ"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7B66"/>
    <a:srgbClr val="425686"/>
    <a:srgbClr val="435786"/>
    <a:srgbClr val="1D6295"/>
    <a:srgbClr val="DCEDF8"/>
    <a:srgbClr val="00B0F0"/>
    <a:srgbClr val="2683C6"/>
    <a:srgbClr val="3494BA"/>
    <a:srgbClr val="8995B4"/>
    <a:srgbClr val="5566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7" autoAdjust="0"/>
    <p:restoredTop sz="90435" autoAdjust="0"/>
  </p:normalViewPr>
  <p:slideViewPr>
    <p:cSldViewPr snapToGrid="0" showGuides="1">
      <p:cViewPr varScale="1">
        <p:scale>
          <a:sx n="86" d="100"/>
          <a:sy n="86" d="100"/>
        </p:scale>
        <p:origin x="1003" y="67"/>
      </p:cViewPr>
      <p:guideLst>
        <p:guide pos="246"/>
        <p:guide orient="horz" pos="534"/>
        <p:guide orient="horz" pos="2448"/>
        <p:guide pos="3016"/>
        <p:guide orient="horz" pos="3353"/>
        <p:guide orient="horz" pos="4155"/>
      </p:guideLst>
    </p:cSldViewPr>
  </p:slideViewPr>
  <p:outlineViewPr>
    <p:cViewPr>
      <p:scale>
        <a:sx n="33" d="100"/>
        <a:sy n="33" d="100"/>
      </p:scale>
      <p:origin x="0" y="-2165"/>
    </p:cViewPr>
  </p:outlineViewPr>
  <p:notesTextViewPr>
    <p:cViewPr>
      <p:scale>
        <a:sx n="3" d="2"/>
        <a:sy n="3" d="2"/>
      </p:scale>
      <p:origin x="0" y="0"/>
    </p:cViewPr>
  </p:notesTextViewPr>
  <p:notesViewPr>
    <p:cSldViewPr snapToGrid="0">
      <p:cViewPr>
        <p:scale>
          <a:sx n="1" d="2"/>
          <a:sy n="1" d="2"/>
        </p:scale>
        <p:origin x="4632" y="105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638F6E-4B10-4B91-8527-6BAFACE0BA68}" type="datetimeFigureOut">
              <a:rPr lang="zh-CN" altLang="en-US" smtClean="0"/>
              <a:t>2026/4/15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DC2B1A-5AC6-4BCD-852B-214D0DBECA42}"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D59E9-F9F7-444D-AD93-0A743657E348}" type="datetimeFigureOut">
              <a:rPr lang="zh-CN" altLang="en-US" smtClean="0"/>
              <a:t>2026/4/15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06D897-732D-47AF-9EB7-7243815B9D82}" type="slidenum">
              <a:rPr lang="zh-CN" altLang="en-US" smtClean="0"/>
              <a:t>‹#›</a:t>
            </a:fld>
            <a:endParaRPr lang="zh-CN" altLang="en-US"/>
          </a:p>
        </p:txBody>
      </p:sp>
    </p:spTree>
    <p:extLst>
      <p:ext uri="{BB962C8B-B14F-4D97-AF65-F5344CB8AC3E}">
        <p14:creationId xmlns:p14="http://schemas.microsoft.com/office/powerpoint/2010/main" val="42405480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D06D897-732D-47AF-9EB7-7243815B9D82}" type="slidenum">
              <a:rPr lang="zh-CN" altLang="en-US" smtClean="0">
                <a:solidFill>
                  <a:prstClr val="black"/>
                </a:solidFill>
              </a:rPr>
              <a:t>3</a:t>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1" dirty="0">
              <a:solidFill>
                <a:schemeClr val="tx1"/>
              </a:solidFill>
              <a:latin typeface="微软雅黑" panose="020B0503020204020204" charset="-122"/>
              <a:ea typeface="微软雅黑" panose="020B050302020402020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6D06D897-732D-47AF-9EB7-7243815B9D82}" type="slidenum">
              <a:rPr lang="zh-CN" altLang="en-US" smtClean="0">
                <a:solidFill>
                  <a:prstClr val="black"/>
                </a:solidFill>
              </a:rPr>
              <a:t>4</a:t>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solidFill>
                  <a:prstClr val="black"/>
                </a:solidFill>
              </a:rPr>
              <a:t>5</a:t>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D06D897-732D-47AF-9EB7-7243815B9D82}"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20000"/>
              </a:spcBef>
              <a:buClr>
                <a:srgbClr val="FF3300"/>
              </a:buClr>
              <a:buSzPct val="70000"/>
              <a:defRPr/>
            </a:pPr>
            <a:r>
              <a:rPr lang="zh-CN" altLang="en-US" sz="1200" kern="1200" dirty="0">
                <a:solidFill>
                  <a:schemeClr val="tx1"/>
                </a:solidFill>
                <a:effectLst/>
                <a:latin typeface="+mn-lt"/>
                <a:ea typeface="+mn-ea"/>
                <a:cs typeface="+mn-cs"/>
              </a:rPr>
              <a:t>应运而生</a:t>
            </a:r>
          </a:p>
        </p:txBody>
      </p:sp>
      <p:sp>
        <p:nvSpPr>
          <p:cNvPr id="4" name="灯片编号占位符 3"/>
          <p:cNvSpPr>
            <a:spLocks noGrp="1"/>
          </p:cNvSpPr>
          <p:nvPr>
            <p:ph type="sldNum" sz="quarter" idx="10"/>
          </p:nvPr>
        </p:nvSpPr>
        <p:spPr/>
        <p:txBody>
          <a:bodyPr/>
          <a:lstStyle/>
          <a:p>
            <a:fld id="{6D06D897-732D-47AF-9EB7-7243815B9D82}" type="slidenum">
              <a:rPr lang="zh-CN" altLang="en-US" smtClean="0">
                <a:solidFill>
                  <a:prstClr val="black"/>
                </a:solidFill>
              </a:rPr>
              <a:t>10</a:t>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20000"/>
              </a:spcBef>
              <a:buClr>
                <a:srgbClr val="FF3300"/>
              </a:buClr>
              <a:buSzPct val="70000"/>
              <a:defRPr/>
            </a:pPr>
            <a:r>
              <a:rPr lang="zh-CN" altLang="en-US" sz="1200" kern="1200" dirty="0">
                <a:solidFill>
                  <a:schemeClr val="tx1"/>
                </a:solidFill>
                <a:effectLst/>
                <a:latin typeface="+mn-lt"/>
                <a:ea typeface="+mn-ea"/>
                <a:cs typeface="+mn-cs"/>
              </a:rPr>
              <a:t>应运而生</a:t>
            </a:r>
          </a:p>
        </p:txBody>
      </p:sp>
      <p:sp>
        <p:nvSpPr>
          <p:cNvPr id="4" name="灯片编号占位符 3"/>
          <p:cNvSpPr>
            <a:spLocks noGrp="1"/>
          </p:cNvSpPr>
          <p:nvPr>
            <p:ph type="sldNum" sz="quarter" idx="10"/>
          </p:nvPr>
        </p:nvSpPr>
        <p:spPr/>
        <p:txBody>
          <a:bodyPr/>
          <a:lstStyle/>
          <a:p>
            <a:fld id="{6D06D897-732D-47AF-9EB7-7243815B9D82}" type="slidenum">
              <a:rPr lang="zh-CN" altLang="en-US" smtClean="0">
                <a:solidFill>
                  <a:prstClr val="black"/>
                </a:solidFill>
              </a:rPr>
              <a:t>11</a:t>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42</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43</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44</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45</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46</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47</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48</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49</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50</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51</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52</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53</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54</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55</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56</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57</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58</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59</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60</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61</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62</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63</a:t>
            </a:fld>
            <a:endParaRPr lang="zh-CN" altLang="en-US"/>
          </a:p>
        </p:txBody>
      </p:sp>
    </p:spTree>
    <p:extLst>
      <p:ext uri="{BB962C8B-B14F-4D97-AF65-F5344CB8AC3E}">
        <p14:creationId xmlns:p14="http://schemas.microsoft.com/office/powerpoint/2010/main" val="30258177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t>67</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t>68</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t>69</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6D06D897-732D-47AF-9EB7-7243815B9D82}" type="slidenum">
              <a:rPr lang="zh-CN" altLang="en-US" smtClean="0"/>
              <a:t>70</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06D897-732D-47AF-9EB7-7243815B9D82}" type="slidenum">
              <a:rPr lang="zh-CN" altLang="en-US" smtClean="0"/>
              <a:t>72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zh-CN" altLang="en-US" dirty="0"/>
              <a:t>单击此处编辑母版标题样式</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6" name="Slide Number Placeholder 5"/>
          <p:cNvSpPr>
            <a:spLocks noGrp="1"/>
          </p:cNvSpPr>
          <p:nvPr>
            <p:ph type="sldNum" sz="quarter" idx="12"/>
          </p:nvPr>
        </p:nvSpPr>
        <p:spPr>
          <a:xfrm>
            <a:off x="3505200" y="6356350"/>
            <a:ext cx="2133600" cy="365125"/>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a:lvl1pPr>
          </a:lstStyle>
          <a:p>
            <a:pPr algn="ctr"/>
            <a:r>
              <a:rPr lang="zh-CN" altLang="en-US"/>
              <a:t>第</a:t>
            </a:r>
            <a:fld id="{FC71CE55-8878-4A50-8D41-21E9EEAD78EC}" type="slidenum">
              <a:rPr lang="en-US" altLang="zh-CN" smtClean="0"/>
              <a:t>‹#›</a:t>
            </a:fld>
            <a:r>
              <a:rPr lang="zh-CN" altLang="en-US"/>
              <a:t>页</a:t>
            </a: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CE482DC-2269-4F26-9D2A-7E44B1A4CD85}" type="slidenum">
              <a:rPr lang="en-US" smtClean="0"/>
              <a:t>‹#›</a:t>
            </a:fld>
            <a:endParaRPr lang="en-US"/>
          </a:p>
        </p:txBody>
      </p:sp>
      <p:sp>
        <p:nvSpPr>
          <p:cNvPr id="4"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dirty="0"/>
              <a:t>单击此处编辑母版标题样式</a:t>
            </a:r>
            <a:endParaRPr lang="en-US" dirty="0"/>
          </a:p>
        </p:txBody>
      </p:sp>
      <p:grpSp>
        <p:nvGrpSpPr>
          <p:cNvPr id="11" name="组 31"/>
          <p:cNvGrpSpPr/>
          <p:nvPr userDrawn="1"/>
        </p:nvGrpSpPr>
        <p:grpSpPr>
          <a:xfrm>
            <a:off x="-1" y="-36805"/>
            <a:ext cx="739220" cy="774314"/>
            <a:chOff x="-1" y="-36805"/>
            <a:chExt cx="739220" cy="774314"/>
          </a:xfrm>
        </p:grpSpPr>
        <p:sp>
          <p:nvSpPr>
            <p:cNvPr id="12" name="任意形状 32"/>
            <p:cNvSpPr/>
            <p:nvPr/>
          </p:nvSpPr>
          <p:spPr>
            <a:xfrm rot="10800000">
              <a:off x="-1" y="-36805"/>
              <a:ext cx="573438" cy="619932"/>
            </a:xfrm>
            <a:custGeom>
              <a:avLst/>
              <a:gdLst>
                <a:gd name="connsiteX0" fmla="*/ 573438 w 573438"/>
                <a:gd name="connsiteY0" fmla="*/ 619932 h 619932"/>
                <a:gd name="connsiteX1" fmla="*/ 0 w 573438"/>
                <a:gd name="connsiteY1" fmla="*/ 619932 h 619932"/>
                <a:gd name="connsiteX2" fmla="*/ 426204 w 573438"/>
                <a:gd name="connsiteY2" fmla="*/ 0 h 619932"/>
                <a:gd name="connsiteX3" fmla="*/ 573438 w 573438"/>
                <a:gd name="connsiteY3" fmla="*/ 214159 h 619932"/>
              </a:gdLst>
              <a:ahLst/>
              <a:cxnLst>
                <a:cxn ang="0">
                  <a:pos x="connsiteX0" y="connsiteY0"/>
                </a:cxn>
                <a:cxn ang="0">
                  <a:pos x="connsiteX1" y="connsiteY1"/>
                </a:cxn>
                <a:cxn ang="0">
                  <a:pos x="connsiteX2" y="connsiteY2"/>
                </a:cxn>
                <a:cxn ang="0">
                  <a:pos x="connsiteX3" y="connsiteY3"/>
                </a:cxn>
              </a:cxnLst>
              <a:rect l="l" t="t" r="r" b="b"/>
              <a:pathLst>
                <a:path w="573438" h="619932">
                  <a:moveTo>
                    <a:pt x="573438" y="619932"/>
                  </a:moveTo>
                  <a:lnTo>
                    <a:pt x="0" y="619932"/>
                  </a:lnTo>
                  <a:lnTo>
                    <a:pt x="426204" y="0"/>
                  </a:lnTo>
                  <a:lnTo>
                    <a:pt x="573438" y="214159"/>
                  </a:lnTo>
                  <a:close/>
                </a:path>
              </a:pathLst>
            </a:custGeom>
            <a:solidFill>
              <a:srgbClr val="435786">
                <a:alpha val="9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三角形 33"/>
            <p:cNvSpPr/>
            <p:nvPr/>
          </p:nvSpPr>
          <p:spPr>
            <a:xfrm rot="10800000">
              <a:off x="100740" y="273161"/>
              <a:ext cx="638479" cy="464348"/>
            </a:xfrm>
            <a:prstGeom prst="triangle">
              <a:avLst/>
            </a:prstGeom>
            <a:solidFill>
              <a:srgbClr val="435786">
                <a:alpha val="6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cxnSp>
        <p:nvCxnSpPr>
          <p:cNvPr id="8" name="直线连接符 30"/>
          <p:cNvCxnSpPr/>
          <p:nvPr userDrawn="1"/>
        </p:nvCxnSpPr>
        <p:spPr>
          <a:xfrm>
            <a:off x="848421" y="799502"/>
            <a:ext cx="8295579" cy="0"/>
          </a:xfrm>
          <a:prstGeom prst="line">
            <a:avLst/>
          </a:prstGeom>
          <a:ln w="12700">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
        <p:nvSpPr>
          <p:cNvPr id="7" name="Title Placeholder 1"/>
          <p:cNvSpPr txBox="1"/>
          <p:nvPr userDrawn="1"/>
        </p:nvSpPr>
        <p:spPr>
          <a:xfrm>
            <a:off x="848421" y="202089"/>
            <a:ext cx="4572000" cy="464296"/>
          </a:xfrm>
          <a:prstGeom prst="rect">
            <a:avLst/>
          </a:prstGeom>
          <a:effectLst/>
        </p:spPr>
        <p:txBody>
          <a:bodyPr vert="horz" lIns="91440" tIns="45720" rIns="91440" bIns="45720" rtlCol="0" anchor="ctr">
            <a:normAutofit fontScale="92500" lnSpcReduction="10000"/>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a:t>单击此处编辑母版标题样式</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7"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
        <p:nvSpPr>
          <p:cNvPr id="8"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3"/>
          <p:cNvSpPr>
            <a:spLocks noGrp="1"/>
          </p:cNvSpPr>
          <p:nvPr>
            <p:ph type="dt" sz="half" idx="10"/>
          </p:nvPr>
        </p:nvSpPr>
        <p:spPr>
          <a:xfrm>
            <a:off x="6308725" y="5235575"/>
            <a:ext cx="2133600" cy="365125"/>
          </a:xfrm>
          <a:prstGeom prst="rect">
            <a:avLst/>
          </a:prstGeom>
        </p:spPr>
        <p:txBody>
          <a:bodyPr/>
          <a:lstStyle>
            <a:lvl1pPr>
              <a:defRPr/>
            </a:lvl1pPr>
          </a:lstStyle>
          <a:p>
            <a:fld id="{96DFF08F-DC6B-4601-B491-B0F83F6DD2DA}" type="datetimeFigureOut">
              <a:rPr lang="en-US" smtClean="0"/>
              <a:t>4/15/2026</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9"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
        <p:nvSpPr>
          <p:cNvPr id="10"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a:t>单击此处编辑母版标题样式</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5"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
        <p:nvSpPr>
          <p:cNvPr id="6"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a:t>单击此处编辑母版标题样式</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308725" y="5235575"/>
            <a:ext cx="2133600" cy="365125"/>
          </a:xfrm>
          <a:prstGeom prst="rect">
            <a:avLst/>
          </a:prstGeom>
        </p:spPr>
        <p:txBody>
          <a:bodyPr/>
          <a:lstStyle>
            <a:lvl1pPr>
              <a:defRPr/>
            </a:lvl1pPr>
          </a:lstStyle>
          <a:p>
            <a:fld id="{96DFF08F-DC6B-4601-B491-B0F83F6DD2DA}" type="datetimeFigureOut">
              <a:rPr lang="en-US" smtClean="0"/>
              <a:t>4/15/2026</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4"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7"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p:cNvSpPr>
            <a:spLocks noGrp="1"/>
          </p:cNvSpPr>
          <p:nvPr>
            <p:ph type="dt" sz="half" idx="10"/>
          </p:nvPr>
        </p:nvSpPr>
        <p:spPr>
          <a:xfrm>
            <a:off x="6308725" y="5235575"/>
            <a:ext cx="2133600" cy="365125"/>
          </a:xfrm>
          <a:prstGeom prst="rect">
            <a:avLst/>
          </a:prstGeom>
        </p:spPr>
        <p:txBody>
          <a:bodyPr/>
          <a:lstStyle>
            <a:lvl1pPr>
              <a:defRPr/>
            </a:lvl1pPr>
          </a:lstStyle>
          <a:p>
            <a:fld id="{96DFF08F-DC6B-4601-B491-B0F83F6DD2DA}" type="datetimeFigureOut">
              <a:rPr lang="en-US" smtClean="0"/>
              <a:t>4/15/2026</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7"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0" y="115032"/>
            <a:ext cx="9144000" cy="1143000"/>
          </a:xfrm>
          <a:prstGeom prst="rect">
            <a:avLst/>
          </a:prstGeom>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cSld>
  <p:clrMapOvr>
    <a:masterClrMapping/>
  </p:clrMapOvr>
  <p:transition spd="slow" advTm="3000">
    <p:comb/>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solidFill>
                <a:prstClr val="black"/>
              </a:solidFill>
            </a:endParaRPr>
          </a:p>
        </p:txBody>
      </p:sp>
      <p:sp>
        <p:nvSpPr>
          <p:cNvPr id="6"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CE482DC-2269-4F26-9D2A-7E44B1A4CD85}" type="slidenum">
              <a:rPr lang="en-US" smtClean="0">
                <a:solidFill>
                  <a:prstClr val="black"/>
                </a:solidFill>
              </a:rPr>
              <a:t>‹#›</a:t>
            </a:fld>
            <a:endParaRPr lang="en-US">
              <a:solidFill>
                <a:prstClr val="black"/>
              </a:solidFill>
            </a:endParaRPr>
          </a:p>
        </p:txBody>
      </p:sp>
      <p:sp>
        <p:nvSpPr>
          <p:cNvPr id="4"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a:t>单击此处编辑母版标题样式</a:t>
            </a:r>
            <a:endParaRPr lang="en-US"/>
          </a:p>
        </p:txBody>
      </p:sp>
      <p:grpSp>
        <p:nvGrpSpPr>
          <p:cNvPr id="11" name="组 31"/>
          <p:cNvGrpSpPr/>
          <p:nvPr userDrawn="1"/>
        </p:nvGrpSpPr>
        <p:grpSpPr>
          <a:xfrm>
            <a:off x="-1" y="-36805"/>
            <a:ext cx="739220" cy="774314"/>
            <a:chOff x="-1" y="-36805"/>
            <a:chExt cx="739220" cy="774314"/>
          </a:xfrm>
        </p:grpSpPr>
        <p:sp>
          <p:nvSpPr>
            <p:cNvPr id="12" name="任意形状 32"/>
            <p:cNvSpPr/>
            <p:nvPr/>
          </p:nvSpPr>
          <p:spPr>
            <a:xfrm rot="10800000">
              <a:off x="-1" y="-36805"/>
              <a:ext cx="573438" cy="619932"/>
            </a:xfrm>
            <a:custGeom>
              <a:avLst/>
              <a:gdLst>
                <a:gd name="connsiteX0" fmla="*/ 573438 w 573438"/>
                <a:gd name="connsiteY0" fmla="*/ 619932 h 619932"/>
                <a:gd name="connsiteX1" fmla="*/ 0 w 573438"/>
                <a:gd name="connsiteY1" fmla="*/ 619932 h 619932"/>
                <a:gd name="connsiteX2" fmla="*/ 426204 w 573438"/>
                <a:gd name="connsiteY2" fmla="*/ 0 h 619932"/>
                <a:gd name="connsiteX3" fmla="*/ 573438 w 573438"/>
                <a:gd name="connsiteY3" fmla="*/ 214159 h 619932"/>
              </a:gdLst>
              <a:ahLst/>
              <a:cxnLst>
                <a:cxn ang="0">
                  <a:pos x="connsiteX0" y="connsiteY0"/>
                </a:cxn>
                <a:cxn ang="0">
                  <a:pos x="connsiteX1" y="connsiteY1"/>
                </a:cxn>
                <a:cxn ang="0">
                  <a:pos x="connsiteX2" y="connsiteY2"/>
                </a:cxn>
                <a:cxn ang="0">
                  <a:pos x="connsiteX3" y="connsiteY3"/>
                </a:cxn>
              </a:cxnLst>
              <a:rect l="l" t="t" r="r" b="b"/>
              <a:pathLst>
                <a:path w="573438" h="619932">
                  <a:moveTo>
                    <a:pt x="573438" y="619932"/>
                  </a:moveTo>
                  <a:lnTo>
                    <a:pt x="0" y="619932"/>
                  </a:lnTo>
                  <a:lnTo>
                    <a:pt x="426204" y="0"/>
                  </a:lnTo>
                  <a:lnTo>
                    <a:pt x="573438" y="214159"/>
                  </a:lnTo>
                  <a:close/>
                </a:path>
              </a:pathLst>
            </a:custGeom>
            <a:solidFill>
              <a:srgbClr val="435786">
                <a:alpha val="9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solidFill>
                  <a:prstClr val="white"/>
                </a:solidFill>
              </a:endParaRPr>
            </a:p>
          </p:txBody>
        </p:sp>
        <p:sp>
          <p:nvSpPr>
            <p:cNvPr id="13" name="三角形 33"/>
            <p:cNvSpPr/>
            <p:nvPr/>
          </p:nvSpPr>
          <p:spPr>
            <a:xfrm rot="10800000">
              <a:off x="100740" y="273161"/>
              <a:ext cx="638479" cy="464348"/>
            </a:xfrm>
            <a:prstGeom prst="triangle">
              <a:avLst/>
            </a:prstGeom>
            <a:solidFill>
              <a:srgbClr val="435786">
                <a:alpha val="6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solidFill>
                  <a:prstClr val="white"/>
                </a:solidFill>
              </a:endParaRPr>
            </a:p>
          </p:txBody>
        </p:sp>
      </p:grpSp>
      <p:cxnSp>
        <p:nvCxnSpPr>
          <p:cNvPr id="8" name="直线连接符 30"/>
          <p:cNvCxnSpPr/>
          <p:nvPr userDrawn="1"/>
        </p:nvCxnSpPr>
        <p:spPr>
          <a:xfrm>
            <a:off x="848421" y="799502"/>
            <a:ext cx="8295579" cy="0"/>
          </a:xfrm>
          <a:prstGeom prst="line">
            <a:avLst/>
          </a:prstGeom>
          <a:ln w="12700">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solidFill>
                <a:prstClr val="black"/>
              </a:solidFill>
            </a:endParaRPr>
          </a:p>
        </p:txBody>
      </p:sp>
      <p:sp>
        <p:nvSpPr>
          <p:cNvPr id="7"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solidFill>
                  <a:prstClr val="black"/>
                </a:solidFill>
              </a:rPr>
              <a:t>‹#›</a:t>
            </a:fld>
            <a:endParaRPr lang="en-US">
              <a:solidFill>
                <a:prstClr val="black"/>
              </a:solidFill>
            </a:endParaRPr>
          </a:p>
        </p:txBody>
      </p:sp>
      <p:sp>
        <p:nvSpPr>
          <p:cNvPr id="8"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a:t>单击此处编辑母版标题样式</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3"/>
          <p:cNvSpPr>
            <a:spLocks noGrp="1"/>
          </p:cNvSpPr>
          <p:nvPr>
            <p:ph type="dt" sz="half" idx="10"/>
          </p:nvPr>
        </p:nvSpPr>
        <p:spPr>
          <a:xfrm>
            <a:off x="6308725" y="5235575"/>
            <a:ext cx="2133600" cy="365125"/>
          </a:xfrm>
          <a:prstGeom prst="rect">
            <a:avLst/>
          </a:prstGeom>
        </p:spPr>
        <p:txBody>
          <a:bodyPr/>
          <a:lstStyle>
            <a:lvl1pPr>
              <a:defRPr/>
            </a:lvl1pPr>
          </a:lstStyle>
          <a:p>
            <a:fld id="{96DFF08F-DC6B-4601-B491-B0F83F6DD2DA}" type="datetimeFigureOut">
              <a:rPr lang="en-US" smtClean="0">
                <a:solidFill>
                  <a:prstClr val="black"/>
                </a:solidFill>
              </a:rPr>
              <a:t>4/15/2026</a:t>
            </a:fld>
            <a:endParaRPr lang="en-US">
              <a:solidFill>
                <a:prstClr val="black"/>
              </a:solidFill>
            </a:endParaRPr>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solidFill>
                <a:prstClr val="black"/>
              </a:solidFill>
            </a:endParaRPr>
          </a:p>
        </p:txBody>
      </p:sp>
      <p:sp>
        <p:nvSpPr>
          <p:cNvPr id="9"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solidFill>
                  <a:prstClr val="black"/>
                </a:solidFill>
              </a:rPr>
              <a:t>‹#›</a:t>
            </a:fld>
            <a:endParaRPr lang="en-US">
              <a:solidFill>
                <a:prstClr val="black"/>
              </a:solidFill>
            </a:endParaRPr>
          </a:p>
        </p:txBody>
      </p:sp>
      <p:sp>
        <p:nvSpPr>
          <p:cNvPr id="10"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a:t>单击此处编辑母版标题样式</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endParaRPr lang="en-US">
              <a:solidFill>
                <a:prstClr val="black"/>
              </a:solidFill>
            </a:endParaRPr>
          </a:p>
        </p:txBody>
      </p:sp>
      <p:sp>
        <p:nvSpPr>
          <p:cNvPr id="5" name="Slide Number Placeholder 5"/>
          <p:cNvSpPr>
            <a:spLocks noGrp="1"/>
          </p:cNvSpPr>
          <p:nvPr>
            <p:ph type="sldNum" sz="quarter" idx="12"/>
          </p:nvPr>
        </p:nvSpPr>
        <p:spPr>
          <a:xfrm>
            <a:off x="3505200" y="6356350"/>
            <a:ext cx="2133600" cy="365125"/>
          </a:xfrm>
          <a:prstGeom prst="rect">
            <a:avLst/>
          </a:prstGeom>
        </p:spPr>
        <p:txBody>
          <a:bodyPr/>
          <a:lstStyle>
            <a:lvl1pPr>
              <a:defRPr/>
            </a:lvl1pPr>
          </a:lstStyle>
          <a:p>
            <a:fld id="{4FAB73BC-B049-4115-A692-8D63A059BFB8}" type="slidenum">
              <a:rPr lang="en-US" smtClean="0">
                <a:solidFill>
                  <a:prstClr val="black"/>
                </a:solidFill>
              </a:rPr>
              <a:t>‹#›</a:t>
            </a:fld>
            <a:endParaRPr lang="en-US">
              <a:solidFill>
                <a:prstClr val="black"/>
              </a:solidFill>
            </a:endParaRPr>
          </a:p>
        </p:txBody>
      </p:sp>
      <p:sp>
        <p:nvSpPr>
          <p:cNvPr id="6"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a:t>单击此处编辑母版标题样式</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cSld>
  <p:clrMapOvr>
    <a:masterClrMapping/>
  </p:clrMapOvr>
  <p:transition spd="slow" advTm="3000">
    <p:comb/>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29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3468" y="1449859"/>
            <a:ext cx="9000531" cy="4676304"/>
          </a:xfrm>
          <a:prstGeom prst="rect">
            <a:avLst/>
          </a:prstGeom>
          <a:effectLst/>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2" name="Title Placeholder 1"/>
          <p:cNvSpPr>
            <a:spLocks noGrp="1"/>
          </p:cNvSpPr>
          <p:nvPr>
            <p:ph type="title"/>
          </p:nvPr>
        </p:nvSpPr>
        <p:spPr>
          <a:xfrm>
            <a:off x="848421" y="202089"/>
            <a:ext cx="4572000" cy="464296"/>
          </a:xfrm>
          <a:prstGeom prst="rect">
            <a:avLst/>
          </a:prstGeom>
          <a:effectLst/>
        </p:spPr>
        <p:txBody>
          <a:bodyPr vert="horz" lIns="91440" tIns="45720" rIns="91440" bIns="45720" rtlCol="0" anchor="ctr">
            <a:normAutofit/>
          </a:bodyPr>
          <a:lstStyle/>
          <a:p>
            <a:r>
              <a:rPr lang="zh-CN" altLang="en-US" dirty="0"/>
              <a:t>单击此处编辑母版标题样式</a:t>
            </a:r>
            <a:endParaRPr lang="en-US" dirty="0"/>
          </a:p>
        </p:txBody>
      </p:sp>
      <p:sp>
        <p:nvSpPr>
          <p:cNvPr id="8" name="文本框 7"/>
          <p:cNvSpPr txBox="1"/>
          <p:nvPr userDrawn="1"/>
        </p:nvSpPr>
        <p:spPr>
          <a:xfrm>
            <a:off x="7643448" y="6500447"/>
            <a:ext cx="1458098" cy="307777"/>
          </a:xfrm>
          <a:prstGeom prst="rect">
            <a:avLst/>
          </a:prstGeom>
          <a:noFill/>
        </p:spPr>
        <p:txBody>
          <a:bodyPr wrap="square" rtlCol="0">
            <a:spAutoFit/>
          </a:bodyPr>
          <a:lstStyle/>
          <a:p>
            <a:pPr algn="r"/>
            <a:fld id="{0E9657D2-7FBB-4393-B78F-739CC7EF067F}" type="slidenum">
              <a:rPr lang="zh-CN" altLang="en-US" sz="1400" smtClean="0">
                <a:solidFill>
                  <a:schemeClr val="tx1"/>
                </a:solidFill>
                <a:latin typeface="黑体" panose="02010609060101010101" pitchFamily="49" charset="-122"/>
                <a:ea typeface="黑体" panose="02010609060101010101" pitchFamily="49" charset="-122"/>
              </a:rPr>
              <a:t>‹#›</a:t>
            </a:fld>
            <a:endParaRPr lang="zh-CN" altLang="en-US" sz="1100">
              <a:solidFill>
                <a:schemeClr val="tx1"/>
              </a:solidFill>
              <a:latin typeface="黑体" panose="02010609060101010101" pitchFamily="49" charset="-122"/>
              <a:ea typeface="黑体" panose="02010609060101010101" pitchFamily="49"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6" Type="http://schemas.openxmlformats.org/officeDocument/2006/relationships/tags" Target="../tags/tag28.xml"/><Relationship Id="rId21" Type="http://schemas.openxmlformats.org/officeDocument/2006/relationships/tags" Target="../tags/tag23.xml"/><Relationship Id="rId34" Type="http://schemas.openxmlformats.org/officeDocument/2006/relationships/tags" Target="../tags/tag36.xml"/><Relationship Id="rId42" Type="http://schemas.openxmlformats.org/officeDocument/2006/relationships/tags" Target="../tags/tag44.xml"/><Relationship Id="rId47" Type="http://schemas.openxmlformats.org/officeDocument/2006/relationships/tags" Target="../tags/tag49.xml"/><Relationship Id="rId50" Type="http://schemas.openxmlformats.org/officeDocument/2006/relationships/tags" Target="../tags/tag52.xml"/><Relationship Id="rId55" Type="http://schemas.openxmlformats.org/officeDocument/2006/relationships/tags" Target="../tags/tag57.xml"/><Relationship Id="rId63" Type="http://schemas.openxmlformats.org/officeDocument/2006/relationships/image" Target="../media/image8.png"/><Relationship Id="rId7" Type="http://schemas.openxmlformats.org/officeDocument/2006/relationships/tags" Target="../tags/tag9.xml"/><Relationship Id="rId2" Type="http://schemas.openxmlformats.org/officeDocument/2006/relationships/tags" Target="../tags/tag4.xml"/><Relationship Id="rId16" Type="http://schemas.openxmlformats.org/officeDocument/2006/relationships/tags" Target="../tags/tag18.xml"/><Relationship Id="rId29" Type="http://schemas.openxmlformats.org/officeDocument/2006/relationships/tags" Target="../tags/tag31.xml"/><Relationship Id="rId11" Type="http://schemas.openxmlformats.org/officeDocument/2006/relationships/tags" Target="../tags/tag13.xml"/><Relationship Id="rId24" Type="http://schemas.openxmlformats.org/officeDocument/2006/relationships/tags" Target="../tags/tag26.xml"/><Relationship Id="rId32" Type="http://schemas.openxmlformats.org/officeDocument/2006/relationships/tags" Target="../tags/tag34.xml"/><Relationship Id="rId37" Type="http://schemas.openxmlformats.org/officeDocument/2006/relationships/tags" Target="../tags/tag39.xml"/><Relationship Id="rId40" Type="http://schemas.openxmlformats.org/officeDocument/2006/relationships/tags" Target="../tags/tag42.xml"/><Relationship Id="rId45" Type="http://schemas.openxmlformats.org/officeDocument/2006/relationships/tags" Target="../tags/tag47.xml"/><Relationship Id="rId53" Type="http://schemas.openxmlformats.org/officeDocument/2006/relationships/tags" Target="../tags/tag55.xml"/><Relationship Id="rId58" Type="http://schemas.openxmlformats.org/officeDocument/2006/relationships/tags" Target="../tags/tag60.xml"/><Relationship Id="rId66" Type="http://schemas.openxmlformats.org/officeDocument/2006/relationships/image" Target="../media/image11.png"/><Relationship Id="rId5" Type="http://schemas.openxmlformats.org/officeDocument/2006/relationships/tags" Target="../tags/tag7.xml"/><Relationship Id="rId61" Type="http://schemas.openxmlformats.org/officeDocument/2006/relationships/slideLayout" Target="../slideLayouts/slideLayout2.xml"/><Relationship Id="rId19" Type="http://schemas.openxmlformats.org/officeDocument/2006/relationships/tags" Target="../tags/tag2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tags" Target="../tags/tag32.xml"/><Relationship Id="rId35" Type="http://schemas.openxmlformats.org/officeDocument/2006/relationships/tags" Target="../tags/tag37.xml"/><Relationship Id="rId43" Type="http://schemas.openxmlformats.org/officeDocument/2006/relationships/tags" Target="../tags/tag45.xml"/><Relationship Id="rId48" Type="http://schemas.openxmlformats.org/officeDocument/2006/relationships/tags" Target="../tags/tag50.xml"/><Relationship Id="rId56" Type="http://schemas.openxmlformats.org/officeDocument/2006/relationships/tags" Target="../tags/tag58.xml"/><Relationship Id="rId64" Type="http://schemas.openxmlformats.org/officeDocument/2006/relationships/image" Target="../media/image9.png"/><Relationship Id="rId8" Type="http://schemas.openxmlformats.org/officeDocument/2006/relationships/tags" Target="../tags/tag10.xml"/><Relationship Id="rId51" Type="http://schemas.openxmlformats.org/officeDocument/2006/relationships/tags" Target="../tags/tag53.xml"/><Relationship Id="rId3" Type="http://schemas.openxmlformats.org/officeDocument/2006/relationships/tags" Target="../tags/tag5.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33" Type="http://schemas.openxmlformats.org/officeDocument/2006/relationships/tags" Target="../tags/tag35.xml"/><Relationship Id="rId38" Type="http://schemas.openxmlformats.org/officeDocument/2006/relationships/tags" Target="../tags/tag40.xml"/><Relationship Id="rId46" Type="http://schemas.openxmlformats.org/officeDocument/2006/relationships/tags" Target="../tags/tag48.xml"/><Relationship Id="rId59" Type="http://schemas.openxmlformats.org/officeDocument/2006/relationships/tags" Target="../tags/tag61.xml"/><Relationship Id="rId20" Type="http://schemas.openxmlformats.org/officeDocument/2006/relationships/tags" Target="../tags/tag22.xml"/><Relationship Id="rId41" Type="http://schemas.openxmlformats.org/officeDocument/2006/relationships/tags" Target="../tags/tag43.xml"/><Relationship Id="rId54" Type="http://schemas.openxmlformats.org/officeDocument/2006/relationships/tags" Target="../tags/tag56.xml"/><Relationship Id="rId62" Type="http://schemas.openxmlformats.org/officeDocument/2006/relationships/notesSlide" Target="../notesSlides/notesSlide12.xml"/><Relationship Id="rId1" Type="http://schemas.openxmlformats.org/officeDocument/2006/relationships/tags" Target="../tags/tag3.xml"/><Relationship Id="rId6" Type="http://schemas.openxmlformats.org/officeDocument/2006/relationships/tags" Target="../tags/tag8.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36" Type="http://schemas.openxmlformats.org/officeDocument/2006/relationships/tags" Target="../tags/tag38.xml"/><Relationship Id="rId49" Type="http://schemas.openxmlformats.org/officeDocument/2006/relationships/tags" Target="../tags/tag51.xml"/><Relationship Id="rId57" Type="http://schemas.openxmlformats.org/officeDocument/2006/relationships/tags" Target="../tags/tag59.xml"/><Relationship Id="rId10" Type="http://schemas.openxmlformats.org/officeDocument/2006/relationships/tags" Target="../tags/tag12.xml"/><Relationship Id="rId31" Type="http://schemas.openxmlformats.org/officeDocument/2006/relationships/tags" Target="../tags/tag33.xml"/><Relationship Id="rId44" Type="http://schemas.openxmlformats.org/officeDocument/2006/relationships/tags" Target="../tags/tag46.xml"/><Relationship Id="rId52" Type="http://schemas.openxmlformats.org/officeDocument/2006/relationships/tags" Target="../tags/tag54.xml"/><Relationship Id="rId60" Type="http://schemas.openxmlformats.org/officeDocument/2006/relationships/tags" Target="../tags/tag62.xml"/><Relationship Id="rId65" Type="http://schemas.openxmlformats.org/officeDocument/2006/relationships/image" Target="../media/image10.png"/><Relationship Id="rId4" Type="http://schemas.openxmlformats.org/officeDocument/2006/relationships/tags" Target="../tags/tag6.xml"/><Relationship Id="rId9" Type="http://schemas.openxmlformats.org/officeDocument/2006/relationships/tags" Target="../tags/tag11.xml"/><Relationship Id="rId13" Type="http://schemas.openxmlformats.org/officeDocument/2006/relationships/tags" Target="../tags/tag15.xml"/><Relationship Id="rId18" Type="http://schemas.openxmlformats.org/officeDocument/2006/relationships/tags" Target="../tags/tag20.xml"/><Relationship Id="rId39" Type="http://schemas.openxmlformats.org/officeDocument/2006/relationships/tags" Target="../tags/tag4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5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6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6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6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cstate="screen"/>
          <a:stretch>
            <a:fillRect/>
          </a:stretch>
        </p:blipFill>
        <p:spPr>
          <a:xfrm>
            <a:off x="0" y="0"/>
            <a:ext cx="9144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pic>
      <p:sp>
        <p:nvSpPr>
          <p:cNvPr id="4" name="标题 3"/>
          <p:cNvSpPr>
            <a:spLocks noGrp="1"/>
          </p:cNvSpPr>
          <p:nvPr>
            <p:ph type="ctrTitle"/>
          </p:nvPr>
        </p:nvSpPr>
        <p:spPr/>
        <p:txBody>
          <a:bodyPr/>
          <a:lstStyle/>
          <a:p>
            <a:r>
              <a:rPr kumimoji="1" lang="en-US" altLang="zh-CN" dirty="0">
                <a:solidFill>
                  <a:schemeClr val="bg1"/>
                </a:solidFill>
              </a:rPr>
              <a:t> </a:t>
            </a:r>
            <a:endParaRPr kumimoji="1" lang="zh-CN" altLang="en-US" dirty="0">
              <a:solidFill>
                <a:schemeClr val="bg1"/>
              </a:solidFill>
            </a:endParaRPr>
          </a:p>
        </p:txBody>
      </p:sp>
      <p:sp>
        <p:nvSpPr>
          <p:cNvPr id="16" name="标题 1"/>
          <p:cNvSpPr txBox="1"/>
          <p:nvPr/>
        </p:nvSpPr>
        <p:spPr>
          <a:xfrm>
            <a:off x="-228600" y="1253830"/>
            <a:ext cx="9144000" cy="1986956"/>
          </a:xfrm>
          <a:prstGeom prst="rect">
            <a:avLst/>
          </a:prstGeom>
          <a:effectLst/>
        </p:spPr>
        <p:txBody>
          <a:bodyPr vert="horz" lIns="91440" tIns="45720" rIns="91440" bIns="45720" rtlCol="0" anchor="ctr">
            <a:normAutofit/>
          </a:bodyPr>
          <a:lstStyle>
            <a:lvl1pPr algn="ctr" defTabSz="457200" rtl="0" eaLnBrk="1" fontAlgn="base" hangingPunct="1">
              <a:spcBef>
                <a:spcPct val="0"/>
              </a:spcBef>
              <a:spcAft>
                <a:spcPct val="0"/>
              </a:spcAft>
              <a:defRPr sz="4400" b="1" kern="1200">
                <a:solidFill>
                  <a:schemeClr val="accent2">
                    <a:lumMod val="75000"/>
                  </a:schemeClr>
                </a:solidFill>
                <a:effectLst>
                  <a:outerShdw blurRad="50800" dist="38100" dir="2700000" algn="tl" rotWithShape="0">
                    <a:prstClr val="black">
                      <a:alpha val="40000"/>
                    </a:prstClr>
                  </a:outerShdw>
                </a:effectLst>
                <a:latin typeface="华文细黑" panose="02010600040101010101" charset="-122"/>
                <a:ea typeface="华文细黑" panose="02010600040101010101" charset="-122"/>
                <a:cs typeface="华文细黑" panose="02010600040101010101"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pPr lvl="1">
              <a:spcBef>
                <a:spcPts val="2400"/>
              </a:spcBef>
            </a:pPr>
            <a:r>
              <a:rPr lang="zh-CN" altLang="en-US" sz="2800" dirty="0">
                <a:solidFill>
                  <a:schemeClr val="bg1"/>
                </a:solidFill>
                <a:latin typeface="+mj-ea"/>
                <a:ea typeface="+mj-ea"/>
                <a:cs typeface="黑体" panose="02010609060101010101" pitchFamily="49" charset="-122"/>
              </a:rPr>
              <a:t>多模态 </a:t>
            </a:r>
            <a:r>
              <a:rPr lang="en-US" altLang="zh-CN" sz="2800" dirty="0">
                <a:solidFill>
                  <a:schemeClr val="bg1"/>
                </a:solidFill>
                <a:latin typeface="+mj-ea"/>
                <a:ea typeface="+mj-ea"/>
                <a:cs typeface="黑体" panose="02010609060101010101" pitchFamily="49" charset="-122"/>
              </a:rPr>
              <a:t>AI </a:t>
            </a:r>
            <a:r>
              <a:rPr lang="zh-CN" altLang="en-US" sz="2800" dirty="0">
                <a:solidFill>
                  <a:schemeClr val="bg1"/>
                </a:solidFill>
                <a:latin typeface="+mj-ea"/>
                <a:ea typeface="+mj-ea"/>
                <a:cs typeface="黑体" panose="02010609060101010101" pitchFamily="49" charset="-122"/>
              </a:rPr>
              <a:t>与隐私计算融合的</a:t>
            </a:r>
            <a:endParaRPr lang="en-US" altLang="zh-CN" sz="2800" dirty="0">
              <a:solidFill>
                <a:schemeClr val="bg1"/>
              </a:solidFill>
              <a:latin typeface="+mj-ea"/>
              <a:ea typeface="+mj-ea"/>
              <a:cs typeface="黑体" panose="02010609060101010101" pitchFamily="49" charset="-122"/>
            </a:endParaRPr>
          </a:p>
          <a:p>
            <a:pPr lvl="1">
              <a:spcBef>
                <a:spcPts val="2400"/>
              </a:spcBef>
            </a:pPr>
            <a:r>
              <a:rPr lang="zh-CN" altLang="en-US" sz="2800" dirty="0">
                <a:solidFill>
                  <a:schemeClr val="bg1"/>
                </a:solidFill>
                <a:latin typeface="+mj-ea"/>
                <a:ea typeface="+mj-ea"/>
                <a:cs typeface="黑体" panose="02010609060101010101" pitchFamily="49" charset="-122"/>
              </a:rPr>
              <a:t>大学生心理健康家校医协同平台</a:t>
            </a:r>
          </a:p>
        </p:txBody>
      </p:sp>
      <p:sp>
        <p:nvSpPr>
          <p:cNvPr id="8" name="副标题 2"/>
          <p:cNvSpPr txBox="1"/>
          <p:nvPr/>
        </p:nvSpPr>
        <p:spPr>
          <a:xfrm>
            <a:off x="619760" y="3929490"/>
            <a:ext cx="8336280" cy="1669019"/>
          </a:xfrm>
          <a:prstGeom prst="rect">
            <a:avLst/>
          </a:prstGeom>
          <a:effectLst/>
        </p:spPr>
        <p:txBody>
          <a:bodyPr vert="horz" lIns="91440" tIns="45720" rIns="91440" bIns="45720" rtlCol="0">
            <a:noAutofit/>
          </a:bodyPr>
          <a:lstStyle>
            <a:lvl1pPr marL="0" indent="0" algn="ctr" defTabSz="457200" rtl="0" eaLnBrk="1" fontAlgn="base" hangingPunct="1">
              <a:spcBef>
                <a:spcPct val="20000"/>
              </a:spcBef>
              <a:spcAft>
                <a:spcPct val="0"/>
              </a:spcAft>
              <a:buFont typeface="Arial" panose="020B0604020202020204" pitchFamily="34" charset="0"/>
              <a:buNone/>
              <a:defRPr sz="3200" b="1" kern="1200" baseline="0">
                <a:solidFill>
                  <a:schemeClr val="tx1">
                    <a:tint val="75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457200" indent="0" algn="ctr" defTabSz="457200" rtl="0" eaLnBrk="1" fontAlgn="base" hangingPunct="1">
              <a:spcBef>
                <a:spcPct val="20000"/>
              </a:spcBef>
              <a:spcAft>
                <a:spcPct val="0"/>
              </a:spcAft>
              <a:buFont typeface="Arial" panose="020B0604020202020204" pitchFamily="34" charset="0"/>
              <a:buNone/>
              <a:defRPr sz="2800" b="1" kern="1200" baseline="0">
                <a:solidFill>
                  <a:schemeClr val="tx1">
                    <a:tint val="75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914400" indent="0" algn="ctr" defTabSz="457200" rtl="0" eaLnBrk="1" fontAlgn="base" hangingPunct="1">
              <a:spcBef>
                <a:spcPct val="20000"/>
              </a:spcBef>
              <a:spcAft>
                <a:spcPct val="0"/>
              </a:spcAft>
              <a:buFont typeface="Arial" panose="020B0604020202020204" pitchFamily="34" charset="0"/>
              <a:buNone/>
              <a:defRPr sz="2400" b="1" kern="1200" baseline="0">
                <a:solidFill>
                  <a:schemeClr val="tx1">
                    <a:tint val="75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371600" indent="0" algn="ctr" defTabSz="457200" rtl="0" eaLnBrk="1" fontAlgn="base" hangingPunct="1">
              <a:spcBef>
                <a:spcPct val="20000"/>
              </a:spcBef>
              <a:spcAft>
                <a:spcPct val="0"/>
              </a:spcAft>
              <a:buFont typeface="Arial" panose="020B0604020202020204" pitchFamily="34" charset="0"/>
              <a:buNone/>
              <a:defRPr sz="2000" b="1" kern="1200" baseline="0">
                <a:solidFill>
                  <a:schemeClr val="tx1">
                    <a:tint val="75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1828800" indent="0" algn="ctr" defTabSz="457200" rtl="0" eaLnBrk="1" fontAlgn="base" hangingPunct="1">
              <a:spcBef>
                <a:spcPct val="20000"/>
              </a:spcBef>
              <a:spcAft>
                <a:spcPct val="0"/>
              </a:spcAft>
              <a:buFont typeface="Arial" panose="020B0604020202020204" pitchFamily="34" charset="0"/>
              <a:buNone/>
              <a:defRPr sz="2000" b="1" kern="1200" baseline="0">
                <a:solidFill>
                  <a:schemeClr val="tx1">
                    <a:tint val="75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algn="l"/>
            <a:r>
              <a:rPr lang="zh-CN" altLang="en-US" sz="2200" dirty="0">
                <a:solidFill>
                  <a:schemeClr val="bg1"/>
                </a:solidFill>
                <a:effectLst/>
                <a:latin typeface="微软雅黑" panose="020B0503020204020204" charset="-122"/>
                <a:ea typeface="微软雅黑" panose="020B0503020204020204" charset="-122"/>
                <a:cs typeface="黑体" panose="02010609060101010101" pitchFamily="49" charset="-122"/>
              </a:rPr>
              <a:t>团队成员：秦慧慧、张丰舒、王乐、周麟、顾贞强</a:t>
            </a:r>
            <a:endParaRPr lang="en-US" altLang="zh-CN" sz="2200" dirty="0">
              <a:solidFill>
                <a:schemeClr val="bg1"/>
              </a:solidFill>
              <a:effectLst/>
              <a:latin typeface="微软雅黑" panose="020B0503020204020204" charset="-122"/>
              <a:ea typeface="微软雅黑" panose="020B0503020204020204" charset="-122"/>
              <a:cs typeface="黑体" panose="02010609060101010101" pitchFamily="49" charset="-122"/>
            </a:endParaRPr>
          </a:p>
          <a:p>
            <a:pPr algn="l"/>
            <a:r>
              <a:rPr lang="zh-CN" altLang="en-US" sz="2200" dirty="0">
                <a:solidFill>
                  <a:schemeClr val="bg1"/>
                </a:solidFill>
                <a:effectLst/>
                <a:latin typeface="微软雅黑" panose="020B0503020204020204" charset="-122"/>
                <a:ea typeface="微软雅黑" panose="020B0503020204020204" charset="-122"/>
              </a:rPr>
              <a:t>指导教师：李晓丽 </a:t>
            </a:r>
            <a:endParaRPr lang="en-US" altLang="zh-CN" sz="2200" dirty="0">
              <a:solidFill>
                <a:schemeClr val="bg1"/>
              </a:solidFill>
              <a:effectLst/>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2"/>
          <p:cNvSpPr txBox="1"/>
          <p:nvPr/>
        </p:nvSpPr>
        <p:spPr>
          <a:xfrm>
            <a:off x="3149412" y="2947873"/>
            <a:ext cx="3144643" cy="401159"/>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cs typeface="黑体" panose="02010609060101010101" pitchFamily="49" charset="-122"/>
              </a:rPr>
              <a:t>研究内容</a:t>
            </a:r>
            <a:endParaRPr lang="en-US" altLang="zh-CN" sz="2400" dirty="0">
              <a:solidFill>
                <a:srgbClr val="425686"/>
              </a:solidFill>
              <a:effectLst/>
              <a:latin typeface="微软雅黑" panose="020B0503020204020204" charset="-122"/>
              <a:ea typeface="微软雅黑" panose="020B0503020204020204" charset="-122"/>
              <a:cs typeface="黑体" panose="02010609060101010101" pitchFamily="49" charset="-122"/>
            </a:endParaRPr>
          </a:p>
        </p:txBody>
      </p:sp>
      <p:sp>
        <p:nvSpPr>
          <p:cNvPr id="34" name="圆角矩形 9"/>
          <p:cNvSpPr/>
          <p:nvPr/>
        </p:nvSpPr>
        <p:spPr>
          <a:xfrm>
            <a:off x="2951048" y="2859982"/>
            <a:ext cx="3603132" cy="564921"/>
          </a:xfrm>
          <a:prstGeom prst="roundRect">
            <a:avLst>
              <a:gd name="adj" fmla="val 0"/>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35" name="椭圆 34"/>
          <p:cNvSpPr/>
          <p:nvPr/>
        </p:nvSpPr>
        <p:spPr>
          <a:xfrm>
            <a:off x="2121468" y="2855450"/>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二</a:t>
            </a:r>
          </a:p>
        </p:txBody>
      </p:sp>
      <p:sp>
        <p:nvSpPr>
          <p:cNvPr id="36" name="内容占位符 2"/>
          <p:cNvSpPr txBox="1"/>
          <p:nvPr/>
        </p:nvSpPr>
        <p:spPr>
          <a:xfrm>
            <a:off x="3149412" y="3782656"/>
            <a:ext cx="3144643" cy="423298"/>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cs typeface="黑体" panose="02010609060101010101" pitchFamily="49" charset="-122"/>
              </a:rPr>
              <a:t>项目团队和研究成果</a:t>
            </a:r>
          </a:p>
        </p:txBody>
      </p:sp>
      <p:sp>
        <p:nvSpPr>
          <p:cNvPr id="37" name="圆角矩形 12"/>
          <p:cNvSpPr/>
          <p:nvPr/>
        </p:nvSpPr>
        <p:spPr>
          <a:xfrm>
            <a:off x="2951048" y="3709629"/>
            <a:ext cx="3603132" cy="564921"/>
          </a:xfrm>
          <a:prstGeom prst="roundRect">
            <a:avLst>
              <a:gd name="adj" fmla="val 651"/>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38" name="椭圆 37"/>
          <p:cNvSpPr/>
          <p:nvPr/>
        </p:nvSpPr>
        <p:spPr>
          <a:xfrm>
            <a:off x="2121466" y="3705097"/>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三</a:t>
            </a:r>
          </a:p>
        </p:txBody>
      </p:sp>
      <p:sp>
        <p:nvSpPr>
          <p:cNvPr id="39" name="内容占位符 2"/>
          <p:cNvSpPr txBox="1"/>
          <p:nvPr/>
        </p:nvSpPr>
        <p:spPr>
          <a:xfrm>
            <a:off x="3180292" y="4639248"/>
            <a:ext cx="3144643" cy="400443"/>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cs typeface="黑体" panose="02010609060101010101" pitchFamily="49" charset="-122"/>
              </a:rPr>
              <a:t>应用前景与未来规划</a:t>
            </a:r>
          </a:p>
        </p:txBody>
      </p:sp>
      <p:sp>
        <p:nvSpPr>
          <p:cNvPr id="40" name="圆角矩形 15"/>
          <p:cNvSpPr/>
          <p:nvPr/>
        </p:nvSpPr>
        <p:spPr>
          <a:xfrm>
            <a:off x="2951048" y="4560656"/>
            <a:ext cx="3603132" cy="564921"/>
          </a:xfrm>
          <a:prstGeom prst="roundRect">
            <a:avLst>
              <a:gd name="adj" fmla="val 0"/>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41" name="椭圆 40"/>
          <p:cNvSpPr/>
          <p:nvPr/>
        </p:nvSpPr>
        <p:spPr>
          <a:xfrm>
            <a:off x="2121467" y="4554744"/>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四</a:t>
            </a:r>
          </a:p>
        </p:txBody>
      </p:sp>
      <p:sp>
        <p:nvSpPr>
          <p:cNvPr id="31" name="圆角矩形 6"/>
          <p:cNvSpPr/>
          <p:nvPr/>
        </p:nvSpPr>
        <p:spPr>
          <a:xfrm>
            <a:off x="2951048" y="2022355"/>
            <a:ext cx="3603133" cy="564921"/>
          </a:xfrm>
          <a:prstGeom prst="roundRect">
            <a:avLst>
              <a:gd name="adj" fmla="val 2625"/>
            </a:avLst>
          </a:prstGeom>
          <a:solidFill>
            <a:srgbClr val="DCEDF8"/>
          </a:solidFill>
          <a:ln w="28575">
            <a:solidFill>
              <a:srgbClr val="4256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solidFill>
                <a:srgbClr val="C00000"/>
              </a:solidFill>
              <a:latin typeface="微软雅黑" panose="020B0503020204020204" charset="-122"/>
              <a:ea typeface="微软雅黑" panose="020B0503020204020204" charset="-122"/>
            </a:endParaRPr>
          </a:p>
        </p:txBody>
      </p:sp>
      <p:sp>
        <p:nvSpPr>
          <p:cNvPr id="32" name="椭圆 31"/>
          <p:cNvSpPr/>
          <p:nvPr/>
        </p:nvSpPr>
        <p:spPr>
          <a:xfrm>
            <a:off x="2121469" y="2031178"/>
            <a:ext cx="569453" cy="569453"/>
          </a:xfrm>
          <a:prstGeom prst="ellipse">
            <a:avLst/>
          </a:prstGeom>
          <a:solidFill>
            <a:srgbClr val="DCEDF8"/>
          </a:solidFill>
          <a:ln w="25400">
            <a:solidFill>
              <a:srgbClr val="4357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C00000"/>
                </a:solidFill>
                <a:latin typeface="微软雅黑" panose="020B0503020204020204" charset="-122"/>
                <a:ea typeface="微软雅黑" panose="020B0503020204020204" charset="-122"/>
              </a:rPr>
              <a:t>一</a:t>
            </a:r>
          </a:p>
        </p:txBody>
      </p:sp>
      <p:sp>
        <p:nvSpPr>
          <p:cNvPr id="50" name="内容占位符 2"/>
          <p:cNvSpPr txBox="1"/>
          <p:nvPr/>
        </p:nvSpPr>
        <p:spPr>
          <a:xfrm>
            <a:off x="3149412" y="2106430"/>
            <a:ext cx="3144643" cy="392237"/>
          </a:xfrm>
          <a:prstGeom prst="rect">
            <a:avLst/>
          </a:prstGeom>
          <a:noFill/>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C00000"/>
                </a:solidFill>
                <a:effectLst/>
                <a:latin typeface="微软雅黑" panose="020B0503020204020204" charset="-122"/>
                <a:ea typeface="微软雅黑" panose="020B0503020204020204" charset="-122"/>
                <a:cs typeface="黑体" panose="02010609060101010101" pitchFamily="49" charset="-122"/>
              </a:rPr>
              <a:t>项目背景</a:t>
            </a:r>
            <a:endParaRPr lang="en-US" altLang="zh-CN" sz="2400" dirty="0">
              <a:solidFill>
                <a:srgbClr val="C00000"/>
              </a:solidFill>
              <a:effectLst/>
              <a:latin typeface="微软雅黑" panose="020B0503020204020204" charset="-122"/>
              <a:ea typeface="微软雅黑" panose="020B0503020204020204" charset="-122"/>
              <a:cs typeface="黑体" panose="02010609060101010101" pitchFamily="49" charset="-122"/>
            </a:endParaRPr>
          </a:p>
        </p:txBody>
      </p:sp>
      <p:sp>
        <p:nvSpPr>
          <p:cNvPr id="16" name="标题 1"/>
          <p:cNvSpPr>
            <a:spLocks noGrp="1"/>
          </p:cNvSpPr>
          <p:nvPr>
            <p:ph type="title"/>
          </p:nvPr>
        </p:nvSpPr>
        <p:spPr>
          <a:xfrm>
            <a:off x="848420" y="202089"/>
            <a:ext cx="6672967"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报告提纲</a:t>
            </a: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8420" y="202089"/>
            <a:ext cx="6672967" cy="464296"/>
          </a:xfrm>
        </p:spPr>
        <p:txBody>
          <a:bodyPr>
            <a:normAutofit fontScale="90000"/>
          </a:bodyPr>
          <a:lstStyle/>
          <a:p>
            <a:r>
              <a:rPr lang="zh-CN" altLang="en-US" dirty="0">
                <a:latin typeface="微软雅黑" panose="020B0503020204020204" charset="-122"/>
                <a:ea typeface="微软雅黑" panose="020B0503020204020204" charset="-122"/>
                <a:cs typeface="+mn-ea"/>
                <a:sym typeface="+mn-lt"/>
              </a:rPr>
              <a:t>项目背景</a:t>
            </a:r>
          </a:p>
        </p:txBody>
      </p:sp>
      <p:sp>
        <p:nvSpPr>
          <p:cNvPr id="18" name="矩形 17"/>
          <p:cNvSpPr/>
          <p:nvPr/>
        </p:nvSpPr>
        <p:spPr>
          <a:xfrm>
            <a:off x="214314" y="1069652"/>
            <a:ext cx="8929686" cy="461665"/>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大学生心理健康议题已从“个体问题</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演变为“系统性社会危机”</a:t>
            </a:r>
            <a:endParaRPr lang="zh-CN" altLang="en-US" sz="2400" b="1" dirty="0"/>
          </a:p>
        </p:txBody>
      </p:sp>
      <p:sp>
        <p:nvSpPr>
          <p:cNvPr id="21" name="矩形 20"/>
          <p:cNvSpPr/>
          <p:nvPr/>
        </p:nvSpPr>
        <p:spPr>
          <a:xfrm>
            <a:off x="434318" y="1771434"/>
            <a:ext cx="8354081" cy="2137200"/>
          </a:xfrm>
          <a:prstGeom prst="rect">
            <a:avLst/>
          </a:prstGeom>
          <a:solidFill>
            <a:srgbClr val="E8EFF3"/>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sz="2000" dirty="0">
                <a:solidFill>
                  <a:srgbClr val="FF0000"/>
                </a:solidFill>
              </a:rPr>
              <a:t>国家层面：</a:t>
            </a:r>
            <a:endParaRPr lang="en-US" altLang="zh-CN" sz="2000" dirty="0">
              <a:solidFill>
                <a:srgbClr val="FF0000"/>
              </a:solidFill>
            </a:endParaRPr>
          </a:p>
          <a:p>
            <a:r>
              <a:rPr lang="en-US" altLang="zh-CN" sz="2000" dirty="0">
                <a:solidFill>
                  <a:srgbClr val="FF0000"/>
                </a:solidFill>
              </a:rPr>
              <a:t>        </a:t>
            </a:r>
            <a:r>
              <a:rPr lang="zh-CN" altLang="en-US" sz="2000" dirty="0">
                <a:solidFill>
                  <a:schemeClr val="tx1"/>
                </a:solidFill>
              </a:rPr>
              <a:t>促进学生身心健康、全面发展，是党中央关心、人民群众关切、社会关注的重大课题。</a:t>
            </a:r>
            <a:endParaRPr lang="en-US" altLang="zh-CN" sz="2000" dirty="0">
              <a:solidFill>
                <a:schemeClr val="tx1"/>
              </a:solidFill>
            </a:endParaRPr>
          </a:p>
          <a:p>
            <a:r>
              <a:rPr lang="en-US" altLang="zh-CN" sz="2000" dirty="0">
                <a:solidFill>
                  <a:schemeClr val="tx1"/>
                </a:solidFill>
              </a:rPr>
              <a:t>        </a:t>
            </a:r>
            <a:r>
              <a:rPr lang="zh-CN" altLang="en-US" sz="2000" dirty="0">
                <a:solidFill>
                  <a:schemeClr val="tx1"/>
                </a:solidFill>
              </a:rPr>
              <a:t>明确要求高校建立 </a:t>
            </a:r>
            <a:r>
              <a:rPr lang="zh-CN" altLang="en-US" sz="2000" dirty="0">
                <a:solidFill>
                  <a:srgbClr val="FF0000"/>
                </a:solidFill>
              </a:rPr>
              <a:t>“家校医社”</a:t>
            </a:r>
            <a:r>
              <a:rPr lang="zh-CN" altLang="en-US" sz="2000" dirty="0">
                <a:solidFill>
                  <a:schemeClr val="tx1"/>
                </a:solidFill>
              </a:rPr>
              <a:t> 协同机制，将心理危机干预纳入校园安全体系。</a:t>
            </a:r>
            <a:endParaRPr lang="en-US" altLang="zh-CN" sz="2000" dirty="0">
              <a:solidFill>
                <a:schemeClr val="tx1"/>
              </a:solidFill>
            </a:endParaRPr>
          </a:p>
          <a:p>
            <a:r>
              <a:rPr lang="en-US" altLang="zh-CN" dirty="0">
                <a:solidFill>
                  <a:schemeClr val="tx1"/>
                </a:solidFill>
              </a:rPr>
              <a:t>         -</a:t>
            </a:r>
            <a:r>
              <a:rPr lang="zh-CN" altLang="en-US" sz="1600" dirty="0">
                <a:solidFill>
                  <a:schemeClr val="tx1"/>
                </a:solidFill>
                <a:latin typeface="+mj-ea"/>
                <a:ea typeface="+mj-ea"/>
              </a:rPr>
              <a:t>教育部</a:t>
            </a:r>
            <a:r>
              <a:rPr lang="en-US" altLang="zh-CN" sz="1600" dirty="0">
                <a:solidFill>
                  <a:schemeClr val="tx1"/>
                </a:solidFill>
                <a:latin typeface="+mj-ea"/>
                <a:ea typeface="+mj-ea"/>
              </a:rPr>
              <a:t>《</a:t>
            </a:r>
            <a:r>
              <a:rPr lang="zh-CN" altLang="en-US" sz="1600" dirty="0">
                <a:solidFill>
                  <a:schemeClr val="tx1"/>
                </a:solidFill>
                <a:latin typeface="+mj-ea"/>
                <a:ea typeface="+mj-ea"/>
              </a:rPr>
              <a:t>全面加强和改进新时代学生心理健康工作专项行动计划</a:t>
            </a:r>
            <a:r>
              <a:rPr lang="en-US" altLang="zh-CN" sz="1600" dirty="0">
                <a:solidFill>
                  <a:schemeClr val="tx1"/>
                </a:solidFill>
                <a:latin typeface="+mj-ea"/>
                <a:ea typeface="+mj-ea"/>
              </a:rPr>
              <a:t>(2023-2025</a:t>
            </a:r>
            <a:r>
              <a:rPr lang="zh-CN" altLang="en-US" sz="1600" dirty="0">
                <a:solidFill>
                  <a:schemeClr val="tx1"/>
                </a:solidFill>
                <a:latin typeface="+mj-ea"/>
                <a:ea typeface="+mj-ea"/>
              </a:rPr>
              <a:t>年</a:t>
            </a:r>
            <a:r>
              <a:rPr lang="en-US" altLang="zh-CN" sz="1600" dirty="0">
                <a:solidFill>
                  <a:schemeClr val="tx1"/>
                </a:solidFill>
                <a:latin typeface="+mj-ea"/>
                <a:ea typeface="+mj-ea"/>
              </a:rPr>
              <a:t>)》</a:t>
            </a:r>
            <a:endParaRPr lang="zh-CN" altLang="en-US" sz="1600" dirty="0">
              <a:solidFill>
                <a:schemeClr val="tx1"/>
              </a:solidFill>
              <a:latin typeface="+mj-ea"/>
              <a:ea typeface="+mj-ea"/>
            </a:endParaRPr>
          </a:p>
        </p:txBody>
      </p:sp>
      <p:sp>
        <p:nvSpPr>
          <p:cNvPr id="22" name="矩形 21"/>
          <p:cNvSpPr/>
          <p:nvPr/>
        </p:nvSpPr>
        <p:spPr>
          <a:xfrm>
            <a:off x="434319" y="3984834"/>
            <a:ext cx="8354080" cy="2619166"/>
          </a:xfrm>
          <a:prstGeom prst="rect">
            <a:avLst/>
          </a:prstGeom>
          <a:solidFill>
            <a:srgbClr val="E8EFF3"/>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sz="2000" dirty="0">
                <a:solidFill>
                  <a:srgbClr val="FF0000"/>
                </a:solidFill>
              </a:rPr>
              <a:t>社会现象：</a:t>
            </a:r>
            <a:endParaRPr lang="en-US" altLang="zh-CN" sz="2000" dirty="0">
              <a:solidFill>
                <a:srgbClr val="FF0000"/>
              </a:solidFill>
            </a:endParaRPr>
          </a:p>
          <a:p>
            <a:r>
              <a:rPr lang="en-US" altLang="zh-CN" sz="2000" dirty="0">
                <a:solidFill>
                  <a:srgbClr val="FF0000"/>
                </a:solidFill>
              </a:rPr>
              <a:t>        </a:t>
            </a:r>
            <a:r>
              <a:rPr lang="zh-CN" altLang="en-US" sz="2000" dirty="0">
                <a:solidFill>
                  <a:schemeClr val="tx1"/>
                </a:solidFill>
              </a:rPr>
              <a:t>我国大学生抑郁检出率达 </a:t>
            </a:r>
            <a:r>
              <a:rPr lang="en-US" altLang="zh-CN" sz="2000" dirty="0">
                <a:solidFill>
                  <a:schemeClr val="tx1"/>
                </a:solidFill>
              </a:rPr>
              <a:t>24.3%</a:t>
            </a:r>
            <a:r>
              <a:rPr lang="zh-CN" altLang="en-US" sz="2000" dirty="0">
                <a:solidFill>
                  <a:schemeClr val="tx1"/>
                </a:solidFill>
              </a:rPr>
              <a:t>，焦虑检出率为 </a:t>
            </a:r>
            <a:r>
              <a:rPr lang="en-US" altLang="zh-CN" sz="2000" dirty="0">
                <a:solidFill>
                  <a:schemeClr val="tx1"/>
                </a:solidFill>
              </a:rPr>
              <a:t>31.6%</a:t>
            </a:r>
            <a:r>
              <a:rPr lang="zh-CN" altLang="en-US" sz="2000" dirty="0">
                <a:solidFill>
                  <a:schemeClr val="tx1"/>
                </a:solidFill>
              </a:rPr>
              <a:t>，</a:t>
            </a:r>
            <a:r>
              <a:rPr lang="en-US" altLang="zh-CN" sz="2000" dirty="0">
                <a:solidFill>
                  <a:schemeClr val="tx1"/>
                </a:solidFill>
              </a:rPr>
              <a:t>12.7% </a:t>
            </a:r>
            <a:r>
              <a:rPr lang="zh-CN" altLang="en-US" sz="2000" dirty="0">
                <a:solidFill>
                  <a:schemeClr val="tx1"/>
                </a:solidFill>
              </a:rPr>
              <a:t>的学生存在中重度心理困扰，较 </a:t>
            </a:r>
            <a:r>
              <a:rPr lang="en-US" altLang="zh-CN" sz="2000" dirty="0">
                <a:solidFill>
                  <a:schemeClr val="tx1"/>
                </a:solidFill>
              </a:rPr>
              <a:t>2019 </a:t>
            </a:r>
            <a:r>
              <a:rPr lang="zh-CN" altLang="en-US" sz="2000" dirty="0">
                <a:solidFill>
                  <a:schemeClr val="tx1"/>
                </a:solidFill>
              </a:rPr>
              <a:t>年数据分别上升 </a:t>
            </a:r>
            <a:r>
              <a:rPr lang="en-US" altLang="zh-CN" sz="2000" dirty="0">
                <a:solidFill>
                  <a:schemeClr val="tx1"/>
                </a:solidFill>
              </a:rPr>
              <a:t>9.2%</a:t>
            </a:r>
            <a:r>
              <a:rPr lang="zh-CN" altLang="en-US" sz="2000" dirty="0">
                <a:solidFill>
                  <a:schemeClr val="tx1"/>
                </a:solidFill>
              </a:rPr>
              <a:t>、</a:t>
            </a:r>
            <a:r>
              <a:rPr lang="en-US" altLang="zh-CN" sz="2000" dirty="0">
                <a:solidFill>
                  <a:schemeClr val="tx1"/>
                </a:solidFill>
              </a:rPr>
              <a:t>11.5%</a:t>
            </a:r>
            <a:r>
              <a:rPr lang="zh-CN" altLang="en-US" sz="2000" dirty="0">
                <a:solidFill>
                  <a:schemeClr val="tx1"/>
                </a:solidFill>
              </a:rPr>
              <a:t>。</a:t>
            </a:r>
            <a:endParaRPr lang="en-US" altLang="zh-CN" sz="2000" dirty="0">
              <a:solidFill>
                <a:schemeClr val="tx1"/>
              </a:solidFill>
            </a:endParaRPr>
          </a:p>
          <a:p>
            <a:r>
              <a:rPr lang="en-US" altLang="zh-CN" dirty="0">
                <a:solidFill>
                  <a:schemeClr val="tx1"/>
                </a:solidFill>
                <a:latin typeface="+mj-ea"/>
                <a:ea typeface="+mj-ea"/>
              </a:rPr>
              <a:t>                                        </a:t>
            </a:r>
            <a:r>
              <a:rPr lang="en-US" altLang="zh-CN" sz="1600" dirty="0">
                <a:solidFill>
                  <a:schemeClr val="tx1"/>
                </a:solidFill>
                <a:latin typeface="+mj-ea"/>
                <a:ea typeface="+mj-ea"/>
              </a:rPr>
              <a:t>-</a:t>
            </a:r>
            <a:r>
              <a:rPr lang="zh-CN" altLang="en-US" sz="1600" dirty="0">
                <a:solidFill>
                  <a:schemeClr val="tx1"/>
                </a:solidFill>
                <a:latin typeface="+mj-ea"/>
                <a:ea typeface="+mj-ea"/>
              </a:rPr>
              <a:t>中国科学院心理研究所 </a:t>
            </a:r>
            <a:r>
              <a:rPr lang="en-US" altLang="zh-CN" sz="1600" dirty="0">
                <a:solidFill>
                  <a:schemeClr val="tx1"/>
                </a:solidFill>
                <a:latin typeface="+mj-ea"/>
                <a:ea typeface="+mj-ea"/>
              </a:rPr>
              <a:t>2024 </a:t>
            </a:r>
            <a:r>
              <a:rPr lang="zh-CN" altLang="en-US" sz="1600" dirty="0">
                <a:solidFill>
                  <a:schemeClr val="tx1"/>
                </a:solidFill>
                <a:latin typeface="+mj-ea"/>
                <a:ea typeface="+mj-ea"/>
              </a:rPr>
              <a:t>年</a:t>
            </a:r>
            <a:r>
              <a:rPr lang="en-US" altLang="zh-CN" sz="1600" dirty="0">
                <a:solidFill>
                  <a:schemeClr val="tx1"/>
                </a:solidFill>
                <a:latin typeface="+mj-ea"/>
                <a:ea typeface="+mj-ea"/>
              </a:rPr>
              <a:t>《</a:t>
            </a:r>
            <a:r>
              <a:rPr lang="zh-CN" altLang="en-US" sz="1600" dirty="0">
                <a:solidFill>
                  <a:schemeClr val="tx1"/>
                </a:solidFill>
                <a:latin typeface="+mj-ea"/>
                <a:ea typeface="+mj-ea"/>
              </a:rPr>
              <a:t>国民心理健康报告</a:t>
            </a:r>
            <a:r>
              <a:rPr lang="en-US" altLang="zh-CN" sz="1600" dirty="0">
                <a:solidFill>
                  <a:schemeClr val="tx1"/>
                </a:solidFill>
                <a:latin typeface="+mj-ea"/>
                <a:ea typeface="+mj-ea"/>
              </a:rPr>
              <a:t>》</a:t>
            </a:r>
          </a:p>
          <a:p>
            <a:endParaRPr lang="en-US" altLang="zh-CN" dirty="0">
              <a:solidFill>
                <a:schemeClr val="tx1"/>
              </a:solidFill>
              <a:latin typeface="+mj-ea"/>
              <a:ea typeface="+mj-ea"/>
            </a:endParaRPr>
          </a:p>
          <a:p>
            <a:r>
              <a:rPr lang="zh-CN" altLang="en-US" sz="2000" dirty="0">
                <a:solidFill>
                  <a:schemeClr val="tx1"/>
                </a:solidFill>
              </a:rPr>
              <a:t>        </a:t>
            </a:r>
            <a:r>
              <a:rPr lang="en-US" altLang="zh-CN" sz="2000" dirty="0">
                <a:solidFill>
                  <a:schemeClr val="tx1"/>
                </a:solidFill>
              </a:rPr>
              <a:t>15.6% </a:t>
            </a:r>
            <a:r>
              <a:rPr lang="zh-CN" altLang="en-US" sz="2000" dirty="0">
                <a:solidFill>
                  <a:schemeClr val="tx1"/>
                </a:solidFill>
              </a:rPr>
              <a:t>大学生因过度依赖虚拟社交、沉迷游戏出现现实社交退缩，伴随自我认同混乱。</a:t>
            </a:r>
            <a:r>
              <a:rPr lang="zh-CN" altLang="en-US" sz="1600" dirty="0">
                <a:solidFill>
                  <a:schemeClr val="tx1"/>
                </a:solidFill>
              </a:rPr>
              <a:t> </a:t>
            </a:r>
            <a:r>
              <a:rPr lang="en-US" altLang="zh-CN" sz="1600" dirty="0">
                <a:solidFill>
                  <a:schemeClr val="tx1"/>
                </a:solidFill>
              </a:rPr>
              <a:t>                                        </a:t>
            </a:r>
            <a:r>
              <a:rPr lang="en-US" altLang="zh-CN" sz="1600" dirty="0">
                <a:solidFill>
                  <a:schemeClr val="tx1"/>
                </a:solidFill>
                <a:latin typeface="+mj-ea"/>
                <a:ea typeface="+mj-ea"/>
              </a:rPr>
              <a:t>- 《</a:t>
            </a:r>
            <a:r>
              <a:rPr lang="zh-CN" altLang="en-US" sz="1600" dirty="0">
                <a:solidFill>
                  <a:schemeClr val="tx1"/>
                </a:solidFill>
                <a:latin typeface="+mj-ea"/>
                <a:ea typeface="+mj-ea"/>
              </a:rPr>
              <a:t>中国青年研究</a:t>
            </a:r>
            <a:r>
              <a:rPr lang="en-US" altLang="zh-CN" sz="1600" dirty="0">
                <a:solidFill>
                  <a:schemeClr val="tx1"/>
                </a:solidFill>
                <a:latin typeface="+mj-ea"/>
                <a:ea typeface="+mj-ea"/>
              </a:rPr>
              <a:t>》2025 </a:t>
            </a:r>
            <a:r>
              <a:rPr lang="zh-CN" altLang="en-US" sz="1600" dirty="0">
                <a:solidFill>
                  <a:schemeClr val="tx1"/>
                </a:solidFill>
                <a:latin typeface="+mj-ea"/>
                <a:ea typeface="+mj-ea"/>
              </a:rPr>
              <a:t>年报告</a:t>
            </a:r>
            <a:endParaRPr lang="en-US" altLang="zh-CN" sz="1600" dirty="0">
              <a:solidFill>
                <a:schemeClr val="tx1"/>
              </a:solidFill>
              <a:latin typeface="+mj-ea"/>
              <a:ea typeface="+mj-ea"/>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8420" y="202089"/>
            <a:ext cx="6672967"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项目背景</a:t>
            </a:r>
          </a:p>
        </p:txBody>
      </p:sp>
      <p:sp>
        <p:nvSpPr>
          <p:cNvPr id="3" name="矩形 2"/>
          <p:cNvSpPr/>
          <p:nvPr/>
        </p:nvSpPr>
        <p:spPr>
          <a:xfrm>
            <a:off x="453141" y="1773432"/>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家校医协同断裂</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干预脱节</a:t>
            </a:r>
          </a:p>
        </p:txBody>
      </p:sp>
      <p:sp>
        <p:nvSpPr>
          <p:cNvPr id="4" name="矩形 3"/>
          <p:cNvSpPr/>
          <p:nvPr/>
        </p:nvSpPr>
        <p:spPr>
          <a:xfrm>
            <a:off x="453141" y="3121558"/>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数据单一</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诊断精准度低</a:t>
            </a:r>
          </a:p>
        </p:txBody>
      </p:sp>
      <p:sp>
        <p:nvSpPr>
          <p:cNvPr id="12" name="文本框 11"/>
          <p:cNvSpPr txBox="1"/>
          <p:nvPr/>
        </p:nvSpPr>
        <p:spPr>
          <a:xfrm>
            <a:off x="2795022" y="1585640"/>
            <a:ext cx="6312880" cy="1138773"/>
          </a:xfrm>
          <a:prstGeom prst="rect">
            <a:avLst/>
          </a:prstGeom>
          <a:noFill/>
        </p:spPr>
        <p:txBody>
          <a:bodyPr wrap="square">
            <a:spAutoFit/>
          </a:bodyPr>
          <a:lstStyle/>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学校发现问题难以及时告知家长、对接医院​</a:t>
            </a:r>
          </a:p>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家庭不掌握校内情况，无法配合干预​</a:t>
            </a:r>
          </a:p>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医院与家校信息不互通，错过治疗黄金期</a:t>
            </a:r>
            <a:endParaRPr lang="zh-CN" altLang="en-US" sz="2000" dirty="0"/>
          </a:p>
        </p:txBody>
      </p:sp>
      <p:sp>
        <p:nvSpPr>
          <p:cNvPr id="16" name="文本框 15"/>
          <p:cNvSpPr txBox="1"/>
          <p:nvPr/>
        </p:nvSpPr>
        <p:spPr>
          <a:xfrm>
            <a:off x="2795022" y="2893890"/>
            <a:ext cx="6312880" cy="1138773"/>
          </a:xfrm>
          <a:prstGeom prst="rect">
            <a:avLst/>
          </a:prstGeom>
          <a:noFill/>
        </p:spPr>
        <p:txBody>
          <a:bodyPr wrap="square">
            <a:spAutoFit/>
          </a:bodyPr>
          <a:lstStyle/>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依赖问卷和访谈，缺乏多模态数据融合​</a:t>
            </a:r>
          </a:p>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无行为、社交等多维度数据支持​</a:t>
            </a:r>
          </a:p>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学生主观隐瞒或认知偏差干扰诊断</a:t>
            </a:r>
          </a:p>
        </p:txBody>
      </p:sp>
      <p:sp>
        <p:nvSpPr>
          <p:cNvPr id="9" name="矩形 8"/>
          <p:cNvSpPr/>
          <p:nvPr/>
        </p:nvSpPr>
        <p:spPr>
          <a:xfrm>
            <a:off x="463938" y="4469684"/>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治疗同质化</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手段匮乏</a:t>
            </a:r>
          </a:p>
        </p:txBody>
      </p:sp>
      <p:sp>
        <p:nvSpPr>
          <p:cNvPr id="10" name="文本框 13"/>
          <p:cNvSpPr txBox="1"/>
          <p:nvPr/>
        </p:nvSpPr>
        <p:spPr>
          <a:xfrm>
            <a:off x="2795022" y="4240654"/>
            <a:ext cx="5976303" cy="1138773"/>
          </a:xfrm>
          <a:prstGeom prst="rect">
            <a:avLst/>
          </a:prstGeom>
          <a:noFill/>
        </p:spPr>
        <p:txBody>
          <a:bodyPr wrap="square">
            <a:spAutoFit/>
          </a:bodyPr>
          <a:lstStyle/>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方案普适性强，个性化不足​</a:t>
            </a:r>
          </a:p>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未考虑个体差异，针对性差​</a:t>
            </a:r>
          </a:p>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手段局限于咨询和药物，创新不足</a:t>
            </a:r>
            <a:endParaRPr lang="zh-CN" altLang="en-US" sz="2000" dirty="0"/>
          </a:p>
        </p:txBody>
      </p:sp>
      <p:sp>
        <p:nvSpPr>
          <p:cNvPr id="11" name="矩形 10"/>
          <p:cNvSpPr/>
          <p:nvPr/>
        </p:nvSpPr>
        <p:spPr>
          <a:xfrm>
            <a:off x="453141" y="5678110"/>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数据隐私风险高</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信任危机</a:t>
            </a:r>
          </a:p>
        </p:txBody>
      </p:sp>
      <p:sp>
        <p:nvSpPr>
          <p:cNvPr id="13" name="文本框 13"/>
          <p:cNvSpPr txBox="1"/>
          <p:nvPr/>
        </p:nvSpPr>
        <p:spPr>
          <a:xfrm>
            <a:off x="2795022" y="5612254"/>
            <a:ext cx="5976303" cy="769441"/>
          </a:xfrm>
          <a:prstGeom prst="rect">
            <a:avLst/>
          </a:prstGeom>
          <a:noFill/>
        </p:spPr>
        <p:txBody>
          <a:bodyPr wrap="square">
            <a:spAutoFit/>
          </a:bodyPr>
          <a:lstStyle/>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学生因隐私担忧拒绝寻求帮助</a:t>
            </a:r>
            <a:endParaRPr lang="en-US" altLang="zh-CN" sz="2000" dirty="0">
              <a:latin typeface="微软雅黑" panose="020B0503020204020204" charset="-122"/>
              <a:ea typeface="微软雅黑" panose="020B0503020204020204" charset="-122"/>
            </a:endParaRPr>
          </a:p>
          <a:p>
            <a:pPr marL="342900" lvl="0" indent="-342900">
              <a:lnSpc>
                <a:spcPct val="100000"/>
              </a:lnSpc>
              <a:spcBef>
                <a:spcPct val="0"/>
              </a:spcBef>
              <a:spcAft>
                <a:spcPct val="20000"/>
              </a:spcAft>
              <a:buFont typeface="Arial" pitchFamily="34" charset="0"/>
              <a:buChar char="•"/>
            </a:pPr>
            <a:r>
              <a:rPr lang="zh-CN" altLang="en-US" sz="2000" dirty="0">
                <a:latin typeface="微软雅黑" panose="020B0503020204020204" charset="-122"/>
                <a:ea typeface="微软雅黑" panose="020B0503020204020204" charset="-122"/>
              </a:rPr>
              <a:t>跨校跨院数据壁垒，阻碍精准诊断与个性化治疗</a:t>
            </a:r>
            <a:endParaRPr lang="en-US" altLang="zh-CN" sz="2000" dirty="0">
              <a:latin typeface="微软雅黑" panose="020B0503020204020204" charset="-122"/>
              <a:ea typeface="微软雅黑" panose="020B0503020204020204" charset="-122"/>
            </a:endParaRPr>
          </a:p>
        </p:txBody>
      </p:sp>
      <p:sp>
        <p:nvSpPr>
          <p:cNvPr id="14" name="矩形 13"/>
          <p:cNvSpPr/>
          <p:nvPr/>
        </p:nvSpPr>
        <p:spPr>
          <a:xfrm>
            <a:off x="214314" y="1069652"/>
            <a:ext cx="8929686" cy="461665"/>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现有的大学生心理健康诊断和治疗流程存在的问题：</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2" grpId="0"/>
      <p:bldP spid="16" grpId="0"/>
      <p:bldP spid="9" grpId="0" animBg="1"/>
      <p:bldP spid="10" grpId="0"/>
      <p:bldP spid="11"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809160" y="1785287"/>
            <a:ext cx="5022420" cy="638707"/>
          </a:xfrm>
          <a:prstGeom prst="rect">
            <a:avLst/>
          </a:prstGeom>
          <a:solidFill>
            <a:srgbClr val="0070C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solidFill>
                  <a:schemeClr val="bg1"/>
                </a:solidFill>
                <a:latin typeface="微软雅黑" panose="020B0503020204020204" charset="-122"/>
                <a:ea typeface="微软雅黑" panose="020B0503020204020204" charset="-122"/>
              </a:rPr>
              <a:t>构建大学生心理健康家校医一体化平台</a:t>
            </a:r>
          </a:p>
        </p:txBody>
      </p:sp>
      <p:sp>
        <p:nvSpPr>
          <p:cNvPr id="65" name="标题 1"/>
          <p:cNvSpPr txBox="1"/>
          <p:nvPr/>
        </p:nvSpPr>
        <p:spPr>
          <a:xfrm>
            <a:off x="911497" y="1085869"/>
            <a:ext cx="1569661" cy="464296"/>
          </a:xfrm>
          <a:prstGeom prst="rect">
            <a:avLst/>
          </a:prstGeom>
          <a:effectLst/>
        </p:spPr>
        <p:txBody>
          <a:bodyPr vert="horz" lIns="91440" tIns="45720" rIns="91440" bIns="45720" rtlCol="0" anchor="ctr">
            <a:normAutofit fontScale="90000" lnSpcReduction="10000"/>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pPr algn="ctr"/>
            <a:r>
              <a:rPr lang="zh-CN" altLang="en-US" dirty="0">
                <a:effectLst/>
                <a:latin typeface="微软雅黑" panose="020B0503020204020204" charset="-122"/>
                <a:ea typeface="微软雅黑" panose="020B0503020204020204" charset="-122"/>
                <a:cs typeface="+mn-ea"/>
                <a:sym typeface="+mn-lt"/>
              </a:rPr>
              <a:t>挑战</a:t>
            </a:r>
          </a:p>
        </p:txBody>
      </p:sp>
      <p:sp>
        <p:nvSpPr>
          <p:cNvPr id="67" name="标题 1"/>
          <p:cNvSpPr txBox="1"/>
          <p:nvPr/>
        </p:nvSpPr>
        <p:spPr>
          <a:xfrm>
            <a:off x="5404895" y="1085869"/>
            <a:ext cx="1569661" cy="464296"/>
          </a:xfrm>
          <a:prstGeom prst="rect">
            <a:avLst/>
          </a:prstGeom>
          <a:effectLst/>
        </p:spPr>
        <p:txBody>
          <a:bodyPr vert="horz" lIns="91440" tIns="45720" rIns="91440" bIns="45720" rtlCol="0" anchor="ctr">
            <a:normAutofit fontScale="90000" lnSpcReduction="10000"/>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pPr algn="ctr"/>
            <a:r>
              <a:rPr lang="zh-CN" altLang="en-US" dirty="0">
                <a:effectLst/>
                <a:latin typeface="微软雅黑" panose="020B0503020204020204" charset="-122"/>
                <a:ea typeface="微软雅黑" panose="020B0503020204020204" charset="-122"/>
                <a:cs typeface="+mn-ea"/>
                <a:sym typeface="+mn-lt"/>
              </a:rPr>
              <a:t>解决思路</a:t>
            </a:r>
          </a:p>
        </p:txBody>
      </p:sp>
      <p:cxnSp>
        <p:nvCxnSpPr>
          <p:cNvPr id="70" name="直接箭头连接符 69"/>
          <p:cNvCxnSpPr>
            <a:cxnSpLocks/>
            <a:stCxn id="24" idx="3"/>
            <a:endCxn id="7" idx="1"/>
          </p:cNvCxnSpPr>
          <p:nvPr/>
        </p:nvCxnSpPr>
        <p:spPr>
          <a:xfrm flipV="1">
            <a:off x="2795022" y="2104641"/>
            <a:ext cx="1014138" cy="14231"/>
          </a:xfrm>
          <a:prstGeom prst="straightConnector1">
            <a:avLst/>
          </a:prstGeom>
          <a:ln w="19050">
            <a:prstDash val="dash"/>
            <a:tailEnd type="arrow" w="med" len="med"/>
          </a:ln>
          <a:effectLst/>
        </p:spPr>
        <p:style>
          <a:lnRef idx="3">
            <a:schemeClr val="dk1"/>
          </a:lnRef>
          <a:fillRef idx="0">
            <a:schemeClr val="dk1"/>
          </a:fillRef>
          <a:effectRef idx="2">
            <a:schemeClr val="dk1"/>
          </a:effectRef>
          <a:fontRef idx="minor">
            <a:schemeClr val="tx1"/>
          </a:fontRef>
        </p:style>
      </p:cxnSp>
      <p:sp>
        <p:nvSpPr>
          <p:cNvPr id="27" name="矩形 26"/>
          <p:cNvSpPr/>
          <p:nvPr/>
        </p:nvSpPr>
        <p:spPr>
          <a:xfrm>
            <a:off x="3859960" y="5577371"/>
            <a:ext cx="4971620" cy="921854"/>
          </a:xfrm>
          <a:prstGeom prst="rect">
            <a:avLst/>
          </a:prstGeom>
          <a:solidFill>
            <a:srgbClr val="0070C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solidFill>
                  <a:schemeClr val="bg1"/>
                </a:solidFill>
                <a:latin typeface="微软雅黑" panose="020B0503020204020204" charset="-122"/>
                <a:ea typeface="微软雅黑" panose="020B0503020204020204" charset="-122"/>
              </a:rPr>
              <a:t>基于联邦学习</a:t>
            </a:r>
            <a:r>
              <a:rPr lang="en-US" altLang="zh-CN" b="1" dirty="0">
                <a:solidFill>
                  <a:schemeClr val="bg1"/>
                </a:solidFill>
                <a:latin typeface="微软雅黑" panose="020B0503020204020204" charset="-122"/>
                <a:ea typeface="微软雅黑" panose="020B0503020204020204" charset="-122"/>
              </a:rPr>
              <a:t>+</a:t>
            </a:r>
            <a:r>
              <a:rPr lang="zh-CN" altLang="en-US" b="1" dirty="0">
                <a:solidFill>
                  <a:schemeClr val="bg1"/>
                </a:solidFill>
                <a:latin typeface="微软雅黑" panose="020B0503020204020204" charset="-122"/>
                <a:ea typeface="微软雅黑" panose="020B0503020204020204" charset="-122"/>
              </a:rPr>
              <a:t>区块链技术，构建具备隐私保护的多机构数据联合分析系统</a:t>
            </a:r>
          </a:p>
        </p:txBody>
      </p:sp>
      <p:sp>
        <p:nvSpPr>
          <p:cNvPr id="28" name="矩形 27"/>
          <p:cNvSpPr/>
          <p:nvPr/>
        </p:nvSpPr>
        <p:spPr>
          <a:xfrm>
            <a:off x="3809160" y="2957763"/>
            <a:ext cx="5022420" cy="995977"/>
          </a:xfrm>
          <a:prstGeom prst="rect">
            <a:avLst/>
          </a:prstGeom>
          <a:solidFill>
            <a:srgbClr val="0070C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solidFill>
                  <a:schemeClr val="bg1"/>
                </a:solidFill>
                <a:latin typeface="微软雅黑" panose="020B0503020204020204" charset="-122"/>
                <a:ea typeface="微软雅黑" panose="020B0503020204020204" charset="-122"/>
              </a:rPr>
              <a:t>构建多模态数据体系，形成全面心理画像，</a:t>
            </a:r>
            <a:endParaRPr lang="en-US" altLang="zh-CN" b="1" dirty="0">
              <a:solidFill>
                <a:schemeClr val="bg1"/>
              </a:solidFill>
              <a:latin typeface="微软雅黑" panose="020B0503020204020204" charset="-122"/>
              <a:ea typeface="微软雅黑" panose="020B0503020204020204" charset="-122"/>
            </a:endParaRPr>
          </a:p>
          <a:p>
            <a:pPr algn="ctr">
              <a:lnSpc>
                <a:spcPct val="150000"/>
              </a:lnSpc>
            </a:pPr>
            <a:r>
              <a:rPr lang="zh-CN" altLang="en-US" b="1" dirty="0">
                <a:solidFill>
                  <a:schemeClr val="bg1"/>
                </a:solidFill>
                <a:latin typeface="微软雅黑" panose="020B0503020204020204" charset="-122"/>
                <a:ea typeface="微软雅黑" panose="020B0503020204020204" charset="-122"/>
              </a:rPr>
              <a:t>建立 “</a:t>
            </a:r>
            <a:r>
              <a:rPr lang="en-US" altLang="zh-CN" b="1" dirty="0">
                <a:solidFill>
                  <a:schemeClr val="bg1"/>
                </a:solidFill>
                <a:latin typeface="微软雅黑" panose="020B0503020204020204" charset="-122"/>
                <a:ea typeface="微软雅黑" panose="020B0503020204020204" charset="-122"/>
              </a:rPr>
              <a:t>AI </a:t>
            </a:r>
            <a:r>
              <a:rPr lang="zh-CN" altLang="en-US" b="1" dirty="0">
                <a:solidFill>
                  <a:schemeClr val="bg1"/>
                </a:solidFill>
                <a:latin typeface="微软雅黑" panose="020B0503020204020204" charset="-122"/>
                <a:ea typeface="微软雅黑" panose="020B0503020204020204" charset="-122"/>
              </a:rPr>
              <a:t>初筛 </a:t>
            </a:r>
            <a:r>
              <a:rPr lang="en-US" altLang="zh-CN" b="1" dirty="0">
                <a:solidFill>
                  <a:schemeClr val="bg1"/>
                </a:solidFill>
                <a:latin typeface="微软雅黑" panose="020B0503020204020204" charset="-122"/>
                <a:ea typeface="微软雅黑" panose="020B0503020204020204" charset="-122"/>
              </a:rPr>
              <a:t>+ </a:t>
            </a:r>
            <a:r>
              <a:rPr lang="zh-CN" altLang="en-US" b="1" dirty="0">
                <a:solidFill>
                  <a:schemeClr val="bg1"/>
                </a:solidFill>
                <a:latin typeface="微软雅黑" panose="020B0503020204020204" charset="-122"/>
                <a:ea typeface="微软雅黑" panose="020B0503020204020204" charset="-122"/>
              </a:rPr>
              <a:t>人工复核” 的精准诊断流程</a:t>
            </a:r>
          </a:p>
        </p:txBody>
      </p:sp>
      <p:cxnSp>
        <p:nvCxnSpPr>
          <p:cNvPr id="34" name="直接箭头连接符 33"/>
          <p:cNvCxnSpPr>
            <a:cxnSpLocks/>
            <a:stCxn id="25" idx="3"/>
            <a:endCxn id="28" idx="1"/>
          </p:cNvCxnSpPr>
          <p:nvPr/>
        </p:nvCxnSpPr>
        <p:spPr>
          <a:xfrm flipV="1">
            <a:off x="2795022" y="3455752"/>
            <a:ext cx="1014138" cy="11246"/>
          </a:xfrm>
          <a:prstGeom prst="straightConnector1">
            <a:avLst/>
          </a:prstGeom>
          <a:ln w="19050">
            <a:prstDash val="dash"/>
            <a:tailEnd type="arrow" w="med" len="med"/>
          </a:ln>
          <a:effectLst/>
        </p:spPr>
        <p:style>
          <a:lnRef idx="3">
            <a:schemeClr val="dk1"/>
          </a:lnRef>
          <a:fillRef idx="0">
            <a:schemeClr val="dk1"/>
          </a:fillRef>
          <a:effectRef idx="2">
            <a:schemeClr val="dk1"/>
          </a:effectRef>
          <a:fontRef idx="minor">
            <a:schemeClr val="tx1"/>
          </a:fontRef>
        </p:style>
      </p:cxnSp>
      <p:cxnSp>
        <p:nvCxnSpPr>
          <p:cNvPr id="18" name="直接箭头连接符 17"/>
          <p:cNvCxnSpPr>
            <a:cxnSpLocks/>
            <a:stCxn id="30" idx="3"/>
            <a:endCxn id="27" idx="1"/>
          </p:cNvCxnSpPr>
          <p:nvPr/>
        </p:nvCxnSpPr>
        <p:spPr>
          <a:xfrm>
            <a:off x="2795022" y="6023550"/>
            <a:ext cx="1064938" cy="14748"/>
          </a:xfrm>
          <a:prstGeom prst="straightConnector1">
            <a:avLst/>
          </a:prstGeom>
          <a:ln w="19050">
            <a:prstDash val="dash"/>
            <a:tailEnd type="arrow" w="med" len="med"/>
          </a:ln>
          <a:effectLst/>
        </p:spPr>
        <p:style>
          <a:lnRef idx="3">
            <a:schemeClr val="dk1"/>
          </a:lnRef>
          <a:fillRef idx="0">
            <a:schemeClr val="dk1"/>
          </a:fillRef>
          <a:effectRef idx="2">
            <a:schemeClr val="dk1"/>
          </a:effectRef>
          <a:fontRef idx="minor">
            <a:schemeClr val="tx1"/>
          </a:fontRef>
        </p:style>
      </p:cxnSp>
      <p:cxnSp>
        <p:nvCxnSpPr>
          <p:cNvPr id="21" name="直接箭头连接符 20"/>
          <p:cNvCxnSpPr>
            <a:cxnSpLocks/>
            <a:stCxn id="26" idx="3"/>
            <a:endCxn id="29" idx="1"/>
          </p:cNvCxnSpPr>
          <p:nvPr/>
        </p:nvCxnSpPr>
        <p:spPr>
          <a:xfrm flipV="1">
            <a:off x="2805819" y="4806196"/>
            <a:ext cx="1054140" cy="8928"/>
          </a:xfrm>
          <a:prstGeom prst="straightConnector1">
            <a:avLst/>
          </a:prstGeom>
          <a:ln w="19050">
            <a:prstDash val="dash"/>
            <a:tailEnd type="arrow" w="med" len="med"/>
          </a:ln>
          <a:effectLst/>
        </p:spPr>
        <p:style>
          <a:lnRef idx="3">
            <a:schemeClr val="dk1"/>
          </a:lnRef>
          <a:fillRef idx="0">
            <a:schemeClr val="dk1"/>
          </a:fillRef>
          <a:effectRef idx="2">
            <a:schemeClr val="dk1"/>
          </a:effectRef>
          <a:fontRef idx="minor">
            <a:schemeClr val="tx1"/>
          </a:fontRef>
        </p:style>
      </p:cxnSp>
      <p:sp>
        <p:nvSpPr>
          <p:cNvPr id="29" name="矩形 28"/>
          <p:cNvSpPr/>
          <p:nvPr/>
        </p:nvSpPr>
        <p:spPr>
          <a:xfrm>
            <a:off x="3859959" y="4345269"/>
            <a:ext cx="4971621" cy="921854"/>
          </a:xfrm>
          <a:prstGeom prst="rect">
            <a:avLst/>
          </a:prstGeom>
          <a:solidFill>
            <a:srgbClr val="0070C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solidFill>
                  <a:schemeClr val="bg1"/>
                </a:solidFill>
                <a:latin typeface="微软雅黑" panose="020B0503020204020204" charset="-122"/>
                <a:ea typeface="微软雅黑" panose="020B0503020204020204" charset="-122"/>
              </a:rPr>
              <a:t>建立学生 “心理特征库”，定制个性化治疗方案，定期评估治疗效果，建立动态调整机制</a:t>
            </a:r>
          </a:p>
        </p:txBody>
      </p:sp>
      <p:sp>
        <p:nvSpPr>
          <p:cNvPr id="23" name="标题 1"/>
          <p:cNvSpPr>
            <a:spLocks noGrp="1"/>
          </p:cNvSpPr>
          <p:nvPr>
            <p:ph type="title"/>
          </p:nvPr>
        </p:nvSpPr>
        <p:spPr>
          <a:xfrm>
            <a:off x="848420" y="202089"/>
            <a:ext cx="6672967" cy="464296"/>
          </a:xfrm>
        </p:spPr>
        <p:txBody>
          <a:bodyPr>
            <a:normAutofit fontScale="90000"/>
          </a:bodyPr>
          <a:lstStyle/>
          <a:p>
            <a:r>
              <a:rPr lang="zh-CN" altLang="en-US" dirty="0">
                <a:latin typeface="微软雅黑" panose="020B0503020204020204" charset="-122"/>
                <a:ea typeface="微软雅黑" panose="020B0503020204020204" charset="-122"/>
                <a:cs typeface="+mn-ea"/>
                <a:sym typeface="+mn-lt"/>
              </a:rPr>
              <a:t>项目背景</a:t>
            </a:r>
          </a:p>
        </p:txBody>
      </p:sp>
      <p:sp>
        <p:nvSpPr>
          <p:cNvPr id="24" name="矩形 23"/>
          <p:cNvSpPr/>
          <p:nvPr/>
        </p:nvSpPr>
        <p:spPr>
          <a:xfrm>
            <a:off x="453141" y="1773432"/>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家校医协同断裂</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干预脱节</a:t>
            </a:r>
          </a:p>
        </p:txBody>
      </p:sp>
      <p:sp>
        <p:nvSpPr>
          <p:cNvPr id="25" name="矩形 24"/>
          <p:cNvSpPr/>
          <p:nvPr/>
        </p:nvSpPr>
        <p:spPr>
          <a:xfrm>
            <a:off x="453141" y="3121558"/>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数据单一</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诊断精准度低</a:t>
            </a:r>
          </a:p>
        </p:txBody>
      </p:sp>
      <p:sp>
        <p:nvSpPr>
          <p:cNvPr id="26" name="矩形 25"/>
          <p:cNvSpPr/>
          <p:nvPr/>
        </p:nvSpPr>
        <p:spPr>
          <a:xfrm>
            <a:off x="463938" y="4469684"/>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治疗同质化</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手段匮乏</a:t>
            </a:r>
          </a:p>
        </p:txBody>
      </p:sp>
      <p:sp>
        <p:nvSpPr>
          <p:cNvPr id="30" name="矩形 29"/>
          <p:cNvSpPr/>
          <p:nvPr/>
        </p:nvSpPr>
        <p:spPr>
          <a:xfrm>
            <a:off x="453141" y="5678110"/>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数据隐私风险高</a:t>
            </a:r>
            <a:endParaRPr lang="en-US" altLang="zh-CN" sz="2000" b="1"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信任危机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ppt_x"/>
                                          </p:val>
                                        </p:tav>
                                        <p:tav tm="100000">
                                          <p:val>
                                            <p:strVal val="#ppt_x"/>
                                          </p:val>
                                        </p:tav>
                                      </p:tavLst>
                                    </p:anim>
                                    <p:anim calcmode="lin" valueType="num">
                                      <p:cBhvr additive="base">
                                        <p:cTn id="8" dur="500" fill="hold"/>
                                        <p:tgtEl>
                                          <p:spTgt spid="6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7"/>
                                        </p:tgtEl>
                                        <p:attrNameLst>
                                          <p:attrName>style.visibility</p:attrName>
                                        </p:attrNameLst>
                                      </p:cBhvr>
                                      <p:to>
                                        <p:strVal val="visible"/>
                                      </p:to>
                                    </p:set>
                                    <p:anim calcmode="lin" valueType="num">
                                      <p:cBhvr additive="base">
                                        <p:cTn id="12" dur="500" fill="hold"/>
                                        <p:tgtEl>
                                          <p:spTgt spid="67"/>
                                        </p:tgtEl>
                                        <p:attrNameLst>
                                          <p:attrName>ppt_x</p:attrName>
                                        </p:attrNameLst>
                                      </p:cBhvr>
                                      <p:tavLst>
                                        <p:tav tm="0">
                                          <p:val>
                                            <p:strVal val="#ppt_x"/>
                                          </p:val>
                                        </p:tav>
                                        <p:tav tm="100000">
                                          <p:val>
                                            <p:strVal val="#ppt_x"/>
                                          </p:val>
                                        </p:tav>
                                      </p:tavLst>
                                    </p:anim>
                                    <p:anim calcmode="lin" valueType="num">
                                      <p:cBhvr additive="base">
                                        <p:cTn id="13" dur="500" fill="hold"/>
                                        <p:tgtEl>
                                          <p:spTgt spid="67"/>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additive="base">
                                        <p:cTn id="22" dur="500" fill="hold"/>
                                        <p:tgtEl>
                                          <p:spTgt spid="28"/>
                                        </p:tgtEl>
                                        <p:attrNameLst>
                                          <p:attrName>ppt_x</p:attrName>
                                        </p:attrNameLst>
                                      </p:cBhvr>
                                      <p:tavLst>
                                        <p:tav tm="0">
                                          <p:val>
                                            <p:strVal val="#ppt_x"/>
                                          </p:val>
                                        </p:tav>
                                        <p:tav tm="100000">
                                          <p:val>
                                            <p:strVal val="#ppt_x"/>
                                          </p:val>
                                        </p:tav>
                                      </p:tavLst>
                                    </p:anim>
                                    <p:anim calcmode="lin" valueType="num">
                                      <p:cBhvr additive="base">
                                        <p:cTn id="23" dur="500" fill="hold"/>
                                        <p:tgtEl>
                                          <p:spTgt spid="2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6" presetClass="entr" presetSubtype="21" fill="hold" nodeType="after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barn(inVertical)">
                                      <p:cBhvr>
                                        <p:cTn id="32" dur="500"/>
                                        <p:tgtEl>
                                          <p:spTgt spid="70"/>
                                        </p:tgtEl>
                                      </p:cBhvr>
                                    </p:animEffect>
                                  </p:childTnLst>
                                </p:cTn>
                              </p:par>
                            </p:childTnLst>
                          </p:cTn>
                        </p:par>
                        <p:par>
                          <p:cTn id="33" fill="hold">
                            <p:stCondLst>
                              <p:cond delay="3000"/>
                            </p:stCondLst>
                            <p:childTnLst>
                              <p:par>
                                <p:cTn id="34" presetID="16" presetClass="entr" presetSubtype="21" fill="hold" nodeType="after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barn(inVertical)">
                                      <p:cBhvr>
                                        <p:cTn id="36" dur="500"/>
                                        <p:tgtEl>
                                          <p:spTgt spid="34"/>
                                        </p:tgtEl>
                                      </p:cBhvr>
                                    </p:animEffect>
                                  </p:childTnLst>
                                </p:cTn>
                              </p:par>
                            </p:childTnLst>
                          </p:cTn>
                        </p:par>
                        <p:par>
                          <p:cTn id="37" fill="hold">
                            <p:stCondLst>
                              <p:cond delay="3500"/>
                            </p:stCondLst>
                            <p:childTnLst>
                              <p:par>
                                <p:cTn id="38" presetID="16" presetClass="entr" presetSubtype="21" fill="hold"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arn(inVertical)">
                                      <p:cBhvr>
                                        <p:cTn id="40" dur="500"/>
                                        <p:tgtEl>
                                          <p:spTgt spid="18"/>
                                        </p:tgtEl>
                                      </p:cBhvr>
                                    </p:animEffect>
                                  </p:childTnLst>
                                </p:cTn>
                              </p:par>
                            </p:childTnLst>
                          </p:cTn>
                        </p:par>
                        <p:par>
                          <p:cTn id="41" fill="hold">
                            <p:stCondLst>
                              <p:cond delay="4000"/>
                            </p:stCondLst>
                            <p:childTnLst>
                              <p:par>
                                <p:cTn id="42" presetID="16" presetClass="entr" presetSubtype="21" fill="hold"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barn(inVertical)">
                                      <p:cBhvr>
                                        <p:cTn id="44" dur="500"/>
                                        <p:tgtEl>
                                          <p:spTgt spid="21"/>
                                        </p:tgtEl>
                                      </p:cBhvr>
                                    </p:animEffect>
                                  </p:childTnLst>
                                </p:cTn>
                              </p:par>
                            </p:childTnLst>
                          </p:cTn>
                        </p:par>
                        <p:par>
                          <p:cTn id="45" fill="hold">
                            <p:stCondLst>
                              <p:cond delay="4500"/>
                            </p:stCondLst>
                            <p:childTnLst>
                              <p:par>
                                <p:cTn id="46" presetID="2" presetClass="entr" presetSubtype="4" fill="hold" grpId="0" nodeType="afterEffect">
                                  <p:stCondLst>
                                    <p:cond delay="0"/>
                                  </p:stCondLst>
                                  <p:childTnLst>
                                    <p:set>
                                      <p:cBhvr>
                                        <p:cTn id="47" dur="1" fill="hold">
                                          <p:stCondLst>
                                            <p:cond delay="0"/>
                                          </p:stCondLst>
                                        </p:cTn>
                                        <p:tgtEl>
                                          <p:spTgt spid="29"/>
                                        </p:tgtEl>
                                        <p:attrNameLst>
                                          <p:attrName>style.visibility</p:attrName>
                                        </p:attrNameLst>
                                      </p:cBhvr>
                                      <p:to>
                                        <p:strVal val="visible"/>
                                      </p:to>
                                    </p:set>
                                    <p:anim calcmode="lin" valueType="num">
                                      <p:cBhvr additive="base">
                                        <p:cTn id="48" dur="500" fill="hold"/>
                                        <p:tgtEl>
                                          <p:spTgt spid="29"/>
                                        </p:tgtEl>
                                        <p:attrNameLst>
                                          <p:attrName>ppt_x</p:attrName>
                                        </p:attrNameLst>
                                      </p:cBhvr>
                                      <p:tavLst>
                                        <p:tav tm="0">
                                          <p:val>
                                            <p:strVal val="#ppt_x"/>
                                          </p:val>
                                        </p:tav>
                                        <p:tav tm="100000">
                                          <p:val>
                                            <p:strVal val="#ppt_x"/>
                                          </p:val>
                                        </p:tav>
                                      </p:tavLst>
                                    </p:anim>
                                    <p:anim calcmode="lin" valueType="num">
                                      <p:cBhvr additive="base">
                                        <p:cTn id="49" dur="500" fill="hold"/>
                                        <p:tgtEl>
                                          <p:spTgt spid="29"/>
                                        </p:tgtEl>
                                        <p:attrNameLst>
                                          <p:attrName>ppt_y</p:attrName>
                                        </p:attrNameLst>
                                      </p:cBhvr>
                                      <p:tavLst>
                                        <p:tav tm="0">
                                          <p:val>
                                            <p:strVal val="1+#ppt_h/2"/>
                                          </p:val>
                                        </p:tav>
                                        <p:tav tm="100000">
                                          <p:val>
                                            <p:strVal val="#ppt_y"/>
                                          </p:val>
                                        </p:tav>
                                      </p:tavLst>
                                    </p:anim>
                                  </p:childTnLst>
                                </p:cTn>
                              </p:par>
                            </p:childTnLst>
                          </p:cTn>
                        </p:par>
                        <p:par>
                          <p:cTn id="50" fill="hold">
                            <p:stCondLst>
                              <p:cond delay="5000"/>
                            </p:stCondLst>
                            <p:childTnLst>
                              <p:par>
                                <p:cTn id="51" presetID="22" presetClass="entr" presetSubtype="4"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down)">
                                      <p:cBhvr>
                                        <p:cTn id="53" dur="500"/>
                                        <p:tgtEl>
                                          <p:spTgt spid="24"/>
                                        </p:tgtEl>
                                      </p:cBhvr>
                                    </p:animEffect>
                                  </p:childTnLst>
                                </p:cTn>
                              </p:par>
                            </p:childTnLst>
                          </p:cTn>
                        </p:par>
                        <p:par>
                          <p:cTn id="54" fill="hold">
                            <p:stCondLst>
                              <p:cond delay="5500"/>
                            </p:stCondLst>
                            <p:childTnLst>
                              <p:par>
                                <p:cTn id="55" presetID="22" presetClass="entr" presetSubtype="4" fill="hold" grpId="0" nodeType="after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down)">
                                      <p:cBhvr>
                                        <p:cTn id="57" dur="500"/>
                                        <p:tgtEl>
                                          <p:spTgt spid="25"/>
                                        </p:tgtEl>
                                      </p:cBhvr>
                                    </p:animEffect>
                                  </p:childTnLst>
                                </p:cTn>
                              </p:par>
                            </p:childTnLst>
                          </p:cTn>
                        </p:par>
                        <p:par>
                          <p:cTn id="58" fill="hold">
                            <p:stCondLst>
                              <p:cond delay="6000"/>
                            </p:stCondLst>
                            <p:childTnLst>
                              <p:par>
                                <p:cTn id="59" presetID="22" presetClass="entr" presetSubtype="4" fill="hold" grpId="0" nodeType="after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down)">
                                      <p:cBhvr>
                                        <p:cTn id="61" dur="500"/>
                                        <p:tgtEl>
                                          <p:spTgt spid="26"/>
                                        </p:tgtEl>
                                      </p:cBhvr>
                                    </p:animEffect>
                                  </p:childTnLst>
                                </p:cTn>
                              </p:par>
                            </p:childTnLst>
                          </p:cTn>
                        </p:par>
                        <p:par>
                          <p:cTn id="62" fill="hold">
                            <p:stCondLst>
                              <p:cond delay="6500"/>
                            </p:stCondLst>
                            <p:childTnLst>
                              <p:par>
                                <p:cTn id="63" presetID="22" presetClass="entr" presetSubtype="4"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down)">
                                      <p:cBhvr>
                                        <p:cTn id="6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5" grpId="0"/>
      <p:bldP spid="67" grpId="0"/>
      <p:bldP spid="27" grpId="0" animBg="1"/>
      <p:bldP spid="28" grpId="0" animBg="1"/>
      <p:bldP spid="29" grpId="0" animBg="1"/>
      <p:bldP spid="24" grpId="0" animBg="1"/>
      <p:bldP spid="25" grpId="0" animBg="1"/>
      <p:bldP spid="26"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6"/>
          <p:cNvSpPr/>
          <p:nvPr/>
        </p:nvSpPr>
        <p:spPr>
          <a:xfrm>
            <a:off x="2951046" y="2871264"/>
            <a:ext cx="3603133" cy="564921"/>
          </a:xfrm>
          <a:prstGeom prst="roundRect">
            <a:avLst>
              <a:gd name="adj" fmla="val 2625"/>
            </a:avLst>
          </a:prstGeom>
          <a:solidFill>
            <a:srgbClr val="DCEDF8"/>
          </a:solidFill>
          <a:ln w="28575">
            <a:solidFill>
              <a:srgbClr val="4256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solidFill>
                <a:srgbClr val="C00000"/>
              </a:solidFill>
              <a:latin typeface="微软雅黑" panose="020B0503020204020204" charset="-122"/>
              <a:ea typeface="微软雅黑" panose="020B0503020204020204" charset="-122"/>
            </a:endParaRPr>
          </a:p>
        </p:txBody>
      </p:sp>
      <p:sp>
        <p:nvSpPr>
          <p:cNvPr id="33" name="内容占位符 2"/>
          <p:cNvSpPr txBox="1"/>
          <p:nvPr/>
        </p:nvSpPr>
        <p:spPr>
          <a:xfrm>
            <a:off x="3149411" y="2950878"/>
            <a:ext cx="3144643" cy="401159"/>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C00000"/>
                </a:solidFill>
                <a:effectLst/>
                <a:latin typeface="微软雅黑" panose="020B0503020204020204" charset="-122"/>
                <a:ea typeface="微软雅黑" panose="020B0503020204020204" charset="-122"/>
              </a:rPr>
              <a:t>研究内容</a:t>
            </a:r>
            <a:endParaRPr lang="en-US" altLang="zh-CN" sz="2400" dirty="0">
              <a:solidFill>
                <a:srgbClr val="C00000"/>
              </a:solidFill>
              <a:effectLst/>
              <a:latin typeface="微软雅黑" panose="020B0503020204020204" charset="-122"/>
              <a:ea typeface="微软雅黑" panose="020B0503020204020204" charset="-122"/>
            </a:endParaRPr>
          </a:p>
        </p:txBody>
      </p:sp>
      <p:sp>
        <p:nvSpPr>
          <p:cNvPr id="34" name="圆角矩形 9"/>
          <p:cNvSpPr/>
          <p:nvPr/>
        </p:nvSpPr>
        <p:spPr>
          <a:xfrm>
            <a:off x="2951048" y="2028368"/>
            <a:ext cx="3603132" cy="564921"/>
          </a:xfrm>
          <a:prstGeom prst="roundRect">
            <a:avLst>
              <a:gd name="adj" fmla="val 0"/>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dirty="0">
              <a:latin typeface="微软雅黑" panose="020B0503020204020204" charset="-122"/>
              <a:ea typeface="微软雅黑" panose="020B0503020204020204" charset="-122"/>
            </a:endParaRPr>
          </a:p>
        </p:txBody>
      </p:sp>
      <p:sp>
        <p:nvSpPr>
          <p:cNvPr id="35" name="椭圆 34"/>
          <p:cNvSpPr/>
          <p:nvPr/>
        </p:nvSpPr>
        <p:spPr>
          <a:xfrm>
            <a:off x="2121466" y="2028368"/>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一</a:t>
            </a:r>
          </a:p>
        </p:txBody>
      </p:sp>
      <p:sp>
        <p:nvSpPr>
          <p:cNvPr id="32" name="椭圆 31"/>
          <p:cNvSpPr/>
          <p:nvPr/>
        </p:nvSpPr>
        <p:spPr>
          <a:xfrm>
            <a:off x="2121465" y="2866732"/>
            <a:ext cx="569453" cy="569453"/>
          </a:xfrm>
          <a:prstGeom prst="ellipse">
            <a:avLst/>
          </a:prstGeom>
          <a:solidFill>
            <a:srgbClr val="DCEDF8"/>
          </a:solidFill>
          <a:ln w="25400">
            <a:solidFill>
              <a:srgbClr val="4357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C00000"/>
                </a:solidFill>
                <a:latin typeface="微软雅黑" panose="020B0503020204020204" charset="-122"/>
                <a:ea typeface="微软雅黑" panose="020B0503020204020204" charset="-122"/>
              </a:rPr>
              <a:t>二</a:t>
            </a:r>
          </a:p>
        </p:txBody>
      </p:sp>
      <p:sp>
        <p:nvSpPr>
          <p:cNvPr id="50" name="内容占位符 2"/>
          <p:cNvSpPr txBox="1"/>
          <p:nvPr/>
        </p:nvSpPr>
        <p:spPr>
          <a:xfrm>
            <a:off x="3149412" y="2106430"/>
            <a:ext cx="3144643" cy="392237"/>
          </a:xfrm>
          <a:prstGeom prst="rect">
            <a:avLst/>
          </a:prstGeom>
          <a:noFill/>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rPr>
              <a:t>项目背景</a:t>
            </a:r>
            <a:endParaRPr lang="en-US" altLang="zh-CN" sz="2400" dirty="0">
              <a:solidFill>
                <a:srgbClr val="425686"/>
              </a:solidFill>
              <a:effectLst/>
              <a:latin typeface="微软雅黑" panose="020B0503020204020204" charset="-122"/>
              <a:ea typeface="微软雅黑" panose="020B0503020204020204" charset="-122"/>
            </a:endParaRPr>
          </a:p>
        </p:txBody>
      </p:sp>
      <p:sp>
        <p:nvSpPr>
          <p:cNvPr id="16" name="标题 1"/>
          <p:cNvSpPr>
            <a:spLocks noGrp="1"/>
          </p:cNvSpPr>
          <p:nvPr>
            <p:ph type="title"/>
          </p:nvPr>
        </p:nvSpPr>
        <p:spPr>
          <a:xfrm>
            <a:off x="848420" y="202089"/>
            <a:ext cx="6672967"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报告提纲</a:t>
            </a:r>
          </a:p>
        </p:txBody>
      </p:sp>
      <p:sp>
        <p:nvSpPr>
          <p:cNvPr id="17" name="内容占位符 2"/>
          <p:cNvSpPr txBox="1"/>
          <p:nvPr/>
        </p:nvSpPr>
        <p:spPr>
          <a:xfrm>
            <a:off x="3149412" y="3782656"/>
            <a:ext cx="3144643" cy="423298"/>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cs typeface="黑体" panose="02010609060101010101" pitchFamily="49" charset="-122"/>
              </a:rPr>
              <a:t>项目团队和研究成果</a:t>
            </a:r>
          </a:p>
        </p:txBody>
      </p:sp>
      <p:sp>
        <p:nvSpPr>
          <p:cNvPr id="18" name="圆角矩形 12"/>
          <p:cNvSpPr/>
          <p:nvPr/>
        </p:nvSpPr>
        <p:spPr>
          <a:xfrm>
            <a:off x="2951048" y="3709629"/>
            <a:ext cx="3603132" cy="564921"/>
          </a:xfrm>
          <a:prstGeom prst="roundRect">
            <a:avLst>
              <a:gd name="adj" fmla="val 651"/>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19" name="椭圆 18"/>
          <p:cNvSpPr/>
          <p:nvPr/>
        </p:nvSpPr>
        <p:spPr>
          <a:xfrm>
            <a:off x="2121466" y="3705097"/>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三</a:t>
            </a:r>
          </a:p>
        </p:txBody>
      </p:sp>
      <p:sp>
        <p:nvSpPr>
          <p:cNvPr id="20" name="内容占位符 2"/>
          <p:cNvSpPr txBox="1"/>
          <p:nvPr/>
        </p:nvSpPr>
        <p:spPr>
          <a:xfrm>
            <a:off x="3180292" y="4639248"/>
            <a:ext cx="3144643" cy="400443"/>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cs typeface="黑体" panose="02010609060101010101" pitchFamily="49" charset="-122"/>
              </a:rPr>
              <a:t>应用前景与未来规划</a:t>
            </a:r>
          </a:p>
        </p:txBody>
      </p:sp>
      <p:sp>
        <p:nvSpPr>
          <p:cNvPr id="21" name="圆角矩形 15"/>
          <p:cNvSpPr/>
          <p:nvPr/>
        </p:nvSpPr>
        <p:spPr>
          <a:xfrm>
            <a:off x="2951048" y="4560656"/>
            <a:ext cx="3603132" cy="564921"/>
          </a:xfrm>
          <a:prstGeom prst="roundRect">
            <a:avLst>
              <a:gd name="adj" fmla="val 0"/>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22" name="椭圆 21"/>
          <p:cNvSpPr/>
          <p:nvPr/>
        </p:nvSpPr>
        <p:spPr>
          <a:xfrm>
            <a:off x="2121467" y="4554744"/>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四</a:t>
            </a: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矩形 108"/>
          <p:cNvSpPr/>
          <p:nvPr/>
        </p:nvSpPr>
        <p:spPr>
          <a:xfrm>
            <a:off x="311955" y="2616721"/>
            <a:ext cx="3887195" cy="3623845"/>
          </a:xfrm>
          <a:prstGeom prst="rect">
            <a:avLst/>
          </a:prstGeom>
          <a:ln w="12700">
            <a:solidFill>
              <a:srgbClr val="435786"/>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noFill/>
            </a:endParaRPr>
          </a:p>
        </p:txBody>
      </p:sp>
      <p:sp>
        <p:nvSpPr>
          <p:cNvPr id="57" name="矩形: 圆角 77">
            <a:extLst>
              <a:ext uri="{FF2B5EF4-FFF2-40B4-BE49-F238E27FC236}">
                <a16:creationId xmlns:a16="http://schemas.microsoft.com/office/drawing/2014/main" id="{D82E454E-C387-4C13-8B0E-C7C2BDBA28C0}"/>
              </a:ext>
            </a:extLst>
          </p:cNvPr>
          <p:cNvSpPr/>
          <p:nvPr/>
        </p:nvSpPr>
        <p:spPr>
          <a:xfrm>
            <a:off x="410798" y="2704670"/>
            <a:ext cx="1716852" cy="1311194"/>
          </a:xfrm>
          <a:prstGeom prst="roundRect">
            <a:avLst>
              <a:gd name="adj" fmla="val 3995"/>
            </a:avLst>
          </a:prstGeom>
          <a:solidFill>
            <a:schemeClr val="accent6">
              <a:lumMod val="75000"/>
              <a:alpha val="1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algn="ctr" defTabSz="309563" hangingPunct="0"/>
            <a:endParaRPr lang="zh-CN" altLang="en-US" sz="1400" dirty="0">
              <a:latin typeface="+mn-ea"/>
              <a:cs typeface="Helvetica Neue Medium"/>
              <a:sym typeface="Helvetica Neue Medium"/>
            </a:endParaRPr>
          </a:p>
        </p:txBody>
      </p:sp>
      <p:sp>
        <p:nvSpPr>
          <p:cNvPr id="58" name="矩形: 圆角 77">
            <a:extLst>
              <a:ext uri="{FF2B5EF4-FFF2-40B4-BE49-F238E27FC236}">
                <a16:creationId xmlns:a16="http://schemas.microsoft.com/office/drawing/2014/main" id="{D82E454E-C387-4C13-8B0E-C7C2BDBA28C0}"/>
              </a:ext>
            </a:extLst>
          </p:cNvPr>
          <p:cNvSpPr/>
          <p:nvPr/>
        </p:nvSpPr>
        <p:spPr>
          <a:xfrm>
            <a:off x="2391915" y="2697995"/>
            <a:ext cx="1716852" cy="1311194"/>
          </a:xfrm>
          <a:prstGeom prst="roundRect">
            <a:avLst>
              <a:gd name="adj" fmla="val 3995"/>
            </a:avLst>
          </a:prstGeom>
          <a:solidFill>
            <a:schemeClr val="accent6">
              <a:lumMod val="75000"/>
              <a:alpha val="1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algn="ctr" defTabSz="309563" hangingPunct="0"/>
            <a:endParaRPr lang="zh-CN" altLang="en-US" sz="1400" dirty="0">
              <a:latin typeface="+mn-ea"/>
              <a:cs typeface="Helvetica Neue Medium"/>
              <a:sym typeface="Helvetica Neue Medium"/>
            </a:endParaRPr>
          </a:p>
        </p:txBody>
      </p:sp>
      <p:sp>
        <p:nvSpPr>
          <p:cNvPr id="3" name="矩形: 圆角 77">
            <a:extLst>
              <a:ext uri="{FF2B5EF4-FFF2-40B4-BE49-F238E27FC236}">
                <a16:creationId xmlns:a16="http://schemas.microsoft.com/office/drawing/2014/main" id="{D82E454E-C387-4C13-8B0E-C7C2BDBA28C0}"/>
              </a:ext>
            </a:extLst>
          </p:cNvPr>
          <p:cNvSpPr/>
          <p:nvPr/>
        </p:nvSpPr>
        <p:spPr>
          <a:xfrm>
            <a:off x="399096" y="4377282"/>
            <a:ext cx="3698342" cy="1770993"/>
          </a:xfrm>
          <a:prstGeom prst="roundRect">
            <a:avLst>
              <a:gd name="adj" fmla="val 3995"/>
            </a:avLst>
          </a:prstGeom>
          <a:solidFill>
            <a:schemeClr val="accent6">
              <a:lumMod val="75000"/>
              <a:alpha val="1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algn="ctr" defTabSz="309563" hangingPunct="0"/>
            <a:endParaRPr lang="zh-CN" altLang="en-US" sz="1400" dirty="0">
              <a:latin typeface="+mn-ea"/>
              <a:cs typeface="Helvetica Neue Medium"/>
              <a:sym typeface="Helvetica Neue Medium"/>
            </a:endParaRPr>
          </a:p>
        </p:txBody>
      </p:sp>
      <p:sp>
        <p:nvSpPr>
          <p:cNvPr id="7" name="矩形: 圆角 81">
            <a:extLst>
              <a:ext uri="{FF2B5EF4-FFF2-40B4-BE49-F238E27FC236}">
                <a16:creationId xmlns:a16="http://schemas.microsoft.com/office/drawing/2014/main" id="{F36E018B-2E96-4576-9D08-89B6EC75D679}"/>
              </a:ext>
            </a:extLst>
          </p:cNvPr>
          <p:cNvSpPr/>
          <p:nvPr/>
        </p:nvSpPr>
        <p:spPr>
          <a:xfrm>
            <a:off x="302984" y="1325337"/>
            <a:ext cx="8523515" cy="1001486"/>
          </a:xfrm>
          <a:prstGeom prst="roundRect">
            <a:avLst>
              <a:gd name="adj" fmla="val 3995"/>
            </a:avLst>
          </a:prstGeom>
          <a:solidFill>
            <a:schemeClr val="accent6">
              <a:lumMod val="75000"/>
              <a:alpha val="1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algn="ctr" defTabSz="309563" hangingPunct="0"/>
            <a:endParaRPr lang="zh-CN" altLang="en-US" sz="750">
              <a:solidFill>
                <a:srgbClr val="FFFFFF"/>
              </a:solidFill>
              <a:latin typeface="Helvetica Neue Medium"/>
              <a:ea typeface="Helvetica Neue Medium"/>
              <a:cs typeface="Helvetica Neue Medium"/>
              <a:sym typeface="Helvetica Neue Medium"/>
            </a:endParaRPr>
          </a:p>
        </p:txBody>
      </p:sp>
      <p:sp>
        <p:nvSpPr>
          <p:cNvPr id="14" name="矩形 13">
            <a:extLst>
              <a:ext uri="{FF2B5EF4-FFF2-40B4-BE49-F238E27FC236}">
                <a16:creationId xmlns:a16="http://schemas.microsoft.com/office/drawing/2014/main" id="{11B5CABA-4E5E-4B4F-8EA7-6396BD572C98}"/>
              </a:ext>
            </a:extLst>
          </p:cNvPr>
          <p:cNvSpPr/>
          <p:nvPr/>
        </p:nvSpPr>
        <p:spPr>
          <a:xfrm>
            <a:off x="4199150" y="902442"/>
            <a:ext cx="761747" cy="323165"/>
          </a:xfrm>
          <a:prstGeom prst="rect">
            <a:avLst/>
          </a:prstGeom>
        </p:spPr>
        <p:txBody>
          <a:bodyPr wrap="none">
            <a:spAutoFit/>
          </a:bodyPr>
          <a:lstStyle/>
          <a:p>
            <a:r>
              <a:rPr lang="zh-CN" altLang="en-US" sz="1500" dirty="0">
                <a:solidFill>
                  <a:srgbClr val="FF0000"/>
                </a:solidFill>
                <a:latin typeface="+mn-ea"/>
                <a:cs typeface="Helvetica Neue Medium"/>
                <a:sym typeface="Helvetica Neue Medium"/>
              </a:rPr>
              <a:t>应用层</a:t>
            </a:r>
          </a:p>
        </p:txBody>
      </p:sp>
      <p:sp>
        <p:nvSpPr>
          <p:cNvPr id="15" name="箭头: V 形 89">
            <a:extLst>
              <a:ext uri="{FF2B5EF4-FFF2-40B4-BE49-F238E27FC236}">
                <a16:creationId xmlns:a16="http://schemas.microsoft.com/office/drawing/2014/main" id="{F0EFA39D-B653-4968-8C57-03EA299B5279}"/>
              </a:ext>
            </a:extLst>
          </p:cNvPr>
          <p:cNvSpPr/>
          <p:nvPr/>
        </p:nvSpPr>
        <p:spPr>
          <a:xfrm rot="5400000">
            <a:off x="4498824" y="1156772"/>
            <a:ext cx="146957" cy="153888"/>
          </a:xfrm>
          <a:prstGeom prst="chevron">
            <a:avLst/>
          </a:prstGeom>
          <a:solidFill>
            <a:srgbClr val="1F509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rgbClr val="FFFFFF"/>
              </a:solidFill>
              <a:latin typeface="Helvetica Neue Medium"/>
              <a:ea typeface="Helvetica Neue Medium"/>
              <a:cs typeface="Helvetica Neue Medium"/>
              <a:sym typeface="Helvetica Neue Medium"/>
            </a:endParaRPr>
          </a:p>
        </p:txBody>
      </p:sp>
      <p:sp>
        <p:nvSpPr>
          <p:cNvPr id="16" name="箭头: 下 69">
            <a:extLst>
              <a:ext uri="{FF2B5EF4-FFF2-40B4-BE49-F238E27FC236}">
                <a16:creationId xmlns:a16="http://schemas.microsoft.com/office/drawing/2014/main" id="{564455D9-080D-4992-B1FA-65665768DF67}"/>
              </a:ext>
            </a:extLst>
          </p:cNvPr>
          <p:cNvSpPr/>
          <p:nvPr/>
        </p:nvSpPr>
        <p:spPr>
          <a:xfrm rot="10800000">
            <a:off x="2127651" y="2334343"/>
            <a:ext cx="239486" cy="204490"/>
          </a:xfrm>
          <a:prstGeom prst="downArrow">
            <a:avLst/>
          </a:prstGeom>
          <a:solidFill>
            <a:schemeClr val="tx1">
              <a:lumMod val="20000"/>
              <a:lumOff val="80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chemeClr val="bg2">
                  <a:lumMod val="50000"/>
                </a:schemeClr>
              </a:solidFill>
              <a:latin typeface="Helvetica Neue Medium"/>
              <a:ea typeface="Helvetica Neue Medium"/>
              <a:cs typeface="Helvetica Neue Medium"/>
              <a:sym typeface="Helvetica Neue Medium"/>
            </a:endParaRPr>
          </a:p>
        </p:txBody>
      </p:sp>
      <p:sp>
        <p:nvSpPr>
          <p:cNvPr id="27" name="矩形 26">
            <a:extLst>
              <a:ext uri="{FF2B5EF4-FFF2-40B4-BE49-F238E27FC236}">
                <a16:creationId xmlns:a16="http://schemas.microsoft.com/office/drawing/2014/main" id="{FD2FDDEC-707A-44AC-9F08-97A487ECC03E}"/>
              </a:ext>
            </a:extLst>
          </p:cNvPr>
          <p:cNvSpPr/>
          <p:nvPr/>
        </p:nvSpPr>
        <p:spPr>
          <a:xfrm>
            <a:off x="2324234" y="2287120"/>
            <a:ext cx="909864" cy="307777"/>
          </a:xfrm>
          <a:prstGeom prst="rect">
            <a:avLst/>
          </a:prstGeom>
        </p:spPr>
        <p:txBody>
          <a:bodyPr wrap="none">
            <a:spAutoFit/>
          </a:bodyPr>
          <a:lstStyle/>
          <a:p>
            <a:pPr marL="7088"/>
            <a:r>
              <a:rPr lang="zh-CN" altLang="en-US" sz="1400" dirty="0">
                <a:solidFill>
                  <a:schemeClr val="bg2">
                    <a:lumMod val="50000"/>
                  </a:schemeClr>
                </a:solidFill>
                <a:latin typeface="+mn-ea"/>
              </a:rPr>
              <a:t>技术支撑</a:t>
            </a:r>
          </a:p>
        </p:txBody>
      </p:sp>
      <p:sp>
        <p:nvSpPr>
          <p:cNvPr id="37" name="矩形 36"/>
          <p:cNvSpPr/>
          <p:nvPr/>
        </p:nvSpPr>
        <p:spPr>
          <a:xfrm>
            <a:off x="779375" y="5712252"/>
            <a:ext cx="2843512" cy="338554"/>
          </a:xfrm>
          <a:prstGeom prst="rect">
            <a:avLst/>
          </a:prstGeom>
        </p:spPr>
        <p:txBody>
          <a:bodyPr wrap="square">
            <a:spAutoFit/>
          </a:bodyPr>
          <a:lstStyle/>
          <a:p>
            <a:r>
              <a:rPr lang="zh-CN" altLang="en-US" sz="1600" dirty="0">
                <a:latin typeface="+mn-ea"/>
              </a:rPr>
              <a:t>行为、社交等多维度数据采集</a:t>
            </a:r>
          </a:p>
        </p:txBody>
      </p:sp>
      <p:cxnSp>
        <p:nvCxnSpPr>
          <p:cNvPr id="39" name="直接箭头连接符 38"/>
          <p:cNvCxnSpPr/>
          <p:nvPr/>
        </p:nvCxnSpPr>
        <p:spPr>
          <a:xfrm flipH="1" flipV="1">
            <a:off x="2199817" y="5396677"/>
            <a:ext cx="1072" cy="2683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5" name="矩形 44"/>
          <p:cNvSpPr/>
          <p:nvPr/>
        </p:nvSpPr>
        <p:spPr>
          <a:xfrm>
            <a:off x="984382" y="5061117"/>
            <a:ext cx="2453291" cy="338554"/>
          </a:xfrm>
          <a:prstGeom prst="rect">
            <a:avLst/>
          </a:prstGeom>
        </p:spPr>
        <p:txBody>
          <a:bodyPr wrap="square">
            <a:spAutoFit/>
          </a:bodyPr>
          <a:lstStyle/>
          <a:p>
            <a:pPr algn="ctr"/>
            <a:r>
              <a:rPr lang="zh-CN" altLang="en-US" sz="1600" dirty="0">
                <a:latin typeface="+mn-ea"/>
              </a:rPr>
              <a:t>构建多模态数据体系</a:t>
            </a:r>
          </a:p>
        </p:txBody>
      </p:sp>
      <p:cxnSp>
        <p:nvCxnSpPr>
          <p:cNvPr id="53" name="直接箭头连接符 52"/>
          <p:cNvCxnSpPr/>
          <p:nvPr/>
        </p:nvCxnSpPr>
        <p:spPr>
          <a:xfrm flipH="1" flipV="1">
            <a:off x="2199817" y="4730494"/>
            <a:ext cx="1072" cy="2683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4" name="矩形 53"/>
          <p:cNvSpPr/>
          <p:nvPr/>
        </p:nvSpPr>
        <p:spPr>
          <a:xfrm>
            <a:off x="982065" y="4412060"/>
            <a:ext cx="2453291" cy="338554"/>
          </a:xfrm>
          <a:prstGeom prst="rect">
            <a:avLst/>
          </a:prstGeom>
        </p:spPr>
        <p:txBody>
          <a:bodyPr wrap="square">
            <a:spAutoFit/>
          </a:bodyPr>
          <a:lstStyle/>
          <a:p>
            <a:pPr algn="ctr"/>
            <a:r>
              <a:rPr lang="zh-CN" altLang="en-US" sz="1600" dirty="0"/>
              <a:t>学生全面心理画像</a:t>
            </a:r>
          </a:p>
        </p:txBody>
      </p:sp>
      <p:sp>
        <p:nvSpPr>
          <p:cNvPr id="79" name="圆角矩形 78"/>
          <p:cNvSpPr/>
          <p:nvPr/>
        </p:nvSpPr>
        <p:spPr>
          <a:xfrm>
            <a:off x="399095" y="1561798"/>
            <a:ext cx="847019" cy="4777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学生</a:t>
            </a:r>
          </a:p>
        </p:txBody>
      </p:sp>
      <p:sp>
        <p:nvSpPr>
          <p:cNvPr id="80" name="圆角矩形 79"/>
          <p:cNvSpPr/>
          <p:nvPr/>
        </p:nvSpPr>
        <p:spPr>
          <a:xfrm>
            <a:off x="1434339" y="1552664"/>
            <a:ext cx="893849" cy="4777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辅导员</a:t>
            </a:r>
          </a:p>
        </p:txBody>
      </p:sp>
      <p:sp>
        <p:nvSpPr>
          <p:cNvPr id="81" name="圆角矩形 80"/>
          <p:cNvSpPr/>
          <p:nvPr/>
        </p:nvSpPr>
        <p:spPr>
          <a:xfrm>
            <a:off x="3521241" y="1578552"/>
            <a:ext cx="871779" cy="4777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心理师</a:t>
            </a:r>
          </a:p>
        </p:txBody>
      </p:sp>
      <p:sp>
        <p:nvSpPr>
          <p:cNvPr id="82" name="圆角矩形 81"/>
          <p:cNvSpPr/>
          <p:nvPr/>
        </p:nvSpPr>
        <p:spPr>
          <a:xfrm>
            <a:off x="4581245" y="1561798"/>
            <a:ext cx="783498" cy="4777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家庭</a:t>
            </a:r>
          </a:p>
        </p:txBody>
      </p:sp>
      <p:sp>
        <p:nvSpPr>
          <p:cNvPr id="83" name="圆角矩形 82"/>
          <p:cNvSpPr/>
          <p:nvPr/>
        </p:nvSpPr>
        <p:spPr>
          <a:xfrm>
            <a:off x="5552968" y="1561798"/>
            <a:ext cx="871779" cy="4777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医生</a:t>
            </a:r>
          </a:p>
        </p:txBody>
      </p:sp>
      <p:sp>
        <p:nvSpPr>
          <p:cNvPr id="84" name="圆角矩形 83"/>
          <p:cNvSpPr/>
          <p:nvPr/>
        </p:nvSpPr>
        <p:spPr>
          <a:xfrm>
            <a:off x="6612972" y="1561798"/>
            <a:ext cx="882815" cy="4777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医院管理员</a:t>
            </a:r>
          </a:p>
        </p:txBody>
      </p:sp>
      <p:sp>
        <p:nvSpPr>
          <p:cNvPr id="85" name="圆角矩形 84"/>
          <p:cNvSpPr/>
          <p:nvPr/>
        </p:nvSpPr>
        <p:spPr>
          <a:xfrm>
            <a:off x="7684014" y="1578552"/>
            <a:ext cx="1039280" cy="49753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学校管理员</a:t>
            </a:r>
          </a:p>
        </p:txBody>
      </p:sp>
      <p:sp>
        <p:nvSpPr>
          <p:cNvPr id="86" name="圆角矩形 85"/>
          <p:cNvSpPr/>
          <p:nvPr/>
        </p:nvSpPr>
        <p:spPr>
          <a:xfrm>
            <a:off x="2516413" y="1561035"/>
            <a:ext cx="816603" cy="46787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400" dirty="0">
                <a:solidFill>
                  <a:schemeClr val="tx1"/>
                </a:solidFill>
              </a:rPr>
              <a:t>班主任</a:t>
            </a:r>
          </a:p>
        </p:txBody>
      </p:sp>
      <p:sp>
        <p:nvSpPr>
          <p:cNvPr id="70" name="矩形 69">
            <a:extLst>
              <a:ext uri="{FF2B5EF4-FFF2-40B4-BE49-F238E27FC236}">
                <a16:creationId xmlns:a16="http://schemas.microsoft.com/office/drawing/2014/main" id="{E084CF5B-1CEB-45BF-B901-5D767860D12E}"/>
              </a:ext>
            </a:extLst>
          </p:cNvPr>
          <p:cNvSpPr/>
          <p:nvPr/>
        </p:nvSpPr>
        <p:spPr>
          <a:xfrm>
            <a:off x="737442" y="2672689"/>
            <a:ext cx="1005403" cy="338554"/>
          </a:xfrm>
          <a:prstGeom prst="rect">
            <a:avLst/>
          </a:prstGeom>
        </p:spPr>
        <p:txBody>
          <a:bodyPr wrap="none">
            <a:spAutoFit/>
          </a:bodyPr>
          <a:lstStyle/>
          <a:p>
            <a:r>
              <a:rPr lang="zh-CN" altLang="en-US" sz="1600" dirty="0">
                <a:solidFill>
                  <a:srgbClr val="1F5093"/>
                </a:solidFill>
                <a:latin typeface="+mn-ea"/>
                <a:cs typeface="Helvetica Neue Medium"/>
                <a:sym typeface="Helvetica Neue Medium"/>
              </a:rPr>
              <a:t>精准诊断</a:t>
            </a:r>
            <a:endParaRPr lang="en-US" altLang="zh-CN" sz="1600" dirty="0">
              <a:solidFill>
                <a:srgbClr val="1F5093"/>
              </a:solidFill>
              <a:latin typeface="+mn-ea"/>
              <a:cs typeface="Helvetica Neue Medium"/>
              <a:sym typeface="Helvetica Neue Medium"/>
            </a:endParaRPr>
          </a:p>
        </p:txBody>
      </p:sp>
      <p:sp>
        <p:nvSpPr>
          <p:cNvPr id="72" name="矩形 71">
            <a:extLst>
              <a:ext uri="{FF2B5EF4-FFF2-40B4-BE49-F238E27FC236}">
                <a16:creationId xmlns:a16="http://schemas.microsoft.com/office/drawing/2014/main" id="{790BBD9E-2B74-4569-856C-0C076B17D0A1}"/>
              </a:ext>
            </a:extLst>
          </p:cNvPr>
          <p:cNvSpPr/>
          <p:nvPr/>
        </p:nvSpPr>
        <p:spPr>
          <a:xfrm>
            <a:off x="2636926" y="2672690"/>
            <a:ext cx="1210588" cy="338554"/>
          </a:xfrm>
          <a:prstGeom prst="rect">
            <a:avLst/>
          </a:prstGeom>
        </p:spPr>
        <p:txBody>
          <a:bodyPr wrap="none">
            <a:spAutoFit/>
          </a:bodyPr>
          <a:lstStyle/>
          <a:p>
            <a:r>
              <a:rPr lang="zh-CN" altLang="en-US" sz="1600" dirty="0">
                <a:solidFill>
                  <a:srgbClr val="1F5093"/>
                </a:solidFill>
                <a:latin typeface="+mn-ea"/>
                <a:cs typeface="Helvetica Neue Medium"/>
                <a:sym typeface="Helvetica Neue Medium"/>
              </a:rPr>
              <a:t>个性化治疗</a:t>
            </a:r>
          </a:p>
        </p:txBody>
      </p:sp>
      <p:sp>
        <p:nvSpPr>
          <p:cNvPr id="74" name="矩形 73"/>
          <p:cNvSpPr/>
          <p:nvPr/>
        </p:nvSpPr>
        <p:spPr>
          <a:xfrm>
            <a:off x="4555671" y="2616721"/>
            <a:ext cx="4260347" cy="3613051"/>
          </a:xfrm>
          <a:prstGeom prst="rect">
            <a:avLst/>
          </a:prstGeom>
          <a:ln w="12700">
            <a:solidFill>
              <a:srgbClr val="435786"/>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noFill/>
            </a:endParaRPr>
          </a:p>
        </p:txBody>
      </p:sp>
      <p:sp>
        <p:nvSpPr>
          <p:cNvPr id="87" name="矩形: 圆角 80">
            <a:extLst>
              <a:ext uri="{FF2B5EF4-FFF2-40B4-BE49-F238E27FC236}">
                <a16:creationId xmlns:a16="http://schemas.microsoft.com/office/drawing/2014/main" id="{11BCDE94-FD8E-46FA-B5AB-1567D8E6B382}"/>
              </a:ext>
            </a:extLst>
          </p:cNvPr>
          <p:cNvSpPr/>
          <p:nvPr/>
        </p:nvSpPr>
        <p:spPr>
          <a:xfrm>
            <a:off x="4632627" y="4548864"/>
            <a:ext cx="4100055" cy="1594355"/>
          </a:xfrm>
          <a:prstGeom prst="roundRect">
            <a:avLst>
              <a:gd name="adj" fmla="val 3995"/>
            </a:avLst>
          </a:prstGeom>
          <a:solidFill>
            <a:schemeClr val="accent6">
              <a:lumMod val="75000"/>
              <a:alpha val="1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algn="ctr" defTabSz="309563" hangingPunct="0"/>
            <a:endParaRPr lang="zh-CN" altLang="en-US" sz="750" dirty="0">
              <a:solidFill>
                <a:srgbClr val="FFFFFF"/>
              </a:solidFill>
              <a:latin typeface="Helvetica Neue Medium"/>
              <a:ea typeface="Helvetica Neue Medium"/>
              <a:cs typeface="Helvetica Neue Medium"/>
              <a:sym typeface="Helvetica Neue Medium"/>
            </a:endParaRPr>
          </a:p>
        </p:txBody>
      </p:sp>
      <p:sp>
        <p:nvSpPr>
          <p:cNvPr id="88" name="矩形 87">
            <a:extLst>
              <a:ext uri="{FF2B5EF4-FFF2-40B4-BE49-F238E27FC236}">
                <a16:creationId xmlns:a16="http://schemas.microsoft.com/office/drawing/2014/main" id="{CC3FB527-294A-4FC5-B234-B97758EFF919}"/>
              </a:ext>
            </a:extLst>
          </p:cNvPr>
          <p:cNvSpPr/>
          <p:nvPr/>
        </p:nvSpPr>
        <p:spPr>
          <a:xfrm>
            <a:off x="6030360" y="6421012"/>
            <a:ext cx="1338828" cy="323165"/>
          </a:xfrm>
          <a:prstGeom prst="rect">
            <a:avLst/>
          </a:prstGeom>
        </p:spPr>
        <p:txBody>
          <a:bodyPr wrap="none">
            <a:spAutoFit/>
          </a:bodyPr>
          <a:lstStyle/>
          <a:p>
            <a:r>
              <a:rPr lang="zh-CN" altLang="en-US" sz="1500" dirty="0">
                <a:solidFill>
                  <a:srgbClr val="1F5093"/>
                </a:solidFill>
                <a:latin typeface="+mn-ea"/>
                <a:cs typeface="Helvetica Neue Medium"/>
                <a:sym typeface="Helvetica Neue Medium"/>
              </a:rPr>
              <a:t>底层核心技术</a:t>
            </a:r>
          </a:p>
        </p:txBody>
      </p:sp>
      <p:sp>
        <p:nvSpPr>
          <p:cNvPr id="89" name="箭头: V 形 88">
            <a:extLst>
              <a:ext uri="{FF2B5EF4-FFF2-40B4-BE49-F238E27FC236}">
                <a16:creationId xmlns:a16="http://schemas.microsoft.com/office/drawing/2014/main" id="{B72D7C62-CCD3-4F13-9746-77F7E9A37157}"/>
              </a:ext>
            </a:extLst>
          </p:cNvPr>
          <p:cNvSpPr/>
          <p:nvPr/>
        </p:nvSpPr>
        <p:spPr>
          <a:xfrm rot="16200000">
            <a:off x="6623575" y="6279827"/>
            <a:ext cx="146957" cy="153888"/>
          </a:xfrm>
          <a:prstGeom prst="chevron">
            <a:avLst/>
          </a:prstGeom>
          <a:solidFill>
            <a:srgbClr val="1F509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rgbClr val="FFFFFF"/>
              </a:solidFill>
              <a:latin typeface="Helvetica Neue Medium"/>
              <a:ea typeface="Helvetica Neue Medium"/>
              <a:cs typeface="Helvetica Neue Medium"/>
              <a:sym typeface="Helvetica Neue Medium"/>
            </a:endParaRPr>
          </a:p>
        </p:txBody>
      </p:sp>
      <p:sp>
        <p:nvSpPr>
          <p:cNvPr id="90" name="箭头: 下 69">
            <a:extLst>
              <a:ext uri="{FF2B5EF4-FFF2-40B4-BE49-F238E27FC236}">
                <a16:creationId xmlns:a16="http://schemas.microsoft.com/office/drawing/2014/main" id="{564455D9-080D-4992-B1FA-65665768DF67}"/>
              </a:ext>
            </a:extLst>
          </p:cNvPr>
          <p:cNvSpPr/>
          <p:nvPr/>
        </p:nvSpPr>
        <p:spPr>
          <a:xfrm rot="10800000">
            <a:off x="6555539" y="2343466"/>
            <a:ext cx="239486" cy="204490"/>
          </a:xfrm>
          <a:prstGeom prst="downArrow">
            <a:avLst/>
          </a:prstGeom>
          <a:solidFill>
            <a:schemeClr val="tx1">
              <a:lumMod val="20000"/>
              <a:lumOff val="80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chemeClr val="bg2">
                  <a:lumMod val="50000"/>
                </a:schemeClr>
              </a:solidFill>
              <a:latin typeface="Helvetica Neue Medium"/>
              <a:ea typeface="Helvetica Neue Medium"/>
              <a:cs typeface="Helvetica Neue Medium"/>
              <a:sym typeface="Helvetica Neue Medium"/>
            </a:endParaRPr>
          </a:p>
        </p:txBody>
      </p:sp>
      <p:sp>
        <p:nvSpPr>
          <p:cNvPr id="91" name="矩形: 圆角 80">
            <a:extLst>
              <a:ext uri="{FF2B5EF4-FFF2-40B4-BE49-F238E27FC236}">
                <a16:creationId xmlns:a16="http://schemas.microsoft.com/office/drawing/2014/main" id="{11BCDE94-FD8E-46FA-B5AB-1567D8E6B382}"/>
              </a:ext>
            </a:extLst>
          </p:cNvPr>
          <p:cNvSpPr/>
          <p:nvPr/>
        </p:nvSpPr>
        <p:spPr>
          <a:xfrm>
            <a:off x="4658027" y="2754531"/>
            <a:ext cx="4074655" cy="1458292"/>
          </a:xfrm>
          <a:prstGeom prst="roundRect">
            <a:avLst>
              <a:gd name="adj" fmla="val 3995"/>
            </a:avLst>
          </a:prstGeom>
          <a:solidFill>
            <a:schemeClr val="accent6">
              <a:lumMod val="75000"/>
              <a:alpha val="1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algn="ctr" defTabSz="309563" hangingPunct="0"/>
            <a:endParaRPr lang="zh-CN" altLang="en-US" sz="750" dirty="0">
              <a:solidFill>
                <a:srgbClr val="FFFFFF"/>
              </a:solidFill>
              <a:latin typeface="Helvetica Neue Medium"/>
              <a:ea typeface="Helvetica Neue Medium"/>
              <a:cs typeface="Helvetica Neue Medium"/>
              <a:sym typeface="Helvetica Neue Medium"/>
            </a:endParaRPr>
          </a:p>
        </p:txBody>
      </p:sp>
      <p:sp>
        <p:nvSpPr>
          <p:cNvPr id="92" name="矩形 91">
            <a:extLst>
              <a:ext uri="{FF2B5EF4-FFF2-40B4-BE49-F238E27FC236}">
                <a16:creationId xmlns:a16="http://schemas.microsoft.com/office/drawing/2014/main" id="{FD2FDDEC-707A-44AC-9F08-97A487ECC03E}"/>
              </a:ext>
            </a:extLst>
          </p:cNvPr>
          <p:cNvSpPr/>
          <p:nvPr/>
        </p:nvSpPr>
        <p:spPr>
          <a:xfrm>
            <a:off x="6704809" y="2321123"/>
            <a:ext cx="909864" cy="307777"/>
          </a:xfrm>
          <a:prstGeom prst="rect">
            <a:avLst/>
          </a:prstGeom>
        </p:spPr>
        <p:txBody>
          <a:bodyPr wrap="none">
            <a:spAutoFit/>
          </a:bodyPr>
          <a:lstStyle/>
          <a:p>
            <a:pPr marL="7088"/>
            <a:r>
              <a:rPr lang="zh-CN" altLang="en-US" sz="1400" dirty="0">
                <a:solidFill>
                  <a:schemeClr val="bg2">
                    <a:lumMod val="50000"/>
                  </a:schemeClr>
                </a:solidFill>
                <a:latin typeface="+mn-ea"/>
              </a:rPr>
              <a:t>技术支撑</a:t>
            </a:r>
          </a:p>
        </p:txBody>
      </p:sp>
      <p:sp>
        <p:nvSpPr>
          <p:cNvPr id="93" name="矩形 92">
            <a:extLst>
              <a:ext uri="{FF2B5EF4-FFF2-40B4-BE49-F238E27FC236}">
                <a16:creationId xmlns:a16="http://schemas.microsoft.com/office/drawing/2014/main" id="{071878C8-9D61-4E8F-9977-E624B4E45C31}"/>
              </a:ext>
            </a:extLst>
          </p:cNvPr>
          <p:cNvSpPr/>
          <p:nvPr/>
        </p:nvSpPr>
        <p:spPr>
          <a:xfrm>
            <a:off x="6107221" y="4246117"/>
            <a:ext cx="1268937" cy="307777"/>
          </a:xfrm>
          <a:prstGeom prst="rect">
            <a:avLst/>
          </a:prstGeom>
        </p:spPr>
        <p:txBody>
          <a:bodyPr wrap="none">
            <a:spAutoFit/>
          </a:bodyPr>
          <a:lstStyle/>
          <a:p>
            <a:pPr marL="7088"/>
            <a:r>
              <a:rPr lang="zh-CN" altLang="en-US" sz="1400" dirty="0">
                <a:solidFill>
                  <a:schemeClr val="bg2">
                    <a:lumMod val="50000"/>
                  </a:schemeClr>
                </a:solidFill>
                <a:latin typeface="+mn-ea"/>
              </a:rPr>
              <a:t>底层平台支撑</a:t>
            </a:r>
          </a:p>
        </p:txBody>
      </p:sp>
      <p:sp>
        <p:nvSpPr>
          <p:cNvPr id="94" name="箭头: 下 1">
            <a:extLst>
              <a:ext uri="{FF2B5EF4-FFF2-40B4-BE49-F238E27FC236}">
                <a16:creationId xmlns:a16="http://schemas.microsoft.com/office/drawing/2014/main" id="{20252A56-3CBF-4EBE-AC59-9785526C266A}"/>
              </a:ext>
            </a:extLst>
          </p:cNvPr>
          <p:cNvSpPr/>
          <p:nvPr/>
        </p:nvSpPr>
        <p:spPr>
          <a:xfrm rot="10800000">
            <a:off x="5736958" y="4275038"/>
            <a:ext cx="239486" cy="204490"/>
          </a:xfrm>
          <a:prstGeom prst="downArrow">
            <a:avLst/>
          </a:prstGeom>
          <a:solidFill>
            <a:schemeClr val="tx1">
              <a:lumMod val="20000"/>
              <a:lumOff val="80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chemeClr val="bg2">
                  <a:lumMod val="50000"/>
                </a:schemeClr>
              </a:solidFill>
              <a:latin typeface="Helvetica Neue Medium"/>
              <a:ea typeface="Helvetica Neue Medium"/>
              <a:cs typeface="Helvetica Neue Medium"/>
              <a:sym typeface="Helvetica Neue Medium"/>
            </a:endParaRPr>
          </a:p>
        </p:txBody>
      </p:sp>
      <p:sp>
        <p:nvSpPr>
          <p:cNvPr id="95" name="箭头: 下 66">
            <a:extLst>
              <a:ext uri="{FF2B5EF4-FFF2-40B4-BE49-F238E27FC236}">
                <a16:creationId xmlns:a16="http://schemas.microsoft.com/office/drawing/2014/main" id="{335BC8D7-076F-4B56-85E3-639281767AD6}"/>
              </a:ext>
            </a:extLst>
          </p:cNvPr>
          <p:cNvSpPr/>
          <p:nvPr/>
        </p:nvSpPr>
        <p:spPr>
          <a:xfrm rot="10800000">
            <a:off x="7502258" y="4275038"/>
            <a:ext cx="239486" cy="204490"/>
          </a:xfrm>
          <a:prstGeom prst="downArrow">
            <a:avLst/>
          </a:prstGeom>
          <a:solidFill>
            <a:schemeClr val="tx1">
              <a:lumMod val="20000"/>
              <a:lumOff val="80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chemeClr val="bg2">
                  <a:lumMod val="50000"/>
                </a:schemeClr>
              </a:solidFill>
              <a:latin typeface="Helvetica Neue Medium"/>
              <a:ea typeface="Helvetica Neue Medium"/>
              <a:cs typeface="Helvetica Neue Medium"/>
              <a:sym typeface="Helvetica Neue Medium"/>
            </a:endParaRPr>
          </a:p>
        </p:txBody>
      </p:sp>
      <p:sp>
        <p:nvSpPr>
          <p:cNvPr id="96" name="TextBox 95"/>
          <p:cNvSpPr txBox="1"/>
          <p:nvPr/>
        </p:nvSpPr>
        <p:spPr>
          <a:xfrm>
            <a:off x="4632627" y="4566594"/>
            <a:ext cx="4100055" cy="338554"/>
          </a:xfrm>
          <a:prstGeom prst="rect">
            <a:avLst/>
          </a:prstGeom>
          <a:noFill/>
        </p:spPr>
        <p:txBody>
          <a:bodyPr wrap="square" rtlCol="0">
            <a:spAutoFit/>
          </a:bodyPr>
          <a:lstStyle/>
          <a:p>
            <a:r>
              <a:rPr lang="zh-CN" altLang="zh-CN" sz="1600" dirty="0"/>
              <a:t>基于可信存证与可靠存储</a:t>
            </a:r>
            <a:r>
              <a:rPr lang="zh-CN" altLang="en-US" sz="1600" dirty="0"/>
              <a:t>的</a:t>
            </a:r>
            <a:r>
              <a:rPr lang="zh-CN" altLang="zh-CN" sz="1600" dirty="0"/>
              <a:t>分布式存证系统</a:t>
            </a:r>
            <a:endParaRPr lang="zh-CN" altLang="en-US" sz="1600" dirty="0"/>
          </a:p>
        </p:txBody>
      </p:sp>
      <p:sp>
        <p:nvSpPr>
          <p:cNvPr id="97" name="矩形: 圆角 33">
            <a:extLst>
              <a:ext uri="{FF2B5EF4-FFF2-40B4-BE49-F238E27FC236}">
                <a16:creationId xmlns:a16="http://schemas.microsoft.com/office/drawing/2014/main" id="{7FD31EDF-51FF-4285-8E2D-02FCE5E0D495}"/>
              </a:ext>
            </a:extLst>
          </p:cNvPr>
          <p:cNvSpPr/>
          <p:nvPr/>
        </p:nvSpPr>
        <p:spPr>
          <a:xfrm>
            <a:off x="4734560" y="4905148"/>
            <a:ext cx="1690187" cy="440893"/>
          </a:xfrm>
          <a:prstGeom prst="roundRect">
            <a:avLst>
              <a:gd name="adj" fmla="val 10667"/>
            </a:avLst>
          </a:prstGeom>
          <a:noFill/>
          <a:ln w="635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3500" tIns="27000" rIns="13500" bIns="27000" numCol="1" spcCol="38100" rtlCol="0" anchor="ctr" anchorCtr="0">
            <a:noAutofit/>
          </a:bodyPr>
          <a:lstStyle/>
          <a:p>
            <a:pPr marL="7088" algn="ctr"/>
            <a:r>
              <a:rPr lang="zh-CN" altLang="en-US" sz="1300" dirty="0">
                <a:latin typeface="+mj-ea"/>
                <a:ea typeface="+mj-ea"/>
              </a:rPr>
              <a:t>基于区块链的分布式</a:t>
            </a:r>
            <a:endParaRPr lang="en-US" altLang="zh-CN" sz="1300" dirty="0">
              <a:latin typeface="+mj-ea"/>
              <a:ea typeface="+mj-ea"/>
            </a:endParaRPr>
          </a:p>
          <a:p>
            <a:pPr marL="7088" algn="ctr"/>
            <a:r>
              <a:rPr lang="zh-CN" altLang="en-US" sz="1300" dirty="0">
                <a:latin typeface="+mj-ea"/>
                <a:ea typeface="+mj-ea"/>
              </a:rPr>
              <a:t>可信文件存证模块</a:t>
            </a:r>
          </a:p>
        </p:txBody>
      </p:sp>
      <p:sp>
        <p:nvSpPr>
          <p:cNvPr id="98" name="矩形: 圆角 33">
            <a:extLst>
              <a:ext uri="{FF2B5EF4-FFF2-40B4-BE49-F238E27FC236}">
                <a16:creationId xmlns:a16="http://schemas.microsoft.com/office/drawing/2014/main" id="{7FD31EDF-51FF-4285-8E2D-02FCE5E0D495}"/>
              </a:ext>
            </a:extLst>
          </p:cNvPr>
          <p:cNvSpPr/>
          <p:nvPr/>
        </p:nvSpPr>
        <p:spPr>
          <a:xfrm>
            <a:off x="6943028" y="4905148"/>
            <a:ext cx="1692971" cy="440893"/>
          </a:xfrm>
          <a:prstGeom prst="roundRect">
            <a:avLst>
              <a:gd name="adj" fmla="val 10667"/>
            </a:avLst>
          </a:prstGeom>
          <a:noFill/>
          <a:ln w="635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3500" tIns="27000" rIns="13500" bIns="27000" numCol="1" spcCol="38100" rtlCol="0" anchor="ctr" anchorCtr="0">
            <a:noAutofit/>
          </a:bodyPr>
          <a:lstStyle/>
          <a:p>
            <a:pPr marL="7088" algn="ctr"/>
            <a:r>
              <a:rPr lang="zh-CN" altLang="en-US" sz="1300" dirty="0">
                <a:latin typeface="+mj-ea"/>
                <a:ea typeface="+mj-ea"/>
              </a:rPr>
              <a:t>基于对象存储的分布式可靠文件存储模块</a:t>
            </a:r>
          </a:p>
        </p:txBody>
      </p:sp>
      <p:sp>
        <p:nvSpPr>
          <p:cNvPr id="99" name="矩形: 圆角 33">
            <a:extLst>
              <a:ext uri="{FF2B5EF4-FFF2-40B4-BE49-F238E27FC236}">
                <a16:creationId xmlns:a16="http://schemas.microsoft.com/office/drawing/2014/main" id="{7FD31EDF-51FF-4285-8E2D-02FCE5E0D495}"/>
              </a:ext>
            </a:extLst>
          </p:cNvPr>
          <p:cNvSpPr/>
          <p:nvPr/>
        </p:nvSpPr>
        <p:spPr>
          <a:xfrm>
            <a:off x="4734560" y="5689667"/>
            <a:ext cx="3901439" cy="370114"/>
          </a:xfrm>
          <a:prstGeom prst="roundRect">
            <a:avLst>
              <a:gd name="adj" fmla="val 10667"/>
            </a:avLst>
          </a:prstGeom>
          <a:noFill/>
          <a:ln w="635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3500" tIns="27000" rIns="13500" bIns="27000" numCol="1" spcCol="38100" rtlCol="0" anchor="ctr" anchorCtr="0">
            <a:noAutofit/>
          </a:bodyPr>
          <a:lstStyle/>
          <a:p>
            <a:pPr marL="7088" algn="ctr"/>
            <a:r>
              <a:rPr lang="zh-CN" altLang="en-US" sz="1300" dirty="0">
                <a:latin typeface="+mj-ea"/>
                <a:ea typeface="+mj-ea"/>
              </a:rPr>
              <a:t>基于</a:t>
            </a:r>
            <a:r>
              <a:rPr lang="en-US" altLang="zh-CN" sz="1300" dirty="0">
                <a:latin typeface="+mj-ea"/>
                <a:ea typeface="+mj-ea"/>
              </a:rPr>
              <a:t>AES-GCM</a:t>
            </a:r>
            <a:r>
              <a:rPr lang="zh-CN" altLang="en-US" sz="1300" dirty="0">
                <a:latin typeface="+mj-ea"/>
                <a:ea typeface="+mj-ea"/>
              </a:rPr>
              <a:t>算法的分布式安全文件防御模块</a:t>
            </a:r>
          </a:p>
        </p:txBody>
      </p:sp>
      <p:cxnSp>
        <p:nvCxnSpPr>
          <p:cNvPr id="100" name="肘形连接符 99"/>
          <p:cNvCxnSpPr>
            <a:stCxn id="99" idx="0"/>
            <a:endCxn id="97" idx="2"/>
          </p:cNvCxnSpPr>
          <p:nvPr/>
        </p:nvCxnSpPr>
        <p:spPr>
          <a:xfrm rot="16200000" flipV="1">
            <a:off x="5960654" y="4965041"/>
            <a:ext cx="343626" cy="1105626"/>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101" name="肘形连接符 100"/>
          <p:cNvCxnSpPr>
            <a:stCxn id="99" idx="0"/>
            <a:endCxn id="98" idx="2"/>
          </p:cNvCxnSpPr>
          <p:nvPr/>
        </p:nvCxnSpPr>
        <p:spPr>
          <a:xfrm rot="5400000" flipH="1" flipV="1">
            <a:off x="7065584" y="4965737"/>
            <a:ext cx="343626" cy="1104234"/>
          </a:xfrm>
          <a:prstGeom prst="bentConnector3">
            <a:avLst/>
          </a:prstGeom>
          <a:ln>
            <a:tailEnd type="arrow"/>
          </a:ln>
        </p:spPr>
        <p:style>
          <a:lnRef idx="1">
            <a:schemeClr val="dk1"/>
          </a:lnRef>
          <a:fillRef idx="0">
            <a:schemeClr val="dk1"/>
          </a:fillRef>
          <a:effectRef idx="0">
            <a:schemeClr val="dk1"/>
          </a:effectRef>
          <a:fontRef idx="minor">
            <a:schemeClr val="tx1"/>
          </a:fontRef>
        </p:style>
      </p:cxnSp>
      <p:sp>
        <p:nvSpPr>
          <p:cNvPr id="102" name="矩形 101"/>
          <p:cNvSpPr/>
          <p:nvPr/>
        </p:nvSpPr>
        <p:spPr>
          <a:xfrm>
            <a:off x="4659886" y="2776404"/>
            <a:ext cx="4072796" cy="338554"/>
          </a:xfrm>
          <a:prstGeom prst="rect">
            <a:avLst/>
          </a:prstGeom>
          <a:noFill/>
        </p:spPr>
        <p:txBody>
          <a:bodyPr wrap="square" rtlCol="0">
            <a:spAutoFit/>
          </a:bodyPr>
          <a:lstStyle/>
          <a:p>
            <a:pPr algn="ctr"/>
            <a:r>
              <a:rPr lang="zh-CN" altLang="en-US" sz="1600" dirty="0"/>
              <a:t>基于</a:t>
            </a:r>
            <a:r>
              <a:rPr lang="zh-CN" altLang="en-US" sz="1600" dirty="0">
                <a:solidFill>
                  <a:srgbClr val="FF0000"/>
                </a:solidFill>
              </a:rPr>
              <a:t>双层循环的高效个性化联邦学习</a:t>
            </a:r>
            <a:r>
              <a:rPr lang="zh-CN" altLang="en-US" sz="1600" dirty="0"/>
              <a:t>技术</a:t>
            </a:r>
          </a:p>
        </p:txBody>
      </p:sp>
      <p:sp>
        <p:nvSpPr>
          <p:cNvPr id="103" name="椭圆 102"/>
          <p:cNvSpPr/>
          <p:nvPr/>
        </p:nvSpPr>
        <p:spPr>
          <a:xfrm>
            <a:off x="5071786" y="3285723"/>
            <a:ext cx="1055900" cy="749024"/>
          </a:xfrm>
          <a:prstGeom prst="ellipse">
            <a:avLst/>
          </a:prstGeom>
          <a:noFill/>
          <a:ln w="9525">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全局模型循环</a:t>
            </a:r>
          </a:p>
        </p:txBody>
      </p:sp>
      <p:sp>
        <p:nvSpPr>
          <p:cNvPr id="104" name="椭圆 103"/>
          <p:cNvSpPr/>
          <p:nvPr/>
        </p:nvSpPr>
        <p:spPr>
          <a:xfrm>
            <a:off x="7213794" y="3285723"/>
            <a:ext cx="1055900" cy="749024"/>
          </a:xfrm>
          <a:prstGeom prst="ellipse">
            <a:avLst/>
          </a:prstGeom>
          <a:noFill/>
          <a:ln w="9525">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个性化模型循环</a:t>
            </a:r>
          </a:p>
        </p:txBody>
      </p:sp>
      <p:cxnSp>
        <p:nvCxnSpPr>
          <p:cNvPr id="105" name="直接箭头连接符 104"/>
          <p:cNvCxnSpPr/>
          <p:nvPr/>
        </p:nvCxnSpPr>
        <p:spPr>
          <a:xfrm>
            <a:off x="6127686" y="3636077"/>
            <a:ext cx="1086108"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06" name="矩形 105"/>
          <p:cNvSpPr/>
          <p:nvPr/>
        </p:nvSpPr>
        <p:spPr>
          <a:xfrm>
            <a:off x="6030152" y="3367757"/>
            <a:ext cx="1261884" cy="307777"/>
          </a:xfrm>
          <a:prstGeom prst="rect">
            <a:avLst/>
          </a:prstGeom>
        </p:spPr>
        <p:txBody>
          <a:bodyPr wrap="none">
            <a:spAutoFit/>
          </a:bodyPr>
          <a:lstStyle/>
          <a:p>
            <a:r>
              <a:rPr lang="zh-CN" altLang="en-US" sz="1400" dirty="0"/>
              <a:t>全局知识传递</a:t>
            </a:r>
          </a:p>
        </p:txBody>
      </p:sp>
      <p:sp>
        <p:nvSpPr>
          <p:cNvPr id="107" name="矩形 106">
            <a:extLst>
              <a:ext uri="{FF2B5EF4-FFF2-40B4-BE49-F238E27FC236}">
                <a16:creationId xmlns:a16="http://schemas.microsoft.com/office/drawing/2014/main" id="{CC3FB527-294A-4FC5-B234-B97758EFF919}"/>
              </a:ext>
            </a:extLst>
          </p:cNvPr>
          <p:cNvSpPr/>
          <p:nvPr/>
        </p:nvSpPr>
        <p:spPr>
          <a:xfrm>
            <a:off x="1547485" y="6424117"/>
            <a:ext cx="1338828" cy="323165"/>
          </a:xfrm>
          <a:prstGeom prst="rect">
            <a:avLst/>
          </a:prstGeom>
        </p:spPr>
        <p:txBody>
          <a:bodyPr wrap="none">
            <a:spAutoFit/>
          </a:bodyPr>
          <a:lstStyle/>
          <a:p>
            <a:r>
              <a:rPr lang="zh-CN" altLang="en-US" sz="1500" dirty="0">
                <a:solidFill>
                  <a:srgbClr val="1F5093"/>
                </a:solidFill>
                <a:latin typeface="+mn-ea"/>
                <a:cs typeface="Helvetica Neue Medium"/>
                <a:sym typeface="Helvetica Neue Medium"/>
              </a:rPr>
              <a:t>人工智能赋能</a:t>
            </a:r>
          </a:p>
        </p:txBody>
      </p:sp>
      <p:sp>
        <p:nvSpPr>
          <p:cNvPr id="108" name="箭头: V 形 88">
            <a:extLst>
              <a:ext uri="{FF2B5EF4-FFF2-40B4-BE49-F238E27FC236}">
                <a16:creationId xmlns:a16="http://schemas.microsoft.com/office/drawing/2014/main" id="{B72D7C62-CCD3-4F13-9746-77F7E9A37157}"/>
              </a:ext>
            </a:extLst>
          </p:cNvPr>
          <p:cNvSpPr/>
          <p:nvPr/>
        </p:nvSpPr>
        <p:spPr>
          <a:xfrm rot="16200000">
            <a:off x="2140700" y="6282932"/>
            <a:ext cx="146957" cy="153888"/>
          </a:xfrm>
          <a:prstGeom prst="chevron">
            <a:avLst/>
          </a:prstGeom>
          <a:solidFill>
            <a:srgbClr val="1F509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rgbClr val="FFFFFF"/>
              </a:solidFill>
              <a:latin typeface="Helvetica Neue Medium"/>
              <a:ea typeface="Helvetica Neue Medium"/>
              <a:cs typeface="Helvetica Neue Medium"/>
              <a:sym typeface="Helvetica Neue Medium"/>
            </a:endParaRPr>
          </a:p>
        </p:txBody>
      </p:sp>
      <p:sp>
        <p:nvSpPr>
          <p:cNvPr id="110" name="矩形 109"/>
          <p:cNvSpPr/>
          <p:nvPr/>
        </p:nvSpPr>
        <p:spPr>
          <a:xfrm>
            <a:off x="319492" y="3025041"/>
            <a:ext cx="1880325" cy="307777"/>
          </a:xfrm>
          <a:prstGeom prst="rect">
            <a:avLst/>
          </a:prstGeom>
        </p:spPr>
        <p:txBody>
          <a:bodyPr wrap="square">
            <a:spAutoFit/>
          </a:bodyPr>
          <a:lstStyle/>
          <a:p>
            <a:pPr algn="ctr" defTabSz="309563" hangingPunct="0"/>
            <a:r>
              <a:rPr lang="en-US" altLang="zh-CN" sz="1400" dirty="0">
                <a:latin typeface="+mn-ea"/>
                <a:cs typeface="Helvetica Neue Medium"/>
                <a:sym typeface="Helvetica Neue Medium"/>
              </a:rPr>
              <a:t>AI</a:t>
            </a:r>
            <a:r>
              <a:rPr lang="zh-CN" altLang="en-US" sz="1400" dirty="0">
                <a:latin typeface="+mn-ea"/>
                <a:cs typeface="Helvetica Neue Medium"/>
                <a:sym typeface="Helvetica Neue Medium"/>
              </a:rPr>
              <a:t>初筛</a:t>
            </a:r>
            <a:r>
              <a:rPr lang="en-US" altLang="zh-CN" sz="1400" dirty="0">
                <a:latin typeface="+mn-ea"/>
                <a:cs typeface="Helvetica Neue Medium"/>
                <a:sym typeface="Helvetica Neue Medium"/>
              </a:rPr>
              <a:t>+</a:t>
            </a:r>
            <a:r>
              <a:rPr lang="zh-CN" altLang="en-US" sz="1400" dirty="0">
                <a:latin typeface="+mn-ea"/>
                <a:cs typeface="Helvetica Neue Medium"/>
                <a:sym typeface="Helvetica Neue Medium"/>
              </a:rPr>
              <a:t>人工复核</a:t>
            </a:r>
          </a:p>
        </p:txBody>
      </p:sp>
      <p:sp>
        <p:nvSpPr>
          <p:cNvPr id="111" name="矩形 110"/>
          <p:cNvSpPr/>
          <p:nvPr/>
        </p:nvSpPr>
        <p:spPr>
          <a:xfrm>
            <a:off x="2525219" y="3619835"/>
            <a:ext cx="1441420" cy="307777"/>
          </a:xfrm>
          <a:prstGeom prst="rect">
            <a:avLst/>
          </a:prstGeom>
        </p:spPr>
        <p:txBody>
          <a:bodyPr wrap="none">
            <a:spAutoFit/>
          </a:bodyPr>
          <a:lstStyle/>
          <a:p>
            <a:r>
              <a:rPr lang="zh-CN" altLang="en-US" sz="1400" dirty="0">
                <a:latin typeface="+mn-ea"/>
              </a:rPr>
              <a:t>环境渗透式干预</a:t>
            </a:r>
          </a:p>
        </p:txBody>
      </p:sp>
      <p:sp>
        <p:nvSpPr>
          <p:cNvPr id="112" name="矩形 111"/>
          <p:cNvSpPr/>
          <p:nvPr/>
        </p:nvSpPr>
        <p:spPr>
          <a:xfrm>
            <a:off x="2611278" y="3045815"/>
            <a:ext cx="1261884" cy="307777"/>
          </a:xfrm>
          <a:prstGeom prst="rect">
            <a:avLst/>
          </a:prstGeom>
        </p:spPr>
        <p:txBody>
          <a:bodyPr wrap="none">
            <a:spAutoFit/>
          </a:bodyPr>
          <a:lstStyle/>
          <a:p>
            <a:r>
              <a:rPr lang="zh-CN" altLang="en-US" sz="1400" dirty="0">
                <a:latin typeface="+mn-ea"/>
              </a:rPr>
              <a:t>显性直接干预</a:t>
            </a:r>
          </a:p>
        </p:txBody>
      </p:sp>
      <p:sp>
        <p:nvSpPr>
          <p:cNvPr id="55" name="矩形 54"/>
          <p:cNvSpPr/>
          <p:nvPr/>
        </p:nvSpPr>
        <p:spPr>
          <a:xfrm>
            <a:off x="339678" y="3636077"/>
            <a:ext cx="1880325" cy="307777"/>
          </a:xfrm>
          <a:prstGeom prst="rect">
            <a:avLst/>
          </a:prstGeom>
        </p:spPr>
        <p:txBody>
          <a:bodyPr wrap="square">
            <a:spAutoFit/>
          </a:bodyPr>
          <a:lstStyle/>
          <a:p>
            <a:pPr algn="ctr" defTabSz="309563" hangingPunct="0"/>
            <a:r>
              <a:rPr lang="zh-CN" altLang="en-US" sz="1400" dirty="0">
                <a:latin typeface="+mn-ea"/>
                <a:cs typeface="Helvetica Neue Medium"/>
                <a:sym typeface="Helvetica Neue Medium"/>
              </a:rPr>
              <a:t>诊断引擎</a:t>
            </a:r>
          </a:p>
        </p:txBody>
      </p:sp>
      <p:cxnSp>
        <p:nvCxnSpPr>
          <p:cNvPr id="56" name="直接箭头连接符 55"/>
          <p:cNvCxnSpPr/>
          <p:nvPr/>
        </p:nvCxnSpPr>
        <p:spPr>
          <a:xfrm flipH="1" flipV="1">
            <a:off x="1259205" y="3374316"/>
            <a:ext cx="1072" cy="2683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9" name="箭头: 下 1">
            <a:extLst>
              <a:ext uri="{FF2B5EF4-FFF2-40B4-BE49-F238E27FC236}">
                <a16:creationId xmlns:a16="http://schemas.microsoft.com/office/drawing/2014/main" id="{20252A56-3CBF-4EBE-AC59-9785526C266A}"/>
              </a:ext>
            </a:extLst>
          </p:cNvPr>
          <p:cNvSpPr/>
          <p:nvPr/>
        </p:nvSpPr>
        <p:spPr>
          <a:xfrm rot="10800000">
            <a:off x="1149481" y="4080098"/>
            <a:ext cx="239486" cy="204490"/>
          </a:xfrm>
          <a:prstGeom prst="downArrow">
            <a:avLst/>
          </a:prstGeom>
          <a:solidFill>
            <a:schemeClr val="tx1">
              <a:lumMod val="20000"/>
              <a:lumOff val="80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chemeClr val="bg2">
                  <a:lumMod val="50000"/>
                </a:schemeClr>
              </a:solidFill>
              <a:latin typeface="Helvetica Neue Medium"/>
              <a:ea typeface="Helvetica Neue Medium"/>
              <a:cs typeface="Helvetica Neue Medium"/>
              <a:sym typeface="Helvetica Neue Medium"/>
            </a:endParaRPr>
          </a:p>
        </p:txBody>
      </p:sp>
      <p:sp>
        <p:nvSpPr>
          <p:cNvPr id="60" name="箭头: 下 1">
            <a:extLst>
              <a:ext uri="{FF2B5EF4-FFF2-40B4-BE49-F238E27FC236}">
                <a16:creationId xmlns:a16="http://schemas.microsoft.com/office/drawing/2014/main" id="{20252A56-3CBF-4EBE-AC59-9785526C266A}"/>
              </a:ext>
            </a:extLst>
          </p:cNvPr>
          <p:cNvSpPr/>
          <p:nvPr/>
        </p:nvSpPr>
        <p:spPr>
          <a:xfrm rot="10800000">
            <a:off x="3155230" y="4082312"/>
            <a:ext cx="239486" cy="204490"/>
          </a:xfrm>
          <a:prstGeom prst="downArrow">
            <a:avLst/>
          </a:prstGeom>
          <a:solidFill>
            <a:schemeClr val="tx1">
              <a:lumMod val="20000"/>
              <a:lumOff val="80000"/>
            </a:schemeClr>
          </a:solid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algn="ctr" defTabSz="309563" hangingPunct="0"/>
            <a:endParaRPr lang="zh-CN" altLang="en-US" sz="750">
              <a:solidFill>
                <a:schemeClr val="bg2">
                  <a:lumMod val="50000"/>
                </a:schemeClr>
              </a:solidFill>
              <a:latin typeface="Helvetica Neue Medium"/>
              <a:ea typeface="Helvetica Neue Medium"/>
              <a:cs typeface="Helvetica Neue Medium"/>
              <a:sym typeface="Helvetica Neue Medium"/>
            </a:endParaRPr>
          </a:p>
        </p:txBody>
      </p:sp>
      <p:sp>
        <p:nvSpPr>
          <p:cNvPr id="62" name="标题 1"/>
          <p:cNvSpPr>
            <a:spLocks noGrp="1"/>
          </p:cNvSpPr>
          <p:nvPr>
            <p:ph type="title"/>
          </p:nvPr>
        </p:nvSpPr>
        <p:spPr>
          <a:xfrm>
            <a:off x="848420" y="202089"/>
            <a:ext cx="6672967"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a:t>
            </a:r>
          </a:p>
        </p:txBody>
      </p:sp>
      <p:cxnSp>
        <p:nvCxnSpPr>
          <p:cNvPr id="63" name="直接箭头连接符 62"/>
          <p:cNvCxnSpPr/>
          <p:nvPr/>
        </p:nvCxnSpPr>
        <p:spPr>
          <a:xfrm flipH="1" flipV="1">
            <a:off x="3232767" y="3354130"/>
            <a:ext cx="1072" cy="2683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 name="TextBox 1"/>
          <p:cNvSpPr txBox="1"/>
          <p:nvPr/>
        </p:nvSpPr>
        <p:spPr>
          <a:xfrm>
            <a:off x="296222" y="877560"/>
            <a:ext cx="3550972" cy="369332"/>
          </a:xfrm>
          <a:prstGeom prst="rect">
            <a:avLst/>
          </a:prstGeom>
          <a:noFill/>
        </p:spPr>
        <p:txBody>
          <a:bodyPr wrap="none" rtlCol="0">
            <a:spAutoFit/>
          </a:bodyPr>
          <a:lstStyle/>
          <a:p>
            <a:r>
              <a:rPr lang="zh-CN" altLang="en-US" dirty="0"/>
              <a:t>大模型</a:t>
            </a:r>
            <a:r>
              <a:rPr lang="en-US" altLang="zh-CN" dirty="0"/>
              <a:t>+</a:t>
            </a:r>
            <a:r>
              <a:rPr lang="zh-CN" altLang="en-US" dirty="0"/>
              <a:t>智能体：</a:t>
            </a:r>
            <a:r>
              <a:rPr lang="zh-CN" altLang="en-US" dirty="0">
                <a:solidFill>
                  <a:srgbClr val="FF0000"/>
                </a:solidFill>
              </a:rPr>
              <a:t>心理咨询智能体</a:t>
            </a:r>
          </a:p>
        </p:txBody>
      </p:sp>
    </p:spTree>
    <p:extLst>
      <p:ext uri="{BB962C8B-B14F-4D97-AF65-F5344CB8AC3E}">
        <p14:creationId xmlns:p14="http://schemas.microsoft.com/office/powerpoint/2010/main" val="134024641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研究内容一：</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基于双层循环的高效个性化联邦学习技术</a:t>
            </a:r>
            <a:endParaRPr lang="zh-CN" altLang="en-US" sz="2500" dirty="0">
              <a:latin typeface="微软雅黑" panose="020B0503020204020204" charset="-122"/>
              <a:ea typeface="微软雅黑" panose="020B0503020204020204" charset="-122"/>
              <a:cs typeface="+mn-ea"/>
              <a:sym typeface="+mn-lt"/>
            </a:endParaRPr>
          </a:p>
        </p:txBody>
      </p:sp>
      <p:sp>
        <p:nvSpPr>
          <p:cNvPr id="8" name="文本框 2"/>
          <p:cNvSpPr txBox="1"/>
          <p:nvPr/>
        </p:nvSpPr>
        <p:spPr>
          <a:xfrm>
            <a:off x="4819650" y="1527175"/>
            <a:ext cx="4229100" cy="4955203"/>
          </a:xfrm>
          <a:prstGeom prst="rect">
            <a:avLst/>
          </a:prstGeom>
          <a:noFill/>
        </p:spPr>
        <p:txBody>
          <a:bodyPr wrap="square" rtlCol="0" anchor="t">
            <a:spAutoFit/>
          </a:bodyPr>
          <a:lstStyle/>
          <a:p>
            <a:endParaRPr lang="zh-CN" altLang="en-US" dirty="0"/>
          </a:p>
          <a:p>
            <a:r>
              <a:rPr lang="zh-CN" altLang="en-US" sz="2000" b="1" dirty="0">
                <a:latin typeface="微软雅黑" panose="020B0503020204020204" charset="-122"/>
                <a:ea typeface="微软雅黑" panose="020B0503020204020204" charset="-122"/>
              </a:rPr>
              <a:t>过拟合：</a:t>
            </a:r>
            <a:r>
              <a:rPr lang="zh-CN" altLang="en-US" sz="2000" dirty="0">
                <a:latin typeface="微软雅黑" panose="020B0503020204020204" charset="-122"/>
                <a:ea typeface="微软雅黑" panose="020B0503020204020204" charset="-122"/>
              </a:rPr>
              <a:t>模型容易在训练数据上表现良好，但在测试数据上表现较差，因为模型可能会记住训练数据的细节和噪声，而不是学习到通用的特征。</a:t>
            </a:r>
          </a:p>
          <a:p>
            <a:endParaRPr lang="zh-CN" altLang="en-US" sz="2000" dirty="0">
              <a:latin typeface="微软雅黑" panose="020B0503020204020204" charset="-122"/>
              <a:ea typeface="微软雅黑" panose="020B0503020204020204" charset="-122"/>
            </a:endParaRPr>
          </a:p>
          <a:p>
            <a:r>
              <a:rPr lang="zh-CN" altLang="en-US" sz="2000" b="1" dirty="0">
                <a:latin typeface="微软雅黑" panose="020B0503020204020204" charset="-122"/>
                <a:ea typeface="微软雅黑" panose="020B0503020204020204" charset="-122"/>
              </a:rPr>
              <a:t>泛化能力差：</a:t>
            </a:r>
            <a:r>
              <a:rPr lang="zh-CN" altLang="en-US" sz="2000" dirty="0">
                <a:latin typeface="微软雅黑" panose="020B0503020204020204" charset="-122"/>
                <a:ea typeface="微软雅黑" panose="020B0503020204020204" charset="-122"/>
              </a:rPr>
              <a:t>由于数据量不足，模型无法学习到数据的多样性和潜在模式，导致在面对新数据时泛化能力较差。</a:t>
            </a:r>
          </a:p>
          <a:p>
            <a:endParaRPr lang="zh-CN" altLang="en-US" sz="2000" dirty="0">
              <a:latin typeface="微软雅黑" panose="020B0503020204020204" charset="-122"/>
              <a:ea typeface="微软雅黑" panose="020B0503020204020204" charset="-122"/>
            </a:endParaRPr>
          </a:p>
          <a:p>
            <a:r>
              <a:rPr lang="zh-CN" altLang="en-US" sz="2000" b="1" dirty="0">
                <a:latin typeface="微软雅黑" panose="020B0503020204020204" charset="-122"/>
                <a:ea typeface="微软雅黑" panose="020B0503020204020204" charset="-122"/>
              </a:rPr>
              <a:t>不稳定性：</a:t>
            </a:r>
            <a:r>
              <a:rPr lang="zh-CN" altLang="en-US" sz="2000" dirty="0">
                <a:latin typeface="微软雅黑" panose="020B0503020204020204" charset="-122"/>
                <a:ea typeface="微软雅黑" panose="020B0503020204020204" charset="-122"/>
              </a:rPr>
              <a:t>小数据量可能导致模型在不同的训练过程中表现不稳定，表现出较大的性能波动。</a:t>
            </a:r>
            <a:endParaRPr lang="zh-CN" altLang="en-US" dirty="0"/>
          </a:p>
          <a:p>
            <a:endParaRPr lang="zh-CN" altLang="en-US" dirty="0"/>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由于单个学校或者医院的数据量过少，AI模型性能受到以下影响：</a:t>
            </a:r>
          </a:p>
        </p:txBody>
      </p:sp>
      <p:graphicFrame>
        <p:nvGraphicFramePr>
          <p:cNvPr id="10" name="表格 9"/>
          <p:cNvGraphicFramePr/>
          <p:nvPr>
            <p:custDataLst>
              <p:tags r:id="rId1"/>
            </p:custDataLst>
          </p:nvPr>
        </p:nvGraphicFramePr>
        <p:xfrm>
          <a:off x="419100" y="1862909"/>
          <a:ext cx="4219575" cy="4380000"/>
        </p:xfrm>
        <a:graphic>
          <a:graphicData uri="http://schemas.openxmlformats.org/drawingml/2006/table">
            <a:tbl>
              <a:tblPr firstRow="1" bandRow="1">
                <a:tableStyleId>{5C22544A-7EE6-4342-B048-85BDC9FD1C3A}</a:tableStyleId>
              </a:tblPr>
              <a:tblGrid>
                <a:gridCol w="2764155">
                  <a:extLst>
                    <a:ext uri="{9D8B030D-6E8A-4147-A177-3AD203B41FA5}">
                      <a16:colId xmlns:a16="http://schemas.microsoft.com/office/drawing/2014/main" val="20000"/>
                    </a:ext>
                  </a:extLst>
                </a:gridCol>
                <a:gridCol w="1455420">
                  <a:extLst>
                    <a:ext uri="{9D8B030D-6E8A-4147-A177-3AD203B41FA5}">
                      <a16:colId xmlns:a16="http://schemas.microsoft.com/office/drawing/2014/main" val="20001"/>
                    </a:ext>
                  </a:extLst>
                </a:gridCol>
              </a:tblGrid>
              <a:tr h="876300">
                <a:tc>
                  <a:txBody>
                    <a:bodyPr/>
                    <a:lstStyle/>
                    <a:p>
                      <a:pPr algn="ctr">
                        <a:buNone/>
                      </a:pPr>
                      <a:r>
                        <a:rPr lang="zh-CN" altLang="en-US"/>
                        <a:t>数据占原数据集的比例</a:t>
                      </a:r>
                    </a:p>
                  </a:txBody>
                  <a:tcPr anchor="ctr"/>
                </a:tc>
                <a:tc>
                  <a:txBody>
                    <a:bodyPr/>
                    <a:lstStyle/>
                    <a:p>
                      <a:pPr algn="ctr">
                        <a:buNone/>
                      </a:pPr>
                      <a:r>
                        <a:rPr lang="zh-CN" altLang="en-US"/>
                        <a:t>准确率</a:t>
                      </a:r>
                    </a:p>
                  </a:txBody>
                  <a:tcPr anchor="ctr"/>
                </a:tc>
                <a:extLst>
                  <a:ext uri="{0D108BD9-81ED-4DB2-BD59-A6C34878D82A}">
                    <a16:rowId xmlns:a16="http://schemas.microsoft.com/office/drawing/2014/main" val="10000"/>
                  </a:ext>
                </a:extLst>
              </a:tr>
              <a:tr h="876300">
                <a:tc>
                  <a:txBody>
                    <a:bodyPr/>
                    <a:lstStyle/>
                    <a:p>
                      <a:pPr algn="ctr">
                        <a:buNone/>
                      </a:pPr>
                      <a:r>
                        <a:rPr lang="en-US" altLang="zh-CN"/>
                        <a:t>100%</a:t>
                      </a:r>
                    </a:p>
                  </a:txBody>
                  <a:tcPr anchor="ctr"/>
                </a:tc>
                <a:tc>
                  <a:txBody>
                    <a:bodyPr/>
                    <a:lstStyle/>
                    <a:p>
                      <a:pPr algn="ctr">
                        <a:buNone/>
                      </a:pPr>
                      <a:r>
                        <a:rPr lang="en-US" altLang="zh-CN"/>
                        <a:t>95.6</a:t>
                      </a:r>
                    </a:p>
                  </a:txBody>
                  <a:tcPr anchor="ctr"/>
                </a:tc>
                <a:extLst>
                  <a:ext uri="{0D108BD9-81ED-4DB2-BD59-A6C34878D82A}">
                    <a16:rowId xmlns:a16="http://schemas.microsoft.com/office/drawing/2014/main" val="10001"/>
                  </a:ext>
                </a:extLst>
              </a:tr>
              <a:tr h="876300">
                <a:tc>
                  <a:txBody>
                    <a:bodyPr/>
                    <a:lstStyle/>
                    <a:p>
                      <a:pPr algn="ctr">
                        <a:buNone/>
                      </a:pPr>
                      <a:r>
                        <a:rPr lang="zh-CN" altLang="en-US"/>
                        <a:t>50%</a:t>
                      </a:r>
                    </a:p>
                  </a:txBody>
                  <a:tcPr anchor="ctr"/>
                </a:tc>
                <a:tc>
                  <a:txBody>
                    <a:bodyPr/>
                    <a:lstStyle/>
                    <a:p>
                      <a:pPr algn="ctr">
                        <a:buNone/>
                      </a:pPr>
                      <a:r>
                        <a:rPr lang="zh-CN" altLang="en-US"/>
                        <a:t>90.6</a:t>
                      </a:r>
                    </a:p>
                  </a:txBody>
                  <a:tcPr anchor="ctr"/>
                </a:tc>
                <a:extLst>
                  <a:ext uri="{0D108BD9-81ED-4DB2-BD59-A6C34878D82A}">
                    <a16:rowId xmlns:a16="http://schemas.microsoft.com/office/drawing/2014/main" val="10002"/>
                  </a:ext>
                </a:extLst>
              </a:tr>
              <a:tr h="876300">
                <a:tc>
                  <a:txBody>
                    <a:bodyPr/>
                    <a:lstStyle/>
                    <a:p>
                      <a:pPr algn="ctr">
                        <a:buNone/>
                      </a:pPr>
                      <a:r>
                        <a:rPr lang="zh-CN" altLang="en-US"/>
                        <a:t>10%</a:t>
                      </a:r>
                    </a:p>
                  </a:txBody>
                  <a:tcPr anchor="ctr"/>
                </a:tc>
                <a:tc>
                  <a:txBody>
                    <a:bodyPr/>
                    <a:lstStyle/>
                    <a:p>
                      <a:pPr algn="ctr">
                        <a:buNone/>
                      </a:pPr>
                      <a:r>
                        <a:rPr lang="zh-CN" altLang="en-US"/>
                        <a:t>87.5</a:t>
                      </a:r>
                    </a:p>
                  </a:txBody>
                  <a:tcPr anchor="ctr"/>
                </a:tc>
                <a:extLst>
                  <a:ext uri="{0D108BD9-81ED-4DB2-BD59-A6C34878D82A}">
                    <a16:rowId xmlns:a16="http://schemas.microsoft.com/office/drawing/2014/main" val="10003"/>
                  </a:ext>
                </a:extLst>
              </a:tr>
              <a:tr h="874800">
                <a:tc>
                  <a:txBody>
                    <a:bodyPr/>
                    <a:lstStyle/>
                    <a:p>
                      <a:pPr algn="ctr">
                        <a:buClrTx/>
                        <a:buSzTx/>
                        <a:buFontTx/>
                        <a:buNone/>
                      </a:pPr>
                      <a:r>
                        <a:rPr lang="zh-CN" altLang="en-US"/>
                        <a:t>5%</a:t>
                      </a:r>
                    </a:p>
                  </a:txBody>
                  <a:tcPr anchor="ctr"/>
                </a:tc>
                <a:tc>
                  <a:txBody>
                    <a:bodyPr/>
                    <a:lstStyle/>
                    <a:p>
                      <a:pPr algn="ctr">
                        <a:buClrTx/>
                        <a:buSzTx/>
                        <a:buFontTx/>
                        <a:buNone/>
                      </a:pPr>
                      <a:r>
                        <a:rPr lang="zh-CN" altLang="en-US"/>
                        <a:t>80.2</a:t>
                      </a:r>
                    </a:p>
                  </a:txBody>
                  <a:tcPr anchor="ctr"/>
                </a:tc>
                <a:extLst>
                  <a:ext uri="{0D108BD9-81ED-4DB2-BD59-A6C34878D82A}">
                    <a16:rowId xmlns:a16="http://schemas.microsoft.com/office/drawing/2014/main" val="10004"/>
                  </a:ext>
                </a:extLst>
              </a:tr>
            </a:tbl>
          </a:graphicData>
        </a:graphic>
      </p:graphicFrame>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研究内容一：</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基于双层循环的高效个性化联邦学习技术</a:t>
            </a:r>
            <a:endParaRPr lang="zh-CN" altLang="en-US" sz="2500" dirty="0">
              <a:latin typeface="微软雅黑" panose="020B0503020204020204" charset="-122"/>
              <a:ea typeface="微软雅黑" panose="020B0503020204020204" charset="-122"/>
              <a:cs typeface="+mn-ea"/>
              <a:sym typeface="+mn-lt"/>
            </a:endParaRPr>
          </a:p>
        </p:txBody>
      </p:sp>
      <p:pic>
        <p:nvPicPr>
          <p:cNvPr id="1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4101" r="73159" b="39958"/>
          <a:stretch>
            <a:fillRect/>
          </a:stretch>
        </p:blipFill>
        <p:spPr bwMode="auto">
          <a:xfrm>
            <a:off x="522511" y="2036769"/>
            <a:ext cx="3156860" cy="287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67996" t="14101" b="39958"/>
          <a:stretch>
            <a:fillRect/>
          </a:stretch>
        </p:blipFill>
        <p:spPr bwMode="auto">
          <a:xfrm>
            <a:off x="5279571" y="2056764"/>
            <a:ext cx="3124200" cy="2724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3" name="直接箭头连接符 12"/>
          <p:cNvCxnSpPr/>
          <p:nvPr/>
        </p:nvCxnSpPr>
        <p:spPr>
          <a:xfrm>
            <a:off x="3929743" y="3538356"/>
            <a:ext cx="113211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4446" y="1687264"/>
            <a:ext cx="2492990" cy="369332"/>
          </a:xfrm>
          <a:prstGeom prst="rect">
            <a:avLst/>
          </a:prstGeom>
          <a:noFill/>
        </p:spPr>
        <p:txBody>
          <a:bodyPr wrap="none" rtlCol="0">
            <a:spAutoFit/>
          </a:bodyPr>
          <a:lstStyle/>
          <a:p>
            <a:r>
              <a:rPr lang="zh-CN" altLang="en-US" dirty="0"/>
              <a:t>单个医院训练各自模型</a:t>
            </a:r>
          </a:p>
        </p:txBody>
      </p:sp>
      <p:sp>
        <p:nvSpPr>
          <p:cNvPr id="15" name="TextBox 14"/>
          <p:cNvSpPr txBox="1"/>
          <p:nvPr/>
        </p:nvSpPr>
        <p:spPr>
          <a:xfrm>
            <a:off x="5826008" y="1687507"/>
            <a:ext cx="2031325" cy="369332"/>
          </a:xfrm>
          <a:prstGeom prst="rect">
            <a:avLst/>
          </a:prstGeom>
          <a:noFill/>
        </p:spPr>
        <p:txBody>
          <a:bodyPr wrap="none" rtlCol="0">
            <a:spAutoFit/>
          </a:bodyPr>
          <a:lstStyle/>
          <a:p>
            <a:r>
              <a:rPr lang="zh-CN" altLang="en-US" dirty="0"/>
              <a:t>数据集中训练模型</a:t>
            </a:r>
          </a:p>
        </p:txBody>
      </p:sp>
      <p:sp>
        <p:nvSpPr>
          <p:cNvPr id="16" name="矩形 15"/>
          <p:cNvSpPr/>
          <p:nvPr/>
        </p:nvSpPr>
        <p:spPr>
          <a:xfrm>
            <a:off x="478790" y="4963795"/>
            <a:ext cx="8242935" cy="1186815"/>
          </a:xfrm>
          <a:prstGeom prst="rect">
            <a:avLst/>
          </a:prstGeom>
          <a:solidFill>
            <a:srgbClr val="E8EFF3"/>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150000"/>
              </a:lnSpc>
            </a:pPr>
            <a:endParaRPr lang="zh-CN" altLang="en-US" dirty="0">
              <a:solidFill>
                <a:schemeClr val="tx1"/>
              </a:solidFill>
              <a:latin typeface="微软雅黑" panose="020B0503020204020204" charset="-122"/>
              <a:ea typeface="微软雅黑" panose="020B0503020204020204" charset="-122"/>
            </a:endParaRPr>
          </a:p>
        </p:txBody>
      </p:sp>
      <p:sp>
        <p:nvSpPr>
          <p:cNvPr id="17" name="矩形 16"/>
          <p:cNvSpPr/>
          <p:nvPr/>
        </p:nvSpPr>
        <p:spPr>
          <a:xfrm>
            <a:off x="762694" y="5105513"/>
            <a:ext cx="2732315" cy="5007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t>数据不共享</a:t>
            </a:r>
          </a:p>
        </p:txBody>
      </p:sp>
      <p:sp>
        <p:nvSpPr>
          <p:cNvPr id="18" name="矩形 17"/>
          <p:cNvSpPr/>
          <p:nvPr/>
        </p:nvSpPr>
        <p:spPr>
          <a:xfrm>
            <a:off x="5516333" y="5105513"/>
            <a:ext cx="2732315" cy="5007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t>数据共享</a:t>
            </a:r>
          </a:p>
        </p:txBody>
      </p:sp>
      <p:sp>
        <p:nvSpPr>
          <p:cNvPr id="19" name="TextBox 18"/>
          <p:cNvSpPr txBox="1"/>
          <p:nvPr/>
        </p:nvSpPr>
        <p:spPr>
          <a:xfrm>
            <a:off x="651523" y="5650191"/>
            <a:ext cx="3647152" cy="369332"/>
          </a:xfrm>
          <a:prstGeom prst="rect">
            <a:avLst/>
          </a:prstGeom>
          <a:noFill/>
        </p:spPr>
        <p:txBody>
          <a:bodyPr wrap="none" rtlCol="0">
            <a:spAutoFit/>
          </a:bodyPr>
          <a:lstStyle/>
          <a:p>
            <a:r>
              <a:rPr lang="zh-CN" altLang="en-US" dirty="0">
                <a:solidFill>
                  <a:srgbClr val="FF0000"/>
                </a:solidFill>
              </a:rPr>
              <a:t>单个医院或研究机构的数据量过少</a:t>
            </a:r>
          </a:p>
        </p:txBody>
      </p:sp>
      <p:sp>
        <p:nvSpPr>
          <p:cNvPr id="20" name="TextBox 19"/>
          <p:cNvSpPr txBox="1"/>
          <p:nvPr/>
        </p:nvSpPr>
        <p:spPr>
          <a:xfrm>
            <a:off x="6056328" y="5650071"/>
            <a:ext cx="1569660" cy="369332"/>
          </a:xfrm>
          <a:prstGeom prst="rect">
            <a:avLst/>
          </a:prstGeom>
          <a:noFill/>
        </p:spPr>
        <p:txBody>
          <a:bodyPr wrap="none" rtlCol="0">
            <a:spAutoFit/>
          </a:bodyPr>
          <a:lstStyle/>
          <a:p>
            <a:r>
              <a:rPr lang="zh-CN" altLang="en-US" dirty="0">
                <a:solidFill>
                  <a:srgbClr val="FF0000"/>
                </a:solidFill>
              </a:rPr>
              <a:t>患者隐私泄露</a:t>
            </a:r>
          </a:p>
        </p:txBody>
      </p:sp>
      <p:sp>
        <p:nvSpPr>
          <p:cNvPr id="21"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跨机构数据联合分析是发展趋势，然而传统的数据集中会泄露患者隐私</a:t>
            </a:r>
          </a:p>
        </p:txBody>
      </p:sp>
    </p:spTree>
    <p:extLst>
      <p:ext uri="{BB962C8B-B14F-4D97-AF65-F5344CB8AC3E}">
        <p14:creationId xmlns:p14="http://schemas.microsoft.com/office/powerpoint/2010/main" val="18263076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4"/>
          <p:cNvSpPr txBox="1"/>
          <p:nvPr/>
        </p:nvSpPr>
        <p:spPr>
          <a:xfrm>
            <a:off x="5443563" y="2565224"/>
            <a:ext cx="3407275" cy="1938020"/>
          </a:xfrm>
          <a:prstGeom prst="rect">
            <a:avLst/>
          </a:prstGeom>
          <a:solidFill>
            <a:schemeClr val="accent2">
              <a:lumMod val="20000"/>
              <a:lumOff val="80000"/>
            </a:schemeClr>
          </a:solidFill>
        </p:spPr>
        <p:txBody>
          <a:bodyPr wrap="square" rtlCol="0">
            <a:spAutoFit/>
          </a:bodyPr>
          <a:lstStyle/>
          <a:p>
            <a:pPr marL="342900" indent="-342900" algn="l">
              <a:lnSpc>
                <a:spcPct val="100000"/>
              </a:lnSpc>
              <a:spcBef>
                <a:spcPts val="1200"/>
              </a:spcBef>
              <a:buClrTx/>
              <a:buSzTx/>
              <a:buFont typeface="Wingdings" panose="05000000000000000000" pitchFamily="2" charset="2"/>
              <a:buChar char="l"/>
            </a:pPr>
            <a:r>
              <a:rPr lang="zh-CN" altLang="zh-CN" sz="2000" dirty="0"/>
              <a:t>数据‘可用不可见’</a:t>
            </a:r>
          </a:p>
          <a:p>
            <a:pPr marL="342900" indent="-342900" algn="l">
              <a:lnSpc>
                <a:spcPct val="100000"/>
              </a:lnSpc>
              <a:spcBef>
                <a:spcPts val="1200"/>
              </a:spcBef>
              <a:buClrTx/>
              <a:buSzTx/>
              <a:buFont typeface="Wingdings" panose="05000000000000000000" pitchFamily="2" charset="2"/>
              <a:buChar char="l"/>
            </a:pPr>
            <a:r>
              <a:rPr lang="zh-CN" altLang="zh-CN" sz="2000" dirty="0"/>
              <a:t>从数据全生命周期的角度对数据进行安全保护</a:t>
            </a:r>
          </a:p>
          <a:p>
            <a:pPr marL="342900" indent="-342900" algn="l">
              <a:lnSpc>
                <a:spcPct val="100000"/>
              </a:lnSpc>
              <a:spcBef>
                <a:spcPts val="1200"/>
              </a:spcBef>
              <a:buClrTx/>
              <a:buSzTx/>
              <a:buFont typeface="Wingdings" panose="05000000000000000000" pitchFamily="2" charset="2"/>
              <a:buChar char="l"/>
            </a:pPr>
            <a:r>
              <a:rPr lang="zh-CN" altLang="zh-CN" sz="2000" dirty="0"/>
              <a:t>在保障安全的基础上充分释放数据价值</a:t>
            </a:r>
          </a:p>
        </p:txBody>
      </p:sp>
      <p:grpSp>
        <p:nvGrpSpPr>
          <p:cNvPr id="16" name="组合 15"/>
          <p:cNvGrpSpPr/>
          <p:nvPr/>
        </p:nvGrpSpPr>
        <p:grpSpPr>
          <a:xfrm>
            <a:off x="141617" y="1672510"/>
            <a:ext cx="5017560" cy="4133904"/>
            <a:chOff x="192013" y="2256266"/>
            <a:chExt cx="5182875" cy="4336127"/>
          </a:xfrm>
        </p:grpSpPr>
        <p:grpSp>
          <p:nvGrpSpPr>
            <p:cNvPr id="7" name="组合 6"/>
            <p:cNvGrpSpPr/>
            <p:nvPr/>
          </p:nvGrpSpPr>
          <p:grpSpPr>
            <a:xfrm>
              <a:off x="192013" y="2256266"/>
              <a:ext cx="5182875" cy="4336127"/>
              <a:chOff x="192012" y="1895713"/>
              <a:chExt cx="6543331" cy="5156248"/>
            </a:xfrm>
          </p:grpSpPr>
          <p:pic>
            <p:nvPicPr>
              <p:cNvPr id="6" name="Picture 2"/>
              <p:cNvPicPr/>
              <p:nvPr/>
            </p:nvPicPr>
            <p:blipFill rotWithShape="1">
              <a:blip r:embed="rId3" cstate="print">
                <a:extLst>
                  <a:ext uri="{28A0092B-C50C-407E-A947-70E740481C1C}">
                    <a14:useLocalDpi xmlns:a14="http://schemas.microsoft.com/office/drawing/2010/main" val="0"/>
                  </a:ext>
                </a:extLst>
              </a:blip>
              <a:srcRect r="21480"/>
              <a:stretch>
                <a:fillRect/>
              </a:stretch>
            </p:blipFill>
            <p:spPr bwMode="auto">
              <a:xfrm>
                <a:off x="390525" y="2023759"/>
                <a:ext cx="6344818" cy="4388192"/>
              </a:xfrm>
              <a:prstGeom prst="rect">
                <a:avLst/>
              </a:prstGeom>
              <a:noFill/>
              <a:ln>
                <a:noFill/>
              </a:ln>
            </p:spPr>
          </p:pic>
          <p:sp>
            <p:nvSpPr>
              <p:cNvPr id="5" name="矩形 4"/>
              <p:cNvSpPr/>
              <p:nvPr/>
            </p:nvSpPr>
            <p:spPr>
              <a:xfrm>
                <a:off x="192012" y="6550156"/>
                <a:ext cx="1692545" cy="50180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医院</a:t>
                </a:r>
                <a:r>
                  <a:rPr lang="en-US" altLang="zh-CN" dirty="0"/>
                  <a:t>B</a:t>
                </a:r>
                <a:r>
                  <a:rPr lang="en-US" altLang="zh-CN" baseline="-25000" dirty="0"/>
                  <a:t>1</a:t>
                </a:r>
                <a:endParaRPr lang="zh-CN" altLang="en-US" baseline="-25000" dirty="0"/>
              </a:p>
            </p:txBody>
          </p:sp>
          <p:sp>
            <p:nvSpPr>
              <p:cNvPr id="8" name="矩形 7"/>
              <p:cNvSpPr/>
              <p:nvPr/>
            </p:nvSpPr>
            <p:spPr>
              <a:xfrm>
                <a:off x="2617405" y="6527184"/>
                <a:ext cx="1692545" cy="50180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医院</a:t>
                </a:r>
                <a:r>
                  <a:rPr lang="en-US" altLang="zh-CN" dirty="0"/>
                  <a:t>B</a:t>
                </a:r>
                <a:r>
                  <a:rPr lang="en-US" altLang="zh-CN" baseline="-25000" dirty="0"/>
                  <a:t>2</a:t>
                </a:r>
                <a:endParaRPr lang="zh-CN" altLang="en-US" baseline="-25000" dirty="0"/>
              </a:p>
            </p:txBody>
          </p:sp>
          <p:sp>
            <p:nvSpPr>
              <p:cNvPr id="9" name="矩形 8"/>
              <p:cNvSpPr/>
              <p:nvPr/>
            </p:nvSpPr>
            <p:spPr>
              <a:xfrm>
                <a:off x="5042798" y="6520143"/>
                <a:ext cx="1692545" cy="50180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学校</a:t>
                </a:r>
                <a:r>
                  <a:rPr lang="en-US" altLang="zh-CN" dirty="0"/>
                  <a:t>B</a:t>
                </a:r>
                <a:r>
                  <a:rPr lang="en-US" altLang="zh-CN" baseline="-25000" dirty="0"/>
                  <a:t>K</a:t>
                </a:r>
                <a:endParaRPr lang="zh-CN" altLang="en-US" baseline="-25000" dirty="0"/>
              </a:p>
            </p:txBody>
          </p:sp>
          <p:sp>
            <p:nvSpPr>
              <p:cNvPr id="10" name="矩形 9"/>
              <p:cNvSpPr/>
              <p:nvPr/>
            </p:nvSpPr>
            <p:spPr>
              <a:xfrm>
                <a:off x="2626691" y="1895713"/>
                <a:ext cx="1692545" cy="50180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3200" baseline="-25000" dirty="0"/>
                  <a:t>服务器</a:t>
                </a:r>
                <a:r>
                  <a:rPr lang="en-US" altLang="zh-CN" sz="3200" baseline="-25000" dirty="0"/>
                  <a:t>A</a:t>
                </a:r>
                <a:endParaRPr lang="zh-CN" altLang="en-US" sz="3200" baseline="-25000" dirty="0"/>
              </a:p>
            </p:txBody>
          </p:sp>
        </p:grpSp>
        <p:sp>
          <p:nvSpPr>
            <p:cNvPr id="11" name="矩形 10"/>
            <p:cNvSpPr/>
            <p:nvPr/>
          </p:nvSpPr>
          <p:spPr>
            <a:xfrm>
              <a:off x="4213915" y="2339649"/>
              <a:ext cx="1160973" cy="126776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pic>
        <p:nvPicPr>
          <p:cNvPr id="17" name="图片 16"/>
          <p:cNvPicPr>
            <a:picLocks noChangeAspect="1"/>
          </p:cNvPicPr>
          <p:nvPr/>
        </p:nvPicPr>
        <p:blipFill>
          <a:blip r:embed="rId4"/>
          <a:stretch>
            <a:fillRect/>
          </a:stretch>
        </p:blipFill>
        <p:spPr>
          <a:xfrm>
            <a:off x="156143" y="5078412"/>
            <a:ext cx="1268826" cy="850746"/>
          </a:xfrm>
          <a:prstGeom prst="rect">
            <a:avLst/>
          </a:prstGeom>
        </p:spPr>
      </p:pic>
      <p:pic>
        <p:nvPicPr>
          <p:cNvPr id="20" name="图片 19"/>
          <p:cNvPicPr>
            <a:picLocks noChangeAspect="1"/>
          </p:cNvPicPr>
          <p:nvPr/>
        </p:nvPicPr>
        <p:blipFill>
          <a:blip r:embed="rId4"/>
          <a:stretch>
            <a:fillRect/>
          </a:stretch>
        </p:blipFill>
        <p:spPr>
          <a:xfrm>
            <a:off x="1991976" y="5078412"/>
            <a:ext cx="1268826" cy="850746"/>
          </a:xfrm>
          <a:prstGeom prst="rect">
            <a:avLst/>
          </a:prstGeom>
        </p:spPr>
      </p:pic>
      <p:pic>
        <p:nvPicPr>
          <p:cNvPr id="21" name="图片 20"/>
          <p:cNvPicPr>
            <a:picLocks noChangeAspect="1"/>
          </p:cNvPicPr>
          <p:nvPr/>
        </p:nvPicPr>
        <p:blipFill>
          <a:blip r:embed="rId4"/>
          <a:stretch>
            <a:fillRect/>
          </a:stretch>
        </p:blipFill>
        <p:spPr>
          <a:xfrm>
            <a:off x="3875825" y="5078412"/>
            <a:ext cx="1268826" cy="850746"/>
          </a:xfrm>
          <a:prstGeom prst="rect">
            <a:avLst/>
          </a:prstGeom>
        </p:spPr>
      </p:pic>
      <p:sp>
        <p:nvSpPr>
          <p:cNvPr id="18"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研究内容一：</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基于双层循环的高效个性化联邦学习技术</a:t>
            </a:r>
            <a:endParaRPr lang="zh-CN" altLang="en-US" sz="2500" dirty="0">
              <a:latin typeface="微软雅黑" panose="020B0503020204020204" charset="-122"/>
              <a:ea typeface="微软雅黑" panose="020B0503020204020204" charset="-122"/>
              <a:cs typeface="+mn-ea"/>
              <a:sym typeface="+mn-lt"/>
            </a:endParaRPr>
          </a:p>
        </p:txBody>
      </p:sp>
      <p:sp>
        <p:nvSpPr>
          <p:cNvPr id="1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联邦学习为隐私保护多机构协同数据处理提供了一种有效解决方案</a:t>
            </a:r>
          </a:p>
        </p:txBody>
      </p:sp>
    </p:spTree>
    <p:extLst>
      <p:ext uri="{BB962C8B-B14F-4D97-AF65-F5344CB8AC3E}">
        <p14:creationId xmlns:p14="http://schemas.microsoft.com/office/powerpoint/2010/main" val="13134654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研究内容一：</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基于双层循环的高效个性化联邦学习技术</a:t>
            </a:r>
            <a:endParaRPr lang="zh-CN" altLang="en-US" sz="2500" dirty="0">
              <a:latin typeface="微软雅黑" panose="020B0503020204020204" charset="-122"/>
              <a:ea typeface="微软雅黑" panose="020B0503020204020204" charset="-122"/>
              <a:cs typeface="+mn-ea"/>
              <a:sym typeface="+mn-lt"/>
            </a:endParaRPr>
          </a:p>
        </p:txBody>
      </p:sp>
      <p:sp>
        <p:nvSpPr>
          <p:cNvPr id="1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联邦学习中的数据异构性（</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Non-IID</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）导致模型收敛困难与泛化性能下降</a:t>
            </a:r>
          </a:p>
        </p:txBody>
      </p:sp>
      <p:sp>
        <p:nvSpPr>
          <p:cNvPr id="25" name="TextBox 24"/>
          <p:cNvSpPr txBox="1"/>
          <p:nvPr/>
        </p:nvSpPr>
        <p:spPr>
          <a:xfrm>
            <a:off x="755672" y="3151436"/>
            <a:ext cx="1800493" cy="369332"/>
          </a:xfrm>
          <a:prstGeom prst="rect">
            <a:avLst/>
          </a:prstGeom>
          <a:noFill/>
        </p:spPr>
        <p:txBody>
          <a:bodyPr wrap="none" rtlCol="0">
            <a:spAutoFit/>
          </a:bodyPr>
          <a:lstStyle/>
          <a:p>
            <a:r>
              <a:rPr lang="zh-CN" altLang="en-US" dirty="0"/>
              <a:t>不同类型的高校</a:t>
            </a:r>
          </a:p>
        </p:txBody>
      </p:sp>
      <p:cxnSp>
        <p:nvCxnSpPr>
          <p:cNvPr id="26" name="直接箭头连接符 25"/>
          <p:cNvCxnSpPr/>
          <p:nvPr/>
        </p:nvCxnSpPr>
        <p:spPr>
          <a:xfrm>
            <a:off x="3616656" y="2368067"/>
            <a:ext cx="58685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805122" y="3133403"/>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1</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28" name="TextBox 27"/>
          <p:cNvSpPr txBox="1"/>
          <p:nvPr/>
        </p:nvSpPr>
        <p:spPr>
          <a:xfrm>
            <a:off x="6300131" y="3133403"/>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2</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29" name="TextBox 28"/>
          <p:cNvSpPr txBox="1"/>
          <p:nvPr/>
        </p:nvSpPr>
        <p:spPr>
          <a:xfrm>
            <a:off x="7824936" y="3148643"/>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3</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grpSp>
        <p:nvGrpSpPr>
          <p:cNvPr id="30" name="组合 29"/>
          <p:cNvGrpSpPr/>
          <p:nvPr/>
        </p:nvGrpSpPr>
        <p:grpSpPr>
          <a:xfrm>
            <a:off x="4398933" y="1685817"/>
            <a:ext cx="1440160" cy="1440160"/>
            <a:chOff x="-61914" y="476672"/>
            <a:chExt cx="1440160" cy="1440160"/>
          </a:xfrm>
        </p:grpSpPr>
        <p:sp>
          <p:nvSpPr>
            <p:cNvPr id="31" name="椭圆 30"/>
            <p:cNvSpPr/>
            <p:nvPr/>
          </p:nvSpPr>
          <p:spPr>
            <a:xfrm>
              <a:off x="-61914" y="476672"/>
              <a:ext cx="1440160" cy="144016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32" name="椭圆 31"/>
            <p:cNvSpPr/>
            <p:nvPr/>
          </p:nvSpPr>
          <p:spPr>
            <a:xfrm>
              <a:off x="226118" y="836712"/>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33" name="椭圆 32"/>
            <p:cNvSpPr/>
            <p:nvPr/>
          </p:nvSpPr>
          <p:spPr>
            <a:xfrm>
              <a:off x="518542" y="764704"/>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34" name="椭圆 33"/>
            <p:cNvSpPr/>
            <p:nvPr/>
          </p:nvSpPr>
          <p:spPr>
            <a:xfrm>
              <a:off x="378518" y="1124744"/>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35" name="椭圆 34"/>
            <p:cNvSpPr/>
            <p:nvPr/>
          </p:nvSpPr>
          <p:spPr>
            <a:xfrm>
              <a:off x="670942" y="1052736"/>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36" name="椭圆 35"/>
            <p:cNvSpPr/>
            <p:nvPr/>
          </p:nvSpPr>
          <p:spPr>
            <a:xfrm>
              <a:off x="378518" y="1412776"/>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37" name="椭圆 36"/>
            <p:cNvSpPr/>
            <p:nvPr/>
          </p:nvSpPr>
          <p:spPr>
            <a:xfrm>
              <a:off x="670942" y="1340768"/>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38" name="椭圆 37"/>
            <p:cNvSpPr/>
            <p:nvPr/>
          </p:nvSpPr>
          <p:spPr>
            <a:xfrm>
              <a:off x="115871" y="1123624"/>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39" name="椭圆 38"/>
            <p:cNvSpPr/>
            <p:nvPr/>
          </p:nvSpPr>
          <p:spPr>
            <a:xfrm>
              <a:off x="742950" y="639000"/>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40" name="椭圆 39"/>
            <p:cNvSpPr/>
            <p:nvPr/>
          </p:nvSpPr>
          <p:spPr>
            <a:xfrm>
              <a:off x="530918" y="1565176"/>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41" name="椭圆 40"/>
            <p:cNvSpPr/>
            <p:nvPr/>
          </p:nvSpPr>
          <p:spPr>
            <a:xfrm>
              <a:off x="966438" y="1073736"/>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42" name="椭圆 41"/>
            <p:cNvSpPr/>
            <p:nvPr/>
          </p:nvSpPr>
          <p:spPr>
            <a:xfrm>
              <a:off x="966438" y="1340768"/>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43" name="椭圆 42"/>
            <p:cNvSpPr/>
            <p:nvPr/>
          </p:nvSpPr>
          <p:spPr>
            <a:xfrm>
              <a:off x="886966" y="885120"/>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44" name="椭圆 43"/>
            <p:cNvSpPr/>
            <p:nvPr/>
          </p:nvSpPr>
          <p:spPr>
            <a:xfrm>
              <a:off x="816166" y="1556792"/>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45" name="椭圆 44"/>
            <p:cNvSpPr/>
            <p:nvPr/>
          </p:nvSpPr>
          <p:spPr>
            <a:xfrm>
              <a:off x="168039" y="1381992"/>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grpSp>
      <p:grpSp>
        <p:nvGrpSpPr>
          <p:cNvPr id="46" name="组合 45"/>
          <p:cNvGrpSpPr/>
          <p:nvPr/>
        </p:nvGrpSpPr>
        <p:grpSpPr>
          <a:xfrm>
            <a:off x="5936503" y="1685817"/>
            <a:ext cx="1440160" cy="1440160"/>
            <a:chOff x="1594270" y="476672"/>
            <a:chExt cx="1440160" cy="1440160"/>
          </a:xfrm>
        </p:grpSpPr>
        <p:sp>
          <p:nvSpPr>
            <p:cNvPr id="47" name="椭圆 46"/>
            <p:cNvSpPr/>
            <p:nvPr/>
          </p:nvSpPr>
          <p:spPr>
            <a:xfrm>
              <a:off x="1594270" y="476672"/>
              <a:ext cx="1440160" cy="144016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48" name="椭圆 47"/>
            <p:cNvSpPr/>
            <p:nvPr/>
          </p:nvSpPr>
          <p:spPr>
            <a:xfrm>
              <a:off x="1937542" y="908720"/>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49" name="椭圆 48"/>
            <p:cNvSpPr/>
            <p:nvPr/>
          </p:nvSpPr>
          <p:spPr>
            <a:xfrm>
              <a:off x="2229966" y="836712"/>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0" name="椭圆 49"/>
            <p:cNvSpPr/>
            <p:nvPr/>
          </p:nvSpPr>
          <p:spPr>
            <a:xfrm>
              <a:off x="2089942" y="1196752"/>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1" name="椭圆 50"/>
            <p:cNvSpPr/>
            <p:nvPr/>
          </p:nvSpPr>
          <p:spPr>
            <a:xfrm>
              <a:off x="2382366" y="1124744"/>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2" name="椭圆 51"/>
            <p:cNvSpPr/>
            <p:nvPr/>
          </p:nvSpPr>
          <p:spPr>
            <a:xfrm>
              <a:off x="2089942" y="1484784"/>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3" name="椭圆 52"/>
            <p:cNvSpPr/>
            <p:nvPr/>
          </p:nvSpPr>
          <p:spPr>
            <a:xfrm>
              <a:off x="2510958" y="1565176"/>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4" name="椭圆 53"/>
            <p:cNvSpPr/>
            <p:nvPr/>
          </p:nvSpPr>
          <p:spPr>
            <a:xfrm>
              <a:off x="1827295" y="1195632"/>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5" name="椭圆 54"/>
            <p:cNvSpPr/>
            <p:nvPr/>
          </p:nvSpPr>
          <p:spPr>
            <a:xfrm>
              <a:off x="2454374" y="711008"/>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6" name="椭圆 55"/>
            <p:cNvSpPr/>
            <p:nvPr/>
          </p:nvSpPr>
          <p:spPr>
            <a:xfrm>
              <a:off x="2242342" y="1637184"/>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7" name="椭圆 56"/>
            <p:cNvSpPr/>
            <p:nvPr/>
          </p:nvSpPr>
          <p:spPr>
            <a:xfrm>
              <a:off x="2677862" y="1145744"/>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8" name="椭圆 57"/>
            <p:cNvSpPr/>
            <p:nvPr/>
          </p:nvSpPr>
          <p:spPr>
            <a:xfrm>
              <a:off x="2677862" y="1412776"/>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59" name="椭圆 58"/>
            <p:cNvSpPr/>
            <p:nvPr/>
          </p:nvSpPr>
          <p:spPr>
            <a:xfrm>
              <a:off x="2598390" y="957128"/>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60" name="椭圆 59"/>
            <p:cNvSpPr/>
            <p:nvPr/>
          </p:nvSpPr>
          <p:spPr>
            <a:xfrm>
              <a:off x="2151678" y="618808"/>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61" name="椭圆 60"/>
            <p:cNvSpPr/>
            <p:nvPr/>
          </p:nvSpPr>
          <p:spPr>
            <a:xfrm>
              <a:off x="1859438" y="1482520"/>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62" name="椭圆 61"/>
            <p:cNvSpPr/>
            <p:nvPr/>
          </p:nvSpPr>
          <p:spPr>
            <a:xfrm>
              <a:off x="2348438" y="1401816"/>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63" name="椭圆 62"/>
            <p:cNvSpPr/>
            <p:nvPr/>
          </p:nvSpPr>
          <p:spPr>
            <a:xfrm>
              <a:off x="1901599" y="707568"/>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grpSp>
      <p:grpSp>
        <p:nvGrpSpPr>
          <p:cNvPr id="64" name="组合 63"/>
          <p:cNvGrpSpPr/>
          <p:nvPr/>
        </p:nvGrpSpPr>
        <p:grpSpPr>
          <a:xfrm>
            <a:off x="7448671" y="1685817"/>
            <a:ext cx="1440160" cy="1440160"/>
            <a:chOff x="3250454" y="476672"/>
            <a:chExt cx="1440160" cy="1440160"/>
          </a:xfrm>
        </p:grpSpPr>
        <p:sp>
          <p:nvSpPr>
            <p:cNvPr id="65" name="椭圆 64"/>
            <p:cNvSpPr/>
            <p:nvPr/>
          </p:nvSpPr>
          <p:spPr>
            <a:xfrm>
              <a:off x="3250454" y="476672"/>
              <a:ext cx="1440160" cy="144016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66" name="椭圆 65"/>
            <p:cNvSpPr/>
            <p:nvPr/>
          </p:nvSpPr>
          <p:spPr>
            <a:xfrm>
              <a:off x="3682502" y="764704"/>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67" name="椭圆 66"/>
            <p:cNvSpPr/>
            <p:nvPr/>
          </p:nvSpPr>
          <p:spPr>
            <a:xfrm>
              <a:off x="3480407" y="1013584"/>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68" name="椭圆 67"/>
            <p:cNvSpPr/>
            <p:nvPr/>
          </p:nvSpPr>
          <p:spPr>
            <a:xfrm>
              <a:off x="3754510" y="1309984"/>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69" name="椭圆 68"/>
            <p:cNvSpPr/>
            <p:nvPr/>
          </p:nvSpPr>
          <p:spPr>
            <a:xfrm>
              <a:off x="4004622" y="980824"/>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70" name="椭圆 69"/>
            <p:cNvSpPr/>
            <p:nvPr/>
          </p:nvSpPr>
          <p:spPr>
            <a:xfrm>
              <a:off x="4096422" y="1276048"/>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71" name="椭圆 70"/>
            <p:cNvSpPr/>
            <p:nvPr/>
          </p:nvSpPr>
          <p:spPr>
            <a:xfrm>
              <a:off x="3950862" y="1532904"/>
              <a:ext cx="144016" cy="144016"/>
            </a:xfrm>
            <a:prstGeom prst="ellipse">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72" name="椭圆 71"/>
            <p:cNvSpPr/>
            <p:nvPr/>
          </p:nvSpPr>
          <p:spPr>
            <a:xfrm>
              <a:off x="3482703" y="1341280"/>
              <a:ext cx="144016" cy="144016"/>
            </a:xfrm>
            <a:prstGeom prst="ellipse">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sp>
          <p:nvSpPr>
            <p:cNvPr id="73" name="椭圆 72"/>
            <p:cNvSpPr/>
            <p:nvPr/>
          </p:nvSpPr>
          <p:spPr>
            <a:xfrm>
              <a:off x="4384822" y="1013600"/>
              <a:ext cx="144016" cy="14401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 lastClr="FFFFFF"/>
                </a:solidFill>
                <a:effectLst/>
                <a:uLnTx/>
                <a:uFillTx/>
                <a:latin typeface="等线" panose="02010600030101010101" pitchFamily="2" charset="-122"/>
                <a:ea typeface="等线" panose="02010600030101010101" pitchFamily="2" charset="-122"/>
                <a:cs typeface="+mn-cs"/>
              </a:endParaRPr>
            </a:p>
          </p:txBody>
        </p:sp>
      </p:grpSp>
      <p:grpSp>
        <p:nvGrpSpPr>
          <p:cNvPr id="74" name="组合 73"/>
          <p:cNvGrpSpPr/>
          <p:nvPr/>
        </p:nvGrpSpPr>
        <p:grpSpPr>
          <a:xfrm>
            <a:off x="4841361" y="3633288"/>
            <a:ext cx="3852007" cy="2695074"/>
            <a:chOff x="5210373" y="3068959"/>
            <a:chExt cx="3852007" cy="2695074"/>
          </a:xfrm>
        </p:grpSpPr>
        <p:sp>
          <p:nvSpPr>
            <p:cNvPr id="75" name="椭圆 74"/>
            <p:cNvSpPr/>
            <p:nvPr/>
          </p:nvSpPr>
          <p:spPr>
            <a:xfrm>
              <a:off x="6434769" y="3068959"/>
              <a:ext cx="1335230" cy="648073"/>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pic>
          <p:nvPicPr>
            <p:cNvPr id="76" name="Picture 5" descr="E:\毕业大礼包\毕业材料整理-18110968-李晓丽\哭脸.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00392" y="4437192"/>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6" descr="E:\毕业大礼包\毕业材料整理-18110968-李晓丽\cry.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84375" y="4442089"/>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7" descr="E:\毕业大礼包\毕业材料整理-18110968-李晓丽\笑脸.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42383" y="4446985"/>
              <a:ext cx="720000"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79" name="肘形连接符 78"/>
            <p:cNvCxnSpPr>
              <a:stCxn id="75" idx="4"/>
              <a:endCxn id="77" idx="0"/>
            </p:cNvCxnSpPr>
            <p:nvPr/>
          </p:nvCxnSpPr>
          <p:spPr>
            <a:xfrm rot="5400000">
              <a:off x="6060852" y="3400556"/>
              <a:ext cx="725057" cy="1358009"/>
            </a:xfrm>
            <a:prstGeom prst="bentConnector3">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80" name="肘形连接符 79"/>
            <p:cNvCxnSpPr>
              <a:stCxn id="75" idx="4"/>
              <a:endCxn id="78" idx="0"/>
            </p:cNvCxnSpPr>
            <p:nvPr/>
          </p:nvCxnSpPr>
          <p:spPr>
            <a:xfrm rot="5400000">
              <a:off x="6737408" y="4082008"/>
              <a:ext cx="729953" cy="1"/>
            </a:xfrm>
            <a:prstGeom prst="bentConnector3">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81" name="肘形连接符 80"/>
            <p:cNvCxnSpPr>
              <a:stCxn id="75" idx="4"/>
              <a:endCxn id="76" idx="0"/>
            </p:cNvCxnSpPr>
            <p:nvPr/>
          </p:nvCxnSpPr>
          <p:spPr>
            <a:xfrm rot="16200000" flipH="1">
              <a:off x="7421308" y="3398108"/>
              <a:ext cx="720160" cy="1358008"/>
            </a:xfrm>
            <a:prstGeom prst="bentConnector3">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82" name="TextBox 81"/>
            <p:cNvSpPr txBox="1"/>
            <p:nvPr/>
          </p:nvSpPr>
          <p:spPr>
            <a:xfrm>
              <a:off x="6590933" y="3234462"/>
              <a:ext cx="1005403"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全局模型</a:t>
              </a:r>
            </a:p>
          </p:txBody>
        </p:sp>
        <p:sp>
          <p:nvSpPr>
            <p:cNvPr id="83" name="TextBox 82"/>
            <p:cNvSpPr txBox="1"/>
            <p:nvPr/>
          </p:nvSpPr>
          <p:spPr>
            <a:xfrm>
              <a:off x="5384375" y="5166985"/>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1</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84" name="TextBox 83"/>
            <p:cNvSpPr txBox="1"/>
            <p:nvPr/>
          </p:nvSpPr>
          <p:spPr>
            <a:xfrm>
              <a:off x="6742383" y="5166985"/>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2</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85" name="TextBox 84"/>
            <p:cNvSpPr txBox="1"/>
            <p:nvPr/>
          </p:nvSpPr>
          <p:spPr>
            <a:xfrm>
              <a:off x="8109174" y="5164537"/>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3</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86" name="TextBox 85"/>
            <p:cNvSpPr txBox="1"/>
            <p:nvPr/>
          </p:nvSpPr>
          <p:spPr>
            <a:xfrm>
              <a:off x="5210373" y="5425479"/>
              <a:ext cx="1203976"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准确度</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70%</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87" name="TextBox 86"/>
            <p:cNvSpPr txBox="1"/>
            <p:nvPr/>
          </p:nvSpPr>
          <p:spPr>
            <a:xfrm>
              <a:off x="6500397" y="5425479"/>
              <a:ext cx="1203976"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准确度</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90%</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88" name="TextBox 87"/>
            <p:cNvSpPr txBox="1"/>
            <p:nvPr/>
          </p:nvSpPr>
          <p:spPr>
            <a:xfrm>
              <a:off x="7858404" y="5423990"/>
              <a:ext cx="1203976"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准确度</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30%</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grpSp>
      <p:grpSp>
        <p:nvGrpSpPr>
          <p:cNvPr id="89" name="组合 88"/>
          <p:cNvGrpSpPr/>
          <p:nvPr/>
        </p:nvGrpSpPr>
        <p:grpSpPr>
          <a:xfrm>
            <a:off x="-2184881" y="4037378"/>
            <a:ext cx="6722685" cy="5468267"/>
            <a:chOff x="1835696" y="1163857"/>
            <a:chExt cx="6722685" cy="5468267"/>
          </a:xfrm>
        </p:grpSpPr>
        <p:grpSp>
          <p:nvGrpSpPr>
            <p:cNvPr id="90" name="组合 89">
              <a:extLst>
                <a:ext uri="{FF2B5EF4-FFF2-40B4-BE49-F238E27FC236}">
                  <a16:creationId xmlns:a16="http://schemas.microsoft.com/office/drawing/2014/main" id="{061A1684-28F3-4CE9-9F2A-49CA4075B10A}"/>
                </a:ext>
              </a:extLst>
            </p:cNvPr>
            <p:cNvGrpSpPr/>
            <p:nvPr/>
          </p:nvGrpSpPr>
          <p:grpSpPr>
            <a:xfrm>
              <a:off x="1835696" y="1412776"/>
              <a:ext cx="5256585" cy="5219348"/>
              <a:chOff x="764208" y="3869854"/>
              <a:chExt cx="5743445" cy="7882353"/>
            </a:xfrm>
          </p:grpSpPr>
          <p:sp>
            <p:nvSpPr>
              <p:cNvPr id="95" name="弧形 94">
                <a:extLst>
                  <a:ext uri="{FF2B5EF4-FFF2-40B4-BE49-F238E27FC236}">
                    <a16:creationId xmlns:a16="http://schemas.microsoft.com/office/drawing/2014/main" id="{263949B8-8613-428C-8692-830F574B6103}"/>
                  </a:ext>
                </a:extLst>
              </p:cNvPr>
              <p:cNvSpPr/>
              <p:nvPr/>
            </p:nvSpPr>
            <p:spPr>
              <a:xfrm>
                <a:off x="764208" y="3978601"/>
                <a:ext cx="5743445" cy="7773606"/>
              </a:xfrm>
              <a:prstGeom prst="arc">
                <a:avLst>
                  <a:gd name="adj1" fmla="val 16200000"/>
                  <a:gd name="adj2" fmla="val 20689621"/>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endParaRPr>
              </a:p>
            </p:txBody>
          </p:sp>
          <p:grpSp>
            <p:nvGrpSpPr>
              <p:cNvPr id="96" name="组合 95">
                <a:extLst>
                  <a:ext uri="{FF2B5EF4-FFF2-40B4-BE49-F238E27FC236}">
                    <a16:creationId xmlns:a16="http://schemas.microsoft.com/office/drawing/2014/main" id="{AAC3753B-1A42-4AF3-B0E3-876B6982B529}"/>
                  </a:ext>
                </a:extLst>
              </p:cNvPr>
              <p:cNvGrpSpPr/>
              <p:nvPr/>
            </p:nvGrpSpPr>
            <p:grpSpPr>
              <a:xfrm>
                <a:off x="4934106" y="3869854"/>
                <a:ext cx="1250303" cy="1334702"/>
                <a:chOff x="4934106" y="3869854"/>
                <a:chExt cx="1250303" cy="1334702"/>
              </a:xfrm>
            </p:grpSpPr>
            <p:cxnSp>
              <p:nvCxnSpPr>
                <p:cNvPr id="97" name="直接箭头连接符 96">
                  <a:extLst>
                    <a:ext uri="{FF2B5EF4-FFF2-40B4-BE49-F238E27FC236}">
                      <a16:creationId xmlns:a16="http://schemas.microsoft.com/office/drawing/2014/main" id="{28C43E55-2A46-4892-9C79-622F51DD7495}"/>
                    </a:ext>
                  </a:extLst>
                </p:cNvPr>
                <p:cNvCxnSpPr/>
                <p:nvPr/>
              </p:nvCxnSpPr>
              <p:spPr>
                <a:xfrm>
                  <a:off x="5168348" y="4611762"/>
                  <a:ext cx="1016061" cy="78622"/>
                </a:xfrm>
                <a:prstGeom prst="straightConnector1">
                  <a:avLst/>
                </a:prstGeom>
                <a:noFill/>
                <a:ln w="25400" cap="flat" cmpd="sng" algn="ctr">
                  <a:solidFill>
                    <a:sysClr val="windowText" lastClr="000000"/>
                  </a:solidFill>
                  <a:prstDash val="solid"/>
                  <a:tailEnd type="triangle"/>
                </a:ln>
                <a:effectLst>
                  <a:outerShdw blurRad="40000" dist="20000" dir="5400000" rotWithShape="0">
                    <a:srgbClr val="000000">
                      <a:alpha val="38000"/>
                    </a:srgbClr>
                  </a:outerShdw>
                </a:effectLst>
              </p:spPr>
            </p:cxnSp>
            <p:cxnSp>
              <p:nvCxnSpPr>
                <p:cNvPr id="98" name="直接箭头连接符 97">
                  <a:extLst>
                    <a:ext uri="{FF2B5EF4-FFF2-40B4-BE49-F238E27FC236}">
                      <a16:creationId xmlns:a16="http://schemas.microsoft.com/office/drawing/2014/main" id="{DC8E83F1-0D00-4B2C-AA6D-18362691853C}"/>
                    </a:ext>
                  </a:extLst>
                </p:cNvPr>
                <p:cNvCxnSpPr>
                  <a:cxnSpLocks/>
                </p:cNvCxnSpPr>
                <p:nvPr/>
              </p:nvCxnSpPr>
              <p:spPr>
                <a:xfrm>
                  <a:off x="5168348" y="4611757"/>
                  <a:ext cx="927652" cy="592799"/>
                </a:xfrm>
                <a:prstGeom prst="straightConnector1">
                  <a:avLst/>
                </a:prstGeom>
                <a:noFill/>
                <a:ln w="25400" cap="flat" cmpd="sng" algn="ctr">
                  <a:solidFill>
                    <a:srgbClr val="8064A2"/>
                  </a:solidFill>
                  <a:prstDash val="solid"/>
                  <a:tailEnd type="triangle"/>
                </a:ln>
                <a:effectLst>
                  <a:outerShdw blurRad="40000" dist="20000" dir="5400000" rotWithShape="0">
                    <a:srgbClr val="000000">
                      <a:alpha val="38000"/>
                    </a:srgbClr>
                  </a:outerShdw>
                </a:effectLst>
              </p:spPr>
            </p:cxnSp>
            <p:cxnSp>
              <p:nvCxnSpPr>
                <p:cNvPr id="99" name="直接箭头连接符 98">
                  <a:extLst>
                    <a:ext uri="{FF2B5EF4-FFF2-40B4-BE49-F238E27FC236}">
                      <a16:creationId xmlns:a16="http://schemas.microsoft.com/office/drawing/2014/main" id="{BD598896-8184-4F1C-A754-E8A40A8B394B}"/>
                    </a:ext>
                  </a:extLst>
                </p:cNvPr>
                <p:cNvCxnSpPr>
                  <a:cxnSpLocks/>
                </p:cNvCxnSpPr>
                <p:nvPr/>
              </p:nvCxnSpPr>
              <p:spPr>
                <a:xfrm>
                  <a:off x="5168348" y="4629861"/>
                  <a:ext cx="1016061" cy="278295"/>
                </a:xfrm>
                <a:prstGeom prst="straightConnector1">
                  <a:avLst/>
                </a:prstGeom>
                <a:noFill/>
                <a:ln w="25400" cap="flat" cmpd="sng" algn="ctr">
                  <a:solidFill>
                    <a:srgbClr val="C0504D"/>
                  </a:solidFill>
                  <a:prstDash val="solid"/>
                  <a:tailEnd type="triangle"/>
                </a:ln>
                <a:effectLst>
                  <a:outerShdw blurRad="40000" dist="20000" dir="5400000" rotWithShape="0">
                    <a:srgbClr val="000000">
                      <a:alpha val="38000"/>
                    </a:srgbClr>
                  </a:outerShdw>
                </a:effectLst>
              </p:spPr>
            </p:cxnSp>
            <p:cxnSp>
              <p:nvCxnSpPr>
                <p:cNvPr id="100" name="直接箭头连接符 99">
                  <a:extLst>
                    <a:ext uri="{FF2B5EF4-FFF2-40B4-BE49-F238E27FC236}">
                      <a16:creationId xmlns:a16="http://schemas.microsoft.com/office/drawing/2014/main" id="{CDD7FC34-3C22-417D-8923-6BCEA6DFC6B5}"/>
                    </a:ext>
                  </a:extLst>
                </p:cNvPr>
                <p:cNvCxnSpPr>
                  <a:cxnSpLocks/>
                </p:cNvCxnSpPr>
                <p:nvPr/>
              </p:nvCxnSpPr>
              <p:spPr>
                <a:xfrm flipH="1" flipV="1">
                  <a:off x="4934106" y="3869854"/>
                  <a:ext cx="234242" cy="741910"/>
                </a:xfrm>
                <a:prstGeom prst="straightConnector1">
                  <a:avLst/>
                </a:prstGeom>
                <a:noFill/>
                <a:ln w="25400" cap="flat" cmpd="sng" algn="ctr">
                  <a:solidFill>
                    <a:srgbClr val="4F81BD"/>
                  </a:solidFill>
                  <a:prstDash val="solid"/>
                  <a:tailEnd type="triangle"/>
                </a:ln>
                <a:effectLst>
                  <a:outerShdw blurRad="40000" dist="20000" dir="5400000" rotWithShape="0">
                    <a:srgbClr val="000000">
                      <a:alpha val="38000"/>
                    </a:srgbClr>
                  </a:outerShdw>
                </a:effectLst>
              </p:spPr>
            </p:cxnSp>
          </p:grpSp>
        </p:grpSp>
        <p:sp>
          <p:nvSpPr>
            <p:cNvPr id="91" name="TextBox 90"/>
            <p:cNvSpPr txBox="1"/>
            <p:nvPr/>
          </p:nvSpPr>
          <p:spPr>
            <a:xfrm>
              <a:off x="6732240" y="1988780"/>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2</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92" name="TextBox 91"/>
            <p:cNvSpPr txBox="1"/>
            <p:nvPr/>
          </p:nvSpPr>
          <p:spPr>
            <a:xfrm>
              <a:off x="5104334" y="1163857"/>
              <a:ext cx="7024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3</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93" name="TextBox 92"/>
            <p:cNvSpPr txBox="1"/>
            <p:nvPr/>
          </p:nvSpPr>
          <p:spPr>
            <a:xfrm>
              <a:off x="6588224" y="2257127"/>
              <a:ext cx="702436" cy="338554"/>
            </a:xfrm>
            <a:prstGeom prst="rect">
              <a:avLst/>
            </a:prstGeom>
            <a:noFill/>
          </p:spPr>
          <p:txBody>
            <a:bodyPr wrap="none" rtlCol="0">
              <a:spAutoFit/>
            </a:bodyPr>
            <a:lstStyle>
              <a:defPPr>
                <a:defRPr lang="zh-CN"/>
              </a:defPPr>
              <a:lvl1pPr>
                <a:defRPr sz="1400">
                  <a:latin typeface="+mn-ea"/>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医院</a:t>
              </a:r>
              <a:r>
                <a:rPr kumimoji="0" lang="en-US" altLang="zh-CN"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1</a:t>
              </a:r>
              <a:endPar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endParaRPr>
            </a:p>
          </p:txBody>
        </p:sp>
        <p:sp>
          <p:nvSpPr>
            <p:cNvPr id="94" name="TextBox 93"/>
            <p:cNvSpPr txBox="1"/>
            <p:nvPr/>
          </p:nvSpPr>
          <p:spPr>
            <a:xfrm>
              <a:off x="6732240" y="1753071"/>
              <a:ext cx="1826141" cy="338554"/>
            </a:xfrm>
            <a:prstGeom prst="rect">
              <a:avLst/>
            </a:prstGeom>
            <a:noFill/>
          </p:spPr>
          <p:txBody>
            <a:bodyPr wrap="none" rtlCol="0">
              <a:spAutoFit/>
            </a:bodyPr>
            <a:lstStyle>
              <a:defPPr>
                <a:defRPr lang="zh-CN"/>
              </a:defPPr>
              <a:lvl1pPr>
                <a:defRPr sz="1400">
                  <a:latin typeface="+mn-ea"/>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rPr>
                <a:t>全局模型更新方向</a:t>
              </a:r>
            </a:p>
          </p:txBody>
        </p:sp>
      </p:grpSp>
      <p:graphicFrame>
        <p:nvGraphicFramePr>
          <p:cNvPr id="2" name="表格 1"/>
          <p:cNvGraphicFramePr>
            <a:graphicFrameLocks noGrp="1"/>
          </p:cNvGraphicFramePr>
          <p:nvPr>
            <p:extLst>
              <p:ext uri="{D42A27DB-BD31-4B8C-83A1-F6EECF244321}">
                <p14:modId xmlns:p14="http://schemas.microsoft.com/office/powerpoint/2010/main" val="3288178029"/>
              </p:ext>
            </p:extLst>
          </p:nvPr>
        </p:nvGraphicFramePr>
        <p:xfrm>
          <a:off x="198104" y="1655123"/>
          <a:ext cx="3295650" cy="1493520"/>
        </p:xfrm>
        <a:graphic>
          <a:graphicData uri="http://schemas.openxmlformats.org/drawingml/2006/table">
            <a:tbl>
              <a:tblPr>
                <a:tableStyleId>{E8B1032C-EA38-4F05-BA0D-38AFFFC7BED3}</a:tableStyleId>
              </a:tblPr>
              <a:tblGrid>
                <a:gridCol w="371475">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gridCol w="593725">
                  <a:extLst>
                    <a:ext uri="{9D8B030D-6E8A-4147-A177-3AD203B41FA5}">
                      <a16:colId xmlns:a16="http://schemas.microsoft.com/office/drawing/2014/main" val="20002"/>
                    </a:ext>
                  </a:extLst>
                </a:gridCol>
                <a:gridCol w="619125">
                  <a:extLst>
                    <a:ext uri="{9D8B030D-6E8A-4147-A177-3AD203B41FA5}">
                      <a16:colId xmlns:a16="http://schemas.microsoft.com/office/drawing/2014/main" val="20003"/>
                    </a:ext>
                  </a:extLst>
                </a:gridCol>
                <a:gridCol w="923925">
                  <a:extLst>
                    <a:ext uri="{9D8B030D-6E8A-4147-A177-3AD203B41FA5}">
                      <a16:colId xmlns:a16="http://schemas.microsoft.com/office/drawing/2014/main" val="20004"/>
                    </a:ext>
                  </a:extLst>
                </a:gridCol>
              </a:tblGrid>
              <a:tr h="373380">
                <a:tc>
                  <a:txBody>
                    <a:bodyPr/>
                    <a:lstStyle/>
                    <a:p>
                      <a:pPr algn="ctr" fontAlgn="ctr"/>
                      <a:r>
                        <a:rPr lang="zh-CN" altLang="en-US" sz="900" u="none" strike="noStrike" dirty="0">
                          <a:effectLst/>
                        </a:rPr>
                        <a:t>高校</a:t>
                      </a:r>
                      <a:endParaRPr lang="zh-CN" altLang="en-US" sz="900" b="1" i="0" u="none" strike="noStrike" dirty="0">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类型</a:t>
                      </a:r>
                      <a:endParaRPr lang="zh-CN" altLang="en-US" sz="900" b="1"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dirty="0">
                          <a:effectLst/>
                        </a:rPr>
                        <a:t>地理位置</a:t>
                      </a:r>
                      <a:endParaRPr lang="zh-CN" altLang="en-US" sz="900" b="1" i="0" u="none" strike="noStrike" dirty="0">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主要心理</a:t>
                      </a:r>
                      <a:br>
                        <a:rPr lang="zh-CN" altLang="en-US" sz="900" u="none" strike="noStrike">
                          <a:effectLst/>
                        </a:rPr>
                      </a:br>
                      <a:r>
                        <a:rPr lang="zh-CN" altLang="en-US" sz="900" u="none" strike="noStrike">
                          <a:effectLst/>
                        </a:rPr>
                        <a:t>问题</a:t>
                      </a:r>
                      <a:endParaRPr lang="zh-CN" altLang="en-US" sz="900" b="1"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dirty="0">
                          <a:effectLst/>
                        </a:rPr>
                        <a:t>典型特征</a:t>
                      </a:r>
                      <a:endParaRPr lang="zh-CN" altLang="en-US" sz="900" b="1" i="0" u="none" strike="noStrike" dirty="0">
                        <a:solidFill>
                          <a:srgbClr val="373D49"/>
                        </a:solidFill>
                        <a:effectLst/>
                        <a:latin typeface="黑体"/>
                      </a:endParaRPr>
                    </a:p>
                  </a:txBody>
                  <a:tcPr marL="7620" marR="7620" marT="7620" marB="0" anchor="ctr"/>
                </a:tc>
                <a:extLst>
                  <a:ext uri="{0D108BD9-81ED-4DB2-BD59-A6C34878D82A}">
                    <a16:rowId xmlns:a16="http://schemas.microsoft.com/office/drawing/2014/main" val="10000"/>
                  </a:ext>
                </a:extLst>
              </a:tr>
              <a:tr h="373380">
                <a:tc>
                  <a:txBody>
                    <a:bodyPr/>
                    <a:lstStyle/>
                    <a:p>
                      <a:pPr algn="ctr" fontAlgn="ctr"/>
                      <a:r>
                        <a:rPr lang="en-US" sz="900" u="none" strike="noStrike">
                          <a:effectLst/>
                        </a:rPr>
                        <a:t>A</a:t>
                      </a:r>
                      <a:r>
                        <a:rPr lang="zh-CN" altLang="en-US" sz="900" u="none" strike="noStrike">
                          <a:effectLst/>
                        </a:rPr>
                        <a:t>校</a:t>
                      </a:r>
                      <a:endParaRPr lang="zh-CN" altLang="en-US" sz="900" b="1" i="0" u="none" strike="noStrike">
                        <a:solidFill>
                          <a:srgbClr val="373D49"/>
                        </a:solidFill>
                        <a:effectLst/>
                        <a:latin typeface="黑体"/>
                      </a:endParaRPr>
                    </a:p>
                  </a:txBody>
                  <a:tcPr marL="7620" marR="7620" marT="7620" marB="0" anchor="ctr"/>
                </a:tc>
                <a:tc>
                  <a:txBody>
                    <a:bodyPr/>
                    <a:lstStyle/>
                    <a:p>
                      <a:pPr algn="ctr" fontAlgn="ctr"/>
                      <a:r>
                        <a:rPr lang="en-US" altLang="zh-CN" sz="900" u="none" strike="noStrike">
                          <a:effectLst/>
                        </a:rPr>
                        <a:t>985</a:t>
                      </a:r>
                      <a:r>
                        <a:rPr lang="zh-CN" altLang="en-US" sz="900" u="none" strike="noStrike">
                          <a:effectLst/>
                        </a:rPr>
                        <a:t>理工强校</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北方工业区</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抑郁症</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实验室滞留时长↑</a:t>
                      </a:r>
                      <a:br>
                        <a:rPr lang="zh-CN" altLang="en-US" sz="900" u="none" strike="noStrike">
                          <a:effectLst/>
                        </a:rPr>
                      </a:br>
                      <a:r>
                        <a:rPr lang="zh-CN" altLang="en-US" sz="900" u="none" strike="noStrike">
                          <a:effectLst/>
                        </a:rPr>
                        <a:t>社交互动↓</a:t>
                      </a:r>
                      <a:endParaRPr lang="zh-CN" altLang="en-US" sz="900" b="0" i="0" u="none" strike="noStrike">
                        <a:solidFill>
                          <a:srgbClr val="373D49"/>
                        </a:solidFill>
                        <a:effectLst/>
                        <a:latin typeface="黑体"/>
                      </a:endParaRPr>
                    </a:p>
                  </a:txBody>
                  <a:tcPr marL="7620" marR="7620" marT="7620" marB="0" anchor="ctr"/>
                </a:tc>
                <a:extLst>
                  <a:ext uri="{0D108BD9-81ED-4DB2-BD59-A6C34878D82A}">
                    <a16:rowId xmlns:a16="http://schemas.microsoft.com/office/drawing/2014/main" val="10001"/>
                  </a:ext>
                </a:extLst>
              </a:tr>
              <a:tr h="373380">
                <a:tc>
                  <a:txBody>
                    <a:bodyPr/>
                    <a:lstStyle/>
                    <a:p>
                      <a:pPr algn="ctr" fontAlgn="ctr"/>
                      <a:r>
                        <a:rPr lang="en-US" sz="900" u="none" strike="noStrike">
                          <a:effectLst/>
                        </a:rPr>
                        <a:t>B</a:t>
                      </a:r>
                      <a:r>
                        <a:rPr lang="zh-CN" altLang="en-US" sz="900" u="none" strike="noStrike">
                          <a:effectLst/>
                        </a:rPr>
                        <a:t>校</a:t>
                      </a:r>
                      <a:endParaRPr lang="zh-CN" altLang="en-US" sz="900" b="1" i="0" u="none" strike="noStrike">
                        <a:solidFill>
                          <a:srgbClr val="373D49"/>
                        </a:solidFill>
                        <a:effectLst/>
                        <a:latin typeface="黑体"/>
                      </a:endParaRPr>
                    </a:p>
                  </a:txBody>
                  <a:tcPr marL="7620" marR="7620" marT="7620" marB="0" anchor="ctr"/>
                </a:tc>
                <a:tc>
                  <a:txBody>
                    <a:bodyPr/>
                    <a:lstStyle/>
                    <a:p>
                      <a:pPr algn="ctr" fontAlgn="ctr"/>
                      <a:r>
                        <a:rPr lang="en-US" altLang="zh-CN" sz="900" u="none" strike="noStrike">
                          <a:effectLst/>
                        </a:rPr>
                        <a:t>211</a:t>
                      </a:r>
                      <a:r>
                        <a:rPr lang="zh-CN" altLang="en-US" sz="900" u="none" strike="noStrike">
                          <a:effectLst/>
                        </a:rPr>
                        <a:t>财经院校</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dirty="0">
                          <a:effectLst/>
                        </a:rPr>
                        <a:t>东部沿海</a:t>
                      </a:r>
                      <a:endParaRPr lang="zh-CN" altLang="en-US" sz="900" b="0" i="0" u="none" strike="noStrike" dirty="0">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焦虑障碍</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模拟面试频率↑</a:t>
                      </a:r>
                      <a:br>
                        <a:rPr lang="zh-CN" altLang="en-US" sz="900" u="none" strike="noStrike">
                          <a:effectLst/>
                        </a:rPr>
                      </a:br>
                      <a:r>
                        <a:rPr lang="zh-CN" altLang="en-US" sz="900" u="none" strike="noStrike">
                          <a:effectLst/>
                        </a:rPr>
                        <a:t>睡眠效率↓</a:t>
                      </a:r>
                      <a:endParaRPr lang="zh-CN" altLang="en-US" sz="900" b="0" i="0" u="none" strike="noStrike">
                        <a:solidFill>
                          <a:srgbClr val="373D49"/>
                        </a:solidFill>
                        <a:effectLst/>
                        <a:latin typeface="黑体"/>
                      </a:endParaRPr>
                    </a:p>
                  </a:txBody>
                  <a:tcPr marL="7620" marR="7620" marT="7620" marB="0" anchor="ctr"/>
                </a:tc>
                <a:extLst>
                  <a:ext uri="{0D108BD9-81ED-4DB2-BD59-A6C34878D82A}">
                    <a16:rowId xmlns:a16="http://schemas.microsoft.com/office/drawing/2014/main" val="10002"/>
                  </a:ext>
                </a:extLst>
              </a:tr>
              <a:tr h="373380">
                <a:tc>
                  <a:txBody>
                    <a:bodyPr/>
                    <a:lstStyle/>
                    <a:p>
                      <a:pPr algn="ctr" fontAlgn="ctr"/>
                      <a:r>
                        <a:rPr lang="en-US" sz="900" u="none" strike="noStrike">
                          <a:effectLst/>
                        </a:rPr>
                        <a:t>C</a:t>
                      </a:r>
                      <a:r>
                        <a:rPr lang="zh-CN" altLang="en-US" sz="900" u="none" strike="noStrike">
                          <a:effectLst/>
                        </a:rPr>
                        <a:t>校</a:t>
                      </a:r>
                      <a:endParaRPr lang="zh-CN" altLang="en-US" sz="900" b="1"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艺术类院校</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西南地区</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a:effectLst/>
                        </a:rPr>
                        <a:t>进食障碍</a:t>
                      </a:r>
                      <a:endParaRPr lang="zh-CN" altLang="en-US" sz="900" b="0" i="0" u="none" strike="noStrike">
                        <a:solidFill>
                          <a:srgbClr val="373D49"/>
                        </a:solidFill>
                        <a:effectLst/>
                        <a:latin typeface="黑体"/>
                      </a:endParaRPr>
                    </a:p>
                  </a:txBody>
                  <a:tcPr marL="7620" marR="7620" marT="7620" marB="0" anchor="ctr"/>
                </a:tc>
                <a:tc>
                  <a:txBody>
                    <a:bodyPr/>
                    <a:lstStyle/>
                    <a:p>
                      <a:pPr algn="ctr" fontAlgn="ctr"/>
                      <a:r>
                        <a:rPr lang="zh-CN" altLang="en-US" sz="900" u="none" strike="noStrike" dirty="0">
                          <a:effectLst/>
                        </a:rPr>
                        <a:t>体像关注度↑</a:t>
                      </a:r>
                      <a:br>
                        <a:rPr lang="zh-CN" altLang="en-US" sz="900" u="none" strike="noStrike" dirty="0">
                          <a:effectLst/>
                        </a:rPr>
                      </a:br>
                      <a:r>
                        <a:rPr lang="zh-CN" altLang="en-US" sz="900" u="none" strike="noStrike" dirty="0">
                          <a:effectLst/>
                        </a:rPr>
                        <a:t>规律饮食↓</a:t>
                      </a:r>
                      <a:endParaRPr lang="zh-CN" altLang="en-US" sz="900" b="0" i="0" u="none" strike="noStrike" dirty="0">
                        <a:solidFill>
                          <a:srgbClr val="373D49"/>
                        </a:solidFill>
                        <a:effectLst/>
                        <a:latin typeface="黑体"/>
                      </a:endParaRPr>
                    </a:p>
                  </a:txBody>
                  <a:tcPr marL="7620" marR="7620" marT="762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441687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矩形: 圆角 171">
            <a:extLst>
              <a:ext uri="{FF2B5EF4-FFF2-40B4-BE49-F238E27FC236}">
                <a16:creationId xmlns:a16="http://schemas.microsoft.com/office/drawing/2014/main" id="{730488A7-918C-4345-9977-64C163FA8C59}"/>
              </a:ext>
            </a:extLst>
          </p:cNvPr>
          <p:cNvSpPr/>
          <p:nvPr/>
        </p:nvSpPr>
        <p:spPr>
          <a:xfrm>
            <a:off x="1121382" y="1190917"/>
            <a:ext cx="3746554" cy="1018799"/>
          </a:xfrm>
          <a:prstGeom prst="roundRect">
            <a:avLst/>
          </a:prstGeom>
          <a:solidFill>
            <a:sysClr val="window" lastClr="FFFFFF"/>
          </a:solidFill>
          <a:ln w="28575" cap="flat" cmpd="sng" algn="ctr">
            <a:solidFill>
              <a:srgbClr val="FFC000">
                <a:lumMod val="7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a:ea typeface="等线"/>
              <a:cs typeface="+mn-cs"/>
            </a:endParaRPr>
          </a:p>
        </p:txBody>
      </p:sp>
      <p:grpSp>
        <p:nvGrpSpPr>
          <p:cNvPr id="134" name="PA-device-smartphone-tablet-iphone-icon-multiColor-279773">
            <a:extLst>
              <a:ext uri="{FF2B5EF4-FFF2-40B4-BE49-F238E27FC236}">
                <a16:creationId xmlns:a16="http://schemas.microsoft.com/office/drawing/2014/main" id="{724C2465-808D-4E8E-B419-87F31769B570}"/>
              </a:ext>
            </a:extLst>
          </p:cNvPr>
          <p:cNvGrpSpPr>
            <a:grpSpLocks noChangeAspect="1"/>
          </p:cNvGrpSpPr>
          <p:nvPr>
            <p:custDataLst>
              <p:tags r:id="rId1"/>
            </p:custDataLst>
          </p:nvPr>
        </p:nvGrpSpPr>
        <p:grpSpPr bwMode="auto">
          <a:xfrm>
            <a:off x="4329803" y="1384774"/>
            <a:ext cx="509583" cy="676387"/>
            <a:chOff x="3645" y="1956"/>
            <a:chExt cx="390" cy="390"/>
          </a:xfrm>
        </p:grpSpPr>
        <p:sp>
          <p:nvSpPr>
            <p:cNvPr id="135" name="PA-椭圆 2928">
              <a:extLst>
                <a:ext uri="{FF2B5EF4-FFF2-40B4-BE49-F238E27FC236}">
                  <a16:creationId xmlns:a16="http://schemas.microsoft.com/office/drawing/2014/main" id="{49F67879-2581-4CA8-A0CC-C63AE3057F4F}"/>
                </a:ext>
              </a:extLst>
            </p:cNvPr>
            <p:cNvSpPr>
              <a:spLocks noChangeArrowheads="1"/>
            </p:cNvSpPr>
            <p:nvPr>
              <p:custDataLst>
                <p:tags r:id="rId56"/>
              </p:custDataLst>
            </p:nvPr>
          </p:nvSpPr>
          <p:spPr bwMode="auto">
            <a:xfrm>
              <a:off x="3645" y="1956"/>
              <a:ext cx="390" cy="390"/>
            </a:xfrm>
            <a:prstGeom prst="ellipse">
              <a:avLst/>
            </a:prstGeom>
            <a:solidFill>
              <a:srgbClr val="FFC000">
                <a:lumMod val="60000"/>
                <a:lumOff val="40000"/>
              </a:srgbClr>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36" name="PA-任意多边形 2931">
              <a:extLst>
                <a:ext uri="{FF2B5EF4-FFF2-40B4-BE49-F238E27FC236}">
                  <a16:creationId xmlns:a16="http://schemas.microsoft.com/office/drawing/2014/main" id="{FFBF11C3-2E11-4E38-A9A7-8A5E5409C1A5}"/>
                </a:ext>
              </a:extLst>
            </p:cNvPr>
            <p:cNvSpPr>
              <a:spLocks/>
            </p:cNvSpPr>
            <p:nvPr>
              <p:custDataLst>
                <p:tags r:id="rId57"/>
              </p:custDataLst>
            </p:nvPr>
          </p:nvSpPr>
          <p:spPr bwMode="auto">
            <a:xfrm>
              <a:off x="3776" y="2035"/>
              <a:ext cx="128" cy="226"/>
            </a:xfrm>
            <a:custGeom>
              <a:avLst/>
              <a:gdLst>
                <a:gd name="T0" fmla="*/ 40 w 336"/>
                <a:gd name="T1" fmla="*/ 592 h 592"/>
                <a:gd name="T2" fmla="*/ 0 w 336"/>
                <a:gd name="T3" fmla="*/ 552 h 592"/>
                <a:gd name="T4" fmla="*/ 0 w 336"/>
                <a:gd name="T5" fmla="*/ 40 h 592"/>
                <a:gd name="T6" fmla="*/ 40 w 336"/>
                <a:gd name="T7" fmla="*/ 0 h 592"/>
                <a:gd name="T8" fmla="*/ 296 w 336"/>
                <a:gd name="T9" fmla="*/ 0 h 592"/>
                <a:gd name="T10" fmla="*/ 336 w 336"/>
                <a:gd name="T11" fmla="*/ 40 h 592"/>
                <a:gd name="T12" fmla="*/ 336 w 336"/>
                <a:gd name="T13" fmla="*/ 552 h 592"/>
                <a:gd name="T14" fmla="*/ 296 w 336"/>
                <a:gd name="T15" fmla="*/ 592 h 592"/>
                <a:gd name="T16" fmla="*/ 40 w 336"/>
                <a:gd name="T17" fmla="*/ 592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592">
                  <a:moveTo>
                    <a:pt x="40" y="592"/>
                  </a:moveTo>
                  <a:cubicBezTo>
                    <a:pt x="18" y="592"/>
                    <a:pt x="0" y="575"/>
                    <a:pt x="0" y="552"/>
                  </a:cubicBezTo>
                  <a:lnTo>
                    <a:pt x="0" y="40"/>
                  </a:lnTo>
                  <a:cubicBezTo>
                    <a:pt x="0" y="18"/>
                    <a:pt x="18" y="0"/>
                    <a:pt x="40" y="0"/>
                  </a:cubicBezTo>
                  <a:lnTo>
                    <a:pt x="296" y="0"/>
                  </a:lnTo>
                  <a:cubicBezTo>
                    <a:pt x="319" y="0"/>
                    <a:pt x="336" y="18"/>
                    <a:pt x="336" y="40"/>
                  </a:cubicBezTo>
                  <a:lnTo>
                    <a:pt x="336" y="552"/>
                  </a:lnTo>
                  <a:cubicBezTo>
                    <a:pt x="336" y="575"/>
                    <a:pt x="319" y="592"/>
                    <a:pt x="296" y="592"/>
                  </a:cubicBezTo>
                  <a:lnTo>
                    <a:pt x="40" y="592"/>
                  </a:lnTo>
                  <a:close/>
                </a:path>
              </a:pathLst>
            </a:custGeom>
            <a:solidFill>
              <a:srgbClr val="4F5D73"/>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37" name="PA-任意多边形 2932">
              <a:extLst>
                <a:ext uri="{FF2B5EF4-FFF2-40B4-BE49-F238E27FC236}">
                  <a16:creationId xmlns:a16="http://schemas.microsoft.com/office/drawing/2014/main" id="{A4D271D4-92EE-4FE5-8B32-37817A756942}"/>
                </a:ext>
              </a:extLst>
            </p:cNvPr>
            <p:cNvSpPr>
              <a:spLocks noEditPoints="1"/>
            </p:cNvSpPr>
            <p:nvPr>
              <p:custDataLst>
                <p:tags r:id="rId58"/>
              </p:custDataLst>
            </p:nvPr>
          </p:nvSpPr>
          <p:spPr bwMode="auto">
            <a:xfrm>
              <a:off x="3767" y="2026"/>
              <a:ext cx="146" cy="244"/>
            </a:xfrm>
            <a:custGeom>
              <a:avLst/>
              <a:gdLst>
                <a:gd name="T0" fmla="*/ 320 w 384"/>
                <a:gd name="T1" fmla="*/ 48 h 640"/>
                <a:gd name="T2" fmla="*/ 336 w 384"/>
                <a:gd name="T3" fmla="*/ 64 h 640"/>
                <a:gd name="T4" fmla="*/ 336 w 384"/>
                <a:gd name="T5" fmla="*/ 576 h 640"/>
                <a:gd name="T6" fmla="*/ 320 w 384"/>
                <a:gd name="T7" fmla="*/ 592 h 640"/>
                <a:gd name="T8" fmla="*/ 64 w 384"/>
                <a:gd name="T9" fmla="*/ 592 h 640"/>
                <a:gd name="T10" fmla="*/ 48 w 384"/>
                <a:gd name="T11" fmla="*/ 576 h 640"/>
                <a:gd name="T12" fmla="*/ 48 w 384"/>
                <a:gd name="T13" fmla="*/ 64 h 640"/>
                <a:gd name="T14" fmla="*/ 64 w 384"/>
                <a:gd name="T15" fmla="*/ 48 h 640"/>
                <a:gd name="T16" fmla="*/ 320 w 384"/>
                <a:gd name="T17" fmla="*/ 48 h 640"/>
                <a:gd name="T18" fmla="*/ 320 w 384"/>
                <a:gd name="T19" fmla="*/ 0 h 640"/>
                <a:gd name="T20" fmla="*/ 64 w 384"/>
                <a:gd name="T21" fmla="*/ 0 h 640"/>
                <a:gd name="T22" fmla="*/ 0 w 384"/>
                <a:gd name="T23" fmla="*/ 64 h 640"/>
                <a:gd name="T24" fmla="*/ 0 w 384"/>
                <a:gd name="T25" fmla="*/ 576 h 640"/>
                <a:gd name="T26" fmla="*/ 64 w 384"/>
                <a:gd name="T27" fmla="*/ 640 h 640"/>
                <a:gd name="T28" fmla="*/ 320 w 384"/>
                <a:gd name="T29" fmla="*/ 640 h 640"/>
                <a:gd name="T30" fmla="*/ 384 w 384"/>
                <a:gd name="T31" fmla="*/ 576 h 640"/>
                <a:gd name="T32" fmla="*/ 384 w 384"/>
                <a:gd name="T33" fmla="*/ 64 h 640"/>
                <a:gd name="T34" fmla="*/ 320 w 384"/>
                <a:gd name="T35" fmla="*/ 0 h 640"/>
                <a:gd name="T36" fmla="*/ 320 w 384"/>
                <a:gd name="T37"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640">
                  <a:moveTo>
                    <a:pt x="320" y="48"/>
                  </a:moveTo>
                  <a:cubicBezTo>
                    <a:pt x="329" y="48"/>
                    <a:pt x="336" y="56"/>
                    <a:pt x="336" y="64"/>
                  </a:cubicBezTo>
                  <a:lnTo>
                    <a:pt x="336" y="576"/>
                  </a:lnTo>
                  <a:cubicBezTo>
                    <a:pt x="336" y="585"/>
                    <a:pt x="329" y="592"/>
                    <a:pt x="320" y="592"/>
                  </a:cubicBezTo>
                  <a:lnTo>
                    <a:pt x="64" y="592"/>
                  </a:lnTo>
                  <a:cubicBezTo>
                    <a:pt x="56" y="592"/>
                    <a:pt x="48" y="585"/>
                    <a:pt x="48" y="576"/>
                  </a:cubicBezTo>
                  <a:lnTo>
                    <a:pt x="48" y="64"/>
                  </a:lnTo>
                  <a:cubicBezTo>
                    <a:pt x="48" y="56"/>
                    <a:pt x="56" y="48"/>
                    <a:pt x="64" y="48"/>
                  </a:cubicBezTo>
                  <a:lnTo>
                    <a:pt x="320" y="48"/>
                  </a:lnTo>
                  <a:moveTo>
                    <a:pt x="320" y="0"/>
                  </a:moveTo>
                  <a:lnTo>
                    <a:pt x="64" y="0"/>
                  </a:lnTo>
                  <a:cubicBezTo>
                    <a:pt x="29" y="0"/>
                    <a:pt x="0" y="29"/>
                    <a:pt x="0" y="64"/>
                  </a:cubicBezTo>
                  <a:lnTo>
                    <a:pt x="0" y="576"/>
                  </a:lnTo>
                  <a:cubicBezTo>
                    <a:pt x="0" y="612"/>
                    <a:pt x="29" y="640"/>
                    <a:pt x="64" y="640"/>
                  </a:cubicBezTo>
                  <a:lnTo>
                    <a:pt x="320" y="640"/>
                  </a:lnTo>
                  <a:cubicBezTo>
                    <a:pt x="356" y="640"/>
                    <a:pt x="384" y="612"/>
                    <a:pt x="384" y="576"/>
                  </a:cubicBezTo>
                  <a:lnTo>
                    <a:pt x="384" y="64"/>
                  </a:lnTo>
                  <a:cubicBezTo>
                    <a:pt x="384" y="29"/>
                    <a:pt x="356" y="0"/>
                    <a:pt x="320" y="0"/>
                  </a:cubicBezTo>
                  <a:lnTo>
                    <a:pt x="320" y="0"/>
                  </a:lnTo>
                  <a:close/>
                </a:path>
              </a:pathLst>
            </a:custGeom>
            <a:solidFill>
              <a:srgbClr val="FFFFFF"/>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38" name="PA-任意多边形 2935">
              <a:extLst>
                <a:ext uri="{FF2B5EF4-FFF2-40B4-BE49-F238E27FC236}">
                  <a16:creationId xmlns:a16="http://schemas.microsoft.com/office/drawing/2014/main" id="{2041459B-46B0-436B-A52A-4646CF64BD7C}"/>
                </a:ext>
              </a:extLst>
            </p:cNvPr>
            <p:cNvSpPr>
              <a:spLocks/>
            </p:cNvSpPr>
            <p:nvPr>
              <p:custDataLst>
                <p:tags r:id="rId59"/>
              </p:custDataLst>
            </p:nvPr>
          </p:nvSpPr>
          <p:spPr bwMode="auto">
            <a:xfrm>
              <a:off x="3767" y="2221"/>
              <a:ext cx="146" cy="49"/>
            </a:xfrm>
            <a:custGeom>
              <a:avLst/>
              <a:gdLst>
                <a:gd name="T0" fmla="*/ 122 w 146"/>
                <a:gd name="T1" fmla="*/ 49 h 49"/>
                <a:gd name="T2" fmla="*/ 24 w 146"/>
                <a:gd name="T3" fmla="*/ 49 h 49"/>
                <a:gd name="T4" fmla="*/ 0 w 146"/>
                <a:gd name="T5" fmla="*/ 0 h 49"/>
                <a:gd name="T6" fmla="*/ 146 w 146"/>
                <a:gd name="T7" fmla="*/ 0 h 49"/>
                <a:gd name="T8" fmla="*/ 122 w 146"/>
                <a:gd name="T9" fmla="*/ 49 h 49"/>
              </a:gdLst>
              <a:ahLst/>
              <a:cxnLst>
                <a:cxn ang="0">
                  <a:pos x="T0" y="T1"/>
                </a:cxn>
                <a:cxn ang="0">
                  <a:pos x="T2" y="T3"/>
                </a:cxn>
                <a:cxn ang="0">
                  <a:pos x="T4" y="T5"/>
                </a:cxn>
                <a:cxn ang="0">
                  <a:pos x="T6" y="T7"/>
                </a:cxn>
                <a:cxn ang="0">
                  <a:pos x="T8" y="T9"/>
                </a:cxn>
              </a:cxnLst>
              <a:rect l="0" t="0" r="r" b="b"/>
              <a:pathLst>
                <a:path w="146" h="49">
                  <a:moveTo>
                    <a:pt x="122" y="49"/>
                  </a:moveTo>
                  <a:lnTo>
                    <a:pt x="24" y="49"/>
                  </a:lnTo>
                  <a:lnTo>
                    <a:pt x="0" y="0"/>
                  </a:lnTo>
                  <a:lnTo>
                    <a:pt x="146" y="0"/>
                  </a:lnTo>
                  <a:lnTo>
                    <a:pt x="122" y="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39" name="PA-椭圆 2936">
              <a:extLst>
                <a:ext uri="{FF2B5EF4-FFF2-40B4-BE49-F238E27FC236}">
                  <a16:creationId xmlns:a16="http://schemas.microsoft.com/office/drawing/2014/main" id="{625B29F4-85FA-4514-8B5B-C2A6C6FB3617}"/>
                </a:ext>
              </a:extLst>
            </p:cNvPr>
            <p:cNvSpPr>
              <a:spLocks noChangeArrowheads="1"/>
            </p:cNvSpPr>
            <p:nvPr>
              <p:custDataLst>
                <p:tags r:id="rId60"/>
              </p:custDataLst>
            </p:nvPr>
          </p:nvSpPr>
          <p:spPr bwMode="auto">
            <a:xfrm>
              <a:off x="3828" y="2233"/>
              <a:ext cx="24" cy="25"/>
            </a:xfrm>
            <a:prstGeom prst="ellipse">
              <a:avLst/>
            </a:prstGeom>
            <a:solidFill>
              <a:srgbClr val="E0E0D1"/>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grpSp>
        <p:nvGrpSpPr>
          <p:cNvPr id="140" name="PA-device-smartphone-tablet-iphone-icon-multiColor-279773">
            <a:extLst>
              <a:ext uri="{FF2B5EF4-FFF2-40B4-BE49-F238E27FC236}">
                <a16:creationId xmlns:a16="http://schemas.microsoft.com/office/drawing/2014/main" id="{B23D4E87-69AC-4A07-820B-790D898FAE8E}"/>
              </a:ext>
            </a:extLst>
          </p:cNvPr>
          <p:cNvGrpSpPr>
            <a:grpSpLocks noChangeAspect="1"/>
          </p:cNvGrpSpPr>
          <p:nvPr>
            <p:custDataLst>
              <p:tags r:id="rId2"/>
            </p:custDataLst>
          </p:nvPr>
        </p:nvGrpSpPr>
        <p:grpSpPr bwMode="auto">
          <a:xfrm>
            <a:off x="3393817" y="1506175"/>
            <a:ext cx="190767" cy="423176"/>
            <a:chOff x="3767" y="2026"/>
            <a:chExt cx="146" cy="244"/>
          </a:xfrm>
        </p:grpSpPr>
        <p:sp>
          <p:nvSpPr>
            <p:cNvPr id="141" name="PA-任意多边形 2932">
              <a:extLst>
                <a:ext uri="{FF2B5EF4-FFF2-40B4-BE49-F238E27FC236}">
                  <a16:creationId xmlns:a16="http://schemas.microsoft.com/office/drawing/2014/main" id="{C4527CDE-8D5B-4E2E-A207-E459B2FAC337}"/>
                </a:ext>
              </a:extLst>
            </p:cNvPr>
            <p:cNvSpPr>
              <a:spLocks noEditPoints="1"/>
            </p:cNvSpPr>
            <p:nvPr>
              <p:custDataLst>
                <p:tags r:id="rId53"/>
              </p:custDataLst>
            </p:nvPr>
          </p:nvSpPr>
          <p:spPr bwMode="auto">
            <a:xfrm>
              <a:off x="3767" y="2026"/>
              <a:ext cx="146" cy="244"/>
            </a:xfrm>
            <a:custGeom>
              <a:avLst/>
              <a:gdLst>
                <a:gd name="T0" fmla="*/ 320 w 384"/>
                <a:gd name="T1" fmla="*/ 48 h 640"/>
                <a:gd name="T2" fmla="*/ 336 w 384"/>
                <a:gd name="T3" fmla="*/ 64 h 640"/>
                <a:gd name="T4" fmla="*/ 336 w 384"/>
                <a:gd name="T5" fmla="*/ 576 h 640"/>
                <a:gd name="T6" fmla="*/ 320 w 384"/>
                <a:gd name="T7" fmla="*/ 592 h 640"/>
                <a:gd name="T8" fmla="*/ 64 w 384"/>
                <a:gd name="T9" fmla="*/ 592 h 640"/>
                <a:gd name="T10" fmla="*/ 48 w 384"/>
                <a:gd name="T11" fmla="*/ 576 h 640"/>
                <a:gd name="T12" fmla="*/ 48 w 384"/>
                <a:gd name="T13" fmla="*/ 64 h 640"/>
                <a:gd name="T14" fmla="*/ 64 w 384"/>
                <a:gd name="T15" fmla="*/ 48 h 640"/>
                <a:gd name="T16" fmla="*/ 320 w 384"/>
                <a:gd name="T17" fmla="*/ 48 h 640"/>
                <a:gd name="T18" fmla="*/ 320 w 384"/>
                <a:gd name="T19" fmla="*/ 0 h 640"/>
                <a:gd name="T20" fmla="*/ 64 w 384"/>
                <a:gd name="T21" fmla="*/ 0 h 640"/>
                <a:gd name="T22" fmla="*/ 0 w 384"/>
                <a:gd name="T23" fmla="*/ 64 h 640"/>
                <a:gd name="T24" fmla="*/ 0 w 384"/>
                <a:gd name="T25" fmla="*/ 576 h 640"/>
                <a:gd name="T26" fmla="*/ 64 w 384"/>
                <a:gd name="T27" fmla="*/ 640 h 640"/>
                <a:gd name="T28" fmla="*/ 320 w 384"/>
                <a:gd name="T29" fmla="*/ 640 h 640"/>
                <a:gd name="T30" fmla="*/ 384 w 384"/>
                <a:gd name="T31" fmla="*/ 576 h 640"/>
                <a:gd name="T32" fmla="*/ 384 w 384"/>
                <a:gd name="T33" fmla="*/ 64 h 640"/>
                <a:gd name="T34" fmla="*/ 320 w 384"/>
                <a:gd name="T35" fmla="*/ 0 h 640"/>
                <a:gd name="T36" fmla="*/ 320 w 384"/>
                <a:gd name="T37"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640">
                  <a:moveTo>
                    <a:pt x="320" y="48"/>
                  </a:moveTo>
                  <a:cubicBezTo>
                    <a:pt x="329" y="48"/>
                    <a:pt x="336" y="56"/>
                    <a:pt x="336" y="64"/>
                  </a:cubicBezTo>
                  <a:lnTo>
                    <a:pt x="336" y="576"/>
                  </a:lnTo>
                  <a:cubicBezTo>
                    <a:pt x="336" y="585"/>
                    <a:pt x="329" y="592"/>
                    <a:pt x="320" y="592"/>
                  </a:cubicBezTo>
                  <a:lnTo>
                    <a:pt x="64" y="592"/>
                  </a:lnTo>
                  <a:cubicBezTo>
                    <a:pt x="56" y="592"/>
                    <a:pt x="48" y="585"/>
                    <a:pt x="48" y="576"/>
                  </a:cubicBezTo>
                  <a:lnTo>
                    <a:pt x="48" y="64"/>
                  </a:lnTo>
                  <a:cubicBezTo>
                    <a:pt x="48" y="56"/>
                    <a:pt x="56" y="48"/>
                    <a:pt x="64" y="48"/>
                  </a:cubicBezTo>
                  <a:lnTo>
                    <a:pt x="320" y="48"/>
                  </a:lnTo>
                  <a:moveTo>
                    <a:pt x="320" y="0"/>
                  </a:moveTo>
                  <a:lnTo>
                    <a:pt x="64" y="0"/>
                  </a:lnTo>
                  <a:cubicBezTo>
                    <a:pt x="29" y="0"/>
                    <a:pt x="0" y="29"/>
                    <a:pt x="0" y="64"/>
                  </a:cubicBezTo>
                  <a:lnTo>
                    <a:pt x="0" y="576"/>
                  </a:lnTo>
                  <a:cubicBezTo>
                    <a:pt x="0" y="612"/>
                    <a:pt x="29" y="640"/>
                    <a:pt x="64" y="640"/>
                  </a:cubicBezTo>
                  <a:lnTo>
                    <a:pt x="320" y="640"/>
                  </a:lnTo>
                  <a:cubicBezTo>
                    <a:pt x="356" y="640"/>
                    <a:pt x="384" y="612"/>
                    <a:pt x="384" y="576"/>
                  </a:cubicBezTo>
                  <a:lnTo>
                    <a:pt x="384" y="64"/>
                  </a:lnTo>
                  <a:cubicBezTo>
                    <a:pt x="384" y="29"/>
                    <a:pt x="356" y="0"/>
                    <a:pt x="320" y="0"/>
                  </a:cubicBezTo>
                  <a:lnTo>
                    <a:pt x="320" y="0"/>
                  </a:lnTo>
                  <a:close/>
                </a:path>
              </a:pathLst>
            </a:custGeom>
            <a:solidFill>
              <a:srgbClr val="FFFFFF"/>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42" name="PA-任意多边形 2935">
              <a:extLst>
                <a:ext uri="{FF2B5EF4-FFF2-40B4-BE49-F238E27FC236}">
                  <a16:creationId xmlns:a16="http://schemas.microsoft.com/office/drawing/2014/main" id="{DA9417D7-B591-4AB4-BB2C-B2BF6F23CA52}"/>
                </a:ext>
              </a:extLst>
            </p:cNvPr>
            <p:cNvSpPr>
              <a:spLocks/>
            </p:cNvSpPr>
            <p:nvPr>
              <p:custDataLst>
                <p:tags r:id="rId54"/>
              </p:custDataLst>
            </p:nvPr>
          </p:nvSpPr>
          <p:spPr bwMode="auto">
            <a:xfrm>
              <a:off x="3767" y="2221"/>
              <a:ext cx="146" cy="49"/>
            </a:xfrm>
            <a:custGeom>
              <a:avLst/>
              <a:gdLst>
                <a:gd name="T0" fmla="*/ 122 w 146"/>
                <a:gd name="T1" fmla="*/ 49 h 49"/>
                <a:gd name="T2" fmla="*/ 24 w 146"/>
                <a:gd name="T3" fmla="*/ 49 h 49"/>
                <a:gd name="T4" fmla="*/ 0 w 146"/>
                <a:gd name="T5" fmla="*/ 0 h 49"/>
                <a:gd name="T6" fmla="*/ 146 w 146"/>
                <a:gd name="T7" fmla="*/ 0 h 49"/>
                <a:gd name="T8" fmla="*/ 122 w 146"/>
                <a:gd name="T9" fmla="*/ 49 h 49"/>
              </a:gdLst>
              <a:ahLst/>
              <a:cxnLst>
                <a:cxn ang="0">
                  <a:pos x="T0" y="T1"/>
                </a:cxn>
                <a:cxn ang="0">
                  <a:pos x="T2" y="T3"/>
                </a:cxn>
                <a:cxn ang="0">
                  <a:pos x="T4" y="T5"/>
                </a:cxn>
                <a:cxn ang="0">
                  <a:pos x="T6" y="T7"/>
                </a:cxn>
                <a:cxn ang="0">
                  <a:pos x="T8" y="T9"/>
                </a:cxn>
              </a:cxnLst>
              <a:rect l="0" t="0" r="r" b="b"/>
              <a:pathLst>
                <a:path w="146" h="49">
                  <a:moveTo>
                    <a:pt x="122" y="49"/>
                  </a:moveTo>
                  <a:lnTo>
                    <a:pt x="24" y="49"/>
                  </a:lnTo>
                  <a:lnTo>
                    <a:pt x="0" y="0"/>
                  </a:lnTo>
                  <a:lnTo>
                    <a:pt x="146" y="0"/>
                  </a:lnTo>
                  <a:lnTo>
                    <a:pt x="122" y="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43" name="PA-椭圆 2936">
              <a:extLst>
                <a:ext uri="{FF2B5EF4-FFF2-40B4-BE49-F238E27FC236}">
                  <a16:creationId xmlns:a16="http://schemas.microsoft.com/office/drawing/2014/main" id="{70F0C1B9-213B-4799-B3A0-488ED516AB9A}"/>
                </a:ext>
              </a:extLst>
            </p:cNvPr>
            <p:cNvSpPr>
              <a:spLocks noChangeArrowheads="1"/>
            </p:cNvSpPr>
            <p:nvPr>
              <p:custDataLst>
                <p:tags r:id="rId55"/>
              </p:custDataLst>
            </p:nvPr>
          </p:nvSpPr>
          <p:spPr bwMode="auto">
            <a:xfrm>
              <a:off x="3828" y="2233"/>
              <a:ext cx="24" cy="25"/>
            </a:xfrm>
            <a:prstGeom prst="ellipse">
              <a:avLst/>
            </a:prstGeom>
            <a:solidFill>
              <a:srgbClr val="E0E0D1"/>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grpSp>
        <p:nvGrpSpPr>
          <p:cNvPr id="144" name="PA-device-smartphone-tablet-iphone-icon-multiColor-279773">
            <a:extLst>
              <a:ext uri="{FF2B5EF4-FFF2-40B4-BE49-F238E27FC236}">
                <a16:creationId xmlns:a16="http://schemas.microsoft.com/office/drawing/2014/main" id="{3877CA3C-3770-4FD3-9591-F9895B73C79F}"/>
              </a:ext>
            </a:extLst>
          </p:cNvPr>
          <p:cNvGrpSpPr>
            <a:grpSpLocks noChangeAspect="1"/>
          </p:cNvGrpSpPr>
          <p:nvPr>
            <p:custDataLst>
              <p:tags r:id="rId3"/>
            </p:custDataLst>
          </p:nvPr>
        </p:nvGrpSpPr>
        <p:grpSpPr bwMode="auto">
          <a:xfrm>
            <a:off x="2665256" y="1384774"/>
            <a:ext cx="509583" cy="676387"/>
            <a:chOff x="3645" y="1956"/>
            <a:chExt cx="390" cy="390"/>
          </a:xfrm>
        </p:grpSpPr>
        <p:sp>
          <p:nvSpPr>
            <p:cNvPr id="145" name="PA-椭圆 2928">
              <a:extLst>
                <a:ext uri="{FF2B5EF4-FFF2-40B4-BE49-F238E27FC236}">
                  <a16:creationId xmlns:a16="http://schemas.microsoft.com/office/drawing/2014/main" id="{6E9A8F7C-D54C-42E6-8642-8DD539685F18}"/>
                </a:ext>
              </a:extLst>
            </p:cNvPr>
            <p:cNvSpPr>
              <a:spLocks noChangeArrowheads="1"/>
            </p:cNvSpPr>
            <p:nvPr>
              <p:custDataLst>
                <p:tags r:id="rId48"/>
              </p:custDataLst>
            </p:nvPr>
          </p:nvSpPr>
          <p:spPr bwMode="auto">
            <a:xfrm>
              <a:off x="3645" y="1956"/>
              <a:ext cx="390" cy="390"/>
            </a:xfrm>
            <a:prstGeom prst="ellipse">
              <a:avLst/>
            </a:prstGeom>
            <a:solidFill>
              <a:srgbClr val="FFC000">
                <a:lumMod val="60000"/>
                <a:lumOff val="40000"/>
              </a:srgbClr>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46" name="PA-任意多边形 2931">
              <a:extLst>
                <a:ext uri="{FF2B5EF4-FFF2-40B4-BE49-F238E27FC236}">
                  <a16:creationId xmlns:a16="http://schemas.microsoft.com/office/drawing/2014/main" id="{6D6BAFE3-906E-4547-87BD-B3E426E8F0D3}"/>
                </a:ext>
              </a:extLst>
            </p:cNvPr>
            <p:cNvSpPr>
              <a:spLocks/>
            </p:cNvSpPr>
            <p:nvPr>
              <p:custDataLst>
                <p:tags r:id="rId49"/>
              </p:custDataLst>
            </p:nvPr>
          </p:nvSpPr>
          <p:spPr bwMode="auto">
            <a:xfrm>
              <a:off x="3776" y="2035"/>
              <a:ext cx="128" cy="226"/>
            </a:xfrm>
            <a:custGeom>
              <a:avLst/>
              <a:gdLst>
                <a:gd name="T0" fmla="*/ 40 w 336"/>
                <a:gd name="T1" fmla="*/ 592 h 592"/>
                <a:gd name="T2" fmla="*/ 0 w 336"/>
                <a:gd name="T3" fmla="*/ 552 h 592"/>
                <a:gd name="T4" fmla="*/ 0 w 336"/>
                <a:gd name="T5" fmla="*/ 40 h 592"/>
                <a:gd name="T6" fmla="*/ 40 w 336"/>
                <a:gd name="T7" fmla="*/ 0 h 592"/>
                <a:gd name="T8" fmla="*/ 296 w 336"/>
                <a:gd name="T9" fmla="*/ 0 h 592"/>
                <a:gd name="T10" fmla="*/ 336 w 336"/>
                <a:gd name="T11" fmla="*/ 40 h 592"/>
                <a:gd name="T12" fmla="*/ 336 w 336"/>
                <a:gd name="T13" fmla="*/ 552 h 592"/>
                <a:gd name="T14" fmla="*/ 296 w 336"/>
                <a:gd name="T15" fmla="*/ 592 h 592"/>
                <a:gd name="T16" fmla="*/ 40 w 336"/>
                <a:gd name="T17" fmla="*/ 592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592">
                  <a:moveTo>
                    <a:pt x="40" y="592"/>
                  </a:moveTo>
                  <a:cubicBezTo>
                    <a:pt x="18" y="592"/>
                    <a:pt x="0" y="575"/>
                    <a:pt x="0" y="552"/>
                  </a:cubicBezTo>
                  <a:lnTo>
                    <a:pt x="0" y="40"/>
                  </a:lnTo>
                  <a:cubicBezTo>
                    <a:pt x="0" y="18"/>
                    <a:pt x="18" y="0"/>
                    <a:pt x="40" y="0"/>
                  </a:cubicBezTo>
                  <a:lnTo>
                    <a:pt x="296" y="0"/>
                  </a:lnTo>
                  <a:cubicBezTo>
                    <a:pt x="319" y="0"/>
                    <a:pt x="336" y="18"/>
                    <a:pt x="336" y="40"/>
                  </a:cubicBezTo>
                  <a:lnTo>
                    <a:pt x="336" y="552"/>
                  </a:lnTo>
                  <a:cubicBezTo>
                    <a:pt x="336" y="575"/>
                    <a:pt x="319" y="592"/>
                    <a:pt x="296" y="592"/>
                  </a:cubicBezTo>
                  <a:lnTo>
                    <a:pt x="40" y="592"/>
                  </a:lnTo>
                  <a:close/>
                </a:path>
              </a:pathLst>
            </a:custGeom>
            <a:solidFill>
              <a:srgbClr val="4F5D73"/>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47" name="PA-任意多边形 2932">
              <a:extLst>
                <a:ext uri="{FF2B5EF4-FFF2-40B4-BE49-F238E27FC236}">
                  <a16:creationId xmlns:a16="http://schemas.microsoft.com/office/drawing/2014/main" id="{DA016316-B0FF-43B1-900F-3B32F8EA1704}"/>
                </a:ext>
              </a:extLst>
            </p:cNvPr>
            <p:cNvSpPr>
              <a:spLocks noEditPoints="1"/>
            </p:cNvSpPr>
            <p:nvPr>
              <p:custDataLst>
                <p:tags r:id="rId50"/>
              </p:custDataLst>
            </p:nvPr>
          </p:nvSpPr>
          <p:spPr bwMode="auto">
            <a:xfrm>
              <a:off x="3767" y="2026"/>
              <a:ext cx="146" cy="244"/>
            </a:xfrm>
            <a:custGeom>
              <a:avLst/>
              <a:gdLst>
                <a:gd name="T0" fmla="*/ 320 w 384"/>
                <a:gd name="T1" fmla="*/ 48 h 640"/>
                <a:gd name="T2" fmla="*/ 336 w 384"/>
                <a:gd name="T3" fmla="*/ 64 h 640"/>
                <a:gd name="T4" fmla="*/ 336 w 384"/>
                <a:gd name="T5" fmla="*/ 576 h 640"/>
                <a:gd name="T6" fmla="*/ 320 w 384"/>
                <a:gd name="T7" fmla="*/ 592 h 640"/>
                <a:gd name="T8" fmla="*/ 64 w 384"/>
                <a:gd name="T9" fmla="*/ 592 h 640"/>
                <a:gd name="T10" fmla="*/ 48 w 384"/>
                <a:gd name="T11" fmla="*/ 576 h 640"/>
                <a:gd name="T12" fmla="*/ 48 w 384"/>
                <a:gd name="T13" fmla="*/ 64 h 640"/>
                <a:gd name="T14" fmla="*/ 64 w 384"/>
                <a:gd name="T15" fmla="*/ 48 h 640"/>
                <a:gd name="T16" fmla="*/ 320 w 384"/>
                <a:gd name="T17" fmla="*/ 48 h 640"/>
                <a:gd name="T18" fmla="*/ 320 w 384"/>
                <a:gd name="T19" fmla="*/ 0 h 640"/>
                <a:gd name="T20" fmla="*/ 64 w 384"/>
                <a:gd name="T21" fmla="*/ 0 h 640"/>
                <a:gd name="T22" fmla="*/ 0 w 384"/>
                <a:gd name="T23" fmla="*/ 64 h 640"/>
                <a:gd name="T24" fmla="*/ 0 w 384"/>
                <a:gd name="T25" fmla="*/ 576 h 640"/>
                <a:gd name="T26" fmla="*/ 64 w 384"/>
                <a:gd name="T27" fmla="*/ 640 h 640"/>
                <a:gd name="T28" fmla="*/ 320 w 384"/>
                <a:gd name="T29" fmla="*/ 640 h 640"/>
                <a:gd name="T30" fmla="*/ 384 w 384"/>
                <a:gd name="T31" fmla="*/ 576 h 640"/>
                <a:gd name="T32" fmla="*/ 384 w 384"/>
                <a:gd name="T33" fmla="*/ 64 h 640"/>
                <a:gd name="T34" fmla="*/ 320 w 384"/>
                <a:gd name="T35" fmla="*/ 0 h 640"/>
                <a:gd name="T36" fmla="*/ 320 w 384"/>
                <a:gd name="T37"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640">
                  <a:moveTo>
                    <a:pt x="320" y="48"/>
                  </a:moveTo>
                  <a:cubicBezTo>
                    <a:pt x="329" y="48"/>
                    <a:pt x="336" y="56"/>
                    <a:pt x="336" y="64"/>
                  </a:cubicBezTo>
                  <a:lnTo>
                    <a:pt x="336" y="576"/>
                  </a:lnTo>
                  <a:cubicBezTo>
                    <a:pt x="336" y="585"/>
                    <a:pt x="329" y="592"/>
                    <a:pt x="320" y="592"/>
                  </a:cubicBezTo>
                  <a:lnTo>
                    <a:pt x="64" y="592"/>
                  </a:lnTo>
                  <a:cubicBezTo>
                    <a:pt x="56" y="592"/>
                    <a:pt x="48" y="585"/>
                    <a:pt x="48" y="576"/>
                  </a:cubicBezTo>
                  <a:lnTo>
                    <a:pt x="48" y="64"/>
                  </a:lnTo>
                  <a:cubicBezTo>
                    <a:pt x="48" y="56"/>
                    <a:pt x="56" y="48"/>
                    <a:pt x="64" y="48"/>
                  </a:cubicBezTo>
                  <a:lnTo>
                    <a:pt x="320" y="48"/>
                  </a:lnTo>
                  <a:moveTo>
                    <a:pt x="320" y="0"/>
                  </a:moveTo>
                  <a:lnTo>
                    <a:pt x="64" y="0"/>
                  </a:lnTo>
                  <a:cubicBezTo>
                    <a:pt x="29" y="0"/>
                    <a:pt x="0" y="29"/>
                    <a:pt x="0" y="64"/>
                  </a:cubicBezTo>
                  <a:lnTo>
                    <a:pt x="0" y="576"/>
                  </a:lnTo>
                  <a:cubicBezTo>
                    <a:pt x="0" y="612"/>
                    <a:pt x="29" y="640"/>
                    <a:pt x="64" y="640"/>
                  </a:cubicBezTo>
                  <a:lnTo>
                    <a:pt x="320" y="640"/>
                  </a:lnTo>
                  <a:cubicBezTo>
                    <a:pt x="356" y="640"/>
                    <a:pt x="384" y="612"/>
                    <a:pt x="384" y="576"/>
                  </a:cubicBezTo>
                  <a:lnTo>
                    <a:pt x="384" y="64"/>
                  </a:lnTo>
                  <a:cubicBezTo>
                    <a:pt x="384" y="29"/>
                    <a:pt x="356" y="0"/>
                    <a:pt x="320" y="0"/>
                  </a:cubicBezTo>
                  <a:lnTo>
                    <a:pt x="320" y="0"/>
                  </a:lnTo>
                  <a:close/>
                </a:path>
              </a:pathLst>
            </a:custGeom>
            <a:solidFill>
              <a:srgbClr val="FFFFFF"/>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48" name="PA-任意多边形 2935">
              <a:extLst>
                <a:ext uri="{FF2B5EF4-FFF2-40B4-BE49-F238E27FC236}">
                  <a16:creationId xmlns:a16="http://schemas.microsoft.com/office/drawing/2014/main" id="{62D1ABAD-0C34-45B3-984D-13E5E79DCA3B}"/>
                </a:ext>
              </a:extLst>
            </p:cNvPr>
            <p:cNvSpPr>
              <a:spLocks/>
            </p:cNvSpPr>
            <p:nvPr>
              <p:custDataLst>
                <p:tags r:id="rId51"/>
              </p:custDataLst>
            </p:nvPr>
          </p:nvSpPr>
          <p:spPr bwMode="auto">
            <a:xfrm>
              <a:off x="3767" y="2221"/>
              <a:ext cx="146" cy="49"/>
            </a:xfrm>
            <a:custGeom>
              <a:avLst/>
              <a:gdLst>
                <a:gd name="T0" fmla="*/ 122 w 146"/>
                <a:gd name="T1" fmla="*/ 49 h 49"/>
                <a:gd name="T2" fmla="*/ 24 w 146"/>
                <a:gd name="T3" fmla="*/ 49 h 49"/>
                <a:gd name="T4" fmla="*/ 0 w 146"/>
                <a:gd name="T5" fmla="*/ 0 h 49"/>
                <a:gd name="T6" fmla="*/ 146 w 146"/>
                <a:gd name="T7" fmla="*/ 0 h 49"/>
                <a:gd name="T8" fmla="*/ 122 w 146"/>
                <a:gd name="T9" fmla="*/ 49 h 49"/>
              </a:gdLst>
              <a:ahLst/>
              <a:cxnLst>
                <a:cxn ang="0">
                  <a:pos x="T0" y="T1"/>
                </a:cxn>
                <a:cxn ang="0">
                  <a:pos x="T2" y="T3"/>
                </a:cxn>
                <a:cxn ang="0">
                  <a:pos x="T4" y="T5"/>
                </a:cxn>
                <a:cxn ang="0">
                  <a:pos x="T6" y="T7"/>
                </a:cxn>
                <a:cxn ang="0">
                  <a:pos x="T8" y="T9"/>
                </a:cxn>
              </a:cxnLst>
              <a:rect l="0" t="0" r="r" b="b"/>
              <a:pathLst>
                <a:path w="146" h="49">
                  <a:moveTo>
                    <a:pt x="122" y="49"/>
                  </a:moveTo>
                  <a:lnTo>
                    <a:pt x="24" y="49"/>
                  </a:lnTo>
                  <a:lnTo>
                    <a:pt x="0" y="0"/>
                  </a:lnTo>
                  <a:lnTo>
                    <a:pt x="146" y="0"/>
                  </a:lnTo>
                  <a:lnTo>
                    <a:pt x="122" y="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49" name="PA-椭圆 2936">
              <a:extLst>
                <a:ext uri="{FF2B5EF4-FFF2-40B4-BE49-F238E27FC236}">
                  <a16:creationId xmlns:a16="http://schemas.microsoft.com/office/drawing/2014/main" id="{008CBF08-8E79-4B6C-8C5B-09BACD343B99}"/>
                </a:ext>
              </a:extLst>
            </p:cNvPr>
            <p:cNvSpPr>
              <a:spLocks noChangeArrowheads="1"/>
            </p:cNvSpPr>
            <p:nvPr>
              <p:custDataLst>
                <p:tags r:id="rId52"/>
              </p:custDataLst>
            </p:nvPr>
          </p:nvSpPr>
          <p:spPr bwMode="auto">
            <a:xfrm>
              <a:off x="3828" y="2233"/>
              <a:ext cx="24" cy="25"/>
            </a:xfrm>
            <a:prstGeom prst="ellipse">
              <a:avLst/>
            </a:prstGeom>
            <a:solidFill>
              <a:srgbClr val="E0E0D1"/>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sp>
        <p:nvSpPr>
          <p:cNvPr id="150" name="矩形 149">
            <a:extLst>
              <a:ext uri="{FF2B5EF4-FFF2-40B4-BE49-F238E27FC236}">
                <a16:creationId xmlns:a16="http://schemas.microsoft.com/office/drawing/2014/main" id="{5F10D1E1-E3CE-4B4F-B88D-B6805CF07B3F}"/>
              </a:ext>
            </a:extLst>
          </p:cNvPr>
          <p:cNvSpPr/>
          <p:nvPr/>
        </p:nvSpPr>
        <p:spPr>
          <a:xfrm>
            <a:off x="3100497" y="1105588"/>
            <a:ext cx="676788" cy="919176"/>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5400" b="1" i="0" u="none" strike="noStrike" kern="0" cap="none" spc="0" normalizeH="0" baseline="0" noProof="0" dirty="0">
                <a:ln w="22225">
                  <a:solidFill>
                    <a:srgbClr val="FFC000">
                      <a:lumMod val="75000"/>
                    </a:srgbClr>
                  </a:solidFill>
                  <a:prstDash val="solid"/>
                </a:ln>
                <a:solidFill>
                  <a:srgbClr val="FFC000">
                    <a:lumMod val="40000"/>
                    <a:lumOff val="60000"/>
                  </a:srgbClr>
                </a:solidFill>
                <a:effectLst/>
                <a:uLnTx/>
                <a:uFillTx/>
              </a:rPr>
              <a:t>…</a:t>
            </a:r>
            <a:endParaRPr kumimoji="0" lang="zh-CN" altLang="en-US" sz="5400" b="0" i="0" u="none" strike="noStrike" kern="0" cap="none" spc="0" normalizeH="0" baseline="0" noProof="0" dirty="0">
              <a:ln w="22225">
                <a:solidFill>
                  <a:srgbClr val="FFC000">
                    <a:lumMod val="75000"/>
                  </a:srgbClr>
                </a:solidFill>
                <a:prstDash val="solid"/>
              </a:ln>
              <a:solidFill>
                <a:srgbClr val="FFC000">
                  <a:lumMod val="40000"/>
                  <a:lumOff val="60000"/>
                </a:srgbClr>
              </a:solidFill>
              <a:effectLst>
                <a:outerShdw blurRad="38100" dist="25400" dir="5400000" algn="ctr" rotWithShape="0">
                  <a:srgbClr val="6E747A">
                    <a:alpha val="43000"/>
                  </a:srgbClr>
                </a:outerShdw>
              </a:effectLst>
              <a:uLnTx/>
              <a:uFillTx/>
            </a:endParaRPr>
          </a:p>
        </p:txBody>
      </p:sp>
      <p:grpSp>
        <p:nvGrpSpPr>
          <p:cNvPr id="152" name="组合 151"/>
          <p:cNvGrpSpPr/>
          <p:nvPr/>
        </p:nvGrpSpPr>
        <p:grpSpPr>
          <a:xfrm>
            <a:off x="6304821" y="1237165"/>
            <a:ext cx="731359" cy="973248"/>
            <a:chOff x="4182750" y="1671679"/>
            <a:chExt cx="731359" cy="973248"/>
          </a:xfrm>
        </p:grpSpPr>
        <p:sp>
          <p:nvSpPr>
            <p:cNvPr id="153" name="PA-任意多边形 3142">
              <a:extLst>
                <a:ext uri="{FF2B5EF4-FFF2-40B4-BE49-F238E27FC236}">
                  <a16:creationId xmlns:a16="http://schemas.microsoft.com/office/drawing/2014/main" id="{D0FBE364-627E-4E2C-B9C4-15D891453972}"/>
                </a:ext>
              </a:extLst>
            </p:cNvPr>
            <p:cNvSpPr/>
            <p:nvPr>
              <p:custDataLst>
                <p:tags r:id="rId37"/>
              </p:custDataLst>
            </p:nvPr>
          </p:nvSpPr>
          <p:spPr>
            <a:xfrm>
              <a:off x="4252471" y="1884162"/>
              <a:ext cx="591917" cy="182128"/>
            </a:xfrm>
            <a:custGeom>
              <a:avLst/>
              <a:gdLst>
                <a:gd name="connsiteX0" fmla="*/ 794 w 660400"/>
                <a:gd name="connsiteY0" fmla="*/ 794 h 152400"/>
                <a:gd name="connsiteX1" fmla="*/ 661194 w 660400"/>
                <a:gd name="connsiteY1" fmla="*/ 794 h 152400"/>
                <a:gd name="connsiteX2" fmla="*/ 661194 w 660400"/>
                <a:gd name="connsiteY2" fmla="*/ 153194 h 152400"/>
                <a:gd name="connsiteX3" fmla="*/ 794 w 660400"/>
                <a:gd name="connsiteY3" fmla="*/ 153194 h 152400"/>
              </a:gdLst>
              <a:ahLst/>
              <a:cxnLst>
                <a:cxn ang="0">
                  <a:pos x="connsiteX0" y="connsiteY0"/>
                </a:cxn>
                <a:cxn ang="0">
                  <a:pos x="connsiteX1" y="connsiteY1"/>
                </a:cxn>
                <a:cxn ang="0">
                  <a:pos x="connsiteX2" y="connsiteY2"/>
                </a:cxn>
                <a:cxn ang="0">
                  <a:pos x="connsiteX3" y="connsiteY3"/>
                </a:cxn>
              </a:cxnLst>
              <a:rect l="l" t="t" r="r" b="b"/>
              <a:pathLst>
                <a:path w="660400" h="152400">
                  <a:moveTo>
                    <a:pt x="794" y="794"/>
                  </a:moveTo>
                  <a:lnTo>
                    <a:pt x="661194" y="794"/>
                  </a:lnTo>
                  <a:lnTo>
                    <a:pt x="661194" y="153194"/>
                  </a:lnTo>
                  <a:lnTo>
                    <a:pt x="794" y="153194"/>
                  </a:lnTo>
                  <a:close/>
                </a:path>
              </a:pathLst>
            </a:custGeom>
            <a:solidFill>
              <a:srgbClr val="E7E6E6">
                <a:lumMod val="90000"/>
              </a:srgbClr>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54" name="PA-任意多边形 3143">
              <a:extLst>
                <a:ext uri="{FF2B5EF4-FFF2-40B4-BE49-F238E27FC236}">
                  <a16:creationId xmlns:a16="http://schemas.microsoft.com/office/drawing/2014/main" id="{97E105B9-13AB-457B-A938-25964BF88E4C}"/>
                </a:ext>
              </a:extLst>
            </p:cNvPr>
            <p:cNvSpPr/>
            <p:nvPr>
              <p:custDataLst>
                <p:tags r:id="rId38"/>
              </p:custDataLst>
            </p:nvPr>
          </p:nvSpPr>
          <p:spPr>
            <a:xfrm>
              <a:off x="4184173" y="1671679"/>
              <a:ext cx="728514" cy="242838"/>
            </a:xfrm>
            <a:custGeom>
              <a:avLst/>
              <a:gdLst>
                <a:gd name="connsiteX0" fmla="*/ 794 w 812800"/>
                <a:gd name="connsiteY0" fmla="*/ 794 h 203200"/>
                <a:gd name="connsiteX1" fmla="*/ 813594 w 812800"/>
                <a:gd name="connsiteY1" fmla="*/ 794 h 203200"/>
                <a:gd name="connsiteX2" fmla="*/ 813594 w 812800"/>
                <a:gd name="connsiteY2" fmla="*/ 203994 h 203200"/>
                <a:gd name="connsiteX3" fmla="*/ 794 w 812800"/>
                <a:gd name="connsiteY3" fmla="*/ 203994 h 203200"/>
              </a:gdLst>
              <a:ahLst/>
              <a:cxnLst>
                <a:cxn ang="0">
                  <a:pos x="connsiteX0" y="connsiteY0"/>
                </a:cxn>
                <a:cxn ang="0">
                  <a:pos x="connsiteX1" y="connsiteY1"/>
                </a:cxn>
                <a:cxn ang="0">
                  <a:pos x="connsiteX2" y="connsiteY2"/>
                </a:cxn>
                <a:cxn ang="0">
                  <a:pos x="connsiteX3" y="connsiteY3"/>
                </a:cxn>
              </a:cxnLst>
              <a:rect l="l" t="t" r="r" b="b"/>
              <a:pathLst>
                <a:path w="812800" h="203200">
                  <a:moveTo>
                    <a:pt x="794" y="794"/>
                  </a:moveTo>
                  <a:lnTo>
                    <a:pt x="813594" y="794"/>
                  </a:lnTo>
                  <a:lnTo>
                    <a:pt x="813594" y="203994"/>
                  </a:lnTo>
                  <a:lnTo>
                    <a:pt x="794" y="203994"/>
                  </a:lnTo>
                  <a:close/>
                </a:path>
              </a:pathLst>
            </a:custGeom>
            <a:solidFill>
              <a:srgbClr val="FFC000">
                <a:lumMod val="60000"/>
                <a:lumOff val="40000"/>
              </a:srgbClr>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55" name="PA-任意多边形 3144">
              <a:extLst>
                <a:ext uri="{FF2B5EF4-FFF2-40B4-BE49-F238E27FC236}">
                  <a16:creationId xmlns:a16="http://schemas.microsoft.com/office/drawing/2014/main" id="{4C0A2CA3-4AA6-4791-B41F-77DC9505C48A}"/>
                </a:ext>
              </a:extLst>
            </p:cNvPr>
            <p:cNvSpPr/>
            <p:nvPr>
              <p:custDataLst>
                <p:tags r:id="rId39"/>
              </p:custDataLst>
            </p:nvPr>
          </p:nvSpPr>
          <p:spPr>
            <a:xfrm>
              <a:off x="4252471" y="2248419"/>
              <a:ext cx="591917" cy="182128"/>
            </a:xfrm>
            <a:custGeom>
              <a:avLst/>
              <a:gdLst>
                <a:gd name="connsiteX0" fmla="*/ 794 w 660400"/>
                <a:gd name="connsiteY0" fmla="*/ 794 h 152400"/>
                <a:gd name="connsiteX1" fmla="*/ 661194 w 660400"/>
                <a:gd name="connsiteY1" fmla="*/ 794 h 152400"/>
                <a:gd name="connsiteX2" fmla="*/ 661194 w 660400"/>
                <a:gd name="connsiteY2" fmla="*/ 153194 h 152400"/>
                <a:gd name="connsiteX3" fmla="*/ 794 w 660400"/>
                <a:gd name="connsiteY3" fmla="*/ 153194 h 152400"/>
              </a:gdLst>
              <a:ahLst/>
              <a:cxnLst>
                <a:cxn ang="0">
                  <a:pos x="connsiteX0" y="connsiteY0"/>
                </a:cxn>
                <a:cxn ang="0">
                  <a:pos x="connsiteX1" y="connsiteY1"/>
                </a:cxn>
                <a:cxn ang="0">
                  <a:pos x="connsiteX2" y="connsiteY2"/>
                </a:cxn>
                <a:cxn ang="0">
                  <a:pos x="connsiteX3" y="connsiteY3"/>
                </a:cxn>
              </a:cxnLst>
              <a:rect l="l" t="t" r="r" b="b"/>
              <a:pathLst>
                <a:path w="660400" h="152400">
                  <a:moveTo>
                    <a:pt x="794" y="794"/>
                  </a:moveTo>
                  <a:lnTo>
                    <a:pt x="661194" y="794"/>
                  </a:lnTo>
                  <a:lnTo>
                    <a:pt x="661194" y="153194"/>
                  </a:lnTo>
                  <a:lnTo>
                    <a:pt x="794" y="153194"/>
                  </a:lnTo>
                  <a:close/>
                </a:path>
              </a:pathLst>
            </a:custGeom>
            <a:solidFill>
              <a:srgbClr val="E7E6E6">
                <a:lumMod val="90000"/>
              </a:srgbClr>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56" name="PA-任意多边形 3145">
              <a:extLst>
                <a:ext uri="{FF2B5EF4-FFF2-40B4-BE49-F238E27FC236}">
                  <a16:creationId xmlns:a16="http://schemas.microsoft.com/office/drawing/2014/main" id="{7510365C-D70B-4F7A-83FB-0C65CEB9DD9E}"/>
                </a:ext>
              </a:extLst>
            </p:cNvPr>
            <p:cNvSpPr/>
            <p:nvPr>
              <p:custDataLst>
                <p:tags r:id="rId40"/>
              </p:custDataLst>
            </p:nvPr>
          </p:nvSpPr>
          <p:spPr>
            <a:xfrm>
              <a:off x="4182750" y="2034038"/>
              <a:ext cx="731359" cy="246632"/>
            </a:xfrm>
            <a:custGeom>
              <a:avLst/>
              <a:gdLst>
                <a:gd name="connsiteX0" fmla="*/ 2381 w 815975"/>
                <a:gd name="connsiteY0" fmla="*/ 2381 h 206375"/>
                <a:gd name="connsiteX1" fmla="*/ 815181 w 815975"/>
                <a:gd name="connsiteY1" fmla="*/ 2381 h 206375"/>
                <a:gd name="connsiteX2" fmla="*/ 815181 w 815975"/>
                <a:gd name="connsiteY2" fmla="*/ 205581 h 206375"/>
                <a:gd name="connsiteX3" fmla="*/ 2381 w 815975"/>
                <a:gd name="connsiteY3" fmla="*/ 205581 h 206375"/>
              </a:gdLst>
              <a:ahLst/>
              <a:cxnLst>
                <a:cxn ang="0">
                  <a:pos x="connsiteX0" y="connsiteY0"/>
                </a:cxn>
                <a:cxn ang="0">
                  <a:pos x="connsiteX1" y="connsiteY1"/>
                </a:cxn>
                <a:cxn ang="0">
                  <a:pos x="connsiteX2" y="connsiteY2"/>
                </a:cxn>
                <a:cxn ang="0">
                  <a:pos x="connsiteX3" y="connsiteY3"/>
                </a:cxn>
              </a:cxnLst>
              <a:rect l="l" t="t" r="r" b="b"/>
              <a:pathLst>
                <a:path w="815975" h="206375">
                  <a:moveTo>
                    <a:pt x="2381" y="2381"/>
                  </a:moveTo>
                  <a:lnTo>
                    <a:pt x="815181" y="2381"/>
                  </a:lnTo>
                  <a:lnTo>
                    <a:pt x="815181" y="205581"/>
                  </a:lnTo>
                  <a:lnTo>
                    <a:pt x="2381" y="205581"/>
                  </a:lnTo>
                  <a:close/>
                </a:path>
              </a:pathLst>
            </a:custGeom>
            <a:solidFill>
              <a:srgbClr val="FFC000">
                <a:lumMod val="60000"/>
                <a:lumOff val="40000"/>
              </a:srgb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57" name="PA-任意多边形 3146">
              <a:extLst>
                <a:ext uri="{FF2B5EF4-FFF2-40B4-BE49-F238E27FC236}">
                  <a16:creationId xmlns:a16="http://schemas.microsoft.com/office/drawing/2014/main" id="{98BDD5FC-A93E-43F2-85FA-FFBED8A931A6}"/>
                </a:ext>
              </a:extLst>
            </p:cNvPr>
            <p:cNvSpPr/>
            <p:nvPr>
              <p:custDataLst>
                <p:tags r:id="rId41"/>
              </p:custDataLst>
            </p:nvPr>
          </p:nvSpPr>
          <p:spPr>
            <a:xfrm>
              <a:off x="4182750" y="2398295"/>
              <a:ext cx="731359" cy="246632"/>
            </a:xfrm>
            <a:custGeom>
              <a:avLst/>
              <a:gdLst>
                <a:gd name="connsiteX0" fmla="*/ 2381 w 815975"/>
                <a:gd name="connsiteY0" fmla="*/ 2381 h 206375"/>
                <a:gd name="connsiteX1" fmla="*/ 815181 w 815975"/>
                <a:gd name="connsiteY1" fmla="*/ 2381 h 206375"/>
                <a:gd name="connsiteX2" fmla="*/ 815181 w 815975"/>
                <a:gd name="connsiteY2" fmla="*/ 205581 h 206375"/>
                <a:gd name="connsiteX3" fmla="*/ 2381 w 815975"/>
                <a:gd name="connsiteY3" fmla="*/ 205581 h 206375"/>
              </a:gdLst>
              <a:ahLst/>
              <a:cxnLst>
                <a:cxn ang="0">
                  <a:pos x="connsiteX0" y="connsiteY0"/>
                </a:cxn>
                <a:cxn ang="0">
                  <a:pos x="connsiteX1" y="connsiteY1"/>
                </a:cxn>
                <a:cxn ang="0">
                  <a:pos x="connsiteX2" y="connsiteY2"/>
                </a:cxn>
                <a:cxn ang="0">
                  <a:pos x="connsiteX3" y="connsiteY3"/>
                </a:cxn>
              </a:cxnLst>
              <a:rect l="l" t="t" r="r" b="b"/>
              <a:pathLst>
                <a:path w="815975" h="206375">
                  <a:moveTo>
                    <a:pt x="2381" y="2381"/>
                  </a:moveTo>
                  <a:lnTo>
                    <a:pt x="815181" y="2381"/>
                  </a:lnTo>
                  <a:lnTo>
                    <a:pt x="815181" y="205581"/>
                  </a:lnTo>
                  <a:lnTo>
                    <a:pt x="2381" y="205581"/>
                  </a:lnTo>
                  <a:close/>
                </a:path>
              </a:pathLst>
            </a:custGeom>
            <a:solidFill>
              <a:srgbClr val="FFC000">
                <a:lumMod val="60000"/>
                <a:lumOff val="40000"/>
              </a:srgb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58" name="PA-任意多边形 3147">
              <a:extLst>
                <a:ext uri="{FF2B5EF4-FFF2-40B4-BE49-F238E27FC236}">
                  <a16:creationId xmlns:a16="http://schemas.microsoft.com/office/drawing/2014/main" id="{8B63DFA5-7876-450B-B036-D5C0719F61A4}"/>
                </a:ext>
              </a:extLst>
            </p:cNvPr>
            <p:cNvSpPr/>
            <p:nvPr>
              <p:custDataLst>
                <p:tags r:id="rId42"/>
              </p:custDataLst>
            </p:nvPr>
          </p:nvSpPr>
          <p:spPr>
            <a:xfrm>
              <a:off x="4252471" y="1762743"/>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59" name="PA-任意多边形 3148">
              <a:extLst>
                <a:ext uri="{FF2B5EF4-FFF2-40B4-BE49-F238E27FC236}">
                  <a16:creationId xmlns:a16="http://schemas.microsoft.com/office/drawing/2014/main" id="{C3F0E937-6291-43E9-8973-AD22A4A671D3}"/>
                </a:ext>
              </a:extLst>
            </p:cNvPr>
            <p:cNvSpPr/>
            <p:nvPr>
              <p:custDataLst>
                <p:tags r:id="rId43"/>
              </p:custDataLst>
            </p:nvPr>
          </p:nvSpPr>
          <p:spPr>
            <a:xfrm>
              <a:off x="4343535" y="1762743"/>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60" name="PA-任意多边形 3149">
              <a:extLst>
                <a:ext uri="{FF2B5EF4-FFF2-40B4-BE49-F238E27FC236}">
                  <a16:creationId xmlns:a16="http://schemas.microsoft.com/office/drawing/2014/main" id="{2BD41C22-16D2-4E22-9EED-320F1BE21B23}"/>
                </a:ext>
              </a:extLst>
            </p:cNvPr>
            <p:cNvSpPr/>
            <p:nvPr>
              <p:custDataLst>
                <p:tags r:id="rId44"/>
              </p:custDataLst>
            </p:nvPr>
          </p:nvSpPr>
          <p:spPr>
            <a:xfrm>
              <a:off x="4252471" y="2127000"/>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61" name="PA-任意多边形 3150">
              <a:extLst>
                <a:ext uri="{FF2B5EF4-FFF2-40B4-BE49-F238E27FC236}">
                  <a16:creationId xmlns:a16="http://schemas.microsoft.com/office/drawing/2014/main" id="{29680708-4487-4855-83E3-D3DF50B4E5F8}"/>
                </a:ext>
              </a:extLst>
            </p:cNvPr>
            <p:cNvSpPr/>
            <p:nvPr>
              <p:custDataLst>
                <p:tags r:id="rId45"/>
              </p:custDataLst>
            </p:nvPr>
          </p:nvSpPr>
          <p:spPr>
            <a:xfrm>
              <a:off x="4343535" y="2127000"/>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62" name="PA-任意多边形 3151">
              <a:extLst>
                <a:ext uri="{FF2B5EF4-FFF2-40B4-BE49-F238E27FC236}">
                  <a16:creationId xmlns:a16="http://schemas.microsoft.com/office/drawing/2014/main" id="{B14AA772-E1FF-42DA-A1FA-760D9696013B}"/>
                </a:ext>
              </a:extLst>
            </p:cNvPr>
            <p:cNvSpPr/>
            <p:nvPr>
              <p:custDataLst>
                <p:tags r:id="rId46"/>
              </p:custDataLst>
            </p:nvPr>
          </p:nvSpPr>
          <p:spPr>
            <a:xfrm>
              <a:off x="4252471" y="2491257"/>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63" name="PA-任意多边形 3152">
              <a:extLst>
                <a:ext uri="{FF2B5EF4-FFF2-40B4-BE49-F238E27FC236}">
                  <a16:creationId xmlns:a16="http://schemas.microsoft.com/office/drawing/2014/main" id="{65F20AD0-A7C1-4CB4-8F73-1231C7EF6DB1}"/>
                </a:ext>
              </a:extLst>
            </p:cNvPr>
            <p:cNvSpPr/>
            <p:nvPr>
              <p:custDataLst>
                <p:tags r:id="rId47"/>
              </p:custDataLst>
            </p:nvPr>
          </p:nvSpPr>
          <p:spPr>
            <a:xfrm>
              <a:off x="4343535" y="2491257"/>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grpSp>
        <p:nvGrpSpPr>
          <p:cNvPr id="176" name="组合 175"/>
          <p:cNvGrpSpPr/>
          <p:nvPr/>
        </p:nvGrpSpPr>
        <p:grpSpPr>
          <a:xfrm>
            <a:off x="6304821" y="2925309"/>
            <a:ext cx="731359" cy="973248"/>
            <a:chOff x="3670173" y="2455110"/>
            <a:chExt cx="731359" cy="973248"/>
          </a:xfrm>
        </p:grpSpPr>
        <p:sp>
          <p:nvSpPr>
            <p:cNvPr id="177" name="PA-任意多边形 3142">
              <a:extLst>
                <a:ext uri="{FF2B5EF4-FFF2-40B4-BE49-F238E27FC236}">
                  <a16:creationId xmlns:a16="http://schemas.microsoft.com/office/drawing/2014/main" id="{D0FBE364-627E-4E2C-B9C4-15D891453972}"/>
                </a:ext>
              </a:extLst>
            </p:cNvPr>
            <p:cNvSpPr/>
            <p:nvPr>
              <p:custDataLst>
                <p:tags r:id="rId26"/>
              </p:custDataLst>
            </p:nvPr>
          </p:nvSpPr>
          <p:spPr>
            <a:xfrm>
              <a:off x="3739894" y="2667593"/>
              <a:ext cx="591917" cy="182128"/>
            </a:xfrm>
            <a:custGeom>
              <a:avLst/>
              <a:gdLst>
                <a:gd name="connsiteX0" fmla="*/ 794 w 660400"/>
                <a:gd name="connsiteY0" fmla="*/ 794 h 152400"/>
                <a:gd name="connsiteX1" fmla="*/ 661194 w 660400"/>
                <a:gd name="connsiteY1" fmla="*/ 794 h 152400"/>
                <a:gd name="connsiteX2" fmla="*/ 661194 w 660400"/>
                <a:gd name="connsiteY2" fmla="*/ 153194 h 152400"/>
                <a:gd name="connsiteX3" fmla="*/ 794 w 660400"/>
                <a:gd name="connsiteY3" fmla="*/ 153194 h 152400"/>
              </a:gdLst>
              <a:ahLst/>
              <a:cxnLst>
                <a:cxn ang="0">
                  <a:pos x="connsiteX0" y="connsiteY0"/>
                </a:cxn>
                <a:cxn ang="0">
                  <a:pos x="connsiteX1" y="connsiteY1"/>
                </a:cxn>
                <a:cxn ang="0">
                  <a:pos x="connsiteX2" y="connsiteY2"/>
                </a:cxn>
                <a:cxn ang="0">
                  <a:pos x="connsiteX3" y="connsiteY3"/>
                </a:cxn>
              </a:cxnLst>
              <a:rect l="l" t="t" r="r" b="b"/>
              <a:pathLst>
                <a:path w="660400" h="152400">
                  <a:moveTo>
                    <a:pt x="794" y="794"/>
                  </a:moveTo>
                  <a:lnTo>
                    <a:pt x="661194" y="794"/>
                  </a:lnTo>
                  <a:lnTo>
                    <a:pt x="661194" y="153194"/>
                  </a:lnTo>
                  <a:lnTo>
                    <a:pt x="794" y="153194"/>
                  </a:lnTo>
                  <a:close/>
                </a:path>
              </a:pathLst>
            </a:custGeom>
            <a:solidFill>
              <a:srgbClr val="E7E6E6">
                <a:lumMod val="90000"/>
              </a:srgbClr>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78" name="PA-任意多边形 3143">
              <a:extLst>
                <a:ext uri="{FF2B5EF4-FFF2-40B4-BE49-F238E27FC236}">
                  <a16:creationId xmlns:a16="http://schemas.microsoft.com/office/drawing/2014/main" id="{97E105B9-13AB-457B-A938-25964BF88E4C}"/>
                </a:ext>
              </a:extLst>
            </p:cNvPr>
            <p:cNvSpPr/>
            <p:nvPr>
              <p:custDataLst>
                <p:tags r:id="rId27"/>
              </p:custDataLst>
            </p:nvPr>
          </p:nvSpPr>
          <p:spPr>
            <a:xfrm>
              <a:off x="3671596" y="2455110"/>
              <a:ext cx="728514" cy="242838"/>
            </a:xfrm>
            <a:custGeom>
              <a:avLst/>
              <a:gdLst>
                <a:gd name="connsiteX0" fmla="*/ 794 w 812800"/>
                <a:gd name="connsiteY0" fmla="*/ 794 h 203200"/>
                <a:gd name="connsiteX1" fmla="*/ 813594 w 812800"/>
                <a:gd name="connsiteY1" fmla="*/ 794 h 203200"/>
                <a:gd name="connsiteX2" fmla="*/ 813594 w 812800"/>
                <a:gd name="connsiteY2" fmla="*/ 203994 h 203200"/>
                <a:gd name="connsiteX3" fmla="*/ 794 w 812800"/>
                <a:gd name="connsiteY3" fmla="*/ 203994 h 203200"/>
              </a:gdLst>
              <a:ahLst/>
              <a:cxnLst>
                <a:cxn ang="0">
                  <a:pos x="connsiteX0" y="connsiteY0"/>
                </a:cxn>
                <a:cxn ang="0">
                  <a:pos x="connsiteX1" y="connsiteY1"/>
                </a:cxn>
                <a:cxn ang="0">
                  <a:pos x="connsiteX2" y="connsiteY2"/>
                </a:cxn>
                <a:cxn ang="0">
                  <a:pos x="connsiteX3" y="connsiteY3"/>
                </a:cxn>
              </a:cxnLst>
              <a:rect l="l" t="t" r="r" b="b"/>
              <a:pathLst>
                <a:path w="812800" h="203200">
                  <a:moveTo>
                    <a:pt x="794" y="794"/>
                  </a:moveTo>
                  <a:lnTo>
                    <a:pt x="813594" y="794"/>
                  </a:lnTo>
                  <a:lnTo>
                    <a:pt x="813594" y="203994"/>
                  </a:lnTo>
                  <a:lnTo>
                    <a:pt x="794" y="203994"/>
                  </a:lnTo>
                  <a:close/>
                </a:path>
              </a:pathLst>
            </a:custGeom>
            <a:solidFill>
              <a:srgbClr val="70AD47">
                <a:lumMod val="40000"/>
                <a:lumOff val="60000"/>
              </a:srgbClr>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79" name="PA-任意多边形 3144">
              <a:extLst>
                <a:ext uri="{FF2B5EF4-FFF2-40B4-BE49-F238E27FC236}">
                  <a16:creationId xmlns:a16="http://schemas.microsoft.com/office/drawing/2014/main" id="{4C0A2CA3-4AA6-4791-B41F-77DC9505C48A}"/>
                </a:ext>
              </a:extLst>
            </p:cNvPr>
            <p:cNvSpPr/>
            <p:nvPr>
              <p:custDataLst>
                <p:tags r:id="rId28"/>
              </p:custDataLst>
            </p:nvPr>
          </p:nvSpPr>
          <p:spPr>
            <a:xfrm>
              <a:off x="3739894" y="3031850"/>
              <a:ext cx="591917" cy="182128"/>
            </a:xfrm>
            <a:custGeom>
              <a:avLst/>
              <a:gdLst>
                <a:gd name="connsiteX0" fmla="*/ 794 w 660400"/>
                <a:gd name="connsiteY0" fmla="*/ 794 h 152400"/>
                <a:gd name="connsiteX1" fmla="*/ 661194 w 660400"/>
                <a:gd name="connsiteY1" fmla="*/ 794 h 152400"/>
                <a:gd name="connsiteX2" fmla="*/ 661194 w 660400"/>
                <a:gd name="connsiteY2" fmla="*/ 153194 h 152400"/>
                <a:gd name="connsiteX3" fmla="*/ 794 w 660400"/>
                <a:gd name="connsiteY3" fmla="*/ 153194 h 152400"/>
              </a:gdLst>
              <a:ahLst/>
              <a:cxnLst>
                <a:cxn ang="0">
                  <a:pos x="connsiteX0" y="connsiteY0"/>
                </a:cxn>
                <a:cxn ang="0">
                  <a:pos x="connsiteX1" y="connsiteY1"/>
                </a:cxn>
                <a:cxn ang="0">
                  <a:pos x="connsiteX2" y="connsiteY2"/>
                </a:cxn>
                <a:cxn ang="0">
                  <a:pos x="connsiteX3" y="connsiteY3"/>
                </a:cxn>
              </a:cxnLst>
              <a:rect l="l" t="t" r="r" b="b"/>
              <a:pathLst>
                <a:path w="660400" h="152400">
                  <a:moveTo>
                    <a:pt x="794" y="794"/>
                  </a:moveTo>
                  <a:lnTo>
                    <a:pt x="661194" y="794"/>
                  </a:lnTo>
                  <a:lnTo>
                    <a:pt x="661194" y="153194"/>
                  </a:lnTo>
                  <a:lnTo>
                    <a:pt x="794" y="153194"/>
                  </a:lnTo>
                  <a:close/>
                </a:path>
              </a:pathLst>
            </a:custGeom>
            <a:solidFill>
              <a:srgbClr val="E7E6E6">
                <a:lumMod val="90000"/>
              </a:srgbClr>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0" name="PA-任意多边形 3145">
              <a:extLst>
                <a:ext uri="{FF2B5EF4-FFF2-40B4-BE49-F238E27FC236}">
                  <a16:creationId xmlns:a16="http://schemas.microsoft.com/office/drawing/2014/main" id="{7510365C-D70B-4F7A-83FB-0C65CEB9DD9E}"/>
                </a:ext>
              </a:extLst>
            </p:cNvPr>
            <p:cNvSpPr/>
            <p:nvPr>
              <p:custDataLst>
                <p:tags r:id="rId29"/>
              </p:custDataLst>
            </p:nvPr>
          </p:nvSpPr>
          <p:spPr>
            <a:xfrm>
              <a:off x="3670173" y="2817469"/>
              <a:ext cx="731359" cy="246632"/>
            </a:xfrm>
            <a:custGeom>
              <a:avLst/>
              <a:gdLst>
                <a:gd name="connsiteX0" fmla="*/ 2381 w 815975"/>
                <a:gd name="connsiteY0" fmla="*/ 2381 h 206375"/>
                <a:gd name="connsiteX1" fmla="*/ 815181 w 815975"/>
                <a:gd name="connsiteY1" fmla="*/ 2381 h 206375"/>
                <a:gd name="connsiteX2" fmla="*/ 815181 w 815975"/>
                <a:gd name="connsiteY2" fmla="*/ 205581 h 206375"/>
                <a:gd name="connsiteX3" fmla="*/ 2381 w 815975"/>
                <a:gd name="connsiteY3" fmla="*/ 205581 h 206375"/>
              </a:gdLst>
              <a:ahLst/>
              <a:cxnLst>
                <a:cxn ang="0">
                  <a:pos x="connsiteX0" y="connsiteY0"/>
                </a:cxn>
                <a:cxn ang="0">
                  <a:pos x="connsiteX1" y="connsiteY1"/>
                </a:cxn>
                <a:cxn ang="0">
                  <a:pos x="connsiteX2" y="connsiteY2"/>
                </a:cxn>
                <a:cxn ang="0">
                  <a:pos x="connsiteX3" y="connsiteY3"/>
                </a:cxn>
              </a:cxnLst>
              <a:rect l="l" t="t" r="r" b="b"/>
              <a:pathLst>
                <a:path w="815975" h="206375">
                  <a:moveTo>
                    <a:pt x="2381" y="2381"/>
                  </a:moveTo>
                  <a:lnTo>
                    <a:pt x="815181" y="2381"/>
                  </a:lnTo>
                  <a:lnTo>
                    <a:pt x="815181" y="205581"/>
                  </a:lnTo>
                  <a:lnTo>
                    <a:pt x="2381" y="205581"/>
                  </a:lnTo>
                  <a:close/>
                </a:path>
              </a:pathLst>
            </a:custGeom>
            <a:solidFill>
              <a:srgbClr val="70AD47">
                <a:lumMod val="40000"/>
                <a:lumOff val="60000"/>
              </a:srgb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1" name="PA-任意多边形 3146">
              <a:extLst>
                <a:ext uri="{FF2B5EF4-FFF2-40B4-BE49-F238E27FC236}">
                  <a16:creationId xmlns:a16="http://schemas.microsoft.com/office/drawing/2014/main" id="{98BDD5FC-A93E-43F2-85FA-FFBED8A931A6}"/>
                </a:ext>
              </a:extLst>
            </p:cNvPr>
            <p:cNvSpPr/>
            <p:nvPr>
              <p:custDataLst>
                <p:tags r:id="rId30"/>
              </p:custDataLst>
            </p:nvPr>
          </p:nvSpPr>
          <p:spPr>
            <a:xfrm>
              <a:off x="3670173" y="3181726"/>
              <a:ext cx="731359" cy="246632"/>
            </a:xfrm>
            <a:custGeom>
              <a:avLst/>
              <a:gdLst>
                <a:gd name="connsiteX0" fmla="*/ 2381 w 815975"/>
                <a:gd name="connsiteY0" fmla="*/ 2381 h 206375"/>
                <a:gd name="connsiteX1" fmla="*/ 815181 w 815975"/>
                <a:gd name="connsiteY1" fmla="*/ 2381 h 206375"/>
                <a:gd name="connsiteX2" fmla="*/ 815181 w 815975"/>
                <a:gd name="connsiteY2" fmla="*/ 205581 h 206375"/>
                <a:gd name="connsiteX3" fmla="*/ 2381 w 815975"/>
                <a:gd name="connsiteY3" fmla="*/ 205581 h 206375"/>
              </a:gdLst>
              <a:ahLst/>
              <a:cxnLst>
                <a:cxn ang="0">
                  <a:pos x="connsiteX0" y="connsiteY0"/>
                </a:cxn>
                <a:cxn ang="0">
                  <a:pos x="connsiteX1" y="connsiteY1"/>
                </a:cxn>
                <a:cxn ang="0">
                  <a:pos x="connsiteX2" y="connsiteY2"/>
                </a:cxn>
                <a:cxn ang="0">
                  <a:pos x="connsiteX3" y="connsiteY3"/>
                </a:cxn>
              </a:cxnLst>
              <a:rect l="l" t="t" r="r" b="b"/>
              <a:pathLst>
                <a:path w="815975" h="206375">
                  <a:moveTo>
                    <a:pt x="2381" y="2381"/>
                  </a:moveTo>
                  <a:lnTo>
                    <a:pt x="815181" y="2381"/>
                  </a:lnTo>
                  <a:lnTo>
                    <a:pt x="815181" y="205581"/>
                  </a:lnTo>
                  <a:lnTo>
                    <a:pt x="2381" y="205581"/>
                  </a:lnTo>
                  <a:close/>
                </a:path>
              </a:pathLst>
            </a:custGeom>
            <a:solidFill>
              <a:srgbClr val="70AD47">
                <a:lumMod val="40000"/>
                <a:lumOff val="60000"/>
              </a:srgb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2" name="PA-任意多边形 3147">
              <a:extLst>
                <a:ext uri="{FF2B5EF4-FFF2-40B4-BE49-F238E27FC236}">
                  <a16:creationId xmlns:a16="http://schemas.microsoft.com/office/drawing/2014/main" id="{8B63DFA5-7876-450B-B036-D5C0719F61A4}"/>
                </a:ext>
              </a:extLst>
            </p:cNvPr>
            <p:cNvSpPr/>
            <p:nvPr>
              <p:custDataLst>
                <p:tags r:id="rId31"/>
              </p:custDataLst>
            </p:nvPr>
          </p:nvSpPr>
          <p:spPr>
            <a:xfrm>
              <a:off x="3739894" y="2546174"/>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3" name="PA-任意多边形 3148">
              <a:extLst>
                <a:ext uri="{FF2B5EF4-FFF2-40B4-BE49-F238E27FC236}">
                  <a16:creationId xmlns:a16="http://schemas.microsoft.com/office/drawing/2014/main" id="{C3F0E937-6291-43E9-8973-AD22A4A671D3}"/>
                </a:ext>
              </a:extLst>
            </p:cNvPr>
            <p:cNvSpPr/>
            <p:nvPr>
              <p:custDataLst>
                <p:tags r:id="rId32"/>
              </p:custDataLst>
            </p:nvPr>
          </p:nvSpPr>
          <p:spPr>
            <a:xfrm>
              <a:off x="3830958" y="2546174"/>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4" name="PA-任意多边形 3149">
              <a:extLst>
                <a:ext uri="{FF2B5EF4-FFF2-40B4-BE49-F238E27FC236}">
                  <a16:creationId xmlns:a16="http://schemas.microsoft.com/office/drawing/2014/main" id="{2BD41C22-16D2-4E22-9EED-320F1BE21B23}"/>
                </a:ext>
              </a:extLst>
            </p:cNvPr>
            <p:cNvSpPr/>
            <p:nvPr>
              <p:custDataLst>
                <p:tags r:id="rId33"/>
              </p:custDataLst>
            </p:nvPr>
          </p:nvSpPr>
          <p:spPr>
            <a:xfrm>
              <a:off x="3739894" y="2910431"/>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5" name="PA-任意多边形 3150">
              <a:extLst>
                <a:ext uri="{FF2B5EF4-FFF2-40B4-BE49-F238E27FC236}">
                  <a16:creationId xmlns:a16="http://schemas.microsoft.com/office/drawing/2014/main" id="{29680708-4487-4855-83E3-D3DF50B4E5F8}"/>
                </a:ext>
              </a:extLst>
            </p:cNvPr>
            <p:cNvSpPr/>
            <p:nvPr>
              <p:custDataLst>
                <p:tags r:id="rId34"/>
              </p:custDataLst>
            </p:nvPr>
          </p:nvSpPr>
          <p:spPr>
            <a:xfrm>
              <a:off x="3830958" y="2910431"/>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6" name="PA-任意多边形 3151">
              <a:extLst>
                <a:ext uri="{FF2B5EF4-FFF2-40B4-BE49-F238E27FC236}">
                  <a16:creationId xmlns:a16="http://schemas.microsoft.com/office/drawing/2014/main" id="{B14AA772-E1FF-42DA-A1FA-760D9696013B}"/>
                </a:ext>
              </a:extLst>
            </p:cNvPr>
            <p:cNvSpPr/>
            <p:nvPr>
              <p:custDataLst>
                <p:tags r:id="rId35"/>
              </p:custDataLst>
            </p:nvPr>
          </p:nvSpPr>
          <p:spPr>
            <a:xfrm>
              <a:off x="3739894" y="3274688"/>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87" name="PA-任意多边形 3152">
              <a:extLst>
                <a:ext uri="{FF2B5EF4-FFF2-40B4-BE49-F238E27FC236}">
                  <a16:creationId xmlns:a16="http://schemas.microsoft.com/office/drawing/2014/main" id="{65F20AD0-A7C1-4CB4-8F73-1231C7EF6DB1}"/>
                </a:ext>
              </a:extLst>
            </p:cNvPr>
            <p:cNvSpPr/>
            <p:nvPr>
              <p:custDataLst>
                <p:tags r:id="rId36"/>
              </p:custDataLst>
            </p:nvPr>
          </p:nvSpPr>
          <p:spPr>
            <a:xfrm>
              <a:off x="3830958" y="3274688"/>
              <a:ext cx="45532" cy="60709"/>
            </a:xfrm>
            <a:custGeom>
              <a:avLst/>
              <a:gdLst>
                <a:gd name="connsiteX0" fmla="*/ 794 w 50800"/>
                <a:gd name="connsiteY0" fmla="*/ 794 h 50800"/>
                <a:gd name="connsiteX1" fmla="*/ 51594 w 50800"/>
                <a:gd name="connsiteY1" fmla="*/ 794 h 50800"/>
                <a:gd name="connsiteX2" fmla="*/ 51594 w 50800"/>
                <a:gd name="connsiteY2" fmla="*/ 51594 h 50800"/>
                <a:gd name="connsiteX3" fmla="*/ 794 w 50800"/>
                <a:gd name="connsiteY3" fmla="*/ 51594 h 50800"/>
              </a:gdLst>
              <a:ahLst/>
              <a:cxnLst>
                <a:cxn ang="0">
                  <a:pos x="connsiteX0" y="connsiteY0"/>
                </a:cxn>
                <a:cxn ang="0">
                  <a:pos x="connsiteX1" y="connsiteY1"/>
                </a:cxn>
                <a:cxn ang="0">
                  <a:pos x="connsiteX2" y="connsiteY2"/>
                </a:cxn>
                <a:cxn ang="0">
                  <a:pos x="connsiteX3" y="connsiteY3"/>
                </a:cxn>
              </a:cxnLst>
              <a:rect l="l" t="t" r="r" b="b"/>
              <a:pathLst>
                <a:path w="50800" h="50800">
                  <a:moveTo>
                    <a:pt x="794" y="794"/>
                  </a:moveTo>
                  <a:lnTo>
                    <a:pt x="51594" y="794"/>
                  </a:lnTo>
                  <a:lnTo>
                    <a:pt x="51594" y="51594"/>
                  </a:lnTo>
                  <a:lnTo>
                    <a:pt x="794" y="51594"/>
                  </a:lnTo>
                  <a:close/>
                </a:path>
              </a:pathLst>
            </a:custGeom>
            <a:solidFill>
              <a:srgbClr val="000000"/>
            </a:solidFill>
            <a:ln w="317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sp>
        <p:nvSpPr>
          <p:cNvPr id="188" name="矩形: 圆角 171">
            <a:extLst>
              <a:ext uri="{FF2B5EF4-FFF2-40B4-BE49-F238E27FC236}">
                <a16:creationId xmlns:a16="http://schemas.microsoft.com/office/drawing/2014/main" id="{730488A7-918C-4345-9977-64C163FA8C59}"/>
              </a:ext>
            </a:extLst>
          </p:cNvPr>
          <p:cNvSpPr/>
          <p:nvPr/>
        </p:nvSpPr>
        <p:spPr>
          <a:xfrm>
            <a:off x="1121382" y="2870891"/>
            <a:ext cx="3746554" cy="1122795"/>
          </a:xfrm>
          <a:prstGeom prst="roundRect">
            <a:avLst/>
          </a:prstGeom>
          <a:solidFill>
            <a:sysClr val="window" lastClr="FFFFFF"/>
          </a:solidFill>
          <a:ln w="28575" cap="flat" cmpd="sng" algn="ctr">
            <a:solidFill>
              <a:srgbClr val="70AD47">
                <a:lumMod val="60000"/>
                <a:lumOff val="4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a:ea typeface="等线"/>
              <a:cs typeface="+mn-cs"/>
            </a:endParaRPr>
          </a:p>
        </p:txBody>
      </p:sp>
      <p:grpSp>
        <p:nvGrpSpPr>
          <p:cNvPr id="189" name="PA-device-smartphone-tablet-iphone-icon-multiColor-279773">
            <a:extLst>
              <a:ext uri="{FF2B5EF4-FFF2-40B4-BE49-F238E27FC236}">
                <a16:creationId xmlns:a16="http://schemas.microsoft.com/office/drawing/2014/main" id="{724C2465-808D-4E8E-B419-87F31769B570}"/>
              </a:ext>
            </a:extLst>
          </p:cNvPr>
          <p:cNvGrpSpPr>
            <a:grpSpLocks noChangeAspect="1"/>
          </p:cNvGrpSpPr>
          <p:nvPr>
            <p:custDataLst>
              <p:tags r:id="rId4"/>
            </p:custDataLst>
          </p:nvPr>
        </p:nvGrpSpPr>
        <p:grpSpPr bwMode="auto">
          <a:xfrm>
            <a:off x="4329803" y="3127898"/>
            <a:ext cx="509583" cy="679444"/>
            <a:chOff x="3645" y="1965"/>
            <a:chExt cx="390" cy="390"/>
          </a:xfrm>
        </p:grpSpPr>
        <p:sp>
          <p:nvSpPr>
            <p:cNvPr id="190" name="PA-椭圆 2928">
              <a:extLst>
                <a:ext uri="{FF2B5EF4-FFF2-40B4-BE49-F238E27FC236}">
                  <a16:creationId xmlns:a16="http://schemas.microsoft.com/office/drawing/2014/main" id="{49F67879-2581-4CA8-A0CC-C63AE3057F4F}"/>
                </a:ext>
              </a:extLst>
            </p:cNvPr>
            <p:cNvSpPr>
              <a:spLocks noChangeArrowheads="1"/>
            </p:cNvSpPr>
            <p:nvPr>
              <p:custDataLst>
                <p:tags r:id="rId21"/>
              </p:custDataLst>
            </p:nvPr>
          </p:nvSpPr>
          <p:spPr bwMode="auto">
            <a:xfrm>
              <a:off x="3645" y="1965"/>
              <a:ext cx="390" cy="390"/>
            </a:xfrm>
            <a:prstGeom prst="ellipse">
              <a:avLst/>
            </a:prstGeom>
            <a:solidFill>
              <a:srgbClr val="70AD47">
                <a:lumMod val="40000"/>
                <a:lumOff val="60000"/>
              </a:srgbClr>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91" name="PA-任意多边形 2931">
              <a:extLst>
                <a:ext uri="{FF2B5EF4-FFF2-40B4-BE49-F238E27FC236}">
                  <a16:creationId xmlns:a16="http://schemas.microsoft.com/office/drawing/2014/main" id="{FFBF11C3-2E11-4E38-A9A7-8A5E5409C1A5}"/>
                </a:ext>
              </a:extLst>
            </p:cNvPr>
            <p:cNvSpPr>
              <a:spLocks/>
            </p:cNvSpPr>
            <p:nvPr>
              <p:custDataLst>
                <p:tags r:id="rId22"/>
              </p:custDataLst>
            </p:nvPr>
          </p:nvSpPr>
          <p:spPr bwMode="auto">
            <a:xfrm>
              <a:off x="3776" y="2035"/>
              <a:ext cx="128" cy="226"/>
            </a:xfrm>
            <a:custGeom>
              <a:avLst/>
              <a:gdLst>
                <a:gd name="T0" fmla="*/ 40 w 336"/>
                <a:gd name="T1" fmla="*/ 592 h 592"/>
                <a:gd name="T2" fmla="*/ 0 w 336"/>
                <a:gd name="T3" fmla="*/ 552 h 592"/>
                <a:gd name="T4" fmla="*/ 0 w 336"/>
                <a:gd name="T5" fmla="*/ 40 h 592"/>
                <a:gd name="T6" fmla="*/ 40 w 336"/>
                <a:gd name="T7" fmla="*/ 0 h 592"/>
                <a:gd name="T8" fmla="*/ 296 w 336"/>
                <a:gd name="T9" fmla="*/ 0 h 592"/>
                <a:gd name="T10" fmla="*/ 336 w 336"/>
                <a:gd name="T11" fmla="*/ 40 h 592"/>
                <a:gd name="T12" fmla="*/ 336 w 336"/>
                <a:gd name="T13" fmla="*/ 552 h 592"/>
                <a:gd name="T14" fmla="*/ 296 w 336"/>
                <a:gd name="T15" fmla="*/ 592 h 592"/>
                <a:gd name="T16" fmla="*/ 40 w 336"/>
                <a:gd name="T17" fmla="*/ 592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592">
                  <a:moveTo>
                    <a:pt x="40" y="592"/>
                  </a:moveTo>
                  <a:cubicBezTo>
                    <a:pt x="18" y="592"/>
                    <a:pt x="0" y="575"/>
                    <a:pt x="0" y="552"/>
                  </a:cubicBezTo>
                  <a:lnTo>
                    <a:pt x="0" y="40"/>
                  </a:lnTo>
                  <a:cubicBezTo>
                    <a:pt x="0" y="18"/>
                    <a:pt x="18" y="0"/>
                    <a:pt x="40" y="0"/>
                  </a:cubicBezTo>
                  <a:lnTo>
                    <a:pt x="296" y="0"/>
                  </a:lnTo>
                  <a:cubicBezTo>
                    <a:pt x="319" y="0"/>
                    <a:pt x="336" y="18"/>
                    <a:pt x="336" y="40"/>
                  </a:cubicBezTo>
                  <a:lnTo>
                    <a:pt x="336" y="552"/>
                  </a:lnTo>
                  <a:cubicBezTo>
                    <a:pt x="336" y="575"/>
                    <a:pt x="319" y="592"/>
                    <a:pt x="296" y="592"/>
                  </a:cubicBezTo>
                  <a:lnTo>
                    <a:pt x="40" y="592"/>
                  </a:lnTo>
                  <a:close/>
                </a:path>
              </a:pathLst>
            </a:custGeom>
            <a:solidFill>
              <a:srgbClr val="4F5D73"/>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92" name="PA-任意多边形 2932">
              <a:extLst>
                <a:ext uri="{FF2B5EF4-FFF2-40B4-BE49-F238E27FC236}">
                  <a16:creationId xmlns:a16="http://schemas.microsoft.com/office/drawing/2014/main" id="{A4D271D4-92EE-4FE5-8B32-37817A756942}"/>
                </a:ext>
              </a:extLst>
            </p:cNvPr>
            <p:cNvSpPr>
              <a:spLocks noEditPoints="1"/>
            </p:cNvSpPr>
            <p:nvPr>
              <p:custDataLst>
                <p:tags r:id="rId23"/>
              </p:custDataLst>
            </p:nvPr>
          </p:nvSpPr>
          <p:spPr bwMode="auto">
            <a:xfrm>
              <a:off x="3767" y="2026"/>
              <a:ext cx="146" cy="244"/>
            </a:xfrm>
            <a:custGeom>
              <a:avLst/>
              <a:gdLst>
                <a:gd name="T0" fmla="*/ 320 w 384"/>
                <a:gd name="T1" fmla="*/ 48 h 640"/>
                <a:gd name="T2" fmla="*/ 336 w 384"/>
                <a:gd name="T3" fmla="*/ 64 h 640"/>
                <a:gd name="T4" fmla="*/ 336 w 384"/>
                <a:gd name="T5" fmla="*/ 576 h 640"/>
                <a:gd name="T6" fmla="*/ 320 w 384"/>
                <a:gd name="T7" fmla="*/ 592 h 640"/>
                <a:gd name="T8" fmla="*/ 64 w 384"/>
                <a:gd name="T9" fmla="*/ 592 h 640"/>
                <a:gd name="T10" fmla="*/ 48 w 384"/>
                <a:gd name="T11" fmla="*/ 576 h 640"/>
                <a:gd name="T12" fmla="*/ 48 w 384"/>
                <a:gd name="T13" fmla="*/ 64 h 640"/>
                <a:gd name="T14" fmla="*/ 64 w 384"/>
                <a:gd name="T15" fmla="*/ 48 h 640"/>
                <a:gd name="T16" fmla="*/ 320 w 384"/>
                <a:gd name="T17" fmla="*/ 48 h 640"/>
                <a:gd name="T18" fmla="*/ 320 w 384"/>
                <a:gd name="T19" fmla="*/ 0 h 640"/>
                <a:gd name="T20" fmla="*/ 64 w 384"/>
                <a:gd name="T21" fmla="*/ 0 h 640"/>
                <a:gd name="T22" fmla="*/ 0 w 384"/>
                <a:gd name="T23" fmla="*/ 64 h 640"/>
                <a:gd name="T24" fmla="*/ 0 w 384"/>
                <a:gd name="T25" fmla="*/ 576 h 640"/>
                <a:gd name="T26" fmla="*/ 64 w 384"/>
                <a:gd name="T27" fmla="*/ 640 h 640"/>
                <a:gd name="T28" fmla="*/ 320 w 384"/>
                <a:gd name="T29" fmla="*/ 640 h 640"/>
                <a:gd name="T30" fmla="*/ 384 w 384"/>
                <a:gd name="T31" fmla="*/ 576 h 640"/>
                <a:gd name="T32" fmla="*/ 384 w 384"/>
                <a:gd name="T33" fmla="*/ 64 h 640"/>
                <a:gd name="T34" fmla="*/ 320 w 384"/>
                <a:gd name="T35" fmla="*/ 0 h 640"/>
                <a:gd name="T36" fmla="*/ 320 w 384"/>
                <a:gd name="T37"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640">
                  <a:moveTo>
                    <a:pt x="320" y="48"/>
                  </a:moveTo>
                  <a:cubicBezTo>
                    <a:pt x="329" y="48"/>
                    <a:pt x="336" y="56"/>
                    <a:pt x="336" y="64"/>
                  </a:cubicBezTo>
                  <a:lnTo>
                    <a:pt x="336" y="576"/>
                  </a:lnTo>
                  <a:cubicBezTo>
                    <a:pt x="336" y="585"/>
                    <a:pt x="329" y="592"/>
                    <a:pt x="320" y="592"/>
                  </a:cubicBezTo>
                  <a:lnTo>
                    <a:pt x="64" y="592"/>
                  </a:lnTo>
                  <a:cubicBezTo>
                    <a:pt x="56" y="592"/>
                    <a:pt x="48" y="585"/>
                    <a:pt x="48" y="576"/>
                  </a:cubicBezTo>
                  <a:lnTo>
                    <a:pt x="48" y="64"/>
                  </a:lnTo>
                  <a:cubicBezTo>
                    <a:pt x="48" y="56"/>
                    <a:pt x="56" y="48"/>
                    <a:pt x="64" y="48"/>
                  </a:cubicBezTo>
                  <a:lnTo>
                    <a:pt x="320" y="48"/>
                  </a:lnTo>
                  <a:moveTo>
                    <a:pt x="320" y="0"/>
                  </a:moveTo>
                  <a:lnTo>
                    <a:pt x="64" y="0"/>
                  </a:lnTo>
                  <a:cubicBezTo>
                    <a:pt x="29" y="0"/>
                    <a:pt x="0" y="29"/>
                    <a:pt x="0" y="64"/>
                  </a:cubicBezTo>
                  <a:lnTo>
                    <a:pt x="0" y="576"/>
                  </a:lnTo>
                  <a:cubicBezTo>
                    <a:pt x="0" y="612"/>
                    <a:pt x="29" y="640"/>
                    <a:pt x="64" y="640"/>
                  </a:cubicBezTo>
                  <a:lnTo>
                    <a:pt x="320" y="640"/>
                  </a:lnTo>
                  <a:cubicBezTo>
                    <a:pt x="356" y="640"/>
                    <a:pt x="384" y="612"/>
                    <a:pt x="384" y="576"/>
                  </a:cubicBezTo>
                  <a:lnTo>
                    <a:pt x="384" y="64"/>
                  </a:lnTo>
                  <a:cubicBezTo>
                    <a:pt x="384" y="29"/>
                    <a:pt x="356" y="0"/>
                    <a:pt x="320" y="0"/>
                  </a:cubicBezTo>
                  <a:lnTo>
                    <a:pt x="320" y="0"/>
                  </a:lnTo>
                  <a:close/>
                </a:path>
              </a:pathLst>
            </a:custGeom>
            <a:solidFill>
              <a:srgbClr val="FFFFFF"/>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93" name="PA-任意多边形 2935">
              <a:extLst>
                <a:ext uri="{FF2B5EF4-FFF2-40B4-BE49-F238E27FC236}">
                  <a16:creationId xmlns:a16="http://schemas.microsoft.com/office/drawing/2014/main" id="{2041459B-46B0-436B-A52A-4646CF64BD7C}"/>
                </a:ext>
              </a:extLst>
            </p:cNvPr>
            <p:cNvSpPr>
              <a:spLocks/>
            </p:cNvSpPr>
            <p:nvPr>
              <p:custDataLst>
                <p:tags r:id="rId24"/>
              </p:custDataLst>
            </p:nvPr>
          </p:nvSpPr>
          <p:spPr bwMode="auto">
            <a:xfrm>
              <a:off x="3767" y="2221"/>
              <a:ext cx="146" cy="49"/>
            </a:xfrm>
            <a:custGeom>
              <a:avLst/>
              <a:gdLst>
                <a:gd name="T0" fmla="*/ 122 w 146"/>
                <a:gd name="T1" fmla="*/ 49 h 49"/>
                <a:gd name="T2" fmla="*/ 24 w 146"/>
                <a:gd name="T3" fmla="*/ 49 h 49"/>
                <a:gd name="T4" fmla="*/ 0 w 146"/>
                <a:gd name="T5" fmla="*/ 0 h 49"/>
                <a:gd name="T6" fmla="*/ 146 w 146"/>
                <a:gd name="T7" fmla="*/ 0 h 49"/>
                <a:gd name="T8" fmla="*/ 122 w 146"/>
                <a:gd name="T9" fmla="*/ 49 h 49"/>
              </a:gdLst>
              <a:ahLst/>
              <a:cxnLst>
                <a:cxn ang="0">
                  <a:pos x="T0" y="T1"/>
                </a:cxn>
                <a:cxn ang="0">
                  <a:pos x="T2" y="T3"/>
                </a:cxn>
                <a:cxn ang="0">
                  <a:pos x="T4" y="T5"/>
                </a:cxn>
                <a:cxn ang="0">
                  <a:pos x="T6" y="T7"/>
                </a:cxn>
                <a:cxn ang="0">
                  <a:pos x="T8" y="T9"/>
                </a:cxn>
              </a:cxnLst>
              <a:rect l="0" t="0" r="r" b="b"/>
              <a:pathLst>
                <a:path w="146" h="49">
                  <a:moveTo>
                    <a:pt x="122" y="49"/>
                  </a:moveTo>
                  <a:lnTo>
                    <a:pt x="24" y="49"/>
                  </a:lnTo>
                  <a:lnTo>
                    <a:pt x="0" y="0"/>
                  </a:lnTo>
                  <a:lnTo>
                    <a:pt x="146" y="0"/>
                  </a:lnTo>
                  <a:lnTo>
                    <a:pt x="122" y="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94" name="PA-椭圆 2936">
              <a:extLst>
                <a:ext uri="{FF2B5EF4-FFF2-40B4-BE49-F238E27FC236}">
                  <a16:creationId xmlns:a16="http://schemas.microsoft.com/office/drawing/2014/main" id="{625B29F4-85FA-4514-8B5B-C2A6C6FB3617}"/>
                </a:ext>
              </a:extLst>
            </p:cNvPr>
            <p:cNvSpPr>
              <a:spLocks noChangeArrowheads="1"/>
            </p:cNvSpPr>
            <p:nvPr>
              <p:custDataLst>
                <p:tags r:id="rId25"/>
              </p:custDataLst>
            </p:nvPr>
          </p:nvSpPr>
          <p:spPr bwMode="auto">
            <a:xfrm>
              <a:off x="3828" y="2233"/>
              <a:ext cx="24" cy="25"/>
            </a:xfrm>
            <a:prstGeom prst="ellipse">
              <a:avLst/>
            </a:prstGeom>
            <a:solidFill>
              <a:srgbClr val="E0E0D1"/>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grpSp>
        <p:nvGrpSpPr>
          <p:cNvPr id="195" name="PA-device-smartphone-tablet-iphone-icon-multiColor-279773">
            <a:extLst>
              <a:ext uri="{FF2B5EF4-FFF2-40B4-BE49-F238E27FC236}">
                <a16:creationId xmlns:a16="http://schemas.microsoft.com/office/drawing/2014/main" id="{3877CA3C-3770-4FD3-9591-F9895B73C79F}"/>
              </a:ext>
            </a:extLst>
          </p:cNvPr>
          <p:cNvGrpSpPr>
            <a:grpSpLocks noChangeAspect="1"/>
          </p:cNvGrpSpPr>
          <p:nvPr>
            <p:custDataLst>
              <p:tags r:id="rId5"/>
            </p:custDataLst>
          </p:nvPr>
        </p:nvGrpSpPr>
        <p:grpSpPr bwMode="auto">
          <a:xfrm>
            <a:off x="2665256" y="3127898"/>
            <a:ext cx="509583" cy="679444"/>
            <a:chOff x="3645" y="1965"/>
            <a:chExt cx="390" cy="390"/>
          </a:xfrm>
        </p:grpSpPr>
        <p:sp>
          <p:nvSpPr>
            <p:cNvPr id="196" name="PA-椭圆 2928">
              <a:extLst>
                <a:ext uri="{FF2B5EF4-FFF2-40B4-BE49-F238E27FC236}">
                  <a16:creationId xmlns:a16="http://schemas.microsoft.com/office/drawing/2014/main" id="{6E9A8F7C-D54C-42E6-8642-8DD539685F18}"/>
                </a:ext>
              </a:extLst>
            </p:cNvPr>
            <p:cNvSpPr>
              <a:spLocks noChangeArrowheads="1"/>
            </p:cNvSpPr>
            <p:nvPr>
              <p:custDataLst>
                <p:tags r:id="rId16"/>
              </p:custDataLst>
            </p:nvPr>
          </p:nvSpPr>
          <p:spPr bwMode="auto">
            <a:xfrm>
              <a:off x="3645" y="1965"/>
              <a:ext cx="390" cy="390"/>
            </a:xfrm>
            <a:prstGeom prst="ellipse">
              <a:avLst/>
            </a:prstGeom>
            <a:solidFill>
              <a:srgbClr val="70AD47">
                <a:lumMod val="40000"/>
                <a:lumOff val="60000"/>
              </a:srgbClr>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97" name="PA-任意多边形 2931">
              <a:extLst>
                <a:ext uri="{FF2B5EF4-FFF2-40B4-BE49-F238E27FC236}">
                  <a16:creationId xmlns:a16="http://schemas.microsoft.com/office/drawing/2014/main" id="{6D6BAFE3-906E-4547-87BD-B3E426E8F0D3}"/>
                </a:ext>
              </a:extLst>
            </p:cNvPr>
            <p:cNvSpPr>
              <a:spLocks/>
            </p:cNvSpPr>
            <p:nvPr>
              <p:custDataLst>
                <p:tags r:id="rId17"/>
              </p:custDataLst>
            </p:nvPr>
          </p:nvSpPr>
          <p:spPr bwMode="auto">
            <a:xfrm>
              <a:off x="3776" y="2035"/>
              <a:ext cx="128" cy="226"/>
            </a:xfrm>
            <a:custGeom>
              <a:avLst/>
              <a:gdLst>
                <a:gd name="T0" fmla="*/ 40 w 336"/>
                <a:gd name="T1" fmla="*/ 592 h 592"/>
                <a:gd name="T2" fmla="*/ 0 w 336"/>
                <a:gd name="T3" fmla="*/ 552 h 592"/>
                <a:gd name="T4" fmla="*/ 0 w 336"/>
                <a:gd name="T5" fmla="*/ 40 h 592"/>
                <a:gd name="T6" fmla="*/ 40 w 336"/>
                <a:gd name="T7" fmla="*/ 0 h 592"/>
                <a:gd name="T8" fmla="*/ 296 w 336"/>
                <a:gd name="T9" fmla="*/ 0 h 592"/>
                <a:gd name="T10" fmla="*/ 336 w 336"/>
                <a:gd name="T11" fmla="*/ 40 h 592"/>
                <a:gd name="T12" fmla="*/ 336 w 336"/>
                <a:gd name="T13" fmla="*/ 552 h 592"/>
                <a:gd name="T14" fmla="*/ 296 w 336"/>
                <a:gd name="T15" fmla="*/ 592 h 592"/>
                <a:gd name="T16" fmla="*/ 40 w 336"/>
                <a:gd name="T17" fmla="*/ 592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592">
                  <a:moveTo>
                    <a:pt x="40" y="592"/>
                  </a:moveTo>
                  <a:cubicBezTo>
                    <a:pt x="18" y="592"/>
                    <a:pt x="0" y="575"/>
                    <a:pt x="0" y="552"/>
                  </a:cubicBezTo>
                  <a:lnTo>
                    <a:pt x="0" y="40"/>
                  </a:lnTo>
                  <a:cubicBezTo>
                    <a:pt x="0" y="18"/>
                    <a:pt x="18" y="0"/>
                    <a:pt x="40" y="0"/>
                  </a:cubicBezTo>
                  <a:lnTo>
                    <a:pt x="296" y="0"/>
                  </a:lnTo>
                  <a:cubicBezTo>
                    <a:pt x="319" y="0"/>
                    <a:pt x="336" y="18"/>
                    <a:pt x="336" y="40"/>
                  </a:cubicBezTo>
                  <a:lnTo>
                    <a:pt x="336" y="552"/>
                  </a:lnTo>
                  <a:cubicBezTo>
                    <a:pt x="336" y="575"/>
                    <a:pt x="319" y="592"/>
                    <a:pt x="296" y="592"/>
                  </a:cubicBezTo>
                  <a:lnTo>
                    <a:pt x="40" y="592"/>
                  </a:lnTo>
                  <a:close/>
                </a:path>
              </a:pathLst>
            </a:custGeom>
            <a:solidFill>
              <a:srgbClr val="4F5D73"/>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98" name="PA-任意多边形 2932">
              <a:extLst>
                <a:ext uri="{FF2B5EF4-FFF2-40B4-BE49-F238E27FC236}">
                  <a16:creationId xmlns:a16="http://schemas.microsoft.com/office/drawing/2014/main" id="{DA016316-B0FF-43B1-900F-3B32F8EA1704}"/>
                </a:ext>
              </a:extLst>
            </p:cNvPr>
            <p:cNvSpPr>
              <a:spLocks noEditPoints="1"/>
            </p:cNvSpPr>
            <p:nvPr>
              <p:custDataLst>
                <p:tags r:id="rId18"/>
              </p:custDataLst>
            </p:nvPr>
          </p:nvSpPr>
          <p:spPr bwMode="auto">
            <a:xfrm>
              <a:off x="3767" y="2026"/>
              <a:ext cx="146" cy="244"/>
            </a:xfrm>
            <a:custGeom>
              <a:avLst/>
              <a:gdLst>
                <a:gd name="T0" fmla="*/ 320 w 384"/>
                <a:gd name="T1" fmla="*/ 48 h 640"/>
                <a:gd name="T2" fmla="*/ 336 w 384"/>
                <a:gd name="T3" fmla="*/ 64 h 640"/>
                <a:gd name="T4" fmla="*/ 336 w 384"/>
                <a:gd name="T5" fmla="*/ 576 h 640"/>
                <a:gd name="T6" fmla="*/ 320 w 384"/>
                <a:gd name="T7" fmla="*/ 592 h 640"/>
                <a:gd name="T8" fmla="*/ 64 w 384"/>
                <a:gd name="T9" fmla="*/ 592 h 640"/>
                <a:gd name="T10" fmla="*/ 48 w 384"/>
                <a:gd name="T11" fmla="*/ 576 h 640"/>
                <a:gd name="T12" fmla="*/ 48 w 384"/>
                <a:gd name="T13" fmla="*/ 64 h 640"/>
                <a:gd name="T14" fmla="*/ 64 w 384"/>
                <a:gd name="T15" fmla="*/ 48 h 640"/>
                <a:gd name="T16" fmla="*/ 320 w 384"/>
                <a:gd name="T17" fmla="*/ 48 h 640"/>
                <a:gd name="T18" fmla="*/ 320 w 384"/>
                <a:gd name="T19" fmla="*/ 0 h 640"/>
                <a:gd name="T20" fmla="*/ 64 w 384"/>
                <a:gd name="T21" fmla="*/ 0 h 640"/>
                <a:gd name="T22" fmla="*/ 0 w 384"/>
                <a:gd name="T23" fmla="*/ 64 h 640"/>
                <a:gd name="T24" fmla="*/ 0 w 384"/>
                <a:gd name="T25" fmla="*/ 576 h 640"/>
                <a:gd name="T26" fmla="*/ 64 w 384"/>
                <a:gd name="T27" fmla="*/ 640 h 640"/>
                <a:gd name="T28" fmla="*/ 320 w 384"/>
                <a:gd name="T29" fmla="*/ 640 h 640"/>
                <a:gd name="T30" fmla="*/ 384 w 384"/>
                <a:gd name="T31" fmla="*/ 576 h 640"/>
                <a:gd name="T32" fmla="*/ 384 w 384"/>
                <a:gd name="T33" fmla="*/ 64 h 640"/>
                <a:gd name="T34" fmla="*/ 320 w 384"/>
                <a:gd name="T35" fmla="*/ 0 h 640"/>
                <a:gd name="T36" fmla="*/ 320 w 384"/>
                <a:gd name="T37"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640">
                  <a:moveTo>
                    <a:pt x="320" y="48"/>
                  </a:moveTo>
                  <a:cubicBezTo>
                    <a:pt x="329" y="48"/>
                    <a:pt x="336" y="56"/>
                    <a:pt x="336" y="64"/>
                  </a:cubicBezTo>
                  <a:lnTo>
                    <a:pt x="336" y="576"/>
                  </a:lnTo>
                  <a:cubicBezTo>
                    <a:pt x="336" y="585"/>
                    <a:pt x="329" y="592"/>
                    <a:pt x="320" y="592"/>
                  </a:cubicBezTo>
                  <a:lnTo>
                    <a:pt x="64" y="592"/>
                  </a:lnTo>
                  <a:cubicBezTo>
                    <a:pt x="56" y="592"/>
                    <a:pt x="48" y="585"/>
                    <a:pt x="48" y="576"/>
                  </a:cubicBezTo>
                  <a:lnTo>
                    <a:pt x="48" y="64"/>
                  </a:lnTo>
                  <a:cubicBezTo>
                    <a:pt x="48" y="56"/>
                    <a:pt x="56" y="48"/>
                    <a:pt x="64" y="48"/>
                  </a:cubicBezTo>
                  <a:lnTo>
                    <a:pt x="320" y="48"/>
                  </a:lnTo>
                  <a:moveTo>
                    <a:pt x="320" y="0"/>
                  </a:moveTo>
                  <a:lnTo>
                    <a:pt x="64" y="0"/>
                  </a:lnTo>
                  <a:cubicBezTo>
                    <a:pt x="29" y="0"/>
                    <a:pt x="0" y="29"/>
                    <a:pt x="0" y="64"/>
                  </a:cubicBezTo>
                  <a:lnTo>
                    <a:pt x="0" y="576"/>
                  </a:lnTo>
                  <a:cubicBezTo>
                    <a:pt x="0" y="612"/>
                    <a:pt x="29" y="640"/>
                    <a:pt x="64" y="640"/>
                  </a:cubicBezTo>
                  <a:lnTo>
                    <a:pt x="320" y="640"/>
                  </a:lnTo>
                  <a:cubicBezTo>
                    <a:pt x="356" y="640"/>
                    <a:pt x="384" y="612"/>
                    <a:pt x="384" y="576"/>
                  </a:cubicBezTo>
                  <a:lnTo>
                    <a:pt x="384" y="64"/>
                  </a:lnTo>
                  <a:cubicBezTo>
                    <a:pt x="384" y="29"/>
                    <a:pt x="356" y="0"/>
                    <a:pt x="320" y="0"/>
                  </a:cubicBezTo>
                  <a:lnTo>
                    <a:pt x="320" y="0"/>
                  </a:lnTo>
                  <a:close/>
                </a:path>
              </a:pathLst>
            </a:custGeom>
            <a:solidFill>
              <a:srgbClr val="FFFFFF"/>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199" name="PA-任意多边形 2935">
              <a:extLst>
                <a:ext uri="{FF2B5EF4-FFF2-40B4-BE49-F238E27FC236}">
                  <a16:creationId xmlns:a16="http://schemas.microsoft.com/office/drawing/2014/main" id="{62D1ABAD-0C34-45B3-984D-13E5E79DCA3B}"/>
                </a:ext>
              </a:extLst>
            </p:cNvPr>
            <p:cNvSpPr>
              <a:spLocks/>
            </p:cNvSpPr>
            <p:nvPr>
              <p:custDataLst>
                <p:tags r:id="rId19"/>
              </p:custDataLst>
            </p:nvPr>
          </p:nvSpPr>
          <p:spPr bwMode="auto">
            <a:xfrm>
              <a:off x="3767" y="2221"/>
              <a:ext cx="146" cy="49"/>
            </a:xfrm>
            <a:custGeom>
              <a:avLst/>
              <a:gdLst>
                <a:gd name="T0" fmla="*/ 122 w 146"/>
                <a:gd name="T1" fmla="*/ 49 h 49"/>
                <a:gd name="T2" fmla="*/ 24 w 146"/>
                <a:gd name="T3" fmla="*/ 49 h 49"/>
                <a:gd name="T4" fmla="*/ 0 w 146"/>
                <a:gd name="T5" fmla="*/ 0 h 49"/>
                <a:gd name="T6" fmla="*/ 146 w 146"/>
                <a:gd name="T7" fmla="*/ 0 h 49"/>
                <a:gd name="T8" fmla="*/ 122 w 146"/>
                <a:gd name="T9" fmla="*/ 49 h 49"/>
              </a:gdLst>
              <a:ahLst/>
              <a:cxnLst>
                <a:cxn ang="0">
                  <a:pos x="T0" y="T1"/>
                </a:cxn>
                <a:cxn ang="0">
                  <a:pos x="T2" y="T3"/>
                </a:cxn>
                <a:cxn ang="0">
                  <a:pos x="T4" y="T5"/>
                </a:cxn>
                <a:cxn ang="0">
                  <a:pos x="T6" y="T7"/>
                </a:cxn>
                <a:cxn ang="0">
                  <a:pos x="T8" y="T9"/>
                </a:cxn>
              </a:cxnLst>
              <a:rect l="0" t="0" r="r" b="b"/>
              <a:pathLst>
                <a:path w="146" h="49">
                  <a:moveTo>
                    <a:pt x="122" y="49"/>
                  </a:moveTo>
                  <a:lnTo>
                    <a:pt x="24" y="49"/>
                  </a:lnTo>
                  <a:lnTo>
                    <a:pt x="0" y="0"/>
                  </a:lnTo>
                  <a:lnTo>
                    <a:pt x="146" y="0"/>
                  </a:lnTo>
                  <a:lnTo>
                    <a:pt x="122" y="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00" name="PA-椭圆 2936">
              <a:extLst>
                <a:ext uri="{FF2B5EF4-FFF2-40B4-BE49-F238E27FC236}">
                  <a16:creationId xmlns:a16="http://schemas.microsoft.com/office/drawing/2014/main" id="{008CBF08-8E79-4B6C-8C5B-09BACD343B99}"/>
                </a:ext>
              </a:extLst>
            </p:cNvPr>
            <p:cNvSpPr>
              <a:spLocks noChangeArrowheads="1"/>
            </p:cNvSpPr>
            <p:nvPr>
              <p:custDataLst>
                <p:tags r:id="rId20"/>
              </p:custDataLst>
            </p:nvPr>
          </p:nvSpPr>
          <p:spPr bwMode="auto">
            <a:xfrm>
              <a:off x="3828" y="2233"/>
              <a:ext cx="24" cy="25"/>
            </a:xfrm>
            <a:prstGeom prst="ellipse">
              <a:avLst/>
            </a:prstGeom>
            <a:solidFill>
              <a:srgbClr val="E0E0D1"/>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sp>
        <p:nvSpPr>
          <p:cNvPr id="201" name="矩形 200">
            <a:extLst>
              <a:ext uri="{FF2B5EF4-FFF2-40B4-BE49-F238E27FC236}">
                <a16:creationId xmlns:a16="http://schemas.microsoft.com/office/drawing/2014/main" id="{0D3B9B58-9CAD-4428-BCBB-B5CD494C09FF}"/>
              </a:ext>
            </a:extLst>
          </p:cNvPr>
          <p:cNvSpPr/>
          <p:nvPr/>
        </p:nvSpPr>
        <p:spPr>
          <a:xfrm>
            <a:off x="3089996" y="2832685"/>
            <a:ext cx="676788" cy="923330"/>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5400" b="1" i="0" u="none" strike="noStrike" kern="0" cap="none" spc="0" normalizeH="0" baseline="0" noProof="0" dirty="0">
                <a:ln w="22225">
                  <a:solidFill>
                    <a:srgbClr val="E7E6E6">
                      <a:lumMod val="25000"/>
                    </a:srgbClr>
                  </a:solidFill>
                  <a:prstDash val="solid"/>
                </a:ln>
                <a:solidFill>
                  <a:srgbClr val="70AD47">
                    <a:lumMod val="40000"/>
                    <a:lumOff val="60000"/>
                  </a:srgbClr>
                </a:solidFill>
                <a:effectLst/>
                <a:uLnTx/>
                <a:uFillTx/>
              </a:rPr>
              <a:t>…</a:t>
            </a:r>
            <a:endParaRPr kumimoji="0" lang="zh-CN" altLang="en-US" sz="5400" b="0" i="0" u="none" strike="noStrike" kern="0" cap="none" spc="0" normalizeH="0" baseline="0" noProof="0" dirty="0">
              <a:ln w="22225">
                <a:solidFill>
                  <a:srgbClr val="E7E6E6">
                    <a:lumMod val="25000"/>
                  </a:srgbClr>
                </a:solidFill>
                <a:prstDash val="solid"/>
              </a:ln>
              <a:solidFill>
                <a:srgbClr val="70AD47">
                  <a:lumMod val="40000"/>
                  <a:lumOff val="60000"/>
                </a:srgbClr>
              </a:solidFill>
              <a:effectLst>
                <a:outerShdw blurRad="38100" dist="25400" dir="5400000" algn="ctr" rotWithShape="0">
                  <a:srgbClr val="6E747A">
                    <a:alpha val="43000"/>
                  </a:srgbClr>
                </a:outerShdw>
              </a:effectLst>
              <a:uLnTx/>
              <a:uFillTx/>
            </a:endParaRPr>
          </a:p>
        </p:txBody>
      </p:sp>
      <p:cxnSp>
        <p:nvCxnSpPr>
          <p:cNvPr id="203" name="直接箭头连接符 202"/>
          <p:cNvCxnSpPr/>
          <p:nvPr/>
        </p:nvCxnSpPr>
        <p:spPr>
          <a:xfrm>
            <a:off x="4861795" y="1826554"/>
            <a:ext cx="1445160" cy="7498"/>
          </a:xfrm>
          <a:prstGeom prst="straightConnector1">
            <a:avLst/>
          </a:prstGeom>
          <a:noFill/>
          <a:ln w="19050" cap="flat" cmpd="sng" algn="ctr">
            <a:solidFill>
              <a:srgbClr val="FFC000"/>
            </a:solidFill>
            <a:prstDash val="solid"/>
            <a:miter lim="800000"/>
            <a:headEnd type="arrow" w="med" len="med"/>
            <a:tailEnd type="none" w="med" len="med"/>
          </a:ln>
          <a:effectLst/>
        </p:spPr>
      </p:cxnSp>
      <p:sp>
        <p:nvSpPr>
          <p:cNvPr id="207" name="矩形 206"/>
          <p:cNvSpPr/>
          <p:nvPr/>
        </p:nvSpPr>
        <p:spPr>
          <a:xfrm>
            <a:off x="2242941" y="857789"/>
            <a:ext cx="1261885"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a:solidFill>
                  <a:sysClr val="windowText" lastClr="000000"/>
                </a:solidFill>
              </a:rPr>
              <a:t>医院或者学校</a:t>
            </a:r>
            <a:endParaRPr kumimoji="0" lang="zh-CN" altLang="en-US" sz="1400" b="0" i="0" u="none" strike="noStrike" kern="0" cap="none" spc="0" normalizeH="0" baseline="0" noProof="0" dirty="0">
              <a:ln>
                <a:noFill/>
              </a:ln>
              <a:solidFill>
                <a:sysClr val="windowText" lastClr="000000"/>
              </a:solidFill>
              <a:effectLst/>
              <a:uLnTx/>
              <a:uFillTx/>
            </a:endParaRPr>
          </a:p>
        </p:txBody>
      </p:sp>
      <p:sp>
        <p:nvSpPr>
          <p:cNvPr id="208" name="矩形 207"/>
          <p:cNvSpPr/>
          <p:nvPr/>
        </p:nvSpPr>
        <p:spPr>
          <a:xfrm>
            <a:off x="6132734" y="929388"/>
            <a:ext cx="1082349"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a:solidFill>
                  <a:sysClr val="windowText" lastClr="000000"/>
                </a:solidFill>
              </a:rPr>
              <a:t>本地</a:t>
            </a:r>
            <a:r>
              <a:rPr kumimoji="0" lang="zh-CN" altLang="en-US" sz="1400" b="0" i="0" u="none" strike="noStrike" kern="0" cap="none" spc="0" normalizeH="0" baseline="0" noProof="0" dirty="0">
                <a:ln>
                  <a:noFill/>
                </a:ln>
                <a:solidFill>
                  <a:sysClr val="windowText" lastClr="000000"/>
                </a:solidFill>
                <a:effectLst/>
                <a:uLnTx/>
                <a:uFillTx/>
              </a:rPr>
              <a:t>服务器</a:t>
            </a:r>
          </a:p>
        </p:txBody>
      </p:sp>
      <mc:AlternateContent xmlns:mc="http://schemas.openxmlformats.org/markup-compatibility/2006" xmlns:a14="http://schemas.microsoft.com/office/drawing/2010/main">
        <mc:Choice Requires="a14">
          <p:sp>
            <p:nvSpPr>
              <p:cNvPr id="211" name="矩形 210"/>
              <p:cNvSpPr/>
              <p:nvPr/>
            </p:nvSpPr>
            <p:spPr>
              <a:xfrm>
                <a:off x="5142934" y="1592947"/>
                <a:ext cx="1101968" cy="26161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zh-CN" sz="1100" b="0" i="1" u="none" strike="noStrike" kern="0" cap="none" spc="0" normalizeH="0" baseline="0" noProof="0" smtClean="0">
                              <a:ln>
                                <a:noFill/>
                              </a:ln>
                              <a:solidFill>
                                <a:sysClr val="windowText" lastClr="000000"/>
                              </a:solidFill>
                              <a:effectLst/>
                              <a:uLnTx/>
                              <a:uFillTx/>
                              <a:latin typeface="Cambria Math" panose="02040503050406030204" pitchFamily="18" charset="0"/>
                            </a:rPr>
                          </m:ctrlPr>
                        </m:sSupPr>
                        <m:e>
                          <m:r>
                            <a:rPr kumimoji="0" lang="zh-CN" altLang="en-US" sz="1100" b="0" i="1" u="none" strike="noStrike" kern="0" cap="none" spc="0" normalizeH="0" baseline="0" noProof="0" smtClean="0">
                              <a:ln>
                                <a:noFill/>
                              </a:ln>
                              <a:solidFill>
                                <a:sysClr val="windowText" lastClr="000000"/>
                              </a:solidFill>
                              <a:effectLst/>
                              <a:uLnTx/>
                              <a:uFillTx/>
                              <a:latin typeface="Cambria Math"/>
                            </a:rPr>
                            <m:t>个性化</m:t>
                          </m:r>
                          <m:r>
                            <a:rPr kumimoji="0" lang="zh-CN" altLang="en-US" sz="1100" b="1" i="1" u="none" strike="noStrike" kern="0" cap="none" spc="0" normalizeH="0" baseline="0" noProof="0">
                              <a:ln>
                                <a:noFill/>
                              </a:ln>
                              <a:solidFill>
                                <a:sysClr val="windowText" lastClr="000000"/>
                              </a:solidFill>
                              <a:effectLst/>
                              <a:uLnTx/>
                              <a:uFillTx/>
                              <a:latin typeface="Cambria Math"/>
                            </a:rPr>
                            <m:t>模型</m:t>
                          </m:r>
                          <m:r>
                            <a:rPr kumimoji="0" lang="en-US" altLang="zh-CN" sz="1100" b="1" i="1" u="none" strike="noStrike" kern="0" cap="none" spc="0" normalizeH="0" baseline="0" noProof="0">
                              <a:ln>
                                <a:noFill/>
                              </a:ln>
                              <a:solidFill>
                                <a:sysClr val="windowText" lastClr="000000"/>
                              </a:solidFill>
                              <a:effectLst/>
                              <a:uLnTx/>
                              <a:uFillTx/>
                              <a:latin typeface="Cambria Math"/>
                            </a:rPr>
                            <m:t>𝐰</m:t>
                          </m:r>
                        </m:e>
                        <m:sup>
                          <m:r>
                            <a:rPr kumimoji="0" lang="en-US" altLang="zh-CN" sz="1100" b="0" i="1" u="none" strike="noStrike" kern="0" cap="none" spc="0" normalizeH="0" baseline="0" noProof="0">
                              <a:ln>
                                <a:noFill/>
                              </a:ln>
                              <a:solidFill>
                                <a:sysClr val="windowText" lastClr="000000"/>
                              </a:solidFill>
                              <a:effectLst/>
                              <a:uLnTx/>
                              <a:uFillTx/>
                              <a:latin typeface="Cambria Math"/>
                            </a:rPr>
                            <m:t>𝑡</m:t>
                          </m:r>
                        </m:sup>
                      </m:sSup>
                    </m:oMath>
                  </m:oMathPara>
                </a14:m>
                <a:endParaRPr kumimoji="0" lang="zh-CN" altLang="en-US" sz="1100" b="0" i="0" u="none" strike="noStrike" kern="0" cap="none" spc="0" normalizeH="0" baseline="0" noProof="0" dirty="0">
                  <a:ln>
                    <a:noFill/>
                  </a:ln>
                  <a:solidFill>
                    <a:sysClr val="windowText" lastClr="000000"/>
                  </a:solidFill>
                  <a:effectLst/>
                  <a:uLnTx/>
                  <a:uFillTx/>
                </a:endParaRPr>
              </a:p>
            </p:txBody>
          </p:sp>
        </mc:Choice>
        <mc:Fallback xmlns="">
          <p:sp>
            <p:nvSpPr>
              <p:cNvPr id="211" name="矩形 210"/>
              <p:cNvSpPr>
                <a:spLocks noRot="1" noChangeAspect="1" noMove="1" noResize="1" noEditPoints="1" noAdjustHandles="1" noChangeArrowheads="1" noChangeShapeType="1" noTextEdit="1"/>
              </p:cNvSpPr>
              <p:nvPr/>
            </p:nvSpPr>
            <p:spPr>
              <a:xfrm>
                <a:off x="5142934" y="1592947"/>
                <a:ext cx="1101968" cy="261610"/>
              </a:xfrm>
              <a:prstGeom prst="rect">
                <a:avLst/>
              </a:prstGeom>
              <a:blipFill rotWithShape="1">
                <a:blip r:embed="rId63"/>
                <a:stretch>
                  <a:fillRect b="-2326"/>
                </a:stretch>
              </a:blipFill>
            </p:spPr>
            <p:txBody>
              <a:bodyPr/>
              <a:lstStyle/>
              <a:p>
                <a:r>
                  <a:rPr lang="zh-CN" altLang="en-US">
                    <a:noFill/>
                  </a:rPr>
                  <a:t> </a:t>
                </a:r>
              </a:p>
            </p:txBody>
          </p:sp>
        </mc:Fallback>
      </mc:AlternateContent>
      <p:cxnSp>
        <p:nvCxnSpPr>
          <p:cNvPr id="212" name="直接箭头连接符 211"/>
          <p:cNvCxnSpPr/>
          <p:nvPr/>
        </p:nvCxnSpPr>
        <p:spPr>
          <a:xfrm>
            <a:off x="4885337" y="1600561"/>
            <a:ext cx="1421618" cy="2845"/>
          </a:xfrm>
          <a:prstGeom prst="straightConnector1">
            <a:avLst/>
          </a:prstGeom>
          <a:noFill/>
          <a:ln w="19050" cap="flat" cmpd="sng" algn="ctr">
            <a:solidFill>
              <a:srgbClr val="FFC000"/>
            </a:solidFill>
            <a:prstDash val="solid"/>
            <a:miter lim="800000"/>
            <a:headEnd type="none" w="med" len="med"/>
            <a:tailEnd type="arrow" w="med" len="med"/>
          </a:ln>
          <a:effectLst/>
        </p:spPr>
      </p:cxnSp>
      <mc:AlternateContent xmlns:mc="http://schemas.openxmlformats.org/markup-compatibility/2006" xmlns:a14="http://schemas.microsoft.com/office/drawing/2010/main">
        <mc:Choice Requires="a14">
          <p:sp>
            <p:nvSpPr>
              <p:cNvPr id="215" name="矩形 214"/>
              <p:cNvSpPr/>
              <p:nvPr/>
            </p:nvSpPr>
            <p:spPr>
              <a:xfrm>
                <a:off x="4801934" y="1382611"/>
                <a:ext cx="1652375" cy="26161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100" b="0" i="1" u="none" strike="noStrike" kern="0" cap="none" spc="0" normalizeH="0" baseline="0" noProof="0">
                          <a:ln>
                            <a:noFill/>
                          </a:ln>
                          <a:solidFill>
                            <a:sysClr val="windowText" lastClr="000000"/>
                          </a:solidFill>
                          <a:effectLst/>
                          <a:uLnTx/>
                          <a:uFillTx/>
                          <a:latin typeface="Cambria Math"/>
                        </a:rPr>
                        <m:t>本地模型更新</m:t>
                      </m:r>
                      <m:r>
                        <a:rPr kumimoji="0" lang="en-US" altLang="zh-CN" sz="1100" b="0" i="1" u="none" strike="noStrike" kern="0" cap="none" spc="0" normalizeH="0" baseline="0" noProof="0">
                          <a:ln>
                            <a:noFill/>
                          </a:ln>
                          <a:solidFill>
                            <a:sysClr val="windowText" lastClr="000000"/>
                          </a:solidFill>
                          <a:effectLst/>
                          <a:uLnTx/>
                          <a:uFillTx/>
                          <a:latin typeface="Cambria Math"/>
                        </a:rPr>
                        <m:t>△</m:t>
                      </m:r>
                      <m:sSub>
                        <m:sSubPr>
                          <m:ctrlPr>
                            <a:rPr kumimoji="0" lang="zh-CN" altLang="zh-CN" sz="1100" b="0" i="1" u="none" strike="noStrike" kern="0" cap="none" spc="0" normalizeH="0" baseline="0" noProof="0">
                              <a:ln>
                                <a:noFill/>
                              </a:ln>
                              <a:solidFill>
                                <a:sysClr val="windowText" lastClr="000000"/>
                              </a:solidFill>
                              <a:effectLst/>
                              <a:uLnTx/>
                              <a:uFillTx/>
                              <a:latin typeface="Cambria Math" panose="02040503050406030204" pitchFamily="18" charset="0"/>
                            </a:rPr>
                          </m:ctrlPr>
                        </m:sSubPr>
                        <m:e>
                          <m:r>
                            <a:rPr kumimoji="0" lang="en-US" altLang="zh-CN" sz="1100" b="0" i="1" u="none" strike="noStrike" kern="0" cap="none" spc="0" normalizeH="0" baseline="0" noProof="0">
                              <a:ln>
                                <a:noFill/>
                              </a:ln>
                              <a:solidFill>
                                <a:sysClr val="windowText" lastClr="000000"/>
                              </a:solidFill>
                              <a:effectLst/>
                              <a:uLnTx/>
                              <a:uFillTx/>
                              <a:latin typeface="Cambria Math"/>
                            </a:rPr>
                            <m:t>𝐹</m:t>
                          </m:r>
                        </m:e>
                        <m:sub>
                          <m:r>
                            <a:rPr kumimoji="0" lang="en-US" altLang="zh-CN" sz="1100" b="0" i="1" u="none" strike="noStrike" kern="0" cap="none" spc="0" normalizeH="0" baseline="0" noProof="0" smtClean="0">
                              <a:ln>
                                <a:noFill/>
                              </a:ln>
                              <a:solidFill>
                                <a:sysClr val="windowText" lastClr="000000"/>
                              </a:solidFill>
                              <a:effectLst/>
                              <a:uLnTx/>
                              <a:uFillTx/>
                              <a:latin typeface="Cambria Math"/>
                            </a:rPr>
                            <m:t>𝑖</m:t>
                          </m:r>
                        </m:sub>
                      </m:sSub>
                      <m:d>
                        <m:dPr>
                          <m:ctrlPr>
                            <a:rPr kumimoji="0" lang="zh-CN" altLang="zh-CN" sz="1100" b="0" i="1" u="none" strike="noStrike" kern="0" cap="none" spc="0" normalizeH="0" baseline="0" noProof="0">
                              <a:ln>
                                <a:noFill/>
                              </a:ln>
                              <a:solidFill>
                                <a:sysClr val="windowText" lastClr="000000"/>
                              </a:solidFill>
                              <a:effectLst/>
                              <a:uLnTx/>
                              <a:uFillTx/>
                              <a:latin typeface="Cambria Math" panose="02040503050406030204" pitchFamily="18" charset="0"/>
                            </a:rPr>
                          </m:ctrlPr>
                        </m:dPr>
                        <m:e>
                          <m:sSup>
                            <m:sSupPr>
                              <m:ctrlPr>
                                <a:rPr kumimoji="0" lang="zh-CN" altLang="zh-CN" sz="1100" b="0" i="1" u="none" strike="noStrike" kern="0" cap="none" spc="0" normalizeH="0" baseline="0" noProof="0">
                                  <a:ln>
                                    <a:noFill/>
                                  </a:ln>
                                  <a:solidFill>
                                    <a:sysClr val="windowText" lastClr="000000"/>
                                  </a:solidFill>
                                  <a:effectLst/>
                                  <a:uLnTx/>
                                  <a:uFillTx/>
                                  <a:latin typeface="Cambria Math" panose="02040503050406030204" pitchFamily="18" charset="0"/>
                                </a:rPr>
                              </m:ctrlPr>
                            </m:sSupPr>
                            <m:e>
                              <m:r>
                                <a:rPr kumimoji="0" lang="en-US" altLang="zh-CN" sz="1100" b="1" i="1" u="none" strike="noStrike" kern="0" cap="none" spc="0" normalizeH="0" baseline="0" noProof="0">
                                  <a:ln>
                                    <a:noFill/>
                                  </a:ln>
                                  <a:solidFill>
                                    <a:sysClr val="windowText" lastClr="000000"/>
                                  </a:solidFill>
                                  <a:effectLst/>
                                  <a:uLnTx/>
                                  <a:uFillTx/>
                                  <a:latin typeface="Cambria Math"/>
                                </a:rPr>
                                <m:t>𝐰</m:t>
                              </m:r>
                            </m:e>
                            <m:sup>
                              <m:r>
                                <a:rPr kumimoji="0" lang="en-US" altLang="zh-CN" sz="1100" b="0" i="1" u="none" strike="noStrike" kern="0" cap="none" spc="0" normalizeH="0" baseline="0" noProof="0">
                                  <a:ln>
                                    <a:noFill/>
                                  </a:ln>
                                  <a:solidFill>
                                    <a:sysClr val="windowText" lastClr="000000"/>
                                  </a:solidFill>
                                  <a:effectLst/>
                                  <a:uLnTx/>
                                  <a:uFillTx/>
                                  <a:latin typeface="Cambria Math"/>
                                </a:rPr>
                                <m:t>𝑡</m:t>
                              </m:r>
                            </m:sup>
                          </m:sSup>
                        </m:e>
                      </m:d>
                    </m:oMath>
                  </m:oMathPara>
                </a14:m>
                <a:endParaRPr kumimoji="0" lang="zh-CN" altLang="en-US" sz="1100" b="0" i="0" u="none" strike="noStrike" kern="0" cap="none" spc="0" normalizeH="0" baseline="0" noProof="0" dirty="0">
                  <a:ln>
                    <a:noFill/>
                  </a:ln>
                  <a:solidFill>
                    <a:sysClr val="windowText" lastClr="000000"/>
                  </a:solidFill>
                  <a:effectLst/>
                  <a:uLnTx/>
                  <a:uFillTx/>
                </a:endParaRPr>
              </a:p>
            </p:txBody>
          </p:sp>
        </mc:Choice>
        <mc:Fallback xmlns="">
          <p:sp>
            <p:nvSpPr>
              <p:cNvPr id="215" name="矩形 214"/>
              <p:cNvSpPr>
                <a:spLocks noRot="1" noChangeAspect="1" noMove="1" noResize="1" noEditPoints="1" noAdjustHandles="1" noChangeArrowheads="1" noChangeShapeType="1" noTextEdit="1"/>
              </p:cNvSpPr>
              <p:nvPr/>
            </p:nvSpPr>
            <p:spPr>
              <a:xfrm>
                <a:off x="4801934" y="1382611"/>
                <a:ext cx="1652375" cy="261610"/>
              </a:xfrm>
              <a:prstGeom prst="rect">
                <a:avLst/>
              </a:prstGeom>
              <a:blipFill rotWithShape="1">
                <a:blip r:embed="rId64"/>
                <a:stretch>
                  <a:fillRect b="-2326"/>
                </a:stretch>
              </a:blipFill>
            </p:spPr>
            <p:txBody>
              <a:bodyPr/>
              <a:lstStyle/>
              <a:p>
                <a:r>
                  <a:rPr lang="zh-CN" altLang="en-US">
                    <a:noFill/>
                  </a:rPr>
                  <a:t> </a:t>
                </a:r>
              </a:p>
            </p:txBody>
          </p:sp>
        </mc:Fallback>
      </mc:AlternateContent>
      <p:cxnSp>
        <p:nvCxnSpPr>
          <p:cNvPr id="217" name="直接箭头连接符 216"/>
          <p:cNvCxnSpPr/>
          <p:nvPr/>
        </p:nvCxnSpPr>
        <p:spPr>
          <a:xfrm>
            <a:off x="4858919" y="3520438"/>
            <a:ext cx="1445160" cy="7498"/>
          </a:xfrm>
          <a:prstGeom prst="straightConnector1">
            <a:avLst/>
          </a:prstGeom>
          <a:noFill/>
          <a:ln w="12700" cap="flat" cmpd="sng" algn="ctr">
            <a:solidFill>
              <a:srgbClr val="70AD47"/>
            </a:solidFill>
            <a:prstDash val="solid"/>
            <a:miter lim="800000"/>
            <a:headEnd type="arrow" w="med" len="med"/>
            <a:tailEnd type="none" w="med" len="med"/>
          </a:ln>
          <a:effectLst/>
        </p:spPr>
      </p:cxnSp>
      <mc:AlternateContent xmlns:mc="http://schemas.openxmlformats.org/markup-compatibility/2006" xmlns:a14="http://schemas.microsoft.com/office/drawing/2010/main">
        <mc:Choice Requires="a14">
          <p:sp>
            <p:nvSpPr>
              <p:cNvPr id="219" name="矩形 218"/>
              <p:cNvSpPr/>
              <p:nvPr/>
            </p:nvSpPr>
            <p:spPr>
              <a:xfrm>
                <a:off x="5140058" y="3305119"/>
                <a:ext cx="954492" cy="26161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zh-CN" sz="1100" b="0" i="1" u="none" strike="noStrike" kern="0" cap="none" spc="0" normalizeH="0" baseline="0" noProof="0" smtClean="0">
                              <a:ln>
                                <a:noFill/>
                              </a:ln>
                              <a:solidFill>
                                <a:sysClr val="windowText" lastClr="000000"/>
                              </a:solidFill>
                              <a:effectLst/>
                              <a:uLnTx/>
                              <a:uFillTx/>
                              <a:latin typeface="Cambria Math" panose="02040503050406030204" pitchFamily="18" charset="0"/>
                            </a:rPr>
                          </m:ctrlPr>
                        </m:sSupPr>
                        <m:e>
                          <m:r>
                            <a:rPr kumimoji="0" lang="zh-CN" altLang="en-US" sz="1100" b="1" i="1" u="none" strike="noStrike" kern="0" cap="none" spc="0" normalizeH="0" baseline="0" noProof="0" smtClean="0">
                              <a:ln>
                                <a:noFill/>
                              </a:ln>
                              <a:solidFill>
                                <a:sysClr val="windowText" lastClr="000000"/>
                              </a:solidFill>
                              <a:effectLst/>
                              <a:uLnTx/>
                              <a:uFillTx/>
                              <a:latin typeface="Cambria Math"/>
                            </a:rPr>
                            <m:t>全局</m:t>
                          </m:r>
                          <m:r>
                            <a:rPr kumimoji="0" lang="zh-CN" altLang="en-US" sz="1100" b="1" i="1" u="none" strike="noStrike" kern="0" cap="none" spc="0" normalizeH="0" baseline="0" noProof="0">
                              <a:ln>
                                <a:noFill/>
                              </a:ln>
                              <a:solidFill>
                                <a:sysClr val="windowText" lastClr="000000"/>
                              </a:solidFill>
                              <a:effectLst/>
                              <a:uLnTx/>
                              <a:uFillTx/>
                              <a:latin typeface="Cambria Math"/>
                            </a:rPr>
                            <m:t>模型</m:t>
                          </m:r>
                          <m:r>
                            <a:rPr kumimoji="0" lang="en-US" altLang="zh-CN" sz="1100" b="1" i="1" u="none" strike="noStrike" kern="0" cap="none" spc="0" normalizeH="0" baseline="0" noProof="0">
                              <a:ln>
                                <a:noFill/>
                              </a:ln>
                              <a:solidFill>
                                <a:sysClr val="windowText" lastClr="000000"/>
                              </a:solidFill>
                              <a:effectLst/>
                              <a:uLnTx/>
                              <a:uFillTx/>
                              <a:latin typeface="Cambria Math"/>
                            </a:rPr>
                            <m:t>𝐰</m:t>
                          </m:r>
                        </m:e>
                        <m:sup>
                          <m:r>
                            <a:rPr kumimoji="0" lang="en-US" altLang="zh-CN" sz="1100" b="0" i="1" u="none" strike="noStrike" kern="0" cap="none" spc="0" normalizeH="0" baseline="0" noProof="0">
                              <a:ln>
                                <a:noFill/>
                              </a:ln>
                              <a:solidFill>
                                <a:sysClr val="windowText" lastClr="000000"/>
                              </a:solidFill>
                              <a:effectLst/>
                              <a:uLnTx/>
                              <a:uFillTx/>
                              <a:latin typeface="Cambria Math"/>
                            </a:rPr>
                            <m:t>𝑡</m:t>
                          </m:r>
                        </m:sup>
                      </m:sSup>
                    </m:oMath>
                  </m:oMathPara>
                </a14:m>
                <a:endParaRPr kumimoji="0" lang="zh-CN" altLang="en-US" sz="1100" b="0" i="0" u="none" strike="noStrike" kern="0" cap="none" spc="0" normalizeH="0" baseline="0" noProof="0" dirty="0">
                  <a:ln>
                    <a:noFill/>
                  </a:ln>
                  <a:solidFill>
                    <a:sysClr val="windowText" lastClr="000000"/>
                  </a:solidFill>
                  <a:effectLst/>
                  <a:uLnTx/>
                  <a:uFillTx/>
                </a:endParaRPr>
              </a:p>
            </p:txBody>
          </p:sp>
        </mc:Choice>
        <mc:Fallback xmlns="">
          <p:sp>
            <p:nvSpPr>
              <p:cNvPr id="219" name="矩形 218"/>
              <p:cNvSpPr>
                <a:spLocks noRot="1" noChangeAspect="1" noMove="1" noResize="1" noEditPoints="1" noAdjustHandles="1" noChangeArrowheads="1" noChangeShapeType="1" noTextEdit="1"/>
              </p:cNvSpPr>
              <p:nvPr/>
            </p:nvSpPr>
            <p:spPr>
              <a:xfrm>
                <a:off x="5140058" y="3305119"/>
                <a:ext cx="954492" cy="261610"/>
              </a:xfrm>
              <a:prstGeom prst="rect">
                <a:avLst/>
              </a:prstGeom>
              <a:blipFill rotWithShape="1">
                <a:blip r:embed="rId65"/>
                <a:stretch>
                  <a:fillRect b="-2326"/>
                </a:stretch>
              </a:blipFill>
            </p:spPr>
            <p:txBody>
              <a:bodyPr/>
              <a:lstStyle/>
              <a:p>
                <a:r>
                  <a:rPr lang="zh-CN" altLang="en-US">
                    <a:noFill/>
                  </a:rPr>
                  <a:t> </a:t>
                </a:r>
              </a:p>
            </p:txBody>
          </p:sp>
        </mc:Fallback>
      </mc:AlternateContent>
      <p:cxnSp>
        <p:nvCxnSpPr>
          <p:cNvPr id="220" name="直接箭头连接符 219"/>
          <p:cNvCxnSpPr/>
          <p:nvPr/>
        </p:nvCxnSpPr>
        <p:spPr>
          <a:xfrm>
            <a:off x="4882461" y="3282253"/>
            <a:ext cx="1421618" cy="2845"/>
          </a:xfrm>
          <a:prstGeom prst="straightConnector1">
            <a:avLst/>
          </a:prstGeom>
          <a:noFill/>
          <a:ln w="12700" cap="flat" cmpd="sng" algn="ctr">
            <a:solidFill>
              <a:srgbClr val="70AD47"/>
            </a:solidFill>
            <a:prstDash val="solid"/>
            <a:miter lim="800000"/>
            <a:headEnd type="none" w="med" len="med"/>
            <a:tailEnd type="arrow" w="med" len="med"/>
          </a:ln>
          <a:effectLst/>
        </p:spPr>
      </p:cxnSp>
      <mc:AlternateContent xmlns:mc="http://schemas.openxmlformats.org/markup-compatibility/2006" xmlns:a14="http://schemas.microsoft.com/office/drawing/2010/main">
        <mc:Choice Requires="a14">
          <p:sp>
            <p:nvSpPr>
              <p:cNvPr id="223" name="矩形 222"/>
              <p:cNvSpPr/>
              <p:nvPr/>
            </p:nvSpPr>
            <p:spPr>
              <a:xfrm>
                <a:off x="4799058" y="3052111"/>
                <a:ext cx="1651093" cy="2765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100" b="0" i="1" u="none" strike="noStrike" kern="0" cap="none" spc="0" normalizeH="0" baseline="0" noProof="0" smtClean="0">
                          <a:ln>
                            <a:noFill/>
                          </a:ln>
                          <a:solidFill>
                            <a:sysClr val="windowText" lastClr="000000"/>
                          </a:solidFill>
                          <a:effectLst/>
                          <a:uLnTx/>
                          <a:uFillTx/>
                          <a:latin typeface="Cambria Math"/>
                        </a:rPr>
                        <m:t>本地</m:t>
                      </m:r>
                      <m:r>
                        <a:rPr kumimoji="0" lang="zh-CN" altLang="en-US" sz="1100" b="0" i="1" u="none" strike="noStrike" kern="0" cap="none" spc="0" normalizeH="0" baseline="0" noProof="0">
                          <a:ln>
                            <a:noFill/>
                          </a:ln>
                          <a:solidFill>
                            <a:sysClr val="windowText" lastClr="000000"/>
                          </a:solidFill>
                          <a:effectLst/>
                          <a:uLnTx/>
                          <a:uFillTx/>
                          <a:latin typeface="Cambria Math"/>
                        </a:rPr>
                        <m:t>模型更新</m:t>
                      </m:r>
                      <m:r>
                        <a:rPr kumimoji="0" lang="en-US" altLang="zh-CN" sz="1100" b="0" i="1" u="none" strike="noStrike" kern="0" cap="none" spc="0" normalizeH="0" baseline="0" noProof="0">
                          <a:ln>
                            <a:noFill/>
                          </a:ln>
                          <a:solidFill>
                            <a:sysClr val="windowText" lastClr="000000"/>
                          </a:solidFill>
                          <a:effectLst/>
                          <a:uLnTx/>
                          <a:uFillTx/>
                          <a:latin typeface="Cambria Math"/>
                        </a:rPr>
                        <m:t>△</m:t>
                      </m:r>
                      <m:sSub>
                        <m:sSubPr>
                          <m:ctrlPr>
                            <a:rPr kumimoji="0" lang="zh-CN" altLang="zh-CN" sz="1100" b="0" i="1" u="none" strike="noStrike" kern="0" cap="none" spc="0" normalizeH="0" baseline="0" noProof="0">
                              <a:ln>
                                <a:noFill/>
                              </a:ln>
                              <a:solidFill>
                                <a:sysClr val="windowText" lastClr="000000"/>
                              </a:solidFill>
                              <a:effectLst/>
                              <a:uLnTx/>
                              <a:uFillTx/>
                              <a:latin typeface="Cambria Math" panose="02040503050406030204" pitchFamily="18" charset="0"/>
                            </a:rPr>
                          </m:ctrlPr>
                        </m:sSubPr>
                        <m:e>
                          <m:r>
                            <a:rPr kumimoji="0" lang="en-US" altLang="zh-CN" sz="1100" b="0" i="1" u="none" strike="noStrike" kern="0" cap="none" spc="0" normalizeH="0" baseline="0" noProof="0">
                              <a:ln>
                                <a:noFill/>
                              </a:ln>
                              <a:solidFill>
                                <a:sysClr val="windowText" lastClr="000000"/>
                              </a:solidFill>
                              <a:effectLst/>
                              <a:uLnTx/>
                              <a:uFillTx/>
                              <a:latin typeface="Cambria Math"/>
                            </a:rPr>
                            <m:t>𝐹</m:t>
                          </m:r>
                        </m:e>
                        <m:sub>
                          <m:r>
                            <a:rPr kumimoji="0" lang="en-US" altLang="zh-CN" sz="1100" b="0" i="1" u="none" strike="noStrike" kern="0" cap="none" spc="0" normalizeH="0" baseline="0" noProof="0" smtClean="0">
                              <a:ln>
                                <a:noFill/>
                              </a:ln>
                              <a:solidFill>
                                <a:sysClr val="windowText" lastClr="000000"/>
                              </a:solidFill>
                              <a:effectLst/>
                              <a:uLnTx/>
                              <a:uFillTx/>
                              <a:latin typeface="Cambria Math"/>
                            </a:rPr>
                            <m:t>𝑗</m:t>
                          </m:r>
                        </m:sub>
                      </m:sSub>
                      <m:d>
                        <m:dPr>
                          <m:ctrlPr>
                            <a:rPr kumimoji="0" lang="zh-CN" altLang="zh-CN" sz="1100" b="0" i="1" u="none" strike="noStrike" kern="0" cap="none" spc="0" normalizeH="0" baseline="0" noProof="0">
                              <a:ln>
                                <a:noFill/>
                              </a:ln>
                              <a:solidFill>
                                <a:sysClr val="windowText" lastClr="000000"/>
                              </a:solidFill>
                              <a:effectLst/>
                              <a:uLnTx/>
                              <a:uFillTx/>
                              <a:latin typeface="Cambria Math" panose="02040503050406030204" pitchFamily="18" charset="0"/>
                            </a:rPr>
                          </m:ctrlPr>
                        </m:dPr>
                        <m:e>
                          <m:sSup>
                            <m:sSupPr>
                              <m:ctrlPr>
                                <a:rPr kumimoji="0" lang="zh-CN" altLang="zh-CN" sz="1100" b="0" i="1" u="none" strike="noStrike" kern="0" cap="none" spc="0" normalizeH="0" baseline="0" noProof="0">
                                  <a:ln>
                                    <a:noFill/>
                                  </a:ln>
                                  <a:solidFill>
                                    <a:sysClr val="windowText" lastClr="000000"/>
                                  </a:solidFill>
                                  <a:effectLst/>
                                  <a:uLnTx/>
                                  <a:uFillTx/>
                                  <a:latin typeface="Cambria Math" panose="02040503050406030204" pitchFamily="18" charset="0"/>
                                </a:rPr>
                              </m:ctrlPr>
                            </m:sSupPr>
                            <m:e>
                              <m:r>
                                <a:rPr kumimoji="0" lang="en-US" altLang="zh-CN" sz="1100" b="1" i="1" u="none" strike="noStrike" kern="0" cap="none" spc="0" normalizeH="0" baseline="0" noProof="0">
                                  <a:ln>
                                    <a:noFill/>
                                  </a:ln>
                                  <a:solidFill>
                                    <a:sysClr val="windowText" lastClr="000000"/>
                                  </a:solidFill>
                                  <a:effectLst/>
                                  <a:uLnTx/>
                                  <a:uFillTx/>
                                  <a:latin typeface="Cambria Math"/>
                                </a:rPr>
                                <m:t>𝐰</m:t>
                              </m:r>
                            </m:e>
                            <m:sup>
                              <m:r>
                                <a:rPr kumimoji="0" lang="en-US" altLang="zh-CN" sz="1100" b="0" i="1" u="none" strike="noStrike" kern="0" cap="none" spc="0" normalizeH="0" baseline="0" noProof="0">
                                  <a:ln>
                                    <a:noFill/>
                                  </a:ln>
                                  <a:solidFill>
                                    <a:sysClr val="windowText" lastClr="000000"/>
                                  </a:solidFill>
                                  <a:effectLst/>
                                  <a:uLnTx/>
                                  <a:uFillTx/>
                                  <a:latin typeface="Cambria Math"/>
                                </a:rPr>
                                <m:t>𝑡</m:t>
                              </m:r>
                            </m:sup>
                          </m:sSup>
                        </m:e>
                      </m:d>
                    </m:oMath>
                  </m:oMathPara>
                </a14:m>
                <a:endParaRPr kumimoji="0" lang="zh-CN" altLang="en-US" sz="1100" b="0" i="0" u="none" strike="noStrike" kern="0" cap="none" spc="0" normalizeH="0" baseline="0" noProof="0" dirty="0">
                  <a:ln>
                    <a:noFill/>
                  </a:ln>
                  <a:solidFill>
                    <a:sysClr val="windowText" lastClr="000000"/>
                  </a:solidFill>
                  <a:effectLst/>
                  <a:uLnTx/>
                  <a:uFillTx/>
                </a:endParaRPr>
              </a:p>
            </p:txBody>
          </p:sp>
        </mc:Choice>
        <mc:Fallback xmlns="">
          <p:sp>
            <p:nvSpPr>
              <p:cNvPr id="223" name="矩形 222"/>
              <p:cNvSpPr>
                <a:spLocks noRot="1" noChangeAspect="1" noMove="1" noResize="1" noEditPoints="1" noAdjustHandles="1" noChangeArrowheads="1" noChangeShapeType="1" noTextEdit="1"/>
              </p:cNvSpPr>
              <p:nvPr/>
            </p:nvSpPr>
            <p:spPr>
              <a:xfrm>
                <a:off x="4799058" y="3052111"/>
                <a:ext cx="1651093" cy="276551"/>
              </a:xfrm>
              <a:prstGeom prst="rect">
                <a:avLst/>
              </a:prstGeom>
              <a:blipFill rotWithShape="1">
                <a:blip r:embed="rId66"/>
                <a:stretch>
                  <a:fillRect/>
                </a:stretch>
              </a:blipFill>
            </p:spPr>
            <p:txBody>
              <a:bodyPr/>
              <a:lstStyle/>
              <a:p>
                <a:r>
                  <a:rPr lang="zh-CN" altLang="en-US">
                    <a:noFill/>
                  </a:rPr>
                  <a:t> </a:t>
                </a:r>
              </a:p>
            </p:txBody>
          </p:sp>
        </mc:Fallback>
      </mc:AlternateContent>
      <p:cxnSp>
        <p:nvCxnSpPr>
          <p:cNvPr id="232" name="曲线连接符 231"/>
          <p:cNvCxnSpPr/>
          <p:nvPr/>
        </p:nvCxnSpPr>
        <p:spPr>
          <a:xfrm rot="16200000" flipH="1">
            <a:off x="2506129" y="1739414"/>
            <a:ext cx="480440" cy="12700"/>
          </a:xfrm>
          <a:prstGeom prst="curvedConnector5">
            <a:avLst>
              <a:gd name="adj1" fmla="val -22205"/>
              <a:gd name="adj2" fmla="val -3324386"/>
              <a:gd name="adj3" fmla="val 112054"/>
            </a:avLst>
          </a:prstGeom>
          <a:noFill/>
          <a:ln w="6350" cap="flat" cmpd="sng" algn="ctr">
            <a:solidFill>
              <a:sysClr val="windowText" lastClr="000000"/>
            </a:solidFill>
            <a:prstDash val="solid"/>
            <a:miter lim="800000"/>
            <a:headEnd type="none" w="med" len="med"/>
            <a:tailEnd type="triangle" w="med" len="med"/>
          </a:ln>
          <a:effectLst/>
        </p:spPr>
      </p:cxnSp>
      <p:sp>
        <p:nvSpPr>
          <p:cNvPr id="233" name="TextBox 232"/>
          <p:cNvSpPr txBox="1"/>
          <p:nvPr/>
        </p:nvSpPr>
        <p:spPr>
          <a:xfrm>
            <a:off x="2043658" y="1396478"/>
            <a:ext cx="353943" cy="797654"/>
          </a:xfrm>
          <a:prstGeom prst="rect">
            <a:avLst/>
          </a:prstGeom>
          <a:noFill/>
        </p:spPr>
        <p:txBody>
          <a:bodyPr vert="eaVert"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ysClr val="windowText" lastClr="000000"/>
                </a:solidFill>
                <a:effectLst/>
                <a:uLnTx/>
                <a:uFillTx/>
              </a:rPr>
              <a:t>本地训练①</a:t>
            </a:r>
          </a:p>
        </p:txBody>
      </p:sp>
      <p:cxnSp>
        <p:nvCxnSpPr>
          <p:cNvPr id="234" name="曲线连接符 233"/>
          <p:cNvCxnSpPr/>
          <p:nvPr/>
        </p:nvCxnSpPr>
        <p:spPr>
          <a:xfrm rot="16200000" flipH="1">
            <a:off x="2500033" y="3476774"/>
            <a:ext cx="480440" cy="12700"/>
          </a:xfrm>
          <a:prstGeom prst="curvedConnector5">
            <a:avLst>
              <a:gd name="adj1" fmla="val -22205"/>
              <a:gd name="adj2" fmla="val -3324386"/>
              <a:gd name="adj3" fmla="val 112054"/>
            </a:avLst>
          </a:prstGeom>
          <a:noFill/>
          <a:ln w="6350" cap="flat" cmpd="sng" algn="ctr">
            <a:solidFill>
              <a:sysClr val="windowText" lastClr="000000"/>
            </a:solidFill>
            <a:prstDash val="solid"/>
            <a:miter lim="800000"/>
            <a:headEnd type="none" w="med" len="med"/>
            <a:tailEnd type="triangle" w="med" len="med"/>
          </a:ln>
          <a:effectLst/>
        </p:spPr>
      </p:cxnSp>
      <p:sp>
        <p:nvSpPr>
          <p:cNvPr id="237" name="TextBox 236"/>
          <p:cNvSpPr txBox="1"/>
          <p:nvPr/>
        </p:nvSpPr>
        <p:spPr>
          <a:xfrm>
            <a:off x="7172411" y="2275730"/>
            <a:ext cx="748923" cy="2616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ysClr val="windowText" lastClr="000000"/>
                </a:solidFill>
                <a:effectLst/>
                <a:uLnTx/>
                <a:uFillTx/>
              </a:rPr>
              <a:t>局域聚合</a:t>
            </a:r>
          </a:p>
        </p:txBody>
      </p:sp>
      <p:sp>
        <p:nvSpPr>
          <p:cNvPr id="238" name="任意多边形 237"/>
          <p:cNvSpPr/>
          <p:nvPr/>
        </p:nvSpPr>
        <p:spPr>
          <a:xfrm>
            <a:off x="6812560" y="2061255"/>
            <a:ext cx="485688" cy="454256"/>
          </a:xfrm>
          <a:custGeom>
            <a:avLst/>
            <a:gdLst>
              <a:gd name="connsiteX0" fmla="*/ 16789 w 551245"/>
              <a:gd name="connsiteY0" fmla="*/ 146304 h 464492"/>
              <a:gd name="connsiteX1" fmla="*/ 28981 w 551245"/>
              <a:gd name="connsiteY1" fmla="*/ 402336 h 464492"/>
              <a:gd name="connsiteX2" fmla="*/ 285013 w 551245"/>
              <a:gd name="connsiteY2" fmla="*/ 457200 h 464492"/>
              <a:gd name="connsiteX3" fmla="*/ 528853 w 551245"/>
              <a:gd name="connsiteY3" fmla="*/ 280416 h 464492"/>
              <a:gd name="connsiteX4" fmla="*/ 510565 w 551245"/>
              <a:gd name="connsiteY4" fmla="*/ 54864 h 464492"/>
              <a:gd name="connsiteX5" fmla="*/ 266725 w 551245"/>
              <a:gd name="connsiteY5" fmla="*/ 0 h 464492"/>
              <a:gd name="connsiteX6" fmla="*/ 266725 w 551245"/>
              <a:gd name="connsiteY6" fmla="*/ 0 h 46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245" h="464492">
                <a:moveTo>
                  <a:pt x="16789" y="146304"/>
                </a:moveTo>
                <a:cubicBezTo>
                  <a:pt x="533" y="248412"/>
                  <a:pt x="-15723" y="350520"/>
                  <a:pt x="28981" y="402336"/>
                </a:cubicBezTo>
                <a:cubicBezTo>
                  <a:pt x="73685" y="454152"/>
                  <a:pt x="201701" y="477520"/>
                  <a:pt x="285013" y="457200"/>
                </a:cubicBezTo>
                <a:cubicBezTo>
                  <a:pt x="368325" y="436880"/>
                  <a:pt x="491261" y="347472"/>
                  <a:pt x="528853" y="280416"/>
                </a:cubicBezTo>
                <a:cubicBezTo>
                  <a:pt x="566445" y="213360"/>
                  <a:pt x="554253" y="101600"/>
                  <a:pt x="510565" y="54864"/>
                </a:cubicBezTo>
                <a:cubicBezTo>
                  <a:pt x="466877" y="8128"/>
                  <a:pt x="266725" y="0"/>
                  <a:pt x="266725" y="0"/>
                </a:cubicBezTo>
                <a:lnTo>
                  <a:pt x="266725" y="0"/>
                </a:lnTo>
              </a:path>
            </a:pathLst>
          </a:custGeom>
          <a:noFill/>
          <a:ln w="6350" cap="flat" cmpd="sng" algn="ctr">
            <a:solidFill>
              <a:sysClr val="windowText" lastClr="000000"/>
            </a:solidFill>
            <a:prstDash val="solid"/>
            <a:miter lim="800000"/>
            <a:headEnd type="none" w="med" len="med"/>
            <a:tailEnd type="arrow"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等线"/>
              <a:ea typeface="等线"/>
              <a:cs typeface="+mn-cs"/>
            </a:endParaRPr>
          </a:p>
        </p:txBody>
      </p:sp>
      <p:sp>
        <p:nvSpPr>
          <p:cNvPr id="239" name="TextBox 238"/>
          <p:cNvSpPr txBox="1"/>
          <p:nvPr/>
        </p:nvSpPr>
        <p:spPr>
          <a:xfrm>
            <a:off x="7184602" y="3962138"/>
            <a:ext cx="748923" cy="2616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100" kern="0" dirty="0">
                <a:solidFill>
                  <a:sysClr val="windowText" lastClr="000000"/>
                </a:solidFill>
              </a:rPr>
              <a:t>全局</a:t>
            </a:r>
            <a:r>
              <a:rPr kumimoji="0" lang="zh-CN" altLang="en-US" sz="1100" b="0" i="0" u="none" strike="noStrike" kern="0" cap="none" spc="0" normalizeH="0" baseline="0" noProof="0" dirty="0">
                <a:ln>
                  <a:noFill/>
                </a:ln>
                <a:solidFill>
                  <a:sysClr val="windowText" lastClr="000000"/>
                </a:solidFill>
                <a:effectLst/>
                <a:uLnTx/>
                <a:uFillTx/>
              </a:rPr>
              <a:t>聚合</a:t>
            </a:r>
          </a:p>
        </p:txBody>
      </p:sp>
      <p:sp>
        <p:nvSpPr>
          <p:cNvPr id="240" name="任意多边形 239"/>
          <p:cNvSpPr/>
          <p:nvPr/>
        </p:nvSpPr>
        <p:spPr>
          <a:xfrm>
            <a:off x="6824751" y="3747663"/>
            <a:ext cx="485688" cy="454256"/>
          </a:xfrm>
          <a:custGeom>
            <a:avLst/>
            <a:gdLst>
              <a:gd name="connsiteX0" fmla="*/ 16789 w 551245"/>
              <a:gd name="connsiteY0" fmla="*/ 146304 h 464492"/>
              <a:gd name="connsiteX1" fmla="*/ 28981 w 551245"/>
              <a:gd name="connsiteY1" fmla="*/ 402336 h 464492"/>
              <a:gd name="connsiteX2" fmla="*/ 285013 w 551245"/>
              <a:gd name="connsiteY2" fmla="*/ 457200 h 464492"/>
              <a:gd name="connsiteX3" fmla="*/ 528853 w 551245"/>
              <a:gd name="connsiteY3" fmla="*/ 280416 h 464492"/>
              <a:gd name="connsiteX4" fmla="*/ 510565 w 551245"/>
              <a:gd name="connsiteY4" fmla="*/ 54864 h 464492"/>
              <a:gd name="connsiteX5" fmla="*/ 266725 w 551245"/>
              <a:gd name="connsiteY5" fmla="*/ 0 h 464492"/>
              <a:gd name="connsiteX6" fmla="*/ 266725 w 551245"/>
              <a:gd name="connsiteY6" fmla="*/ 0 h 46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245" h="464492">
                <a:moveTo>
                  <a:pt x="16789" y="146304"/>
                </a:moveTo>
                <a:cubicBezTo>
                  <a:pt x="533" y="248412"/>
                  <a:pt x="-15723" y="350520"/>
                  <a:pt x="28981" y="402336"/>
                </a:cubicBezTo>
                <a:cubicBezTo>
                  <a:pt x="73685" y="454152"/>
                  <a:pt x="201701" y="477520"/>
                  <a:pt x="285013" y="457200"/>
                </a:cubicBezTo>
                <a:cubicBezTo>
                  <a:pt x="368325" y="436880"/>
                  <a:pt x="491261" y="347472"/>
                  <a:pt x="528853" y="280416"/>
                </a:cubicBezTo>
                <a:cubicBezTo>
                  <a:pt x="566445" y="213360"/>
                  <a:pt x="554253" y="101600"/>
                  <a:pt x="510565" y="54864"/>
                </a:cubicBezTo>
                <a:cubicBezTo>
                  <a:pt x="466877" y="8128"/>
                  <a:pt x="266725" y="0"/>
                  <a:pt x="266725" y="0"/>
                </a:cubicBezTo>
                <a:lnTo>
                  <a:pt x="266725" y="0"/>
                </a:lnTo>
              </a:path>
            </a:pathLst>
          </a:custGeom>
          <a:noFill/>
          <a:ln w="6350" cap="flat" cmpd="sng" algn="ctr">
            <a:solidFill>
              <a:sysClr val="windowText" lastClr="000000"/>
            </a:solidFill>
            <a:prstDash val="solid"/>
            <a:miter lim="800000"/>
            <a:headEnd type="none" w="med" len="med"/>
            <a:tailEnd type="arrow"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等线"/>
              <a:ea typeface="等线"/>
              <a:cs typeface="+mn-cs"/>
            </a:endParaRPr>
          </a:p>
        </p:txBody>
      </p:sp>
      <p:grpSp>
        <p:nvGrpSpPr>
          <p:cNvPr id="241" name="组合 240"/>
          <p:cNvGrpSpPr/>
          <p:nvPr/>
        </p:nvGrpSpPr>
        <p:grpSpPr>
          <a:xfrm>
            <a:off x="1149663" y="1427359"/>
            <a:ext cx="427479" cy="555979"/>
            <a:chOff x="1596393" y="1164915"/>
            <a:chExt cx="427479" cy="555979"/>
          </a:xfrm>
        </p:grpSpPr>
        <p:sp>
          <p:nvSpPr>
            <p:cNvPr id="242" name="PA-椭圆 2928">
              <a:extLst>
                <a:ext uri="{FF2B5EF4-FFF2-40B4-BE49-F238E27FC236}">
                  <a16:creationId xmlns:a16="http://schemas.microsoft.com/office/drawing/2014/main" id="{BCC41EFB-5D3A-46AD-96D8-B6CBC1424EE9}"/>
                </a:ext>
              </a:extLst>
            </p:cNvPr>
            <p:cNvSpPr>
              <a:spLocks noChangeArrowheads="1"/>
            </p:cNvSpPr>
            <p:nvPr>
              <p:custDataLst>
                <p:tags r:id="rId11"/>
              </p:custDataLst>
            </p:nvPr>
          </p:nvSpPr>
          <p:spPr bwMode="auto">
            <a:xfrm>
              <a:off x="1596393" y="1164915"/>
              <a:ext cx="427479" cy="555979"/>
            </a:xfrm>
            <a:prstGeom prst="ellipse">
              <a:avLst/>
            </a:prstGeom>
            <a:solidFill>
              <a:srgbClr val="E7E6E6">
                <a:lumMod val="90000"/>
              </a:srgbClr>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43" name="PA-任意多边形 2931">
              <a:extLst>
                <a:ext uri="{FF2B5EF4-FFF2-40B4-BE49-F238E27FC236}">
                  <a16:creationId xmlns:a16="http://schemas.microsoft.com/office/drawing/2014/main" id="{3DD673B5-AE1D-43B0-A507-82DD96C51C35}"/>
                </a:ext>
              </a:extLst>
            </p:cNvPr>
            <p:cNvSpPr>
              <a:spLocks/>
            </p:cNvSpPr>
            <p:nvPr>
              <p:custDataLst>
                <p:tags r:id="rId12"/>
              </p:custDataLst>
            </p:nvPr>
          </p:nvSpPr>
          <p:spPr bwMode="auto">
            <a:xfrm>
              <a:off x="1733236" y="1235193"/>
              <a:ext cx="167248" cy="393729"/>
            </a:xfrm>
            <a:custGeom>
              <a:avLst/>
              <a:gdLst>
                <a:gd name="T0" fmla="*/ 40 w 336"/>
                <a:gd name="T1" fmla="*/ 592 h 592"/>
                <a:gd name="T2" fmla="*/ 0 w 336"/>
                <a:gd name="T3" fmla="*/ 552 h 592"/>
                <a:gd name="T4" fmla="*/ 0 w 336"/>
                <a:gd name="T5" fmla="*/ 40 h 592"/>
                <a:gd name="T6" fmla="*/ 40 w 336"/>
                <a:gd name="T7" fmla="*/ 0 h 592"/>
                <a:gd name="T8" fmla="*/ 296 w 336"/>
                <a:gd name="T9" fmla="*/ 0 h 592"/>
                <a:gd name="T10" fmla="*/ 336 w 336"/>
                <a:gd name="T11" fmla="*/ 40 h 592"/>
                <a:gd name="T12" fmla="*/ 336 w 336"/>
                <a:gd name="T13" fmla="*/ 552 h 592"/>
                <a:gd name="T14" fmla="*/ 296 w 336"/>
                <a:gd name="T15" fmla="*/ 592 h 592"/>
                <a:gd name="T16" fmla="*/ 40 w 336"/>
                <a:gd name="T17" fmla="*/ 592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592">
                  <a:moveTo>
                    <a:pt x="40" y="592"/>
                  </a:moveTo>
                  <a:cubicBezTo>
                    <a:pt x="18" y="592"/>
                    <a:pt x="0" y="575"/>
                    <a:pt x="0" y="552"/>
                  </a:cubicBezTo>
                  <a:lnTo>
                    <a:pt x="0" y="40"/>
                  </a:lnTo>
                  <a:cubicBezTo>
                    <a:pt x="0" y="18"/>
                    <a:pt x="18" y="0"/>
                    <a:pt x="40" y="0"/>
                  </a:cubicBezTo>
                  <a:lnTo>
                    <a:pt x="296" y="0"/>
                  </a:lnTo>
                  <a:cubicBezTo>
                    <a:pt x="319" y="0"/>
                    <a:pt x="336" y="18"/>
                    <a:pt x="336" y="40"/>
                  </a:cubicBezTo>
                  <a:lnTo>
                    <a:pt x="336" y="552"/>
                  </a:lnTo>
                  <a:cubicBezTo>
                    <a:pt x="336" y="575"/>
                    <a:pt x="319" y="592"/>
                    <a:pt x="296" y="592"/>
                  </a:cubicBezTo>
                  <a:lnTo>
                    <a:pt x="40" y="592"/>
                  </a:lnTo>
                  <a:close/>
                </a:path>
              </a:pathLst>
            </a:custGeom>
            <a:solidFill>
              <a:srgbClr val="4F5D73"/>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44" name="PA-任意多边形 2932">
              <a:extLst>
                <a:ext uri="{FF2B5EF4-FFF2-40B4-BE49-F238E27FC236}">
                  <a16:creationId xmlns:a16="http://schemas.microsoft.com/office/drawing/2014/main" id="{3F826904-85A2-4502-AA8D-C8AF2A005449}"/>
                </a:ext>
              </a:extLst>
            </p:cNvPr>
            <p:cNvSpPr>
              <a:spLocks noEditPoints="1"/>
            </p:cNvSpPr>
            <p:nvPr>
              <p:custDataLst>
                <p:tags r:id="rId13"/>
              </p:custDataLst>
            </p:nvPr>
          </p:nvSpPr>
          <p:spPr bwMode="auto">
            <a:xfrm>
              <a:off x="1721476" y="1219514"/>
              <a:ext cx="190767" cy="425088"/>
            </a:xfrm>
            <a:custGeom>
              <a:avLst/>
              <a:gdLst>
                <a:gd name="T0" fmla="*/ 320 w 384"/>
                <a:gd name="T1" fmla="*/ 48 h 640"/>
                <a:gd name="T2" fmla="*/ 336 w 384"/>
                <a:gd name="T3" fmla="*/ 64 h 640"/>
                <a:gd name="T4" fmla="*/ 336 w 384"/>
                <a:gd name="T5" fmla="*/ 576 h 640"/>
                <a:gd name="T6" fmla="*/ 320 w 384"/>
                <a:gd name="T7" fmla="*/ 592 h 640"/>
                <a:gd name="T8" fmla="*/ 64 w 384"/>
                <a:gd name="T9" fmla="*/ 592 h 640"/>
                <a:gd name="T10" fmla="*/ 48 w 384"/>
                <a:gd name="T11" fmla="*/ 576 h 640"/>
                <a:gd name="T12" fmla="*/ 48 w 384"/>
                <a:gd name="T13" fmla="*/ 64 h 640"/>
                <a:gd name="T14" fmla="*/ 64 w 384"/>
                <a:gd name="T15" fmla="*/ 48 h 640"/>
                <a:gd name="T16" fmla="*/ 320 w 384"/>
                <a:gd name="T17" fmla="*/ 48 h 640"/>
                <a:gd name="T18" fmla="*/ 320 w 384"/>
                <a:gd name="T19" fmla="*/ 0 h 640"/>
                <a:gd name="T20" fmla="*/ 64 w 384"/>
                <a:gd name="T21" fmla="*/ 0 h 640"/>
                <a:gd name="T22" fmla="*/ 0 w 384"/>
                <a:gd name="T23" fmla="*/ 64 h 640"/>
                <a:gd name="T24" fmla="*/ 0 w 384"/>
                <a:gd name="T25" fmla="*/ 576 h 640"/>
                <a:gd name="T26" fmla="*/ 64 w 384"/>
                <a:gd name="T27" fmla="*/ 640 h 640"/>
                <a:gd name="T28" fmla="*/ 320 w 384"/>
                <a:gd name="T29" fmla="*/ 640 h 640"/>
                <a:gd name="T30" fmla="*/ 384 w 384"/>
                <a:gd name="T31" fmla="*/ 576 h 640"/>
                <a:gd name="T32" fmla="*/ 384 w 384"/>
                <a:gd name="T33" fmla="*/ 64 h 640"/>
                <a:gd name="T34" fmla="*/ 320 w 384"/>
                <a:gd name="T35" fmla="*/ 0 h 640"/>
                <a:gd name="T36" fmla="*/ 320 w 384"/>
                <a:gd name="T37"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640">
                  <a:moveTo>
                    <a:pt x="320" y="48"/>
                  </a:moveTo>
                  <a:cubicBezTo>
                    <a:pt x="329" y="48"/>
                    <a:pt x="336" y="56"/>
                    <a:pt x="336" y="64"/>
                  </a:cubicBezTo>
                  <a:lnTo>
                    <a:pt x="336" y="576"/>
                  </a:lnTo>
                  <a:cubicBezTo>
                    <a:pt x="336" y="585"/>
                    <a:pt x="329" y="592"/>
                    <a:pt x="320" y="592"/>
                  </a:cubicBezTo>
                  <a:lnTo>
                    <a:pt x="64" y="592"/>
                  </a:lnTo>
                  <a:cubicBezTo>
                    <a:pt x="56" y="592"/>
                    <a:pt x="48" y="585"/>
                    <a:pt x="48" y="576"/>
                  </a:cubicBezTo>
                  <a:lnTo>
                    <a:pt x="48" y="64"/>
                  </a:lnTo>
                  <a:cubicBezTo>
                    <a:pt x="48" y="56"/>
                    <a:pt x="56" y="48"/>
                    <a:pt x="64" y="48"/>
                  </a:cubicBezTo>
                  <a:lnTo>
                    <a:pt x="320" y="48"/>
                  </a:lnTo>
                  <a:moveTo>
                    <a:pt x="320" y="0"/>
                  </a:moveTo>
                  <a:lnTo>
                    <a:pt x="64" y="0"/>
                  </a:lnTo>
                  <a:cubicBezTo>
                    <a:pt x="29" y="0"/>
                    <a:pt x="0" y="29"/>
                    <a:pt x="0" y="64"/>
                  </a:cubicBezTo>
                  <a:lnTo>
                    <a:pt x="0" y="576"/>
                  </a:lnTo>
                  <a:cubicBezTo>
                    <a:pt x="0" y="612"/>
                    <a:pt x="29" y="640"/>
                    <a:pt x="64" y="640"/>
                  </a:cubicBezTo>
                  <a:lnTo>
                    <a:pt x="320" y="640"/>
                  </a:lnTo>
                  <a:cubicBezTo>
                    <a:pt x="356" y="640"/>
                    <a:pt x="384" y="612"/>
                    <a:pt x="384" y="576"/>
                  </a:cubicBezTo>
                  <a:lnTo>
                    <a:pt x="384" y="64"/>
                  </a:lnTo>
                  <a:cubicBezTo>
                    <a:pt x="384" y="29"/>
                    <a:pt x="356" y="0"/>
                    <a:pt x="320" y="0"/>
                  </a:cubicBezTo>
                  <a:lnTo>
                    <a:pt x="320" y="0"/>
                  </a:lnTo>
                  <a:close/>
                </a:path>
              </a:pathLst>
            </a:custGeom>
            <a:solidFill>
              <a:srgbClr val="FFFFFF"/>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45" name="PA-任意多边形 2935">
              <a:extLst>
                <a:ext uri="{FF2B5EF4-FFF2-40B4-BE49-F238E27FC236}">
                  <a16:creationId xmlns:a16="http://schemas.microsoft.com/office/drawing/2014/main" id="{17E60297-D9DC-485E-B076-47BB7272B3D9}"/>
                </a:ext>
              </a:extLst>
            </p:cNvPr>
            <p:cNvSpPr>
              <a:spLocks/>
            </p:cNvSpPr>
            <p:nvPr>
              <p:custDataLst>
                <p:tags r:id="rId14"/>
              </p:custDataLst>
            </p:nvPr>
          </p:nvSpPr>
          <p:spPr bwMode="auto">
            <a:xfrm>
              <a:off x="1721476" y="1559236"/>
              <a:ext cx="190767" cy="85366"/>
            </a:xfrm>
            <a:custGeom>
              <a:avLst/>
              <a:gdLst>
                <a:gd name="T0" fmla="*/ 122 w 146"/>
                <a:gd name="T1" fmla="*/ 49 h 49"/>
                <a:gd name="T2" fmla="*/ 24 w 146"/>
                <a:gd name="T3" fmla="*/ 49 h 49"/>
                <a:gd name="T4" fmla="*/ 0 w 146"/>
                <a:gd name="T5" fmla="*/ 0 h 49"/>
                <a:gd name="T6" fmla="*/ 146 w 146"/>
                <a:gd name="T7" fmla="*/ 0 h 49"/>
                <a:gd name="T8" fmla="*/ 122 w 146"/>
                <a:gd name="T9" fmla="*/ 49 h 49"/>
              </a:gdLst>
              <a:ahLst/>
              <a:cxnLst>
                <a:cxn ang="0">
                  <a:pos x="T0" y="T1"/>
                </a:cxn>
                <a:cxn ang="0">
                  <a:pos x="T2" y="T3"/>
                </a:cxn>
                <a:cxn ang="0">
                  <a:pos x="T4" y="T5"/>
                </a:cxn>
                <a:cxn ang="0">
                  <a:pos x="T6" y="T7"/>
                </a:cxn>
                <a:cxn ang="0">
                  <a:pos x="T8" y="T9"/>
                </a:cxn>
              </a:cxnLst>
              <a:rect l="0" t="0" r="r" b="b"/>
              <a:pathLst>
                <a:path w="146" h="49">
                  <a:moveTo>
                    <a:pt x="122" y="49"/>
                  </a:moveTo>
                  <a:lnTo>
                    <a:pt x="24" y="49"/>
                  </a:lnTo>
                  <a:lnTo>
                    <a:pt x="0" y="0"/>
                  </a:lnTo>
                  <a:lnTo>
                    <a:pt x="146" y="0"/>
                  </a:lnTo>
                  <a:lnTo>
                    <a:pt x="122" y="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46" name="PA-椭圆 2936">
              <a:extLst>
                <a:ext uri="{FF2B5EF4-FFF2-40B4-BE49-F238E27FC236}">
                  <a16:creationId xmlns:a16="http://schemas.microsoft.com/office/drawing/2014/main" id="{F424F319-7C19-45CA-A1C1-13FD75F8945E}"/>
                </a:ext>
              </a:extLst>
            </p:cNvPr>
            <p:cNvSpPr>
              <a:spLocks noChangeArrowheads="1"/>
            </p:cNvSpPr>
            <p:nvPr>
              <p:custDataLst>
                <p:tags r:id="rId15"/>
              </p:custDataLst>
            </p:nvPr>
          </p:nvSpPr>
          <p:spPr bwMode="auto">
            <a:xfrm>
              <a:off x="1801180" y="1580142"/>
              <a:ext cx="31359" cy="43554"/>
            </a:xfrm>
            <a:prstGeom prst="ellipse">
              <a:avLst/>
            </a:prstGeom>
            <a:solidFill>
              <a:srgbClr val="E0E0D1"/>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sp>
        <p:nvSpPr>
          <p:cNvPr id="247" name="矩形 246">
            <a:extLst>
              <a:ext uri="{FF2B5EF4-FFF2-40B4-BE49-F238E27FC236}">
                <a16:creationId xmlns:a16="http://schemas.microsoft.com/office/drawing/2014/main" id="{0D3B9B58-9CAD-4428-BCBB-B5CD494C09FF}"/>
              </a:ext>
            </a:extLst>
          </p:cNvPr>
          <p:cNvSpPr/>
          <p:nvPr/>
        </p:nvSpPr>
        <p:spPr>
          <a:xfrm>
            <a:off x="1503920" y="1077307"/>
            <a:ext cx="676788" cy="923330"/>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5400" b="1" i="0" u="none" strike="noStrike" kern="0" cap="none" spc="0" normalizeH="0" baseline="0" noProof="0" dirty="0">
                <a:ln w="22225">
                  <a:solidFill>
                    <a:srgbClr val="E7E6E6">
                      <a:lumMod val="25000"/>
                    </a:srgbClr>
                  </a:solidFill>
                  <a:prstDash val="solid"/>
                </a:ln>
                <a:solidFill>
                  <a:srgbClr val="E7E6E6">
                    <a:lumMod val="90000"/>
                  </a:srgbClr>
                </a:solidFill>
                <a:effectLst/>
                <a:uLnTx/>
                <a:uFillTx/>
              </a:rPr>
              <a:t>…</a:t>
            </a:r>
            <a:endParaRPr kumimoji="0" lang="zh-CN" altLang="en-US" sz="5400" b="0" i="0" u="none" strike="noStrike" kern="0" cap="none" spc="0" normalizeH="0" baseline="0" noProof="0" dirty="0">
              <a:ln w="22225">
                <a:solidFill>
                  <a:srgbClr val="E7E6E6">
                    <a:lumMod val="25000"/>
                  </a:srgbClr>
                </a:solidFill>
                <a:prstDash val="solid"/>
              </a:ln>
              <a:solidFill>
                <a:srgbClr val="E7E6E6">
                  <a:lumMod val="90000"/>
                </a:srgbClr>
              </a:solidFill>
              <a:effectLst>
                <a:outerShdw blurRad="38100" dist="25400" dir="5400000" algn="ctr" rotWithShape="0">
                  <a:srgbClr val="6E747A">
                    <a:alpha val="43000"/>
                  </a:srgbClr>
                </a:outerShdw>
              </a:effectLst>
              <a:uLnTx/>
              <a:uFillTx/>
            </a:endParaRPr>
          </a:p>
        </p:txBody>
      </p:sp>
      <p:cxnSp>
        <p:nvCxnSpPr>
          <p:cNvPr id="248" name="曲线连接符 247"/>
          <p:cNvCxnSpPr/>
          <p:nvPr/>
        </p:nvCxnSpPr>
        <p:spPr>
          <a:xfrm rot="16200000" flipH="1">
            <a:off x="4146464" y="1723377"/>
            <a:ext cx="480440" cy="12700"/>
          </a:xfrm>
          <a:prstGeom prst="curvedConnector5">
            <a:avLst>
              <a:gd name="adj1" fmla="val -22205"/>
              <a:gd name="adj2" fmla="val -3324386"/>
              <a:gd name="adj3" fmla="val 112054"/>
            </a:avLst>
          </a:prstGeom>
          <a:noFill/>
          <a:ln w="6350" cap="flat" cmpd="sng" algn="ctr">
            <a:solidFill>
              <a:sysClr val="windowText" lastClr="000000"/>
            </a:solidFill>
            <a:prstDash val="solid"/>
            <a:miter lim="800000"/>
            <a:headEnd type="none" w="med" len="med"/>
            <a:tailEnd type="triangle" w="med" len="med"/>
          </a:ln>
          <a:effectLst/>
        </p:spPr>
      </p:cxnSp>
      <p:sp>
        <p:nvSpPr>
          <p:cNvPr id="249" name="TextBox 248"/>
          <p:cNvSpPr txBox="1"/>
          <p:nvPr/>
        </p:nvSpPr>
        <p:spPr>
          <a:xfrm>
            <a:off x="3683993" y="1380441"/>
            <a:ext cx="353943" cy="797654"/>
          </a:xfrm>
          <a:prstGeom prst="rect">
            <a:avLst/>
          </a:prstGeom>
          <a:noFill/>
        </p:spPr>
        <p:txBody>
          <a:bodyPr vert="eaVert" wrap="none" rtlCol="0">
            <a:spAutoFit/>
          </a:bodyPr>
          <a:lstStyle/>
          <a:p>
            <a:pPr lvl="0" defTabSz="914400"/>
            <a:r>
              <a:rPr lang="zh-CN" altLang="en-US" sz="1100" kern="0" dirty="0">
                <a:solidFill>
                  <a:sysClr val="windowText" lastClr="000000"/>
                </a:solidFill>
              </a:rPr>
              <a:t>本地训练①</a:t>
            </a:r>
            <a:endParaRPr kumimoji="0" lang="zh-CN" altLang="en-US" sz="1100" b="0" i="0" u="none" strike="noStrike" kern="0" cap="none" spc="0" normalizeH="0" baseline="0" noProof="0" dirty="0">
              <a:ln>
                <a:noFill/>
              </a:ln>
              <a:solidFill>
                <a:sysClr val="windowText" lastClr="000000"/>
              </a:solidFill>
              <a:effectLst/>
              <a:uLnTx/>
              <a:uFillTx/>
            </a:endParaRPr>
          </a:p>
        </p:txBody>
      </p:sp>
      <p:sp>
        <p:nvSpPr>
          <p:cNvPr id="250" name="TextBox 249"/>
          <p:cNvSpPr txBox="1"/>
          <p:nvPr/>
        </p:nvSpPr>
        <p:spPr>
          <a:xfrm>
            <a:off x="2049708" y="3124730"/>
            <a:ext cx="353943" cy="797654"/>
          </a:xfrm>
          <a:prstGeom prst="rect">
            <a:avLst/>
          </a:prstGeom>
          <a:noFill/>
        </p:spPr>
        <p:txBody>
          <a:bodyPr vert="eaVert" wrap="none" rtlCol="0">
            <a:spAutoFit/>
          </a:bodyPr>
          <a:lstStyle/>
          <a:p>
            <a:pPr lvl="0" defTabSz="914400">
              <a:defRPr/>
            </a:pPr>
            <a:r>
              <a:rPr lang="zh-CN" altLang="en-US" sz="1100" kern="0" dirty="0">
                <a:solidFill>
                  <a:sysClr val="windowText" lastClr="000000"/>
                </a:solidFill>
              </a:rPr>
              <a:t>本地训练②</a:t>
            </a:r>
          </a:p>
        </p:txBody>
      </p:sp>
      <p:grpSp>
        <p:nvGrpSpPr>
          <p:cNvPr id="251" name="组合 250"/>
          <p:cNvGrpSpPr/>
          <p:nvPr/>
        </p:nvGrpSpPr>
        <p:grpSpPr>
          <a:xfrm>
            <a:off x="1155713" y="3155611"/>
            <a:ext cx="427479" cy="555979"/>
            <a:chOff x="1596393" y="1164915"/>
            <a:chExt cx="427479" cy="555979"/>
          </a:xfrm>
        </p:grpSpPr>
        <p:sp>
          <p:nvSpPr>
            <p:cNvPr id="252" name="PA-椭圆 2928">
              <a:extLst>
                <a:ext uri="{FF2B5EF4-FFF2-40B4-BE49-F238E27FC236}">
                  <a16:creationId xmlns:a16="http://schemas.microsoft.com/office/drawing/2014/main" id="{BCC41EFB-5D3A-46AD-96D8-B6CBC1424EE9}"/>
                </a:ext>
              </a:extLst>
            </p:cNvPr>
            <p:cNvSpPr>
              <a:spLocks noChangeArrowheads="1"/>
            </p:cNvSpPr>
            <p:nvPr>
              <p:custDataLst>
                <p:tags r:id="rId6"/>
              </p:custDataLst>
            </p:nvPr>
          </p:nvSpPr>
          <p:spPr bwMode="auto">
            <a:xfrm>
              <a:off x="1596393" y="1164915"/>
              <a:ext cx="427479" cy="555979"/>
            </a:xfrm>
            <a:prstGeom prst="ellipse">
              <a:avLst/>
            </a:prstGeom>
            <a:solidFill>
              <a:srgbClr val="E7E6E6">
                <a:lumMod val="90000"/>
              </a:srgbClr>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53" name="PA-任意多边形 2931">
              <a:extLst>
                <a:ext uri="{FF2B5EF4-FFF2-40B4-BE49-F238E27FC236}">
                  <a16:creationId xmlns:a16="http://schemas.microsoft.com/office/drawing/2014/main" id="{3DD673B5-AE1D-43B0-A507-82DD96C51C35}"/>
                </a:ext>
              </a:extLst>
            </p:cNvPr>
            <p:cNvSpPr>
              <a:spLocks/>
            </p:cNvSpPr>
            <p:nvPr>
              <p:custDataLst>
                <p:tags r:id="rId7"/>
              </p:custDataLst>
            </p:nvPr>
          </p:nvSpPr>
          <p:spPr bwMode="auto">
            <a:xfrm>
              <a:off x="1733236" y="1235193"/>
              <a:ext cx="167248" cy="393729"/>
            </a:xfrm>
            <a:custGeom>
              <a:avLst/>
              <a:gdLst>
                <a:gd name="T0" fmla="*/ 40 w 336"/>
                <a:gd name="T1" fmla="*/ 592 h 592"/>
                <a:gd name="T2" fmla="*/ 0 w 336"/>
                <a:gd name="T3" fmla="*/ 552 h 592"/>
                <a:gd name="T4" fmla="*/ 0 w 336"/>
                <a:gd name="T5" fmla="*/ 40 h 592"/>
                <a:gd name="T6" fmla="*/ 40 w 336"/>
                <a:gd name="T7" fmla="*/ 0 h 592"/>
                <a:gd name="T8" fmla="*/ 296 w 336"/>
                <a:gd name="T9" fmla="*/ 0 h 592"/>
                <a:gd name="T10" fmla="*/ 336 w 336"/>
                <a:gd name="T11" fmla="*/ 40 h 592"/>
                <a:gd name="T12" fmla="*/ 336 w 336"/>
                <a:gd name="T13" fmla="*/ 552 h 592"/>
                <a:gd name="T14" fmla="*/ 296 w 336"/>
                <a:gd name="T15" fmla="*/ 592 h 592"/>
                <a:gd name="T16" fmla="*/ 40 w 336"/>
                <a:gd name="T17" fmla="*/ 592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592">
                  <a:moveTo>
                    <a:pt x="40" y="592"/>
                  </a:moveTo>
                  <a:cubicBezTo>
                    <a:pt x="18" y="592"/>
                    <a:pt x="0" y="575"/>
                    <a:pt x="0" y="552"/>
                  </a:cubicBezTo>
                  <a:lnTo>
                    <a:pt x="0" y="40"/>
                  </a:lnTo>
                  <a:cubicBezTo>
                    <a:pt x="0" y="18"/>
                    <a:pt x="18" y="0"/>
                    <a:pt x="40" y="0"/>
                  </a:cubicBezTo>
                  <a:lnTo>
                    <a:pt x="296" y="0"/>
                  </a:lnTo>
                  <a:cubicBezTo>
                    <a:pt x="319" y="0"/>
                    <a:pt x="336" y="18"/>
                    <a:pt x="336" y="40"/>
                  </a:cubicBezTo>
                  <a:lnTo>
                    <a:pt x="336" y="552"/>
                  </a:lnTo>
                  <a:cubicBezTo>
                    <a:pt x="336" y="575"/>
                    <a:pt x="319" y="592"/>
                    <a:pt x="296" y="592"/>
                  </a:cubicBezTo>
                  <a:lnTo>
                    <a:pt x="40" y="592"/>
                  </a:lnTo>
                  <a:close/>
                </a:path>
              </a:pathLst>
            </a:custGeom>
            <a:solidFill>
              <a:srgbClr val="4F5D73"/>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54" name="PA-任意多边形 2932">
              <a:extLst>
                <a:ext uri="{FF2B5EF4-FFF2-40B4-BE49-F238E27FC236}">
                  <a16:creationId xmlns:a16="http://schemas.microsoft.com/office/drawing/2014/main" id="{3F826904-85A2-4502-AA8D-C8AF2A005449}"/>
                </a:ext>
              </a:extLst>
            </p:cNvPr>
            <p:cNvSpPr>
              <a:spLocks noEditPoints="1"/>
            </p:cNvSpPr>
            <p:nvPr>
              <p:custDataLst>
                <p:tags r:id="rId8"/>
              </p:custDataLst>
            </p:nvPr>
          </p:nvSpPr>
          <p:spPr bwMode="auto">
            <a:xfrm>
              <a:off x="1721476" y="1219514"/>
              <a:ext cx="190767" cy="425088"/>
            </a:xfrm>
            <a:custGeom>
              <a:avLst/>
              <a:gdLst>
                <a:gd name="T0" fmla="*/ 320 w 384"/>
                <a:gd name="T1" fmla="*/ 48 h 640"/>
                <a:gd name="T2" fmla="*/ 336 w 384"/>
                <a:gd name="T3" fmla="*/ 64 h 640"/>
                <a:gd name="T4" fmla="*/ 336 w 384"/>
                <a:gd name="T5" fmla="*/ 576 h 640"/>
                <a:gd name="T6" fmla="*/ 320 w 384"/>
                <a:gd name="T7" fmla="*/ 592 h 640"/>
                <a:gd name="T8" fmla="*/ 64 w 384"/>
                <a:gd name="T9" fmla="*/ 592 h 640"/>
                <a:gd name="T10" fmla="*/ 48 w 384"/>
                <a:gd name="T11" fmla="*/ 576 h 640"/>
                <a:gd name="T12" fmla="*/ 48 w 384"/>
                <a:gd name="T13" fmla="*/ 64 h 640"/>
                <a:gd name="T14" fmla="*/ 64 w 384"/>
                <a:gd name="T15" fmla="*/ 48 h 640"/>
                <a:gd name="T16" fmla="*/ 320 w 384"/>
                <a:gd name="T17" fmla="*/ 48 h 640"/>
                <a:gd name="T18" fmla="*/ 320 w 384"/>
                <a:gd name="T19" fmla="*/ 0 h 640"/>
                <a:gd name="T20" fmla="*/ 64 w 384"/>
                <a:gd name="T21" fmla="*/ 0 h 640"/>
                <a:gd name="T22" fmla="*/ 0 w 384"/>
                <a:gd name="T23" fmla="*/ 64 h 640"/>
                <a:gd name="T24" fmla="*/ 0 w 384"/>
                <a:gd name="T25" fmla="*/ 576 h 640"/>
                <a:gd name="T26" fmla="*/ 64 w 384"/>
                <a:gd name="T27" fmla="*/ 640 h 640"/>
                <a:gd name="T28" fmla="*/ 320 w 384"/>
                <a:gd name="T29" fmla="*/ 640 h 640"/>
                <a:gd name="T30" fmla="*/ 384 w 384"/>
                <a:gd name="T31" fmla="*/ 576 h 640"/>
                <a:gd name="T32" fmla="*/ 384 w 384"/>
                <a:gd name="T33" fmla="*/ 64 h 640"/>
                <a:gd name="T34" fmla="*/ 320 w 384"/>
                <a:gd name="T35" fmla="*/ 0 h 640"/>
                <a:gd name="T36" fmla="*/ 320 w 384"/>
                <a:gd name="T37" fmla="*/ 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640">
                  <a:moveTo>
                    <a:pt x="320" y="48"/>
                  </a:moveTo>
                  <a:cubicBezTo>
                    <a:pt x="329" y="48"/>
                    <a:pt x="336" y="56"/>
                    <a:pt x="336" y="64"/>
                  </a:cubicBezTo>
                  <a:lnTo>
                    <a:pt x="336" y="576"/>
                  </a:lnTo>
                  <a:cubicBezTo>
                    <a:pt x="336" y="585"/>
                    <a:pt x="329" y="592"/>
                    <a:pt x="320" y="592"/>
                  </a:cubicBezTo>
                  <a:lnTo>
                    <a:pt x="64" y="592"/>
                  </a:lnTo>
                  <a:cubicBezTo>
                    <a:pt x="56" y="592"/>
                    <a:pt x="48" y="585"/>
                    <a:pt x="48" y="576"/>
                  </a:cubicBezTo>
                  <a:lnTo>
                    <a:pt x="48" y="64"/>
                  </a:lnTo>
                  <a:cubicBezTo>
                    <a:pt x="48" y="56"/>
                    <a:pt x="56" y="48"/>
                    <a:pt x="64" y="48"/>
                  </a:cubicBezTo>
                  <a:lnTo>
                    <a:pt x="320" y="48"/>
                  </a:lnTo>
                  <a:moveTo>
                    <a:pt x="320" y="0"/>
                  </a:moveTo>
                  <a:lnTo>
                    <a:pt x="64" y="0"/>
                  </a:lnTo>
                  <a:cubicBezTo>
                    <a:pt x="29" y="0"/>
                    <a:pt x="0" y="29"/>
                    <a:pt x="0" y="64"/>
                  </a:cubicBezTo>
                  <a:lnTo>
                    <a:pt x="0" y="576"/>
                  </a:lnTo>
                  <a:cubicBezTo>
                    <a:pt x="0" y="612"/>
                    <a:pt x="29" y="640"/>
                    <a:pt x="64" y="640"/>
                  </a:cubicBezTo>
                  <a:lnTo>
                    <a:pt x="320" y="640"/>
                  </a:lnTo>
                  <a:cubicBezTo>
                    <a:pt x="356" y="640"/>
                    <a:pt x="384" y="612"/>
                    <a:pt x="384" y="576"/>
                  </a:cubicBezTo>
                  <a:lnTo>
                    <a:pt x="384" y="64"/>
                  </a:lnTo>
                  <a:cubicBezTo>
                    <a:pt x="384" y="29"/>
                    <a:pt x="356" y="0"/>
                    <a:pt x="320" y="0"/>
                  </a:cubicBezTo>
                  <a:lnTo>
                    <a:pt x="320" y="0"/>
                  </a:lnTo>
                  <a:close/>
                </a:path>
              </a:pathLst>
            </a:custGeom>
            <a:solidFill>
              <a:srgbClr val="FFFFFF"/>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55" name="PA-任意多边形 2935">
              <a:extLst>
                <a:ext uri="{FF2B5EF4-FFF2-40B4-BE49-F238E27FC236}">
                  <a16:creationId xmlns:a16="http://schemas.microsoft.com/office/drawing/2014/main" id="{17E60297-D9DC-485E-B076-47BB7272B3D9}"/>
                </a:ext>
              </a:extLst>
            </p:cNvPr>
            <p:cNvSpPr>
              <a:spLocks/>
            </p:cNvSpPr>
            <p:nvPr>
              <p:custDataLst>
                <p:tags r:id="rId9"/>
              </p:custDataLst>
            </p:nvPr>
          </p:nvSpPr>
          <p:spPr bwMode="auto">
            <a:xfrm>
              <a:off x="1721476" y="1559236"/>
              <a:ext cx="190767" cy="85366"/>
            </a:xfrm>
            <a:custGeom>
              <a:avLst/>
              <a:gdLst>
                <a:gd name="T0" fmla="*/ 122 w 146"/>
                <a:gd name="T1" fmla="*/ 49 h 49"/>
                <a:gd name="T2" fmla="*/ 24 w 146"/>
                <a:gd name="T3" fmla="*/ 49 h 49"/>
                <a:gd name="T4" fmla="*/ 0 w 146"/>
                <a:gd name="T5" fmla="*/ 0 h 49"/>
                <a:gd name="T6" fmla="*/ 146 w 146"/>
                <a:gd name="T7" fmla="*/ 0 h 49"/>
                <a:gd name="T8" fmla="*/ 122 w 146"/>
                <a:gd name="T9" fmla="*/ 49 h 49"/>
              </a:gdLst>
              <a:ahLst/>
              <a:cxnLst>
                <a:cxn ang="0">
                  <a:pos x="T0" y="T1"/>
                </a:cxn>
                <a:cxn ang="0">
                  <a:pos x="T2" y="T3"/>
                </a:cxn>
                <a:cxn ang="0">
                  <a:pos x="T4" y="T5"/>
                </a:cxn>
                <a:cxn ang="0">
                  <a:pos x="T6" y="T7"/>
                </a:cxn>
                <a:cxn ang="0">
                  <a:pos x="T8" y="T9"/>
                </a:cxn>
              </a:cxnLst>
              <a:rect l="0" t="0" r="r" b="b"/>
              <a:pathLst>
                <a:path w="146" h="49">
                  <a:moveTo>
                    <a:pt x="122" y="49"/>
                  </a:moveTo>
                  <a:lnTo>
                    <a:pt x="24" y="49"/>
                  </a:lnTo>
                  <a:lnTo>
                    <a:pt x="0" y="0"/>
                  </a:lnTo>
                  <a:lnTo>
                    <a:pt x="146" y="0"/>
                  </a:lnTo>
                  <a:lnTo>
                    <a:pt x="122" y="4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sp>
          <p:nvSpPr>
            <p:cNvPr id="256" name="PA-椭圆 2936">
              <a:extLst>
                <a:ext uri="{FF2B5EF4-FFF2-40B4-BE49-F238E27FC236}">
                  <a16:creationId xmlns:a16="http://schemas.microsoft.com/office/drawing/2014/main" id="{F424F319-7C19-45CA-A1C1-13FD75F8945E}"/>
                </a:ext>
              </a:extLst>
            </p:cNvPr>
            <p:cNvSpPr>
              <a:spLocks noChangeArrowheads="1"/>
            </p:cNvSpPr>
            <p:nvPr>
              <p:custDataLst>
                <p:tags r:id="rId10"/>
              </p:custDataLst>
            </p:nvPr>
          </p:nvSpPr>
          <p:spPr bwMode="auto">
            <a:xfrm>
              <a:off x="1801180" y="1580142"/>
              <a:ext cx="31359" cy="43554"/>
            </a:xfrm>
            <a:prstGeom prst="ellipse">
              <a:avLst/>
            </a:prstGeom>
            <a:solidFill>
              <a:srgbClr val="E0E0D1"/>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Text" lastClr="000000"/>
                </a:solidFill>
                <a:effectLst/>
                <a:uLnTx/>
                <a:uFillTx/>
                <a:latin typeface="等线"/>
                <a:ea typeface="等线"/>
                <a:cs typeface="+mn-cs"/>
              </a:endParaRPr>
            </a:p>
          </p:txBody>
        </p:sp>
      </p:grpSp>
      <p:sp>
        <p:nvSpPr>
          <p:cNvPr id="257" name="矩形 256">
            <a:extLst>
              <a:ext uri="{FF2B5EF4-FFF2-40B4-BE49-F238E27FC236}">
                <a16:creationId xmlns:a16="http://schemas.microsoft.com/office/drawing/2014/main" id="{0D3B9B58-9CAD-4428-BCBB-B5CD494C09FF}"/>
              </a:ext>
            </a:extLst>
          </p:cNvPr>
          <p:cNvSpPr/>
          <p:nvPr/>
        </p:nvSpPr>
        <p:spPr>
          <a:xfrm>
            <a:off x="1518151" y="2809520"/>
            <a:ext cx="676788" cy="923330"/>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5400" b="1" i="0" u="none" strike="noStrike" kern="0" cap="none" spc="0" normalizeH="0" baseline="0" noProof="0" dirty="0">
                <a:ln w="22225">
                  <a:solidFill>
                    <a:srgbClr val="E7E6E6">
                      <a:lumMod val="25000"/>
                    </a:srgbClr>
                  </a:solidFill>
                  <a:prstDash val="solid"/>
                </a:ln>
                <a:solidFill>
                  <a:srgbClr val="E7E6E6">
                    <a:lumMod val="90000"/>
                  </a:srgbClr>
                </a:solidFill>
                <a:effectLst/>
                <a:uLnTx/>
                <a:uFillTx/>
              </a:rPr>
              <a:t>…</a:t>
            </a:r>
            <a:endParaRPr kumimoji="0" lang="zh-CN" altLang="en-US" sz="5400" b="0" i="0" u="none" strike="noStrike" kern="0" cap="none" spc="0" normalizeH="0" baseline="0" noProof="0" dirty="0">
              <a:ln w="22225">
                <a:solidFill>
                  <a:srgbClr val="E7E6E6">
                    <a:lumMod val="25000"/>
                  </a:srgbClr>
                </a:solidFill>
                <a:prstDash val="solid"/>
              </a:ln>
              <a:solidFill>
                <a:srgbClr val="E7E6E6">
                  <a:lumMod val="90000"/>
                </a:srgbClr>
              </a:solidFill>
              <a:effectLst>
                <a:outerShdw blurRad="38100" dist="25400" dir="5400000" algn="ctr" rotWithShape="0">
                  <a:srgbClr val="6E747A">
                    <a:alpha val="43000"/>
                  </a:srgbClr>
                </a:outerShdw>
              </a:effectLst>
              <a:uLnTx/>
              <a:uFillTx/>
            </a:endParaRPr>
          </a:p>
        </p:txBody>
      </p:sp>
      <p:cxnSp>
        <p:nvCxnSpPr>
          <p:cNvPr id="258" name="曲线连接符 257"/>
          <p:cNvCxnSpPr/>
          <p:nvPr/>
        </p:nvCxnSpPr>
        <p:spPr>
          <a:xfrm rot="16200000" flipH="1">
            <a:off x="4134421" y="3432479"/>
            <a:ext cx="480440" cy="12700"/>
          </a:xfrm>
          <a:prstGeom prst="curvedConnector5">
            <a:avLst>
              <a:gd name="adj1" fmla="val -22205"/>
              <a:gd name="adj2" fmla="val -3324386"/>
              <a:gd name="adj3" fmla="val 112054"/>
            </a:avLst>
          </a:prstGeom>
          <a:noFill/>
          <a:ln w="6350" cap="flat" cmpd="sng" algn="ctr">
            <a:solidFill>
              <a:sysClr val="windowText" lastClr="000000"/>
            </a:solidFill>
            <a:prstDash val="solid"/>
            <a:miter lim="800000"/>
            <a:headEnd type="none" w="med" len="med"/>
            <a:tailEnd type="triangle" w="med" len="med"/>
          </a:ln>
          <a:effectLst/>
        </p:spPr>
      </p:cxnSp>
      <p:sp>
        <p:nvSpPr>
          <p:cNvPr id="259" name="TextBox 258"/>
          <p:cNvSpPr txBox="1"/>
          <p:nvPr/>
        </p:nvSpPr>
        <p:spPr>
          <a:xfrm>
            <a:off x="3671950" y="3089543"/>
            <a:ext cx="353943" cy="797654"/>
          </a:xfrm>
          <a:prstGeom prst="rect">
            <a:avLst/>
          </a:prstGeom>
          <a:noFill/>
        </p:spPr>
        <p:txBody>
          <a:bodyPr vert="eaVert"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ysClr val="windowText" lastClr="000000"/>
                </a:solidFill>
                <a:effectLst/>
                <a:uLnTx/>
                <a:uFillTx/>
              </a:rPr>
              <a:t>本地训练②</a:t>
            </a:r>
          </a:p>
        </p:txBody>
      </p:sp>
      <p:sp>
        <p:nvSpPr>
          <p:cNvPr id="260" name="矩形 259"/>
          <p:cNvSpPr/>
          <p:nvPr/>
        </p:nvSpPr>
        <p:spPr>
          <a:xfrm>
            <a:off x="6312272" y="2617532"/>
            <a:ext cx="723275"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ysClr val="windowText" lastClr="000000"/>
                </a:solidFill>
                <a:effectLst/>
                <a:uLnTx/>
                <a:uFillTx/>
              </a:rPr>
              <a:t>区块链</a:t>
            </a:r>
          </a:p>
        </p:txBody>
      </p:sp>
      <p:cxnSp>
        <p:nvCxnSpPr>
          <p:cNvPr id="4" name="肘形连接符 3"/>
          <p:cNvCxnSpPr/>
          <p:nvPr/>
        </p:nvCxnSpPr>
        <p:spPr>
          <a:xfrm flipV="1">
            <a:off x="7035468" y="1729369"/>
            <a:ext cx="12700" cy="1688144"/>
          </a:xfrm>
          <a:prstGeom prst="bentConnector3">
            <a:avLst>
              <a:gd name="adj1" fmla="val 7205606"/>
            </a:avLst>
          </a:prstGeom>
          <a:ln>
            <a:tailEnd type="arrow"/>
          </a:ln>
        </p:spPr>
        <p:style>
          <a:lnRef idx="2">
            <a:schemeClr val="accent1"/>
          </a:lnRef>
          <a:fillRef idx="0">
            <a:schemeClr val="accent1"/>
          </a:fillRef>
          <a:effectRef idx="1">
            <a:schemeClr val="accent1"/>
          </a:effectRef>
          <a:fontRef idx="minor">
            <a:schemeClr val="tx1"/>
          </a:fontRef>
        </p:style>
      </p:cxnSp>
      <p:sp>
        <p:nvSpPr>
          <p:cNvPr id="263" name="矩形 262"/>
          <p:cNvSpPr/>
          <p:nvPr/>
        </p:nvSpPr>
        <p:spPr>
          <a:xfrm>
            <a:off x="2265911" y="2524140"/>
            <a:ext cx="1261885"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a:solidFill>
                  <a:sysClr val="windowText" lastClr="000000"/>
                </a:solidFill>
              </a:rPr>
              <a:t>医院或者学校</a:t>
            </a:r>
            <a:endParaRPr kumimoji="0" lang="zh-CN" altLang="en-US" sz="1400" b="0" i="0" u="none" strike="noStrike" kern="0" cap="none" spc="0" normalizeH="0" baseline="0" noProof="0" dirty="0">
              <a:ln>
                <a:noFill/>
              </a:ln>
              <a:solidFill>
                <a:sysClr val="windowText" lastClr="000000"/>
              </a:solidFill>
              <a:effectLst/>
              <a:uLnTx/>
              <a:uFillTx/>
            </a:endParaRPr>
          </a:p>
        </p:txBody>
      </p:sp>
      <p:sp>
        <p:nvSpPr>
          <p:cNvPr id="262" name="TextBox 261"/>
          <p:cNvSpPr txBox="1"/>
          <p:nvPr/>
        </p:nvSpPr>
        <p:spPr>
          <a:xfrm>
            <a:off x="7921334" y="1870609"/>
            <a:ext cx="382283" cy="1384995"/>
          </a:xfrm>
          <a:prstGeom prst="rect">
            <a:avLst/>
          </a:prstGeom>
          <a:noFill/>
        </p:spPr>
        <p:txBody>
          <a:bodyPr wrap="square" rtlCol="0">
            <a:spAutoFit/>
          </a:bodyPr>
          <a:lstStyle/>
          <a:p>
            <a:r>
              <a:rPr lang="zh-CN" altLang="en-US" sz="1400" dirty="0"/>
              <a:t>全局知识传递</a:t>
            </a:r>
          </a:p>
        </p:txBody>
      </p:sp>
      <p:sp>
        <p:nvSpPr>
          <p:cNvPr id="100"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研究内容一：</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基于双层循环的高效个性化联邦学习技术</a:t>
            </a:r>
            <a:endParaRPr lang="zh-CN" altLang="en-US" sz="2500" dirty="0">
              <a:latin typeface="微软雅黑" panose="020B0503020204020204" charset="-122"/>
              <a:ea typeface="微软雅黑" panose="020B0503020204020204" charset="-122"/>
              <a:cs typeface="+mn-ea"/>
              <a:sym typeface="+mn-lt"/>
            </a:endParaRPr>
          </a:p>
        </p:txBody>
      </p:sp>
      <p:sp>
        <p:nvSpPr>
          <p:cNvPr id="101" name="矩形 100">
            <a:extLst>
              <a:ext uri="{FF2B5EF4-FFF2-40B4-BE49-F238E27FC236}">
                <a16:creationId xmlns:a16="http://schemas.microsoft.com/office/drawing/2014/main" id="{AE8FFCE6-F1F5-4F80-B5E5-78EDCF876137}"/>
              </a:ext>
            </a:extLst>
          </p:cNvPr>
          <p:cNvSpPr/>
          <p:nvPr/>
        </p:nvSpPr>
        <p:spPr>
          <a:xfrm>
            <a:off x="-10160" y="6467474"/>
            <a:ext cx="9225280" cy="40068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000"/>
              </a:lnSpc>
            </a:pPr>
            <a:r>
              <a:rPr lang="en-US" altLang="zh-CN" sz="1400" dirty="0">
                <a:sym typeface="+mn-ea"/>
              </a:rPr>
              <a:t>Li et al. “A Dual-Circulation Hierarchical Personalized Federated Learning Method”. </a:t>
            </a:r>
            <a:r>
              <a:rPr lang="zh-CN" altLang="en-US" sz="1400" dirty="0">
                <a:sym typeface="+mn-ea"/>
              </a:rPr>
              <a:t>现投稿于</a:t>
            </a:r>
            <a:r>
              <a:rPr lang="en-US" altLang="zh-CN" sz="1400" dirty="0">
                <a:sym typeface="+mn-ea"/>
              </a:rPr>
              <a:t>EAAI</a:t>
            </a:r>
            <a:endParaRPr lang="en-US" altLang="zh-CN" sz="1400" b="1" dirty="0">
              <a:solidFill>
                <a:schemeClr val="bg1"/>
              </a:solidFill>
              <a:latin typeface="微软雅黑" panose="020B0503020204020204" pitchFamily="34" charset="-122"/>
              <a:ea typeface="微软雅黑" panose="020B0503020204020204" pitchFamily="34" charset="-122"/>
              <a:sym typeface="+mn-ea"/>
            </a:endParaRPr>
          </a:p>
        </p:txBody>
      </p:sp>
      <p:sp>
        <p:nvSpPr>
          <p:cNvPr id="103" name="文本框 4"/>
          <p:cNvSpPr txBox="1"/>
          <p:nvPr/>
        </p:nvSpPr>
        <p:spPr>
          <a:xfrm>
            <a:off x="381000" y="4415314"/>
            <a:ext cx="8496300" cy="1615827"/>
          </a:xfrm>
          <a:prstGeom prst="rect">
            <a:avLst/>
          </a:prstGeom>
          <a:noFill/>
        </p:spPr>
        <p:txBody>
          <a:bodyPr wrap="square" rtlCol="0">
            <a:spAutoFit/>
          </a:bodyPr>
          <a:lstStyle/>
          <a:p>
            <a:pPr marL="342900" indent="-342900">
              <a:buFont typeface="Wingdings" pitchFamily="2" charset="2"/>
              <a:buChar char="Ø"/>
            </a:pP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rPr>
              <a:t>个性化：</a:t>
            </a:r>
            <a:r>
              <a:rPr lang="zh-CN" altLang="en-US" dirty="0">
                <a:sym typeface="+mn-ea"/>
              </a:rPr>
              <a:t>外循环聚合全局模型保障泛化能力，内循环执行个性化训练实现本地适配，</a:t>
            </a:r>
            <a:r>
              <a:rPr lang="zh-CN" altLang="en-US" dirty="0"/>
              <a:t>并采用全局梯度修正个性化策略，使模型在保持跨机构泛化能力的同时，精准适配各机构数据分布特性</a:t>
            </a:r>
            <a:endParaRPr lang="en-US" altLang="zh-CN" dirty="0">
              <a:sym typeface="+mn-ea"/>
            </a:endParaRPr>
          </a:p>
          <a:p>
            <a:pPr marL="342900" indent="-342900">
              <a:spcBef>
                <a:spcPts val="600"/>
              </a:spcBef>
              <a:buFont typeface="Wingdings" pitchFamily="2" charset="2"/>
              <a:buChar char="Ø"/>
            </a:pP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高效：</a:t>
            </a:r>
            <a:r>
              <a:rPr lang="zh-CN" altLang="en-US" dirty="0">
                <a:sym typeface="+mn-ea"/>
              </a:rPr>
              <a:t>提出异步双循环机制，客户端可自主选择参与全局外循环或本地内循环训练，通过资源隔离实现并行无干扰计算</a:t>
            </a:r>
          </a:p>
        </p:txBody>
      </p:sp>
    </p:spTree>
    <p:extLst>
      <p:ext uri="{BB962C8B-B14F-4D97-AF65-F5344CB8AC3E}">
        <p14:creationId xmlns:p14="http://schemas.microsoft.com/office/powerpoint/2010/main" val="42809386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研究内容二：</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基于可信存证与可靠存储的分布式存证系统</a:t>
            </a:r>
            <a:endParaRPr lang="zh-CN" altLang="en-US" sz="2500" dirty="0">
              <a:latin typeface="微软雅黑" panose="020B0503020204020204" charset="-122"/>
              <a:ea typeface="微软雅黑" panose="020B0503020204020204" charset="-122"/>
              <a:cs typeface="+mn-ea"/>
              <a:sym typeface="+mn-lt"/>
            </a:endParaRPr>
          </a:p>
        </p:txBody>
      </p:sp>
      <p:sp>
        <p:nvSpPr>
          <p:cNvPr id="8" name="箭头: 右 5"/>
          <p:cNvSpPr/>
          <p:nvPr/>
        </p:nvSpPr>
        <p:spPr>
          <a:xfrm>
            <a:off x="2964517" y="2287769"/>
            <a:ext cx="1157764" cy="334328"/>
          </a:xfrm>
          <a:prstGeom prst="rightArrow">
            <a:avLst/>
          </a:prstGeom>
          <a:solidFill>
            <a:schemeClr val="accent6">
              <a:lumMod val="7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sz="1350" dirty="0"/>
          </a:p>
        </p:txBody>
      </p:sp>
      <p:sp>
        <p:nvSpPr>
          <p:cNvPr id="9" name="文本框 6"/>
          <p:cNvSpPr txBox="1"/>
          <p:nvPr/>
        </p:nvSpPr>
        <p:spPr>
          <a:xfrm>
            <a:off x="2836406" y="1988684"/>
            <a:ext cx="1413986" cy="323165"/>
          </a:xfrm>
          <a:prstGeom prst="rect">
            <a:avLst/>
          </a:prstGeom>
          <a:noFill/>
        </p:spPr>
        <p:txBody>
          <a:bodyPr wrap="square" rtlCol="0">
            <a:spAutoFit/>
          </a:bodyPr>
          <a:lstStyle/>
          <a:p>
            <a:pPr algn="ctr"/>
            <a:r>
              <a:rPr lang="zh-CN" altLang="en-US" sz="1500" b="1" dirty="0"/>
              <a:t>引入联邦学习</a:t>
            </a:r>
          </a:p>
        </p:txBody>
      </p:sp>
      <p:sp>
        <p:nvSpPr>
          <p:cNvPr id="10" name="文本框 8"/>
          <p:cNvSpPr txBox="1"/>
          <p:nvPr/>
        </p:nvSpPr>
        <p:spPr>
          <a:xfrm>
            <a:off x="2967136" y="4554243"/>
            <a:ext cx="1152525" cy="323165"/>
          </a:xfrm>
          <a:prstGeom prst="rect">
            <a:avLst/>
          </a:prstGeom>
          <a:noFill/>
        </p:spPr>
        <p:txBody>
          <a:bodyPr wrap="square" rtlCol="0">
            <a:spAutoFit/>
          </a:bodyPr>
          <a:lstStyle/>
          <a:p>
            <a:r>
              <a:rPr lang="zh-CN" altLang="en-US" sz="1500" b="1" dirty="0"/>
              <a:t>引入区块链</a:t>
            </a:r>
          </a:p>
        </p:txBody>
      </p:sp>
      <p:sp>
        <p:nvSpPr>
          <p:cNvPr id="12" name="圆角矩形 11"/>
          <p:cNvSpPr/>
          <p:nvPr/>
        </p:nvSpPr>
        <p:spPr>
          <a:xfrm>
            <a:off x="4216816" y="3556022"/>
            <a:ext cx="4588669" cy="2997177"/>
          </a:xfrm>
          <a:prstGeom prst="roundRect">
            <a:avLst/>
          </a:prstGeom>
          <a:noFill/>
          <a:ln w="28575">
            <a:solidFill>
              <a:schemeClr val="accent6">
                <a:lumMod val="5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indent="-257175">
              <a:lnSpc>
                <a:spcPct val="150000"/>
              </a:lnSpc>
              <a:buClr>
                <a:srgbClr val="30491E"/>
              </a:buClr>
              <a:buFont typeface="Wingdings" panose="05000000000000000000" charset="0"/>
              <a:buChar char="l"/>
            </a:pPr>
            <a:r>
              <a:rPr lang="zh-CN" altLang="en-US" sz="1500" dirty="0">
                <a:solidFill>
                  <a:schemeClr val="tx1"/>
                </a:solidFill>
                <a:latin typeface="微软雅黑" panose="020B0502040204020203" pitchFamily="34" charset="-122"/>
                <a:ea typeface="微软雅黑" panose="020B0502040204020203" pitchFamily="34" charset="-122"/>
                <a:sym typeface="+mn-ea"/>
              </a:rPr>
              <a:t>通过对数据流通的所有环节、所有参与者进行记录，实现数据共享流程中的权责分明</a:t>
            </a:r>
            <a:endParaRPr lang="en-US" altLang="zh-CN" sz="1500" dirty="0">
              <a:solidFill>
                <a:schemeClr val="tx1"/>
              </a:solidFill>
              <a:latin typeface="微软雅黑" panose="020B0502040204020203" pitchFamily="34" charset="-122"/>
              <a:ea typeface="微软雅黑" panose="020B0502040204020203" pitchFamily="34" charset="-122"/>
            </a:endParaRPr>
          </a:p>
          <a:p>
            <a:pPr marL="257175" indent="-257175">
              <a:lnSpc>
                <a:spcPct val="150000"/>
              </a:lnSpc>
              <a:buClr>
                <a:srgbClr val="30491E"/>
              </a:buClr>
              <a:buFont typeface="Wingdings" panose="05000000000000000000" charset="0"/>
              <a:buChar char="l"/>
            </a:pPr>
            <a:r>
              <a:rPr lang="zh-CN" altLang="en-US" sz="1500" dirty="0">
                <a:solidFill>
                  <a:schemeClr val="tx1"/>
                </a:solidFill>
                <a:latin typeface="微软雅黑" panose="020B0502040204020203" pitchFamily="34" charset="-122"/>
                <a:ea typeface="微软雅黑" panose="020B0502040204020203" pitchFamily="34" charset="-122"/>
                <a:sym typeface="+mn-ea"/>
              </a:rPr>
              <a:t>在数据传输环节，区块链记录数据的提供者，确认数据提供方身份真实性，有利于数据确权</a:t>
            </a:r>
            <a:endParaRPr lang="en-US" altLang="zh-CN" sz="1500" dirty="0">
              <a:solidFill>
                <a:schemeClr val="tx1"/>
              </a:solidFill>
              <a:latin typeface="微软雅黑" panose="020B0502040204020203" pitchFamily="34" charset="-122"/>
              <a:ea typeface="微软雅黑" panose="020B0502040204020203" pitchFamily="34" charset="-122"/>
              <a:sym typeface="+mn-ea"/>
            </a:endParaRPr>
          </a:p>
          <a:p>
            <a:pPr marL="257175" indent="-257175">
              <a:lnSpc>
                <a:spcPct val="150000"/>
              </a:lnSpc>
              <a:buClr>
                <a:srgbClr val="30491E"/>
              </a:buClr>
              <a:buFont typeface="Wingdings" panose="05000000000000000000" charset="0"/>
              <a:buChar char="l"/>
            </a:pPr>
            <a:r>
              <a:rPr lang="zh-CN" altLang="en-US" sz="1500" dirty="0">
                <a:solidFill>
                  <a:schemeClr val="tx1"/>
                </a:solidFill>
                <a:latin typeface="微软雅黑" panose="020B0502040204020203" pitchFamily="34" charset="-122"/>
                <a:ea typeface="微软雅黑" panose="020B0502040204020203" pitchFamily="34" charset="-122"/>
                <a:sym typeface="+mn-ea"/>
              </a:rPr>
              <a:t>没有完全信任的第三方担任中心服务器，中心式架构联邦学习难以确保数据处理的公正性和透明性</a:t>
            </a:r>
            <a:endParaRPr lang="en-US" altLang="zh-CN" sz="1500" dirty="0">
              <a:solidFill>
                <a:schemeClr val="tx1"/>
              </a:solidFill>
              <a:latin typeface="微软雅黑" panose="020B0502040204020203" pitchFamily="34" charset="-122"/>
              <a:ea typeface="微软雅黑" panose="020B0502040204020203" pitchFamily="34" charset="-122"/>
              <a:sym typeface="+mn-ea"/>
            </a:endParaRPr>
          </a:p>
        </p:txBody>
      </p:sp>
      <p:sp>
        <p:nvSpPr>
          <p:cNvPr id="13" name="圆角矩形 12"/>
          <p:cNvSpPr/>
          <p:nvPr/>
        </p:nvSpPr>
        <p:spPr>
          <a:xfrm>
            <a:off x="4250392" y="1584796"/>
            <a:ext cx="4588669" cy="1734503"/>
          </a:xfrm>
          <a:prstGeom prst="roundRect">
            <a:avLst/>
          </a:prstGeom>
          <a:noFill/>
          <a:ln w="28575">
            <a:solidFill>
              <a:schemeClr val="accent6">
                <a:lumMod val="5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indent="-257175">
              <a:lnSpc>
                <a:spcPct val="150000"/>
              </a:lnSpc>
              <a:buClr>
                <a:srgbClr val="30491E"/>
              </a:buClr>
              <a:buFont typeface="Wingdings" panose="05000000000000000000" charset="0"/>
              <a:buChar char="l"/>
            </a:pPr>
            <a:r>
              <a:rPr lang="zh-CN" altLang="en-US" sz="1500" dirty="0">
                <a:solidFill>
                  <a:schemeClr val="tx1"/>
                </a:solidFill>
                <a:latin typeface="微软雅黑" panose="020B0502040204020203" pitchFamily="34" charset="-122"/>
                <a:ea typeface="微软雅黑" panose="020B0502040204020203" pitchFamily="34" charset="-122"/>
                <a:sym typeface="+mn-ea"/>
              </a:rPr>
              <a:t>保障数据从产生、感知、发布、传播到存储、处理、使用、销毁等全生命周期的隐私性</a:t>
            </a:r>
          </a:p>
          <a:p>
            <a:pPr marL="257175" indent="-257175">
              <a:lnSpc>
                <a:spcPct val="150000"/>
              </a:lnSpc>
              <a:buClr>
                <a:srgbClr val="30491E"/>
              </a:buClr>
              <a:buFont typeface="Wingdings" panose="05000000000000000000" charset="0"/>
              <a:buChar char="l"/>
            </a:pPr>
            <a:r>
              <a:rPr lang="zh-CN" altLang="en-US" sz="1500" dirty="0">
                <a:solidFill>
                  <a:schemeClr val="tx1"/>
                </a:solidFill>
                <a:latin typeface="微软雅黑" panose="020B0502040204020203" pitchFamily="34" charset="-122"/>
                <a:ea typeface="微软雅黑" panose="020B0502040204020203" pitchFamily="34" charset="-122"/>
                <a:sym typeface="+mn-ea"/>
              </a:rPr>
              <a:t>对数据进行规范化处理，提升数据处理、数据共享的效率，从而提升区块链的数据处理能力</a:t>
            </a:r>
          </a:p>
        </p:txBody>
      </p:sp>
      <p:sp>
        <p:nvSpPr>
          <p:cNvPr id="14" name="箭头: 右 5"/>
          <p:cNvSpPr/>
          <p:nvPr/>
        </p:nvSpPr>
        <p:spPr>
          <a:xfrm>
            <a:off x="2964517" y="4837135"/>
            <a:ext cx="1157764" cy="334328"/>
          </a:xfrm>
          <a:prstGeom prst="rightArrow">
            <a:avLst/>
          </a:prstGeom>
          <a:solidFill>
            <a:schemeClr val="accent6">
              <a:lumMod val="7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sz="1350" dirty="0"/>
          </a:p>
        </p:txBody>
      </p:sp>
      <p:graphicFrame>
        <p:nvGraphicFramePr>
          <p:cNvPr id="15" name="表格 14"/>
          <p:cNvGraphicFramePr/>
          <p:nvPr>
            <p:custDataLst>
              <p:tags r:id="rId1"/>
            </p:custDataLst>
            <p:extLst>
              <p:ext uri="{D42A27DB-BD31-4B8C-83A1-F6EECF244321}">
                <p14:modId xmlns:p14="http://schemas.microsoft.com/office/powerpoint/2010/main" val="1286445002"/>
              </p:ext>
            </p:extLst>
          </p:nvPr>
        </p:nvGraphicFramePr>
        <p:xfrm>
          <a:off x="257273" y="1804851"/>
          <a:ext cx="2613184" cy="1300164"/>
        </p:xfrm>
        <a:graphic>
          <a:graphicData uri="http://schemas.openxmlformats.org/drawingml/2006/table">
            <a:tbl>
              <a:tblPr firstRow="1" bandRow="1">
                <a:tableStyleId>{10A1B5D5-9B99-4C35-A422-299274C87663}</a:tableStyleId>
              </a:tblPr>
              <a:tblGrid>
                <a:gridCol w="2613184">
                  <a:extLst>
                    <a:ext uri="{9D8B030D-6E8A-4147-A177-3AD203B41FA5}">
                      <a16:colId xmlns:a16="http://schemas.microsoft.com/office/drawing/2014/main" val="20000"/>
                    </a:ext>
                  </a:extLst>
                </a:gridCol>
              </a:tblGrid>
              <a:tr h="433388">
                <a:tc>
                  <a:txBody>
                    <a:bodyPr/>
                    <a:lstStyle/>
                    <a:p>
                      <a:pPr algn="ctr" fontAlgn="auto">
                        <a:lnSpc>
                          <a:spcPct val="150000"/>
                        </a:lnSpc>
                        <a:buNone/>
                      </a:pPr>
                      <a:r>
                        <a:rPr lang="zh-CN" altLang="en-US" sz="1500" dirty="0">
                          <a:latin typeface="微软雅黑" panose="020B0502040204020203" pitchFamily="34" charset="-122"/>
                          <a:ea typeface="微软雅黑" panose="020B0502040204020203" pitchFamily="34" charset="-122"/>
                          <a:sym typeface="+mn-ea"/>
                        </a:rPr>
                        <a:t>从区块链角度来看</a:t>
                      </a:r>
                    </a:p>
                  </a:txBody>
                  <a:tcPr marL="68580" marR="68580" marT="34290" marB="34290">
                    <a:solidFill>
                      <a:schemeClr val="accent6">
                        <a:lumMod val="50000"/>
                      </a:schemeClr>
                    </a:solidFill>
                  </a:tcPr>
                </a:tc>
                <a:extLst>
                  <a:ext uri="{0D108BD9-81ED-4DB2-BD59-A6C34878D82A}">
                    <a16:rowId xmlns:a16="http://schemas.microsoft.com/office/drawing/2014/main" val="10000"/>
                  </a:ext>
                </a:extLst>
              </a:tr>
              <a:tr h="433388">
                <a:tc>
                  <a:txBody>
                    <a:bodyPr/>
                    <a:lstStyle/>
                    <a:p>
                      <a:pPr marL="342900" lvl="1" indent="-342900" fontAlgn="auto">
                        <a:lnSpc>
                          <a:spcPct val="150000"/>
                        </a:lnSpc>
                        <a:buFont typeface="Wingdings" panose="05000000000000000000" charset="0"/>
                        <a:buChar char="Ø"/>
                      </a:pPr>
                      <a:r>
                        <a:rPr lang="zh-CN" altLang="en-US" sz="1500" dirty="0">
                          <a:latin typeface="微软雅黑" panose="020B0502040204020203" pitchFamily="34" charset="-122"/>
                          <a:ea typeface="微软雅黑" panose="020B0502040204020203" pitchFamily="34" charset="-122"/>
                          <a:sym typeface="+mn-ea"/>
                        </a:rPr>
                        <a:t>链上数据公开透明</a:t>
                      </a:r>
                    </a:p>
                  </a:txBody>
                  <a:tcPr marL="68580" marR="68580" marT="34290" marB="34290"/>
                </a:tc>
                <a:extLst>
                  <a:ext uri="{0D108BD9-81ED-4DB2-BD59-A6C34878D82A}">
                    <a16:rowId xmlns:a16="http://schemas.microsoft.com/office/drawing/2014/main" val="10001"/>
                  </a:ext>
                </a:extLst>
              </a:tr>
              <a:tr h="433388">
                <a:tc>
                  <a:txBody>
                    <a:bodyPr/>
                    <a:lstStyle/>
                    <a:p>
                      <a:pPr marL="342900" lvl="1" indent="-342900" fontAlgn="auto">
                        <a:lnSpc>
                          <a:spcPct val="150000"/>
                        </a:lnSpc>
                        <a:buFont typeface="Wingdings" panose="05000000000000000000" charset="0"/>
                        <a:buChar char="Ø"/>
                      </a:pPr>
                      <a:r>
                        <a:rPr lang="zh-CN" altLang="en-US" sz="1500" dirty="0">
                          <a:latin typeface="微软雅黑" panose="020B0502040204020203" pitchFamily="34" charset="-122"/>
                          <a:ea typeface="微软雅黑" panose="020B0502040204020203" pitchFamily="34" charset="-122"/>
                          <a:sym typeface="+mn-ea"/>
                        </a:rPr>
                        <a:t>链上数据处理能力不足</a:t>
                      </a:r>
                    </a:p>
                  </a:txBody>
                  <a:tcPr marL="68580" marR="68580" marT="34290" marB="34290"/>
                </a:tc>
                <a:extLst>
                  <a:ext uri="{0D108BD9-81ED-4DB2-BD59-A6C34878D82A}">
                    <a16:rowId xmlns:a16="http://schemas.microsoft.com/office/drawing/2014/main" val="10002"/>
                  </a:ext>
                </a:extLst>
              </a:tr>
            </a:tbl>
          </a:graphicData>
        </a:graphic>
      </p:graphicFrame>
      <p:graphicFrame>
        <p:nvGraphicFramePr>
          <p:cNvPr id="16" name="表格 15"/>
          <p:cNvGraphicFramePr/>
          <p:nvPr>
            <p:custDataLst>
              <p:tags r:id="rId2"/>
            </p:custDataLst>
            <p:extLst>
              <p:ext uri="{D42A27DB-BD31-4B8C-83A1-F6EECF244321}">
                <p14:modId xmlns:p14="http://schemas.microsoft.com/office/powerpoint/2010/main" val="358446003"/>
              </p:ext>
            </p:extLst>
          </p:nvPr>
        </p:nvGraphicFramePr>
        <p:xfrm>
          <a:off x="257273" y="4354218"/>
          <a:ext cx="2613184" cy="1733552"/>
        </p:xfrm>
        <a:graphic>
          <a:graphicData uri="http://schemas.openxmlformats.org/drawingml/2006/table">
            <a:tbl>
              <a:tblPr firstRow="1" bandRow="1">
                <a:tableStyleId>{10A1B5D5-9B99-4C35-A422-299274C87663}</a:tableStyleId>
              </a:tblPr>
              <a:tblGrid>
                <a:gridCol w="2613184">
                  <a:extLst>
                    <a:ext uri="{9D8B030D-6E8A-4147-A177-3AD203B41FA5}">
                      <a16:colId xmlns:a16="http://schemas.microsoft.com/office/drawing/2014/main" val="20000"/>
                    </a:ext>
                  </a:extLst>
                </a:gridCol>
              </a:tblGrid>
              <a:tr h="433388">
                <a:tc>
                  <a:txBody>
                    <a:bodyPr/>
                    <a:lstStyle/>
                    <a:p>
                      <a:pPr algn="ctr" fontAlgn="auto">
                        <a:lnSpc>
                          <a:spcPct val="150000"/>
                        </a:lnSpc>
                        <a:buNone/>
                      </a:pPr>
                      <a:r>
                        <a:rPr lang="zh-CN" altLang="en-US" sz="1500" dirty="0">
                          <a:latin typeface="微软雅黑" panose="020B0502040204020203" pitchFamily="34" charset="-122"/>
                          <a:ea typeface="微软雅黑" panose="020B0502040204020203" pitchFamily="34" charset="-122"/>
                          <a:sym typeface="+mn-ea"/>
                        </a:rPr>
                        <a:t>从联邦学习角度来看</a:t>
                      </a:r>
                    </a:p>
                  </a:txBody>
                  <a:tcPr marL="68580" marR="68580" marT="34290" marB="34290">
                    <a:solidFill>
                      <a:schemeClr val="accent6">
                        <a:lumMod val="50000"/>
                      </a:schemeClr>
                    </a:solidFill>
                  </a:tcPr>
                </a:tc>
                <a:extLst>
                  <a:ext uri="{0D108BD9-81ED-4DB2-BD59-A6C34878D82A}">
                    <a16:rowId xmlns:a16="http://schemas.microsoft.com/office/drawing/2014/main" val="10000"/>
                  </a:ext>
                </a:extLst>
              </a:tr>
              <a:tr h="433388">
                <a:tc>
                  <a:txBody>
                    <a:bodyPr/>
                    <a:lstStyle/>
                    <a:p>
                      <a:pPr marL="342900" lvl="1" indent="-342900" fontAlgn="auto">
                        <a:lnSpc>
                          <a:spcPct val="150000"/>
                        </a:lnSpc>
                        <a:buFont typeface="Wingdings" panose="05000000000000000000" charset="0"/>
                        <a:buChar char="Ø"/>
                      </a:pPr>
                      <a:r>
                        <a:rPr lang="zh-CN" altLang="en-US" sz="1500" dirty="0">
                          <a:latin typeface="微软雅黑" panose="020B0502040204020203" pitchFamily="34" charset="-122"/>
                          <a:ea typeface="微软雅黑" panose="020B0502040204020203" pitchFamily="34" charset="-122"/>
                          <a:sym typeface="+mn-ea"/>
                        </a:rPr>
                        <a:t>数据共享缺乏安全校验</a:t>
                      </a:r>
                    </a:p>
                  </a:txBody>
                  <a:tcPr marL="68580" marR="68580" marT="34290" marB="34290"/>
                </a:tc>
                <a:extLst>
                  <a:ext uri="{0D108BD9-81ED-4DB2-BD59-A6C34878D82A}">
                    <a16:rowId xmlns:a16="http://schemas.microsoft.com/office/drawing/2014/main" val="10001"/>
                  </a:ext>
                </a:extLst>
              </a:tr>
              <a:tr h="433388">
                <a:tc>
                  <a:txBody>
                    <a:bodyPr/>
                    <a:lstStyle/>
                    <a:p>
                      <a:pPr marL="342900" lvl="1" indent="-342900" fontAlgn="auto">
                        <a:lnSpc>
                          <a:spcPct val="150000"/>
                        </a:lnSpc>
                        <a:buFont typeface="Wingdings" panose="05000000000000000000" charset="0"/>
                        <a:buChar char="Ø"/>
                      </a:pPr>
                      <a:r>
                        <a:rPr lang="zh-CN" altLang="en-US" sz="1500" dirty="0">
                          <a:latin typeface="微软雅黑" panose="020B0502040204020203" pitchFamily="34" charset="-122"/>
                          <a:ea typeface="微软雅黑" panose="020B0502040204020203" pitchFamily="34" charset="-122"/>
                          <a:sym typeface="+mn-ea"/>
                        </a:rPr>
                        <a:t>数据共享缺乏确权机制</a:t>
                      </a:r>
                    </a:p>
                  </a:txBody>
                  <a:tcPr marL="68580" marR="68580" marT="34290" marB="34290"/>
                </a:tc>
                <a:extLst>
                  <a:ext uri="{0D108BD9-81ED-4DB2-BD59-A6C34878D82A}">
                    <a16:rowId xmlns:a16="http://schemas.microsoft.com/office/drawing/2014/main" val="10002"/>
                  </a:ext>
                </a:extLst>
              </a:tr>
              <a:tr h="433388">
                <a:tc>
                  <a:txBody>
                    <a:bodyPr/>
                    <a:lstStyle/>
                    <a:p>
                      <a:pPr marL="342900" lvl="1" indent="-342900" fontAlgn="auto">
                        <a:lnSpc>
                          <a:spcPct val="150000"/>
                        </a:lnSpc>
                        <a:buFont typeface="Wingdings" panose="05000000000000000000" charset="0"/>
                        <a:buChar char="Ø"/>
                      </a:pPr>
                      <a:r>
                        <a:rPr lang="zh-CN" altLang="en-US" sz="1500" dirty="0">
                          <a:latin typeface="微软雅黑" panose="020B0502040204020203" pitchFamily="34" charset="-122"/>
                          <a:ea typeface="微软雅黑" panose="020B0502040204020203" pitchFamily="34" charset="-122"/>
                          <a:sym typeface="+mn-ea"/>
                        </a:rPr>
                        <a:t>缺乏安全可靠的第三方</a:t>
                      </a:r>
                    </a:p>
                  </a:txBody>
                  <a:tcPr marL="68580" marR="68580" marT="34290" marB="34290"/>
                </a:tc>
                <a:extLst>
                  <a:ext uri="{0D108BD9-81ED-4DB2-BD59-A6C34878D82A}">
                    <a16:rowId xmlns:a16="http://schemas.microsoft.com/office/drawing/2014/main" val="10003"/>
                  </a:ext>
                </a:extLst>
              </a:tr>
            </a:tbl>
          </a:graphicData>
        </a:graphic>
      </p:graphicFrame>
      <p:sp>
        <p:nvSpPr>
          <p:cNvPr id="17"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区块链和联邦学习技术具有互补性，两者融合是必然趋势</a:t>
            </a:r>
          </a:p>
        </p:txBody>
      </p:sp>
    </p:spTree>
    <p:extLst>
      <p:ext uri="{BB962C8B-B14F-4D97-AF65-F5344CB8AC3E}">
        <p14:creationId xmlns:p14="http://schemas.microsoft.com/office/powerpoint/2010/main" val="42864492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研究内容二：</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基于可信存证与可靠存储的分布式存证系统</a:t>
            </a:r>
            <a:endParaRPr lang="zh-CN" altLang="en-US" sz="2500" dirty="0">
              <a:latin typeface="微软雅黑" panose="020B0503020204020204" charset="-122"/>
              <a:ea typeface="微软雅黑" panose="020B0503020204020204" charset="-122"/>
              <a:cs typeface="+mn-ea"/>
              <a:sym typeface="+mn-lt"/>
            </a:endParaRPr>
          </a:p>
        </p:txBody>
      </p:sp>
      <p:pic>
        <p:nvPicPr>
          <p:cNvPr id="18" name="图片 17">
            <a:extLst>
              <a:ext uri="{FF2B5EF4-FFF2-40B4-BE49-F238E27FC236}">
                <a16:creationId xmlns:a16="http://schemas.microsoft.com/office/drawing/2014/main" id="{4FAC5427-D77B-4B2E-9C3C-1B34B316A71B}"/>
              </a:ext>
            </a:extLst>
          </p:cNvPr>
          <p:cNvPicPr>
            <a:picLocks noChangeAspect="1"/>
          </p:cNvPicPr>
          <p:nvPr/>
        </p:nvPicPr>
        <p:blipFill rotWithShape="1">
          <a:blip r:embed="rId3"/>
          <a:srcRect r="43271"/>
          <a:stretch/>
        </p:blipFill>
        <p:spPr>
          <a:xfrm>
            <a:off x="653190" y="1585572"/>
            <a:ext cx="2664296" cy="2477315"/>
          </a:xfrm>
          <a:prstGeom prst="rect">
            <a:avLst/>
          </a:prstGeom>
        </p:spPr>
      </p:pic>
      <p:grpSp>
        <p:nvGrpSpPr>
          <p:cNvPr id="19" name="组合 18">
            <a:extLst>
              <a:ext uri="{FF2B5EF4-FFF2-40B4-BE49-F238E27FC236}">
                <a16:creationId xmlns:a16="http://schemas.microsoft.com/office/drawing/2014/main" id="{BA9847B5-BAE1-405C-B610-157F34031F49}"/>
              </a:ext>
            </a:extLst>
          </p:cNvPr>
          <p:cNvGrpSpPr/>
          <p:nvPr/>
        </p:nvGrpSpPr>
        <p:grpSpPr>
          <a:xfrm>
            <a:off x="5230709" y="1633416"/>
            <a:ext cx="2588571" cy="2330872"/>
            <a:chOff x="14291735" y="1928368"/>
            <a:chExt cx="2259730" cy="2088872"/>
          </a:xfrm>
        </p:grpSpPr>
        <p:pic>
          <p:nvPicPr>
            <p:cNvPr id="20" name="图形 16" descr="用户">
              <a:extLst>
                <a:ext uri="{FF2B5EF4-FFF2-40B4-BE49-F238E27FC236}">
                  <a16:creationId xmlns:a16="http://schemas.microsoft.com/office/drawing/2014/main" id="{54752376-4D59-4EB1-81ED-748FD73F21C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809944" y="1960825"/>
              <a:ext cx="494347" cy="482375"/>
            </a:xfrm>
            <a:prstGeom prst="rect">
              <a:avLst/>
            </a:prstGeom>
          </p:spPr>
        </p:pic>
        <p:pic>
          <p:nvPicPr>
            <p:cNvPr id="21" name="图形 17" descr="用户">
              <a:extLst>
                <a:ext uri="{FF2B5EF4-FFF2-40B4-BE49-F238E27FC236}">
                  <a16:creationId xmlns:a16="http://schemas.microsoft.com/office/drawing/2014/main" id="{DD8E1E1D-C2C3-44E0-B422-793494A60E9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5420" y="3534865"/>
              <a:ext cx="494347" cy="482375"/>
            </a:xfrm>
            <a:prstGeom prst="rect">
              <a:avLst/>
            </a:prstGeom>
          </p:spPr>
        </p:pic>
        <p:pic>
          <p:nvPicPr>
            <p:cNvPr id="22" name="图形 18" descr="用户">
              <a:extLst>
                <a:ext uri="{FF2B5EF4-FFF2-40B4-BE49-F238E27FC236}">
                  <a16:creationId xmlns:a16="http://schemas.microsoft.com/office/drawing/2014/main" id="{96288011-9D5F-441A-959C-4DF123AAC6F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291735" y="3040107"/>
              <a:ext cx="494347" cy="482375"/>
            </a:xfrm>
            <a:prstGeom prst="rect">
              <a:avLst/>
            </a:prstGeom>
          </p:spPr>
        </p:pic>
        <p:pic>
          <p:nvPicPr>
            <p:cNvPr id="23" name="图形 19" descr="用户">
              <a:extLst>
                <a:ext uri="{FF2B5EF4-FFF2-40B4-BE49-F238E27FC236}">
                  <a16:creationId xmlns:a16="http://schemas.microsoft.com/office/drawing/2014/main" id="{0300082D-AC96-4929-A822-7D8E4C80169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537034" y="1928368"/>
              <a:ext cx="494347" cy="482375"/>
            </a:xfrm>
            <a:prstGeom prst="rect">
              <a:avLst/>
            </a:prstGeom>
          </p:spPr>
        </p:pic>
        <p:pic>
          <p:nvPicPr>
            <p:cNvPr id="24" name="图形 20" descr="用户">
              <a:extLst>
                <a:ext uri="{FF2B5EF4-FFF2-40B4-BE49-F238E27FC236}">
                  <a16:creationId xmlns:a16="http://schemas.microsoft.com/office/drawing/2014/main" id="{1448D462-D600-406F-ADC0-6F843504CBE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57118" y="2960938"/>
              <a:ext cx="494347" cy="482375"/>
            </a:xfrm>
            <a:prstGeom prst="rect">
              <a:avLst/>
            </a:prstGeom>
          </p:spPr>
        </p:pic>
        <p:cxnSp>
          <p:nvCxnSpPr>
            <p:cNvPr id="25" name="直接箭头连接符 24">
              <a:extLst>
                <a:ext uri="{FF2B5EF4-FFF2-40B4-BE49-F238E27FC236}">
                  <a16:creationId xmlns:a16="http://schemas.microsoft.com/office/drawing/2014/main" id="{EF311842-0D7D-47F9-96DE-041A0A70552B}"/>
                </a:ext>
              </a:extLst>
            </p:cNvPr>
            <p:cNvCxnSpPr/>
            <p:nvPr/>
          </p:nvCxnSpPr>
          <p:spPr>
            <a:xfrm>
              <a:off x="15039241" y="2214243"/>
              <a:ext cx="788894"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9F4AE1A-C4D3-4EB4-AE3C-EEB6BC2B4AD7}"/>
                </a:ext>
              </a:extLst>
            </p:cNvPr>
            <p:cNvCxnSpPr>
              <a:cxnSpLocks/>
              <a:stCxn id="22" idx="2"/>
              <a:endCxn id="21" idx="1"/>
            </p:cNvCxnSpPr>
            <p:nvPr/>
          </p:nvCxnSpPr>
          <p:spPr>
            <a:xfrm>
              <a:off x="14538909" y="3522482"/>
              <a:ext cx="706511" cy="253571"/>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2EF732D-92F5-47CA-8AE6-5D7878D66DFA}"/>
                </a:ext>
              </a:extLst>
            </p:cNvPr>
            <p:cNvCxnSpPr/>
            <p:nvPr/>
          </p:nvCxnSpPr>
          <p:spPr>
            <a:xfrm>
              <a:off x="16057118" y="2465335"/>
              <a:ext cx="222788" cy="48085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39F9B011-5AD9-4155-989E-122AFEC53B35}"/>
                </a:ext>
              </a:extLst>
            </p:cNvPr>
            <p:cNvCxnSpPr>
              <a:cxnSpLocks/>
              <a:endCxn id="21" idx="0"/>
            </p:cNvCxnSpPr>
            <p:nvPr/>
          </p:nvCxnSpPr>
          <p:spPr>
            <a:xfrm>
              <a:off x="15011949" y="2363617"/>
              <a:ext cx="480645" cy="1171249"/>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00DBBD7-7C5A-456E-ABEB-038A1E7F9AB3}"/>
                </a:ext>
              </a:extLst>
            </p:cNvPr>
            <p:cNvCxnSpPr>
              <a:cxnSpLocks/>
              <a:stCxn id="23" idx="2"/>
              <a:endCxn id="22" idx="0"/>
            </p:cNvCxnSpPr>
            <p:nvPr/>
          </p:nvCxnSpPr>
          <p:spPr>
            <a:xfrm flipH="1">
              <a:off x="14538909" y="2410743"/>
              <a:ext cx="245299" cy="629364"/>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AA4568C3-967A-462D-A279-4E272821F5FA}"/>
                </a:ext>
              </a:extLst>
            </p:cNvPr>
            <p:cNvCxnSpPr>
              <a:cxnSpLocks/>
              <a:stCxn id="20" idx="2"/>
              <a:endCxn id="22" idx="3"/>
            </p:cNvCxnSpPr>
            <p:nvPr/>
          </p:nvCxnSpPr>
          <p:spPr>
            <a:xfrm flipH="1">
              <a:off x="14786082" y="2443200"/>
              <a:ext cx="1271036" cy="83809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AE05E05-25BC-4E39-92DF-8129088920E2}"/>
                </a:ext>
              </a:extLst>
            </p:cNvPr>
            <p:cNvCxnSpPr>
              <a:stCxn id="24" idx="2"/>
              <a:endCxn id="21" idx="3"/>
            </p:cNvCxnSpPr>
            <p:nvPr/>
          </p:nvCxnSpPr>
          <p:spPr>
            <a:xfrm flipH="1">
              <a:off x="15739767" y="3443313"/>
              <a:ext cx="564525" cy="33274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2" name="矩形 31">
            <a:extLst>
              <a:ext uri="{FF2B5EF4-FFF2-40B4-BE49-F238E27FC236}">
                <a16:creationId xmlns:a16="http://schemas.microsoft.com/office/drawing/2014/main" id="{1470C61E-F26C-4783-AE66-BBB44787CB75}"/>
              </a:ext>
            </a:extLst>
          </p:cNvPr>
          <p:cNvSpPr/>
          <p:nvPr/>
        </p:nvSpPr>
        <p:spPr>
          <a:xfrm>
            <a:off x="619808" y="4103496"/>
            <a:ext cx="2770182" cy="507831"/>
          </a:xfrm>
          <a:prstGeom prst="rect">
            <a:avLst/>
          </a:prstGeom>
        </p:spPr>
        <p:txBody>
          <a:bodyPr wrap="none">
            <a:spAutoFit/>
          </a:bodyPr>
          <a:lstStyle/>
          <a:p>
            <a:pPr algn="ctr"/>
            <a:r>
              <a:rPr lang="en-US" altLang="zh-CN" sz="1350" dirty="0">
                <a:solidFill>
                  <a:prstClr val="black">
                    <a:lumMod val="95000"/>
                    <a:lumOff val="5000"/>
                  </a:prstClr>
                </a:solidFill>
                <a:latin typeface="微软雅黑" panose="020B0502040204020203" pitchFamily="34" charset="-122"/>
                <a:ea typeface="微软雅黑" panose="020B0502040204020203" pitchFamily="34" charset="-122"/>
              </a:rPr>
              <a:t>Centralized Federated Learning</a:t>
            </a:r>
          </a:p>
          <a:p>
            <a:pPr algn="ctr"/>
            <a:r>
              <a:rPr lang="zh-CN" altLang="en-US" sz="1350" dirty="0">
                <a:solidFill>
                  <a:prstClr val="black">
                    <a:lumMod val="95000"/>
                    <a:lumOff val="5000"/>
                  </a:prstClr>
                </a:solidFill>
                <a:latin typeface="微软雅黑" panose="020B0502040204020203" pitchFamily="34" charset="-122"/>
                <a:ea typeface="微软雅黑" panose="020B0502040204020203" pitchFamily="34" charset="-122"/>
              </a:rPr>
              <a:t>中心化联邦学习</a:t>
            </a:r>
            <a:endParaRPr lang="en-US" altLang="zh-CN" sz="1350" dirty="0">
              <a:solidFill>
                <a:prstClr val="black">
                  <a:lumMod val="95000"/>
                  <a:lumOff val="5000"/>
                </a:prstClr>
              </a:solidFill>
              <a:latin typeface="微软雅黑" panose="020B0502040204020203" pitchFamily="34" charset="-122"/>
              <a:ea typeface="微软雅黑" panose="020B0502040204020203" pitchFamily="34" charset="-122"/>
            </a:endParaRPr>
          </a:p>
        </p:txBody>
      </p:sp>
      <p:sp>
        <p:nvSpPr>
          <p:cNvPr id="33" name="矩形 32">
            <a:extLst>
              <a:ext uri="{FF2B5EF4-FFF2-40B4-BE49-F238E27FC236}">
                <a16:creationId xmlns:a16="http://schemas.microsoft.com/office/drawing/2014/main" id="{4873D54C-4A34-47B0-88D8-C421604E05F9}"/>
              </a:ext>
            </a:extLst>
          </p:cNvPr>
          <p:cNvSpPr/>
          <p:nvPr/>
        </p:nvSpPr>
        <p:spPr>
          <a:xfrm>
            <a:off x="5086693" y="4125187"/>
            <a:ext cx="2970558" cy="507831"/>
          </a:xfrm>
          <a:prstGeom prst="rect">
            <a:avLst/>
          </a:prstGeom>
        </p:spPr>
        <p:txBody>
          <a:bodyPr wrap="none">
            <a:spAutoFit/>
          </a:bodyPr>
          <a:lstStyle/>
          <a:p>
            <a:pPr algn="ctr"/>
            <a:r>
              <a:rPr lang="en-US" altLang="zh-CN" sz="1350" dirty="0">
                <a:solidFill>
                  <a:prstClr val="black">
                    <a:lumMod val="95000"/>
                    <a:lumOff val="5000"/>
                  </a:prstClr>
                </a:solidFill>
                <a:latin typeface="微软雅黑" panose="020B0502040204020203" pitchFamily="34" charset="-122"/>
                <a:ea typeface="微软雅黑" panose="020B0502040204020203" pitchFamily="34" charset="-122"/>
              </a:rPr>
              <a:t>Decentralized Federated Learning</a:t>
            </a:r>
          </a:p>
          <a:p>
            <a:pPr algn="ctr"/>
            <a:r>
              <a:rPr lang="zh-CN" altLang="en-US" sz="1350" dirty="0">
                <a:solidFill>
                  <a:prstClr val="black">
                    <a:lumMod val="95000"/>
                    <a:lumOff val="5000"/>
                  </a:prstClr>
                </a:solidFill>
                <a:latin typeface="微软雅黑" panose="020B0502040204020203" pitchFamily="34" charset="-122"/>
                <a:ea typeface="微软雅黑" panose="020B0502040204020203" pitchFamily="34" charset="-122"/>
              </a:rPr>
              <a:t>去中心化联邦学习</a:t>
            </a:r>
            <a:endParaRPr lang="en-US" altLang="zh-CN" sz="1350" dirty="0">
              <a:solidFill>
                <a:prstClr val="black">
                  <a:lumMod val="95000"/>
                  <a:lumOff val="5000"/>
                </a:prstClr>
              </a:solidFill>
              <a:latin typeface="微软雅黑" panose="020B0502040204020203" pitchFamily="34" charset="-122"/>
              <a:ea typeface="微软雅黑" panose="020B0502040204020203" pitchFamily="34" charset="-122"/>
            </a:endParaRPr>
          </a:p>
        </p:txBody>
      </p:sp>
      <p:sp>
        <p:nvSpPr>
          <p:cNvPr id="34" name="箭头: 右 36">
            <a:extLst>
              <a:ext uri="{FF2B5EF4-FFF2-40B4-BE49-F238E27FC236}">
                <a16:creationId xmlns:a16="http://schemas.microsoft.com/office/drawing/2014/main" id="{46FB85AB-79C3-44C5-8307-51ACF2A9E088}"/>
              </a:ext>
            </a:extLst>
          </p:cNvPr>
          <p:cNvSpPr/>
          <p:nvPr/>
        </p:nvSpPr>
        <p:spPr>
          <a:xfrm>
            <a:off x="3568542" y="2716044"/>
            <a:ext cx="1578584" cy="4270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引入区块链的去中心化联邦学习存在一些挑战：</a:t>
            </a:r>
          </a:p>
        </p:txBody>
      </p:sp>
      <p:sp>
        <p:nvSpPr>
          <p:cNvPr id="2" name="矩形 1"/>
          <p:cNvSpPr/>
          <p:nvPr/>
        </p:nvSpPr>
        <p:spPr>
          <a:xfrm>
            <a:off x="653190" y="4896535"/>
            <a:ext cx="8372476" cy="1338828"/>
          </a:xfrm>
          <a:prstGeom prst="rect">
            <a:avLst/>
          </a:prstGeom>
        </p:spPr>
        <p:txBody>
          <a:bodyPr wrap="square">
            <a:spAutoFit/>
          </a:bodyPr>
          <a:lstStyle/>
          <a:p>
            <a:pPr>
              <a:lnSpc>
                <a:spcPct val="150000"/>
              </a:lnSpc>
            </a:pPr>
            <a:r>
              <a:rPr lang="zh-CN" altLang="en-US"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存储成本高：</a:t>
            </a:r>
            <a:r>
              <a:rPr lang="zh-CN" altLang="en-US" dirty="0"/>
              <a:t>区块链的多节点冗余存储机制导致数据备份资源消耗翻倍</a:t>
            </a:r>
            <a:endParaRPr lang="en-US" altLang="zh-CN" b="1" dirty="0">
              <a:solidFill>
                <a:srgbClr val="FF0000"/>
              </a:solidFill>
              <a:latin typeface="微软雅黑" panose="020B0503020204020204" charset="-122"/>
              <a:ea typeface="微软雅黑" panose="020B0503020204020204" charset="-122"/>
              <a:cs typeface="Times New Roman" panose="02020603050405020304" pitchFamily="18" charset="0"/>
              <a:sym typeface="+mn-ea"/>
            </a:endParaRPr>
          </a:p>
          <a:p>
            <a:pPr>
              <a:lnSpc>
                <a:spcPct val="150000"/>
              </a:lnSpc>
            </a:pPr>
            <a:r>
              <a:rPr lang="zh-CN" altLang="en-US"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存证服务效率低：</a:t>
            </a:r>
            <a:r>
              <a:rPr lang="zh-CN" altLang="en-US" dirty="0"/>
              <a:t>共识机制和链上验证流程延长了交易确认时间</a:t>
            </a:r>
            <a:endParaRPr lang="en-US" altLang="zh-CN" b="1" dirty="0">
              <a:solidFill>
                <a:srgbClr val="FF0000"/>
              </a:solidFill>
              <a:latin typeface="微软雅黑" panose="020B0503020204020204" charset="-122"/>
              <a:ea typeface="微软雅黑" panose="020B0503020204020204" charset="-122"/>
              <a:cs typeface="Times New Roman" panose="02020603050405020304" pitchFamily="18" charset="0"/>
              <a:sym typeface="+mn-ea"/>
            </a:endParaRPr>
          </a:p>
          <a:p>
            <a:pPr>
              <a:lnSpc>
                <a:spcPct val="150000"/>
              </a:lnSpc>
            </a:pPr>
            <a:r>
              <a:rPr lang="zh-CN" altLang="en-US"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隐私泄露风险：</a:t>
            </a:r>
            <a:r>
              <a:rPr lang="zh-CN" altLang="en-US" dirty="0"/>
              <a:t>联邦学习过程中跨参与方的数据交互可能被恶意节点截获</a:t>
            </a:r>
            <a:endParaRPr lang="zh-CN" altLang="en-US" b="1" dirty="0">
              <a:solidFill>
                <a:srgbClr val="FF0000"/>
              </a:solidFill>
              <a:latin typeface="微软雅黑" panose="020B0503020204020204" charset="-122"/>
              <a:ea typeface="微软雅黑" panose="020B0503020204020204" charset="-122"/>
              <a:cs typeface="Times New Roman" panose="02020603050405020304" pitchFamily="18" charset="0"/>
              <a:sym typeface="+mn-ea"/>
            </a:endParaRPr>
          </a:p>
        </p:txBody>
      </p:sp>
    </p:spTree>
    <p:extLst>
      <p:ext uri="{BB962C8B-B14F-4D97-AF65-F5344CB8AC3E}">
        <p14:creationId xmlns:p14="http://schemas.microsoft.com/office/powerpoint/2010/main" val="2016332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研究内容二：</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基于可信存证与可靠存储的分布式存证系统</a:t>
            </a:r>
            <a:endParaRPr lang="zh-CN" altLang="en-US" sz="2500" dirty="0">
              <a:latin typeface="微软雅黑" panose="020B0503020204020204" charset="-122"/>
              <a:ea typeface="微软雅黑" panose="020B0503020204020204" charset="-122"/>
              <a:cs typeface="+mn-ea"/>
              <a:sym typeface="+mn-lt"/>
            </a:endParaRPr>
          </a:p>
        </p:txBody>
      </p:sp>
      <p:sp>
        <p:nvSpPr>
          <p:cNvPr id="6" name="矩形 5"/>
          <p:cNvSpPr/>
          <p:nvPr/>
        </p:nvSpPr>
        <p:spPr>
          <a:xfrm>
            <a:off x="630420" y="897753"/>
            <a:ext cx="7351295" cy="1603014"/>
          </a:xfrm>
          <a:prstGeom prst="rect">
            <a:avLst/>
          </a:prstGeom>
          <a:solidFill>
            <a:schemeClr val="bg1"/>
          </a:solidFill>
          <a:ln w="6350">
            <a:solidFill>
              <a:schemeClr val="tx1"/>
            </a:solidFill>
          </a:ln>
        </p:spPr>
        <p:style>
          <a:lnRef idx="3">
            <a:schemeClr val="lt1"/>
          </a:lnRef>
          <a:fillRef idx="1">
            <a:schemeClr val="accent4"/>
          </a:fillRef>
          <a:effectRef idx="1">
            <a:schemeClr val="accent4"/>
          </a:effectRef>
          <a:fontRef idx="minor">
            <a:schemeClr val="lt1"/>
          </a:fontRef>
        </p:style>
        <p:txBody>
          <a:bodyPr anchor="t" anchorCtr="0"/>
          <a:lstStyle/>
          <a:p>
            <a:pPr algn="ctr">
              <a:spcBef>
                <a:spcPts val="300"/>
              </a:spcBef>
              <a:defRPr/>
            </a:pPr>
            <a:endParaRPr lang="zh-CN" altLang="en-US" sz="1600"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8" name="Up Arrow 50"/>
          <p:cNvSpPr/>
          <p:nvPr/>
        </p:nvSpPr>
        <p:spPr>
          <a:xfrm>
            <a:off x="1408362" y="2545268"/>
            <a:ext cx="391025" cy="234931"/>
          </a:xfrm>
          <a:prstGeom prst="upArrow">
            <a:avLst/>
          </a:prstGeom>
          <a:solidFill>
            <a:schemeClr val="accent6">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9" name="矩形: 圆角 2"/>
          <p:cNvSpPr/>
          <p:nvPr/>
        </p:nvSpPr>
        <p:spPr>
          <a:xfrm>
            <a:off x="2556411" y="1544417"/>
            <a:ext cx="840085" cy="700150"/>
          </a:xfrm>
          <a:prstGeom prst="round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solidFill>
                  <a:schemeClr val="tx2">
                    <a:lumMod val="40000"/>
                    <a:lumOff val="60000"/>
                  </a:schemeClr>
                </a:solidFill>
              </a:rPr>
              <a:t>Block</a:t>
            </a:r>
            <a:endParaRPr lang="zh-CN" altLang="en-US" dirty="0">
              <a:solidFill>
                <a:schemeClr val="tx2">
                  <a:lumMod val="40000"/>
                  <a:lumOff val="60000"/>
                </a:schemeClr>
              </a:solidFill>
            </a:endParaRPr>
          </a:p>
        </p:txBody>
      </p:sp>
      <p:sp>
        <p:nvSpPr>
          <p:cNvPr id="10" name="矩形: 圆角 38"/>
          <p:cNvSpPr/>
          <p:nvPr/>
        </p:nvSpPr>
        <p:spPr>
          <a:xfrm>
            <a:off x="3883824" y="1544417"/>
            <a:ext cx="840085" cy="700150"/>
          </a:xfrm>
          <a:prstGeom prst="round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solidFill>
                  <a:schemeClr val="tx2">
                    <a:lumMod val="40000"/>
                    <a:lumOff val="60000"/>
                  </a:schemeClr>
                </a:solidFill>
              </a:rPr>
              <a:t>Block</a:t>
            </a:r>
            <a:endParaRPr lang="zh-CN" altLang="en-US" dirty="0">
              <a:solidFill>
                <a:schemeClr val="tx2">
                  <a:lumMod val="40000"/>
                  <a:lumOff val="60000"/>
                </a:schemeClr>
              </a:solidFill>
            </a:endParaRPr>
          </a:p>
        </p:txBody>
      </p:sp>
      <p:sp>
        <p:nvSpPr>
          <p:cNvPr id="11" name="矩形: 圆角 42"/>
          <p:cNvSpPr/>
          <p:nvPr/>
        </p:nvSpPr>
        <p:spPr>
          <a:xfrm>
            <a:off x="5210260" y="1544417"/>
            <a:ext cx="840085" cy="700150"/>
          </a:xfrm>
          <a:prstGeom prst="round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solidFill>
                  <a:schemeClr val="tx2">
                    <a:lumMod val="40000"/>
                    <a:lumOff val="60000"/>
                  </a:schemeClr>
                </a:solidFill>
              </a:rPr>
              <a:t>Block</a:t>
            </a:r>
            <a:endParaRPr lang="zh-CN" altLang="en-US" dirty="0">
              <a:solidFill>
                <a:schemeClr val="tx2">
                  <a:lumMod val="40000"/>
                  <a:lumOff val="60000"/>
                </a:schemeClr>
              </a:solidFill>
            </a:endParaRPr>
          </a:p>
        </p:txBody>
      </p:sp>
      <p:cxnSp>
        <p:nvCxnSpPr>
          <p:cNvPr id="12" name="直接箭头连接符 11"/>
          <p:cNvCxnSpPr>
            <a:stCxn id="9" idx="3"/>
            <a:endCxn id="10" idx="1"/>
          </p:cNvCxnSpPr>
          <p:nvPr/>
        </p:nvCxnSpPr>
        <p:spPr>
          <a:xfrm>
            <a:off x="3396496" y="1894492"/>
            <a:ext cx="48732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接箭头连接符 12"/>
          <p:cNvCxnSpPr>
            <a:stCxn id="10" idx="3"/>
            <a:endCxn id="11" idx="1"/>
          </p:cNvCxnSpPr>
          <p:nvPr/>
        </p:nvCxnSpPr>
        <p:spPr>
          <a:xfrm>
            <a:off x="4723909" y="1894492"/>
            <a:ext cx="486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矩形 13"/>
          <p:cNvSpPr/>
          <p:nvPr/>
        </p:nvSpPr>
        <p:spPr>
          <a:xfrm>
            <a:off x="1134944" y="959946"/>
            <a:ext cx="6846570" cy="460375"/>
          </a:xfrm>
          <a:prstGeom prst="rect">
            <a:avLst/>
          </a:prstGeom>
        </p:spPr>
        <p:txBody>
          <a:bodyPr wrap="square">
            <a:spAutoFit/>
          </a:bodyPr>
          <a:lstStyle/>
          <a:p>
            <a:r>
              <a:rPr lang="zh-CN" altLang="en-US" sz="2400" b="1" dirty="0"/>
              <a:t>基于区块链的去中心化联邦学习模型存证架构</a:t>
            </a:r>
          </a:p>
        </p:txBody>
      </p:sp>
      <p:sp>
        <p:nvSpPr>
          <p:cNvPr id="15" name="Up Arrow 50"/>
          <p:cNvSpPr/>
          <p:nvPr/>
        </p:nvSpPr>
        <p:spPr>
          <a:xfrm>
            <a:off x="6757636" y="2552650"/>
            <a:ext cx="391025" cy="234931"/>
          </a:xfrm>
          <a:prstGeom prst="upArrow">
            <a:avLst/>
          </a:prstGeom>
          <a:solidFill>
            <a:schemeClr val="accent6">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6" name="矩形: 圆角 42"/>
          <p:cNvSpPr/>
          <p:nvPr/>
        </p:nvSpPr>
        <p:spPr>
          <a:xfrm>
            <a:off x="6553828" y="1540401"/>
            <a:ext cx="840085" cy="700150"/>
          </a:xfrm>
          <a:prstGeom prst="round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solidFill>
                  <a:schemeClr val="tx2">
                    <a:lumMod val="40000"/>
                    <a:lumOff val="60000"/>
                  </a:schemeClr>
                </a:solidFill>
              </a:rPr>
              <a:t>Block</a:t>
            </a:r>
            <a:endParaRPr lang="zh-CN" altLang="en-US" dirty="0">
              <a:solidFill>
                <a:schemeClr val="tx2">
                  <a:lumMod val="40000"/>
                  <a:lumOff val="60000"/>
                </a:schemeClr>
              </a:solidFill>
            </a:endParaRPr>
          </a:p>
        </p:txBody>
      </p:sp>
      <p:cxnSp>
        <p:nvCxnSpPr>
          <p:cNvPr id="17" name="直接箭头连接符 16"/>
          <p:cNvCxnSpPr>
            <a:endCxn id="16" idx="1"/>
          </p:cNvCxnSpPr>
          <p:nvPr/>
        </p:nvCxnSpPr>
        <p:spPr>
          <a:xfrm>
            <a:off x="6067477" y="1890476"/>
            <a:ext cx="486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矩形: 圆角 42"/>
          <p:cNvSpPr/>
          <p:nvPr/>
        </p:nvSpPr>
        <p:spPr>
          <a:xfrm>
            <a:off x="1196959" y="1544417"/>
            <a:ext cx="840085" cy="700150"/>
          </a:xfrm>
          <a:prstGeom prst="round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solidFill>
                  <a:schemeClr val="tx2">
                    <a:lumMod val="40000"/>
                    <a:lumOff val="60000"/>
                  </a:schemeClr>
                </a:solidFill>
              </a:rPr>
              <a:t>Block</a:t>
            </a:r>
            <a:endParaRPr lang="zh-CN" altLang="en-US" dirty="0">
              <a:solidFill>
                <a:schemeClr val="tx2">
                  <a:lumMod val="40000"/>
                  <a:lumOff val="60000"/>
                </a:schemeClr>
              </a:solidFill>
            </a:endParaRPr>
          </a:p>
        </p:txBody>
      </p:sp>
      <p:cxnSp>
        <p:nvCxnSpPr>
          <p:cNvPr id="19" name="直接箭头连接符 18"/>
          <p:cNvCxnSpPr>
            <a:endCxn id="18" idx="1"/>
          </p:cNvCxnSpPr>
          <p:nvPr/>
        </p:nvCxnSpPr>
        <p:spPr>
          <a:xfrm>
            <a:off x="710608" y="1894492"/>
            <a:ext cx="486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直接箭头连接符 19"/>
          <p:cNvCxnSpPr/>
          <p:nvPr/>
        </p:nvCxnSpPr>
        <p:spPr>
          <a:xfrm>
            <a:off x="2037044" y="1894492"/>
            <a:ext cx="486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直接箭头连接符 20"/>
          <p:cNvCxnSpPr/>
          <p:nvPr/>
        </p:nvCxnSpPr>
        <p:spPr>
          <a:xfrm>
            <a:off x="7393913" y="1903741"/>
            <a:ext cx="486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矩形 21"/>
          <p:cNvSpPr/>
          <p:nvPr/>
        </p:nvSpPr>
        <p:spPr>
          <a:xfrm>
            <a:off x="426284" y="2837006"/>
            <a:ext cx="2345690" cy="806132"/>
          </a:xfrm>
          <a:prstGeom prst="rect">
            <a:avLst/>
          </a:prstGeom>
          <a:solidFill>
            <a:schemeClr val="bg1"/>
          </a:solidFill>
          <a:ln w="6350">
            <a:solidFill>
              <a:schemeClr val="tx1"/>
            </a:solidFill>
          </a:ln>
        </p:spPr>
        <p:style>
          <a:lnRef idx="3">
            <a:schemeClr val="lt1"/>
          </a:lnRef>
          <a:fillRef idx="1">
            <a:schemeClr val="accent4"/>
          </a:fillRef>
          <a:effectRef idx="1">
            <a:schemeClr val="accent4"/>
          </a:effectRef>
          <a:fontRef idx="minor">
            <a:schemeClr val="lt1"/>
          </a:fontRef>
        </p:style>
        <p:txBody>
          <a:bodyPr anchor="t" anchorCtr="0"/>
          <a:lstStyle/>
          <a:p>
            <a:pPr algn="ctr">
              <a:spcBef>
                <a:spcPts val="300"/>
              </a:spcBef>
              <a:defRPr/>
            </a:pPr>
            <a:endParaRPr lang="zh-CN" altLang="en-US" sz="1600"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23" name="TextBox 22"/>
          <p:cNvSpPr txBox="1"/>
          <p:nvPr/>
        </p:nvSpPr>
        <p:spPr>
          <a:xfrm>
            <a:off x="426284" y="2927176"/>
            <a:ext cx="2344420" cy="798829"/>
          </a:xfrm>
          <a:prstGeom prst="rect">
            <a:avLst/>
          </a:prstGeom>
          <a:noFill/>
        </p:spPr>
        <p:txBody>
          <a:bodyPr wrap="square" rtlCol="0">
            <a:noAutofit/>
          </a:bodyPr>
          <a:lstStyle/>
          <a:p>
            <a:pPr algn="ctr"/>
            <a:r>
              <a:rPr lang="zh-CN" altLang="en-US"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sym typeface="+mn-ea"/>
              </a:rPr>
              <a:t>基于区块链的分布式可信文件存证模块</a:t>
            </a:r>
          </a:p>
        </p:txBody>
      </p:sp>
      <p:sp>
        <p:nvSpPr>
          <p:cNvPr id="24" name="矩形 23"/>
          <p:cNvSpPr/>
          <p:nvPr/>
        </p:nvSpPr>
        <p:spPr>
          <a:xfrm>
            <a:off x="5773619" y="2839546"/>
            <a:ext cx="2443480" cy="800735"/>
          </a:xfrm>
          <a:prstGeom prst="rect">
            <a:avLst/>
          </a:prstGeom>
          <a:solidFill>
            <a:schemeClr val="bg1"/>
          </a:solidFill>
          <a:ln w="6350">
            <a:solidFill>
              <a:schemeClr val="tx1"/>
            </a:solidFill>
          </a:ln>
        </p:spPr>
        <p:style>
          <a:lnRef idx="3">
            <a:schemeClr val="lt1"/>
          </a:lnRef>
          <a:fillRef idx="1">
            <a:schemeClr val="accent4"/>
          </a:fillRef>
          <a:effectRef idx="1">
            <a:schemeClr val="accent4"/>
          </a:effectRef>
          <a:fontRef idx="minor">
            <a:schemeClr val="lt1"/>
          </a:fontRef>
        </p:style>
        <p:txBody>
          <a:bodyPr anchor="t" anchorCtr="0"/>
          <a:lstStyle/>
          <a:p>
            <a:pPr algn="ctr">
              <a:spcBef>
                <a:spcPts val="300"/>
              </a:spcBef>
              <a:defRPr/>
            </a:pPr>
            <a:endParaRPr lang="zh-CN" altLang="en-US" sz="1600"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25" name="TextBox 24"/>
          <p:cNvSpPr txBox="1"/>
          <p:nvPr/>
        </p:nvSpPr>
        <p:spPr>
          <a:xfrm>
            <a:off x="5809496" y="2785778"/>
            <a:ext cx="2371725" cy="923330"/>
          </a:xfrm>
          <a:prstGeom prst="rect">
            <a:avLst/>
          </a:prstGeom>
          <a:noFill/>
        </p:spPr>
        <p:txBody>
          <a:bodyPr wrap="square" rtlCol="0">
            <a:spAutoFit/>
          </a:bodyPr>
          <a:lstStyle/>
          <a:p>
            <a:pPr algn="ctr"/>
            <a:r>
              <a:rPr lang="zh-CN" altLang="en-US"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sym typeface="+mn-ea"/>
              </a:rPr>
              <a:t>基于</a:t>
            </a:r>
            <a:r>
              <a:rPr lang="en-US" altLang="zh-CN"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sym typeface="+mn-ea"/>
              </a:rPr>
              <a:t>AES-GCM</a:t>
            </a:r>
            <a:r>
              <a:rPr lang="zh-CN" altLang="en-US"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sym typeface="+mn-ea"/>
              </a:rPr>
              <a:t>算法的分布式安全文件防御模块</a:t>
            </a:r>
          </a:p>
        </p:txBody>
      </p:sp>
      <p:sp>
        <p:nvSpPr>
          <p:cNvPr id="26" name="Up Arrow 50"/>
          <p:cNvSpPr/>
          <p:nvPr/>
        </p:nvSpPr>
        <p:spPr>
          <a:xfrm>
            <a:off x="4107379" y="2553796"/>
            <a:ext cx="391160" cy="234950"/>
          </a:xfrm>
          <a:prstGeom prst="upArrow">
            <a:avLst/>
          </a:prstGeom>
          <a:solidFill>
            <a:schemeClr val="accent6">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7" name="矩形 26"/>
          <p:cNvSpPr/>
          <p:nvPr/>
        </p:nvSpPr>
        <p:spPr>
          <a:xfrm>
            <a:off x="3090744" y="2841451"/>
            <a:ext cx="2322830" cy="798830"/>
          </a:xfrm>
          <a:prstGeom prst="rect">
            <a:avLst/>
          </a:prstGeom>
          <a:solidFill>
            <a:schemeClr val="bg1"/>
          </a:solidFill>
          <a:ln w="6350">
            <a:solidFill>
              <a:schemeClr val="tx1"/>
            </a:solidFill>
          </a:ln>
        </p:spPr>
        <p:style>
          <a:lnRef idx="3">
            <a:schemeClr val="lt1"/>
          </a:lnRef>
          <a:fillRef idx="1">
            <a:schemeClr val="accent4"/>
          </a:fillRef>
          <a:effectRef idx="1">
            <a:schemeClr val="accent4"/>
          </a:effectRef>
          <a:fontRef idx="minor">
            <a:schemeClr val="lt1"/>
          </a:fontRef>
        </p:style>
        <p:txBody>
          <a:bodyPr anchor="t" anchorCtr="0"/>
          <a:lstStyle/>
          <a:p>
            <a:pPr algn="ctr">
              <a:spcBef>
                <a:spcPts val="300"/>
              </a:spcBef>
              <a:defRPr/>
            </a:pPr>
            <a:endParaRPr lang="zh-CN" altLang="en-US" sz="1600"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28" name="TextBox 59"/>
          <p:cNvSpPr txBox="1"/>
          <p:nvPr/>
        </p:nvSpPr>
        <p:spPr>
          <a:xfrm>
            <a:off x="3090109" y="2939067"/>
            <a:ext cx="2323465" cy="545147"/>
          </a:xfrm>
          <a:prstGeom prst="rect">
            <a:avLst/>
          </a:prstGeom>
          <a:noFill/>
        </p:spPr>
        <p:txBody>
          <a:bodyPr wrap="square" rtlCol="0">
            <a:noAutofit/>
          </a:bodyPr>
          <a:lstStyle/>
          <a:p>
            <a:pPr algn="ctr"/>
            <a:r>
              <a:rPr lang="zh-CN" altLang="en-US" b="1"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sym typeface="+mn-ea"/>
              </a:rPr>
              <a:t>基于对象存储的分布式可靠文件存储模块</a:t>
            </a:r>
          </a:p>
        </p:txBody>
      </p:sp>
      <p:sp>
        <p:nvSpPr>
          <p:cNvPr id="2" name="矩形 1"/>
          <p:cNvSpPr/>
          <p:nvPr/>
        </p:nvSpPr>
        <p:spPr>
          <a:xfrm>
            <a:off x="6363831" y="5825554"/>
            <a:ext cx="1569660" cy="369332"/>
          </a:xfrm>
          <a:prstGeom prst="rect">
            <a:avLst/>
          </a:prstGeom>
        </p:spPr>
        <p:txBody>
          <a:bodyPr wrap="none">
            <a:spAutoFit/>
          </a:bodyPr>
          <a:lstStyle/>
          <a:p>
            <a:r>
              <a:rPr lang="zh-CN" altLang="en-US"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隐私泄露风险</a:t>
            </a:r>
            <a:endParaRPr lang="zh-CN" altLang="en-US" dirty="0"/>
          </a:p>
        </p:txBody>
      </p:sp>
      <p:sp>
        <p:nvSpPr>
          <p:cNvPr id="3" name="矩形 2"/>
          <p:cNvSpPr/>
          <p:nvPr/>
        </p:nvSpPr>
        <p:spPr>
          <a:xfrm>
            <a:off x="3409767" y="5825554"/>
            <a:ext cx="1800493" cy="369332"/>
          </a:xfrm>
          <a:prstGeom prst="rect">
            <a:avLst/>
          </a:prstGeom>
        </p:spPr>
        <p:txBody>
          <a:bodyPr wrap="none">
            <a:spAutoFit/>
          </a:bodyPr>
          <a:lstStyle/>
          <a:p>
            <a:r>
              <a:rPr lang="zh-CN" altLang="en-US"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存证服务效率低</a:t>
            </a:r>
            <a:endParaRPr lang="zh-CN" altLang="en-US" dirty="0"/>
          </a:p>
        </p:txBody>
      </p:sp>
      <p:sp>
        <p:nvSpPr>
          <p:cNvPr id="4" name="矩形 3"/>
          <p:cNvSpPr/>
          <p:nvPr/>
        </p:nvSpPr>
        <p:spPr>
          <a:xfrm>
            <a:off x="929715" y="5825554"/>
            <a:ext cx="1338828" cy="369332"/>
          </a:xfrm>
          <a:prstGeom prst="rect">
            <a:avLst/>
          </a:prstGeom>
        </p:spPr>
        <p:txBody>
          <a:bodyPr wrap="none">
            <a:spAutoFit/>
          </a:bodyPr>
          <a:lstStyle/>
          <a:p>
            <a:r>
              <a:rPr lang="zh-CN" altLang="en-US"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存储成本高</a:t>
            </a:r>
            <a:endParaRPr lang="zh-CN" altLang="en-US" dirty="0"/>
          </a:p>
        </p:txBody>
      </p:sp>
      <p:sp>
        <p:nvSpPr>
          <p:cNvPr id="31" name="矩形 30">
            <a:extLst>
              <a:ext uri="{FF2B5EF4-FFF2-40B4-BE49-F238E27FC236}">
                <a16:creationId xmlns:a16="http://schemas.microsoft.com/office/drawing/2014/main" id="{AE8FFCE6-F1F5-4F80-B5E5-78EDCF876137}"/>
              </a:ext>
            </a:extLst>
          </p:cNvPr>
          <p:cNvSpPr/>
          <p:nvPr/>
        </p:nvSpPr>
        <p:spPr>
          <a:xfrm>
            <a:off x="-10160" y="6467474"/>
            <a:ext cx="9225280" cy="40068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000"/>
              </a:lnSpc>
            </a:pPr>
            <a:r>
              <a:rPr lang="zh-CN" altLang="en-US" sz="1400" dirty="0">
                <a:sym typeface="+mn-ea"/>
              </a:rPr>
              <a:t>相关技术和源码已开源，详见：</a:t>
            </a:r>
            <a:r>
              <a:rPr lang="en-US" altLang="zh-CN" sz="1400" dirty="0">
                <a:solidFill>
                  <a:schemeClr val="bg1"/>
                </a:solidFill>
                <a:sym typeface="+mn-ea"/>
              </a:rPr>
              <a:t>https://github.com/flyingcoding</a:t>
            </a:r>
            <a:endParaRPr lang="en-US" altLang="zh-CN" sz="1100" b="1" dirty="0">
              <a:solidFill>
                <a:schemeClr val="bg1"/>
              </a:solidFill>
              <a:latin typeface="微软雅黑" panose="020B0503020204020204" pitchFamily="34" charset="-122"/>
              <a:ea typeface="微软雅黑" panose="020B0503020204020204" pitchFamily="34" charset="-122"/>
              <a:sym typeface="+mn-ea"/>
            </a:endParaRPr>
          </a:p>
        </p:txBody>
      </p:sp>
      <p:cxnSp>
        <p:nvCxnSpPr>
          <p:cNvPr id="29" name="直接箭头连接符 28"/>
          <p:cNvCxnSpPr/>
          <p:nvPr/>
        </p:nvCxnSpPr>
        <p:spPr>
          <a:xfrm flipV="1">
            <a:off x="1617001" y="5447896"/>
            <a:ext cx="0" cy="3147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 name="矩形 4"/>
          <p:cNvSpPr/>
          <p:nvPr/>
        </p:nvSpPr>
        <p:spPr>
          <a:xfrm>
            <a:off x="415131" y="4290846"/>
            <a:ext cx="2355573" cy="923330"/>
          </a:xfrm>
          <a:prstGeom prst="rect">
            <a:avLst/>
          </a:prstGeom>
        </p:spPr>
        <p:txBody>
          <a:bodyPr wrap="square">
            <a:spAutoFit/>
          </a:bodyPr>
          <a:lstStyle/>
          <a:p>
            <a:r>
              <a:rPr lang="zh-CN" altLang="zh-CN" dirty="0"/>
              <a:t>链上与链下协同存储</a:t>
            </a:r>
            <a:r>
              <a:rPr lang="zh-CN" altLang="en-US" dirty="0"/>
              <a:t>，</a:t>
            </a:r>
            <a:r>
              <a:rPr lang="zh-CN" altLang="zh-CN" dirty="0"/>
              <a:t>“存证信息”和“文件内容”分离管理</a:t>
            </a:r>
            <a:endParaRPr lang="zh-CN" altLang="en-US" dirty="0"/>
          </a:p>
        </p:txBody>
      </p:sp>
      <p:cxnSp>
        <p:nvCxnSpPr>
          <p:cNvPr id="36" name="直接箭头连接符 35"/>
          <p:cNvCxnSpPr/>
          <p:nvPr/>
        </p:nvCxnSpPr>
        <p:spPr>
          <a:xfrm flipV="1">
            <a:off x="4333531" y="5447896"/>
            <a:ext cx="0" cy="3147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直接箭头连接符 36"/>
          <p:cNvCxnSpPr/>
          <p:nvPr/>
        </p:nvCxnSpPr>
        <p:spPr>
          <a:xfrm flipV="1">
            <a:off x="7184512" y="5447896"/>
            <a:ext cx="0" cy="3147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3" name="矩形 32"/>
          <p:cNvSpPr/>
          <p:nvPr/>
        </p:nvSpPr>
        <p:spPr>
          <a:xfrm>
            <a:off x="3110830" y="4152346"/>
            <a:ext cx="2286000" cy="1200329"/>
          </a:xfrm>
          <a:prstGeom prst="rect">
            <a:avLst/>
          </a:prstGeom>
        </p:spPr>
        <p:txBody>
          <a:bodyPr wrap="square">
            <a:spAutoFit/>
          </a:bodyPr>
          <a:lstStyle/>
          <a:p>
            <a:r>
              <a:rPr lang="zh-CN" altLang="zh-CN" dirty="0"/>
              <a:t>采用对象存储技术（</a:t>
            </a:r>
            <a:r>
              <a:rPr lang="en-US" altLang="zh-CN" dirty="0" err="1"/>
              <a:t>MinIO</a:t>
            </a:r>
            <a:r>
              <a:rPr lang="zh-CN" altLang="zh-CN" dirty="0"/>
              <a:t>集群）将文件的物理存储与逻辑管理分离</a:t>
            </a:r>
            <a:endParaRPr lang="zh-CN" altLang="en-US" dirty="0"/>
          </a:p>
        </p:txBody>
      </p:sp>
      <p:sp>
        <p:nvSpPr>
          <p:cNvPr id="38" name="矩形 37"/>
          <p:cNvSpPr/>
          <p:nvPr/>
        </p:nvSpPr>
        <p:spPr>
          <a:xfrm>
            <a:off x="5904746" y="4304746"/>
            <a:ext cx="2371725" cy="923330"/>
          </a:xfrm>
          <a:prstGeom prst="rect">
            <a:avLst/>
          </a:prstGeom>
        </p:spPr>
        <p:txBody>
          <a:bodyPr wrap="square">
            <a:spAutoFit/>
          </a:bodyPr>
          <a:lstStyle/>
          <a:p>
            <a:r>
              <a:rPr lang="zh-CN" altLang="en-US" dirty="0"/>
              <a:t>基于</a:t>
            </a:r>
            <a:r>
              <a:rPr lang="en-US" altLang="zh-CN" dirty="0"/>
              <a:t>AES-GCM</a:t>
            </a:r>
            <a:r>
              <a:rPr lang="zh-CN" altLang="en-US" dirty="0"/>
              <a:t>算法建立多层次、纵深防御的安全防御体系</a:t>
            </a:r>
          </a:p>
        </p:txBody>
      </p:sp>
      <p:sp>
        <p:nvSpPr>
          <p:cNvPr id="39" name="矩形: 圆角 33">
            <a:extLst>
              <a:ext uri="{FF2B5EF4-FFF2-40B4-BE49-F238E27FC236}">
                <a16:creationId xmlns:a16="http://schemas.microsoft.com/office/drawing/2014/main" id="{7FD31EDF-51FF-4285-8E2D-02FCE5E0D495}"/>
              </a:ext>
            </a:extLst>
          </p:cNvPr>
          <p:cNvSpPr/>
          <p:nvPr/>
        </p:nvSpPr>
        <p:spPr>
          <a:xfrm>
            <a:off x="415131" y="4152346"/>
            <a:ext cx="2356844" cy="1200328"/>
          </a:xfrm>
          <a:prstGeom prst="roundRect">
            <a:avLst>
              <a:gd name="adj" fmla="val 10667"/>
            </a:avLst>
          </a:prstGeom>
          <a:noFill/>
          <a:ln w="635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3500" tIns="27000" rIns="13500" bIns="27000" numCol="1" spcCol="38100" rtlCol="0" anchor="ctr" anchorCtr="0">
            <a:noAutofit/>
          </a:bodyPr>
          <a:lstStyle/>
          <a:p>
            <a:pPr marL="7088" algn="ctr"/>
            <a:endParaRPr lang="zh-CN" altLang="en-US" dirty="0">
              <a:latin typeface="+mn-ea"/>
            </a:endParaRPr>
          </a:p>
        </p:txBody>
      </p:sp>
      <p:sp>
        <p:nvSpPr>
          <p:cNvPr id="41" name="矩形: 圆角 33">
            <a:extLst>
              <a:ext uri="{FF2B5EF4-FFF2-40B4-BE49-F238E27FC236}">
                <a16:creationId xmlns:a16="http://schemas.microsoft.com/office/drawing/2014/main" id="{7FD31EDF-51FF-4285-8E2D-02FCE5E0D495}"/>
              </a:ext>
            </a:extLst>
          </p:cNvPr>
          <p:cNvSpPr/>
          <p:nvPr/>
        </p:nvSpPr>
        <p:spPr>
          <a:xfrm>
            <a:off x="3090108" y="4152347"/>
            <a:ext cx="2323465" cy="1200328"/>
          </a:xfrm>
          <a:prstGeom prst="roundRect">
            <a:avLst>
              <a:gd name="adj" fmla="val 10667"/>
            </a:avLst>
          </a:prstGeom>
          <a:noFill/>
          <a:ln w="635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3500" tIns="27000" rIns="13500" bIns="27000" numCol="1" spcCol="38100" rtlCol="0" anchor="ctr" anchorCtr="0">
            <a:noAutofit/>
          </a:bodyPr>
          <a:lstStyle/>
          <a:p>
            <a:pPr marL="7088" algn="ctr"/>
            <a:endParaRPr lang="zh-CN" altLang="en-US" dirty="0">
              <a:latin typeface="+mn-ea"/>
            </a:endParaRPr>
          </a:p>
        </p:txBody>
      </p:sp>
      <p:sp>
        <p:nvSpPr>
          <p:cNvPr id="42" name="矩形: 圆角 33">
            <a:extLst>
              <a:ext uri="{FF2B5EF4-FFF2-40B4-BE49-F238E27FC236}">
                <a16:creationId xmlns:a16="http://schemas.microsoft.com/office/drawing/2014/main" id="{7FD31EDF-51FF-4285-8E2D-02FCE5E0D495}"/>
              </a:ext>
            </a:extLst>
          </p:cNvPr>
          <p:cNvSpPr/>
          <p:nvPr/>
        </p:nvSpPr>
        <p:spPr>
          <a:xfrm>
            <a:off x="5773619" y="4152347"/>
            <a:ext cx="2443480" cy="1200328"/>
          </a:xfrm>
          <a:prstGeom prst="roundRect">
            <a:avLst>
              <a:gd name="adj" fmla="val 10667"/>
            </a:avLst>
          </a:prstGeom>
          <a:noFill/>
          <a:ln w="635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3500" tIns="27000" rIns="13500" bIns="27000" numCol="1" spcCol="38100" rtlCol="0" anchor="ctr" anchorCtr="0">
            <a:noAutofit/>
          </a:bodyPr>
          <a:lstStyle/>
          <a:p>
            <a:pPr marL="7088" algn="ctr"/>
            <a:endParaRPr lang="zh-CN" altLang="en-US" dirty="0">
              <a:latin typeface="+mn-ea"/>
            </a:endParaRPr>
          </a:p>
        </p:txBody>
      </p:sp>
      <p:cxnSp>
        <p:nvCxnSpPr>
          <p:cNvPr id="43" name="直接箭头连接符 42"/>
          <p:cNvCxnSpPr/>
          <p:nvPr/>
        </p:nvCxnSpPr>
        <p:spPr>
          <a:xfrm flipV="1">
            <a:off x="1560618" y="3726005"/>
            <a:ext cx="0" cy="3147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直接箭头连接符 43"/>
          <p:cNvCxnSpPr/>
          <p:nvPr/>
        </p:nvCxnSpPr>
        <p:spPr>
          <a:xfrm flipV="1">
            <a:off x="4277148" y="3726005"/>
            <a:ext cx="0" cy="3147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5" name="直接箭头连接符 44"/>
          <p:cNvCxnSpPr/>
          <p:nvPr/>
        </p:nvCxnSpPr>
        <p:spPr>
          <a:xfrm flipV="1">
            <a:off x="7128129" y="3726005"/>
            <a:ext cx="0" cy="3147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513872" y="5687054"/>
            <a:ext cx="415498" cy="646331"/>
          </a:xfrm>
          <a:prstGeom prst="rect">
            <a:avLst/>
          </a:prstGeom>
          <a:noFill/>
        </p:spPr>
        <p:txBody>
          <a:bodyPr wrap="none" rtlCol="0">
            <a:spAutoFit/>
          </a:bodyPr>
          <a:lstStyle/>
          <a:p>
            <a:r>
              <a:rPr lang="zh-CN" altLang="en-US" dirty="0"/>
              <a:t>问</a:t>
            </a:r>
            <a:endParaRPr lang="en-US" altLang="zh-CN" dirty="0"/>
          </a:p>
          <a:p>
            <a:r>
              <a:rPr lang="zh-CN" altLang="en-US" dirty="0"/>
              <a:t>题</a:t>
            </a:r>
          </a:p>
        </p:txBody>
      </p:sp>
      <p:sp>
        <p:nvSpPr>
          <p:cNvPr id="47" name="TextBox 46"/>
          <p:cNvSpPr txBox="1"/>
          <p:nvPr/>
        </p:nvSpPr>
        <p:spPr>
          <a:xfrm>
            <a:off x="8513872" y="4429345"/>
            <a:ext cx="415498" cy="646331"/>
          </a:xfrm>
          <a:prstGeom prst="rect">
            <a:avLst/>
          </a:prstGeom>
          <a:noFill/>
        </p:spPr>
        <p:txBody>
          <a:bodyPr wrap="none" rtlCol="0">
            <a:spAutoFit/>
          </a:bodyPr>
          <a:lstStyle/>
          <a:p>
            <a:r>
              <a:rPr lang="zh-CN" altLang="en-US" dirty="0"/>
              <a:t>技</a:t>
            </a:r>
            <a:endParaRPr lang="en-US" altLang="zh-CN" dirty="0"/>
          </a:p>
          <a:p>
            <a:r>
              <a:rPr lang="zh-CN" altLang="en-US" dirty="0"/>
              <a:t>术</a:t>
            </a:r>
          </a:p>
        </p:txBody>
      </p:sp>
      <p:sp>
        <p:nvSpPr>
          <p:cNvPr id="48" name="TextBox 47"/>
          <p:cNvSpPr txBox="1"/>
          <p:nvPr/>
        </p:nvSpPr>
        <p:spPr>
          <a:xfrm>
            <a:off x="8513872" y="2924277"/>
            <a:ext cx="415498" cy="646331"/>
          </a:xfrm>
          <a:prstGeom prst="rect">
            <a:avLst/>
          </a:prstGeom>
          <a:noFill/>
        </p:spPr>
        <p:txBody>
          <a:bodyPr wrap="none" rtlCol="0">
            <a:spAutoFit/>
          </a:bodyPr>
          <a:lstStyle/>
          <a:p>
            <a:r>
              <a:rPr lang="zh-CN" altLang="en-US" dirty="0"/>
              <a:t>模</a:t>
            </a:r>
            <a:endParaRPr lang="en-US" altLang="zh-CN" dirty="0"/>
          </a:p>
          <a:p>
            <a:r>
              <a:rPr lang="zh-CN" altLang="en-US" dirty="0"/>
              <a:t>块</a:t>
            </a:r>
          </a:p>
        </p:txBody>
      </p:sp>
      <p:sp>
        <p:nvSpPr>
          <p:cNvPr id="49" name="TextBox 48"/>
          <p:cNvSpPr txBox="1"/>
          <p:nvPr/>
        </p:nvSpPr>
        <p:spPr>
          <a:xfrm>
            <a:off x="8513872" y="1420321"/>
            <a:ext cx="415498" cy="646331"/>
          </a:xfrm>
          <a:prstGeom prst="rect">
            <a:avLst/>
          </a:prstGeom>
          <a:noFill/>
        </p:spPr>
        <p:txBody>
          <a:bodyPr wrap="none" rtlCol="0">
            <a:spAutoFit/>
          </a:bodyPr>
          <a:lstStyle/>
          <a:p>
            <a:r>
              <a:rPr lang="zh-CN" altLang="en-US" dirty="0"/>
              <a:t>架</a:t>
            </a:r>
            <a:endParaRPr lang="en-US" altLang="zh-CN" dirty="0"/>
          </a:p>
          <a:p>
            <a:r>
              <a:rPr lang="zh-CN" altLang="en-US" dirty="0"/>
              <a:t>构</a:t>
            </a:r>
          </a:p>
        </p:txBody>
      </p:sp>
      <p:cxnSp>
        <p:nvCxnSpPr>
          <p:cNvPr id="51" name="直接箭头连接符 50"/>
          <p:cNvCxnSpPr/>
          <p:nvPr/>
        </p:nvCxnSpPr>
        <p:spPr>
          <a:xfrm flipV="1">
            <a:off x="8712096" y="5209026"/>
            <a:ext cx="0" cy="3722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2" name="直接箭头连接符 51"/>
          <p:cNvCxnSpPr/>
          <p:nvPr/>
        </p:nvCxnSpPr>
        <p:spPr>
          <a:xfrm flipV="1">
            <a:off x="8721621" y="3780127"/>
            <a:ext cx="0" cy="3722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3" name="直接箭头连接符 52"/>
          <p:cNvCxnSpPr/>
          <p:nvPr/>
        </p:nvCxnSpPr>
        <p:spPr>
          <a:xfrm flipV="1">
            <a:off x="8689767" y="2240551"/>
            <a:ext cx="0" cy="3722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324067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par>
                                <p:cTn id="17" presetID="2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par>
                                <p:cTn id="20" presetID="22" presetClass="entr" presetSubtype="4"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par>
                                <p:cTn id="29" presetID="22" presetClass="entr" presetSubtype="4"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par>
                                <p:cTn id="35" presetID="22" presetClass="entr" presetSubtype="4"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par>
                                <p:cTn id="38" presetID="22" presetClass="entr" presetSubtype="4"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down)">
                                      <p:cBhvr>
                                        <p:cTn id="40" dur="500"/>
                                        <p:tgtEl>
                                          <p:spTgt spid="20"/>
                                        </p:tgtEl>
                                      </p:cBhvr>
                                    </p:animEffect>
                                  </p:childTnLst>
                                </p:cTn>
                              </p:par>
                              <p:par>
                                <p:cTn id="41" presetID="22" presetClass="entr" presetSubtype="4"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down)">
                                      <p:cBhvr>
                                        <p:cTn id="43" dur="500"/>
                                        <p:tgtEl>
                                          <p:spTgt spid="21"/>
                                        </p:tgtEl>
                                      </p:cBhvr>
                                    </p:animEffect>
                                  </p:childTnLst>
                                </p:cTn>
                              </p:par>
                            </p:childTnLst>
                          </p:cTn>
                        </p:par>
                        <p:par>
                          <p:cTn id="44" fill="hold">
                            <p:stCondLst>
                              <p:cond delay="500"/>
                            </p:stCondLst>
                            <p:childTnLst>
                              <p:par>
                                <p:cTn id="45" presetID="22" presetClass="entr" presetSubtype="4"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500"/>
                                        <p:tgtEl>
                                          <p:spTgt spid="22"/>
                                        </p:tgtEl>
                                      </p:cBhvr>
                                    </p:animEffect>
                                  </p:childTnLst>
                                </p:cTn>
                              </p:par>
                            </p:childTnLst>
                          </p:cTn>
                        </p:par>
                        <p:par>
                          <p:cTn id="48" fill="hold">
                            <p:stCondLst>
                              <p:cond delay="1000"/>
                            </p:stCondLst>
                            <p:childTnLst>
                              <p:par>
                                <p:cTn id="49" presetID="22" presetClass="entr" presetSubtype="4"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down)">
                                      <p:cBhvr>
                                        <p:cTn id="51" dur="500"/>
                                        <p:tgtEl>
                                          <p:spTgt spid="23"/>
                                        </p:tgtEl>
                                      </p:cBhvr>
                                    </p:animEffect>
                                  </p:childTnLst>
                                </p:cTn>
                              </p:par>
                            </p:childTnLst>
                          </p:cTn>
                        </p:par>
                        <p:par>
                          <p:cTn id="52" fill="hold">
                            <p:stCondLst>
                              <p:cond delay="1500"/>
                            </p:stCondLst>
                            <p:childTnLst>
                              <p:par>
                                <p:cTn id="53" presetID="22" presetClass="entr" presetSubtype="4"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down)">
                                      <p:cBhvr>
                                        <p:cTn id="55" dur="500"/>
                                        <p:tgtEl>
                                          <p:spTgt spid="8"/>
                                        </p:tgtEl>
                                      </p:cBhvr>
                                    </p:animEffect>
                                  </p:childTnLst>
                                </p:cTn>
                              </p:par>
                            </p:childTnLst>
                          </p:cTn>
                        </p:par>
                        <p:par>
                          <p:cTn id="56" fill="hold">
                            <p:stCondLst>
                              <p:cond delay="2000"/>
                            </p:stCondLst>
                            <p:childTnLst>
                              <p:par>
                                <p:cTn id="57" presetID="22" presetClass="entr" presetSubtype="4"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down)">
                                      <p:cBhvr>
                                        <p:cTn id="59" dur="500"/>
                                        <p:tgtEl>
                                          <p:spTgt spid="24"/>
                                        </p:tgtEl>
                                      </p:cBhvr>
                                    </p:animEffect>
                                  </p:childTnLst>
                                </p:cTn>
                              </p:par>
                            </p:childTnLst>
                          </p:cTn>
                        </p:par>
                        <p:par>
                          <p:cTn id="60" fill="hold">
                            <p:stCondLst>
                              <p:cond delay="2500"/>
                            </p:stCondLst>
                            <p:childTnLst>
                              <p:par>
                                <p:cTn id="61" presetID="22" presetClass="entr" presetSubtype="4" fill="hold" grpId="0" nodeType="after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down)">
                                      <p:cBhvr>
                                        <p:cTn id="63" dur="500"/>
                                        <p:tgtEl>
                                          <p:spTgt spid="25"/>
                                        </p:tgtEl>
                                      </p:cBhvr>
                                    </p:animEffect>
                                  </p:childTnLst>
                                </p:cTn>
                              </p:par>
                            </p:childTnLst>
                          </p:cTn>
                        </p:par>
                        <p:par>
                          <p:cTn id="64" fill="hold">
                            <p:stCondLst>
                              <p:cond delay="3000"/>
                            </p:stCondLst>
                            <p:childTnLst>
                              <p:par>
                                <p:cTn id="65" presetID="22" presetClass="entr" presetSubtype="4" fill="hold" grpId="0" nodeType="after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down)">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bldLvl="0" animBg="1"/>
      <p:bldP spid="10" grpId="0" bldLvl="0" animBg="1"/>
      <p:bldP spid="11" grpId="0" bldLvl="0" animBg="1"/>
      <p:bldP spid="14" grpId="0"/>
      <p:bldP spid="15" grpId="0" bldLvl="0" animBg="1"/>
      <p:bldP spid="16" grpId="0" bldLvl="0" animBg="1"/>
      <p:bldP spid="18" grpId="0" bldLvl="0" animBg="1"/>
      <p:bldP spid="22" grpId="0" bldLvl="0" animBg="1"/>
      <p:bldP spid="23" grpId="0"/>
      <p:bldP spid="24" grpId="0" bldLvl="0" animBg="1"/>
      <p:bldP spid="25" grpId="0"/>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研究内容二：</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基于可信存证与可靠存储的分布式存证系统</a:t>
            </a:r>
            <a:endParaRPr lang="zh-CN" altLang="en-US" sz="2500" dirty="0">
              <a:latin typeface="微软雅黑" panose="020B0503020204020204" charset="-122"/>
              <a:ea typeface="微软雅黑" panose="020B0503020204020204" charset="-122"/>
              <a:cs typeface="+mn-ea"/>
              <a:sym typeface="+mn-lt"/>
            </a:endParaRPr>
          </a:p>
        </p:txBody>
      </p:sp>
      <p:sp>
        <p:nvSpPr>
          <p:cNvPr id="31" name="矩形 30">
            <a:extLst>
              <a:ext uri="{FF2B5EF4-FFF2-40B4-BE49-F238E27FC236}">
                <a16:creationId xmlns:a16="http://schemas.microsoft.com/office/drawing/2014/main" id="{AE8FFCE6-F1F5-4F80-B5E5-78EDCF876137}"/>
              </a:ext>
            </a:extLst>
          </p:cNvPr>
          <p:cNvSpPr/>
          <p:nvPr/>
        </p:nvSpPr>
        <p:spPr>
          <a:xfrm>
            <a:off x="-10160" y="6467474"/>
            <a:ext cx="9225280" cy="40068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000"/>
              </a:lnSpc>
            </a:pPr>
            <a:r>
              <a:rPr lang="zh-CN" altLang="en-US" sz="1400" dirty="0">
                <a:sym typeface="+mn-ea"/>
              </a:rPr>
              <a:t>相关技术和源码已开源，详见：</a:t>
            </a:r>
            <a:r>
              <a:rPr lang="en-US" altLang="zh-CN" sz="1400" dirty="0">
                <a:solidFill>
                  <a:schemeClr val="bg1"/>
                </a:solidFill>
                <a:sym typeface="+mn-ea"/>
              </a:rPr>
              <a:t>https://github.com/flyingcoding</a:t>
            </a:r>
            <a:endParaRPr lang="en-US" altLang="zh-CN" sz="1100" b="1" dirty="0">
              <a:solidFill>
                <a:schemeClr val="bg1"/>
              </a:solidFill>
              <a:latin typeface="微软雅黑" panose="020B0503020204020204" pitchFamily="34" charset="-122"/>
              <a:ea typeface="微软雅黑" panose="020B0503020204020204" pitchFamily="34" charset="-122"/>
              <a:sym typeface="+mn-ea"/>
            </a:endParaRPr>
          </a:p>
        </p:txBody>
      </p:sp>
      <p:pic>
        <p:nvPicPr>
          <p:cNvPr id="50" name="图片 49" descr="文件上传"/>
          <p:cNvPicPr/>
          <p:nvPr/>
        </p:nvPicPr>
        <p:blipFill>
          <a:blip r:embed="rId3" cstate="print"/>
          <a:srcRect/>
          <a:stretch>
            <a:fillRect/>
          </a:stretch>
        </p:blipFill>
        <p:spPr>
          <a:xfrm>
            <a:off x="-10160" y="1312143"/>
            <a:ext cx="9154160" cy="4472422"/>
          </a:xfrm>
          <a:prstGeom prst="rect">
            <a:avLst/>
          </a:prstGeom>
        </p:spPr>
      </p:pic>
      <p:sp>
        <p:nvSpPr>
          <p:cNvPr id="54" name="文本框 4"/>
          <p:cNvSpPr txBox="1"/>
          <p:nvPr/>
        </p:nvSpPr>
        <p:spPr>
          <a:xfrm>
            <a:off x="419100" y="879025"/>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文件存储时序图：</a:t>
            </a:r>
          </a:p>
        </p:txBody>
      </p:sp>
      <p:sp>
        <p:nvSpPr>
          <p:cNvPr id="30" name="矩形 29"/>
          <p:cNvSpPr/>
          <p:nvPr/>
        </p:nvSpPr>
        <p:spPr>
          <a:xfrm>
            <a:off x="312128" y="5784565"/>
            <a:ext cx="8523113" cy="646331"/>
          </a:xfrm>
          <a:prstGeom prst="rect">
            <a:avLst/>
          </a:prstGeom>
        </p:spPr>
        <p:txBody>
          <a:bodyPr wrap="square">
            <a:spAutoFit/>
          </a:bodyPr>
          <a:lstStyle/>
          <a:p>
            <a:r>
              <a:rPr lang="zh-CN" altLang="zh-CN" dirty="0"/>
              <a:t>文件上传流程采用分片加密与区块链存证相结合的技术方案，基于分层架构实现安全高效的文件持久化管理</a:t>
            </a:r>
            <a:endParaRPr lang="zh-CN" altLang="en-US" dirty="0"/>
          </a:p>
        </p:txBody>
      </p:sp>
    </p:spTree>
    <p:extLst>
      <p:ext uri="{BB962C8B-B14F-4D97-AF65-F5344CB8AC3E}">
        <p14:creationId xmlns:p14="http://schemas.microsoft.com/office/powerpoint/2010/main" val="9498171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研究内容二：</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基于可信存证与可靠存储的分布式存证系统</a:t>
            </a:r>
            <a:endParaRPr lang="zh-CN" altLang="en-US" sz="2500" dirty="0">
              <a:latin typeface="微软雅黑" panose="020B0503020204020204" charset="-122"/>
              <a:ea typeface="微软雅黑" panose="020B0503020204020204" charset="-122"/>
              <a:cs typeface="+mn-ea"/>
              <a:sym typeface="+mn-lt"/>
            </a:endParaRPr>
          </a:p>
        </p:txBody>
      </p:sp>
      <p:sp>
        <p:nvSpPr>
          <p:cNvPr id="31" name="矩形 30">
            <a:extLst>
              <a:ext uri="{FF2B5EF4-FFF2-40B4-BE49-F238E27FC236}">
                <a16:creationId xmlns:a16="http://schemas.microsoft.com/office/drawing/2014/main" id="{AE8FFCE6-F1F5-4F80-B5E5-78EDCF876137}"/>
              </a:ext>
            </a:extLst>
          </p:cNvPr>
          <p:cNvSpPr/>
          <p:nvPr/>
        </p:nvSpPr>
        <p:spPr>
          <a:xfrm>
            <a:off x="-10160" y="6467474"/>
            <a:ext cx="9225280" cy="40068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000"/>
              </a:lnSpc>
            </a:pPr>
            <a:r>
              <a:rPr lang="zh-CN" altLang="en-US" sz="1400" dirty="0">
                <a:sym typeface="+mn-ea"/>
              </a:rPr>
              <a:t>相关技术和源码已开源，详见：</a:t>
            </a:r>
            <a:r>
              <a:rPr lang="en-US" altLang="zh-CN" sz="1400" dirty="0">
                <a:solidFill>
                  <a:schemeClr val="bg1"/>
                </a:solidFill>
                <a:sym typeface="+mn-ea"/>
              </a:rPr>
              <a:t>https://github.com/flyingcoding</a:t>
            </a:r>
            <a:endParaRPr lang="en-US" altLang="zh-CN" sz="1100" b="1"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4"/>
          <p:cNvSpPr txBox="1"/>
          <p:nvPr/>
        </p:nvSpPr>
        <p:spPr>
          <a:xfrm>
            <a:off x="419100" y="879025"/>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文件读取时序图：</a:t>
            </a:r>
          </a:p>
        </p:txBody>
      </p:sp>
      <p:sp>
        <p:nvSpPr>
          <p:cNvPr id="30" name="矩形 29"/>
          <p:cNvSpPr/>
          <p:nvPr/>
        </p:nvSpPr>
        <p:spPr>
          <a:xfrm>
            <a:off x="312128" y="5784565"/>
            <a:ext cx="8523113" cy="646331"/>
          </a:xfrm>
          <a:prstGeom prst="rect">
            <a:avLst/>
          </a:prstGeom>
        </p:spPr>
        <p:txBody>
          <a:bodyPr wrap="square">
            <a:spAutoFit/>
          </a:bodyPr>
          <a:lstStyle/>
          <a:p>
            <a:r>
              <a:rPr lang="zh-CN" altLang="en-US" dirty="0"/>
              <a:t>本系统提供了一套与上传流程相对应的安全、可验证的文件下载机制，确保用户获取到的是未经篡改的原始文件</a:t>
            </a:r>
          </a:p>
        </p:txBody>
      </p:sp>
      <p:pic>
        <p:nvPicPr>
          <p:cNvPr id="8" name="图片 7" descr="文件下载"/>
          <p:cNvPicPr/>
          <p:nvPr/>
        </p:nvPicPr>
        <p:blipFill>
          <a:blip r:embed="rId3" cstate="print"/>
          <a:srcRect/>
          <a:stretch>
            <a:fillRect/>
          </a:stretch>
        </p:blipFill>
        <p:spPr>
          <a:xfrm>
            <a:off x="130628" y="1255384"/>
            <a:ext cx="9013371" cy="4529181"/>
          </a:xfrm>
          <a:prstGeom prst="rect">
            <a:avLst/>
          </a:prstGeom>
        </p:spPr>
      </p:pic>
    </p:spTree>
    <p:extLst>
      <p:ext uri="{BB962C8B-B14F-4D97-AF65-F5344CB8AC3E}">
        <p14:creationId xmlns:p14="http://schemas.microsoft.com/office/powerpoint/2010/main" val="41546173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研究内容二：</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基于可信存证与可靠存储的分布式存证系统</a:t>
            </a:r>
            <a:endParaRPr lang="zh-CN" altLang="en-US" sz="2500" dirty="0">
              <a:latin typeface="微软雅黑" panose="020B0503020204020204" charset="-122"/>
              <a:ea typeface="微软雅黑" panose="020B0503020204020204" charset="-122"/>
              <a:cs typeface="+mn-ea"/>
              <a:sym typeface="+mn-lt"/>
            </a:endParaRPr>
          </a:p>
        </p:txBody>
      </p:sp>
      <p:sp>
        <p:nvSpPr>
          <p:cNvPr id="31" name="矩形 30">
            <a:extLst>
              <a:ext uri="{FF2B5EF4-FFF2-40B4-BE49-F238E27FC236}">
                <a16:creationId xmlns:a16="http://schemas.microsoft.com/office/drawing/2014/main" id="{AE8FFCE6-F1F5-4F80-B5E5-78EDCF876137}"/>
              </a:ext>
            </a:extLst>
          </p:cNvPr>
          <p:cNvSpPr/>
          <p:nvPr/>
        </p:nvSpPr>
        <p:spPr>
          <a:xfrm>
            <a:off x="-10160" y="6467474"/>
            <a:ext cx="9225280" cy="40068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000"/>
              </a:lnSpc>
            </a:pPr>
            <a:r>
              <a:rPr lang="zh-CN" altLang="en-US" sz="1400" dirty="0">
                <a:sym typeface="+mn-ea"/>
              </a:rPr>
              <a:t>相关技术和源码已开源，详见：</a:t>
            </a:r>
            <a:r>
              <a:rPr lang="en-US" altLang="zh-CN" sz="1400" dirty="0">
                <a:solidFill>
                  <a:schemeClr val="bg1"/>
                </a:solidFill>
                <a:sym typeface="+mn-ea"/>
              </a:rPr>
              <a:t>https://github.com/flyingcoding</a:t>
            </a:r>
            <a:endParaRPr lang="en-US" altLang="zh-CN" sz="1100" b="1"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4"/>
          <p:cNvSpPr txBox="1"/>
          <p:nvPr/>
        </p:nvSpPr>
        <p:spPr>
          <a:xfrm>
            <a:off x="419100" y="879025"/>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文件分享及获取流程：</a:t>
            </a:r>
          </a:p>
        </p:txBody>
      </p:sp>
      <p:sp>
        <p:nvSpPr>
          <p:cNvPr id="30" name="矩形 29"/>
          <p:cNvSpPr/>
          <p:nvPr/>
        </p:nvSpPr>
        <p:spPr>
          <a:xfrm>
            <a:off x="347753" y="5879565"/>
            <a:ext cx="8523113" cy="553998"/>
          </a:xfrm>
          <a:prstGeom prst="rect">
            <a:avLst/>
          </a:prstGeom>
        </p:spPr>
        <p:txBody>
          <a:bodyPr wrap="square">
            <a:spAutoFit/>
          </a:bodyPr>
          <a:lstStyle/>
          <a:p>
            <a:r>
              <a:rPr lang="zh-CN" altLang="en-US" sz="1500" dirty="0"/>
              <a:t>本系统的文件分享流程采用智能合约驱动的事件溯源架构，实现从请求处理到存证溯源的完整闭环。系统通过分层验证机制和并行化处理，在保障区块链数据可信性的同时，满足高性能文件传输需求</a:t>
            </a:r>
          </a:p>
        </p:txBody>
      </p:sp>
      <p:pic>
        <p:nvPicPr>
          <p:cNvPr id="9" name="图片 8" descr="文件分享"/>
          <p:cNvPicPr/>
          <p:nvPr/>
        </p:nvPicPr>
        <p:blipFill>
          <a:blip r:embed="rId3" cstate="print"/>
          <a:srcRect/>
          <a:stretch>
            <a:fillRect/>
          </a:stretch>
        </p:blipFill>
        <p:spPr>
          <a:xfrm>
            <a:off x="312127" y="1279136"/>
            <a:ext cx="8523113" cy="4600429"/>
          </a:xfrm>
          <a:prstGeom prst="rect">
            <a:avLst/>
          </a:prstGeom>
        </p:spPr>
      </p:pic>
    </p:spTree>
    <p:extLst>
      <p:ext uri="{BB962C8B-B14F-4D97-AF65-F5344CB8AC3E}">
        <p14:creationId xmlns:p14="http://schemas.microsoft.com/office/powerpoint/2010/main" val="36579797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研究内容三：</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rPr>
              <a:t>基于多模态数据的学生全面心理画像</a:t>
            </a:r>
            <a:endParaRPr lang="zh-CN" altLang="en-US" sz="2500" dirty="0">
              <a:latin typeface="微软雅黑" panose="020B0503020204020204" charset="-122"/>
              <a:ea typeface="微软雅黑" panose="020B0503020204020204" charset="-122"/>
              <a:cs typeface="+mn-ea"/>
              <a:sym typeface="+mn-lt"/>
            </a:endParaRPr>
          </a:p>
        </p:txBody>
      </p:sp>
      <p:sp>
        <p:nvSpPr>
          <p:cNvPr id="6" name="矩形: 圆角 8">
            <a:extLst>
              <a:ext uri="{FF2B5EF4-FFF2-40B4-BE49-F238E27FC236}">
                <a16:creationId xmlns:a16="http://schemas.microsoft.com/office/drawing/2014/main" id="{F70DFAA0-D549-CE5F-0249-943996CDC232}"/>
              </a:ext>
            </a:extLst>
          </p:cNvPr>
          <p:cNvSpPr/>
          <p:nvPr/>
        </p:nvSpPr>
        <p:spPr>
          <a:xfrm>
            <a:off x="340541" y="1299381"/>
            <a:ext cx="4219770" cy="967570"/>
          </a:xfrm>
          <a:prstGeom prst="roundRect">
            <a:avLst>
              <a:gd name="adj" fmla="val 2406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just" defTabSz="914400"/>
            <a:r>
              <a:rPr lang="zh-CN" altLang="en-US" b="1" dirty="0">
                <a:solidFill>
                  <a:prstClr val="white"/>
                </a:solidFill>
                <a:latin typeface="宋体" panose="02010600030101010101" pitchFamily="2" charset="-122"/>
                <a:ea typeface="宋体" panose="02010600030101010101" pitchFamily="2" charset="-122"/>
              </a:rPr>
              <a:t>行为画像</a:t>
            </a:r>
            <a:r>
              <a:rPr lang="zh-CN" altLang="en-US" dirty="0">
                <a:solidFill>
                  <a:prstClr val="white"/>
                </a:solidFill>
                <a:latin typeface="宋体" panose="02010600030101010101" pitchFamily="2" charset="-122"/>
                <a:ea typeface="宋体" panose="02010600030101010101" pitchFamily="2" charset="-122"/>
              </a:rPr>
              <a:t>：</a:t>
            </a:r>
            <a:r>
              <a:rPr lang="zh-CN" altLang="en-US" sz="1600" dirty="0">
                <a:solidFill>
                  <a:prstClr val="white"/>
                </a:solidFill>
                <a:latin typeface="宋体" panose="02010600030101010101" pitchFamily="2" charset="-122"/>
                <a:ea typeface="宋体" panose="02010600030101010101" pitchFamily="2" charset="-122"/>
              </a:rPr>
              <a:t>通过移动设备感知技术收集用户日常活动模式、睡眠规律和运动频率，应用时间序列分析识别异常行为变化。</a:t>
            </a:r>
          </a:p>
        </p:txBody>
      </p:sp>
      <p:sp>
        <p:nvSpPr>
          <p:cNvPr id="8" name="矩形: 圆角 9">
            <a:extLst>
              <a:ext uri="{FF2B5EF4-FFF2-40B4-BE49-F238E27FC236}">
                <a16:creationId xmlns:a16="http://schemas.microsoft.com/office/drawing/2014/main" id="{5101D0B1-82C8-41D8-7746-89EC2935144E}"/>
              </a:ext>
            </a:extLst>
          </p:cNvPr>
          <p:cNvSpPr/>
          <p:nvPr/>
        </p:nvSpPr>
        <p:spPr>
          <a:xfrm>
            <a:off x="340541" y="2569620"/>
            <a:ext cx="4219770" cy="962592"/>
          </a:xfrm>
          <a:prstGeom prst="roundRect">
            <a:avLst>
              <a:gd name="adj" fmla="val 24068"/>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just" defTabSz="914400"/>
            <a:r>
              <a:rPr lang="zh-CN" altLang="en-US" b="1" dirty="0">
                <a:solidFill>
                  <a:prstClr val="white"/>
                </a:solidFill>
                <a:latin typeface="宋体" panose="02010600030101010101" pitchFamily="2" charset="-122"/>
                <a:ea typeface="宋体" panose="02010600030101010101" pitchFamily="2" charset="-122"/>
              </a:rPr>
              <a:t>情绪画像：</a:t>
            </a:r>
            <a:r>
              <a:rPr lang="zh-CN" altLang="en-US" sz="1600" dirty="0">
                <a:solidFill>
                  <a:prstClr val="white"/>
                </a:solidFill>
                <a:latin typeface="宋体" panose="02010600030101010101" pitchFamily="2" charset="-122"/>
                <a:ea typeface="宋体" panose="02010600030101010101" pitchFamily="2" charset="-122"/>
              </a:rPr>
              <a:t>结合语音和文本情感分析技术，捕捉情绪波动、负面表达频率及社交媒体内容的情感趋势变化。</a:t>
            </a:r>
          </a:p>
        </p:txBody>
      </p:sp>
      <p:sp>
        <p:nvSpPr>
          <p:cNvPr id="9" name="矩形: 圆角 11">
            <a:extLst>
              <a:ext uri="{FF2B5EF4-FFF2-40B4-BE49-F238E27FC236}">
                <a16:creationId xmlns:a16="http://schemas.microsoft.com/office/drawing/2014/main" id="{BE6BDED5-56B8-A755-2CCE-43AF8171D2CF}"/>
              </a:ext>
            </a:extLst>
          </p:cNvPr>
          <p:cNvSpPr/>
          <p:nvPr/>
        </p:nvSpPr>
        <p:spPr>
          <a:xfrm>
            <a:off x="340541" y="3873461"/>
            <a:ext cx="4219770" cy="976716"/>
          </a:xfrm>
          <a:prstGeom prst="roundRect">
            <a:avLst>
              <a:gd name="adj" fmla="val 24068"/>
            </a:avLst>
          </a:prstGeom>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defTabSz="914400"/>
            <a:r>
              <a:rPr lang="zh-CN" altLang="en-US" b="1" dirty="0">
                <a:solidFill>
                  <a:prstClr val="white"/>
                </a:solidFill>
                <a:latin typeface="宋体" panose="02010600030101010101" pitchFamily="2" charset="-122"/>
                <a:ea typeface="宋体" panose="02010600030101010101" pitchFamily="2" charset="-122"/>
              </a:rPr>
              <a:t>社交画像：</a:t>
            </a:r>
            <a:r>
              <a:rPr lang="zh-CN" altLang="en-US" sz="1600" dirty="0">
                <a:solidFill>
                  <a:prstClr val="white"/>
                </a:solidFill>
                <a:latin typeface="宋体" panose="02010600030101010101" pitchFamily="2" charset="-122"/>
                <a:ea typeface="宋体" panose="02010600030101010101" pitchFamily="2" charset="-122"/>
              </a:rPr>
              <a:t>全面评估用户社交网络活跃度、互动质量和支持系统完整度，识别潜在社交隔离或退缩行为。</a:t>
            </a:r>
          </a:p>
        </p:txBody>
      </p:sp>
      <p:sp>
        <p:nvSpPr>
          <p:cNvPr id="10" name="矩形: 圆角 12">
            <a:extLst>
              <a:ext uri="{FF2B5EF4-FFF2-40B4-BE49-F238E27FC236}">
                <a16:creationId xmlns:a16="http://schemas.microsoft.com/office/drawing/2014/main" id="{FEB1398C-8AB4-93AF-2215-BF3316CEAE7F}"/>
              </a:ext>
            </a:extLst>
          </p:cNvPr>
          <p:cNvSpPr/>
          <p:nvPr/>
        </p:nvSpPr>
        <p:spPr>
          <a:xfrm>
            <a:off x="340541" y="5209538"/>
            <a:ext cx="4219770" cy="887703"/>
          </a:xfrm>
          <a:prstGeom prst="roundRect">
            <a:avLst>
              <a:gd name="adj" fmla="val 24068"/>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just" defTabSz="914400"/>
            <a:r>
              <a:rPr lang="zh-CN" altLang="en-US" b="1" dirty="0">
                <a:solidFill>
                  <a:prstClr val="white"/>
                </a:solidFill>
                <a:latin typeface="宋体" panose="02010600030101010101" pitchFamily="2" charset="-122"/>
                <a:ea typeface="宋体" panose="02010600030101010101" pitchFamily="2" charset="-122"/>
              </a:rPr>
              <a:t>学业画像：</a:t>
            </a:r>
            <a:r>
              <a:rPr lang="zh-CN" altLang="en-US" sz="1600" dirty="0">
                <a:solidFill>
                  <a:prstClr val="white"/>
                </a:solidFill>
                <a:latin typeface="宋体" panose="02010600030101010101" pitchFamily="2" charset="-122"/>
                <a:ea typeface="宋体" panose="02010600030101010101" pitchFamily="2" charset="-122"/>
              </a:rPr>
              <a:t>监测学习投入度与专注力，分析学业表现变化趋势，识别并量化压力源，评估学习行为规律性。</a:t>
            </a:r>
          </a:p>
        </p:txBody>
      </p:sp>
      <p:pic>
        <p:nvPicPr>
          <p:cNvPr id="11" name="图片 10">
            <a:extLst>
              <a:ext uri="{FF2B5EF4-FFF2-40B4-BE49-F238E27FC236}">
                <a16:creationId xmlns:a16="http://schemas.microsoft.com/office/drawing/2014/main" id="{E1D5ECCE-C650-61E8-F21B-EF4076561751}"/>
              </a:ext>
            </a:extLst>
          </p:cNvPr>
          <p:cNvPicPr>
            <a:picLocks noChangeAspect="1"/>
          </p:cNvPicPr>
          <p:nvPr/>
        </p:nvPicPr>
        <p:blipFill>
          <a:blip r:embed="rId3"/>
          <a:srcRect l="5240" r="4491"/>
          <a:stretch/>
        </p:blipFill>
        <p:spPr>
          <a:xfrm>
            <a:off x="4683758" y="1886119"/>
            <a:ext cx="4353741" cy="4040829"/>
          </a:xfrm>
          <a:prstGeom prst="rect">
            <a:avLst/>
          </a:prstGeom>
        </p:spPr>
      </p:pic>
      <p:sp>
        <p:nvSpPr>
          <p:cNvPr id="12" name="文本框 7">
            <a:extLst>
              <a:ext uri="{FF2B5EF4-FFF2-40B4-BE49-F238E27FC236}">
                <a16:creationId xmlns:a16="http://schemas.microsoft.com/office/drawing/2014/main" id="{7043A323-76A3-715C-B9CF-B38A586A6BB4}"/>
              </a:ext>
            </a:extLst>
          </p:cNvPr>
          <p:cNvSpPr txBox="1"/>
          <p:nvPr/>
        </p:nvSpPr>
        <p:spPr>
          <a:xfrm>
            <a:off x="6166666" y="5912575"/>
            <a:ext cx="1959429" cy="369332"/>
          </a:xfrm>
          <a:prstGeom prst="rect">
            <a:avLst/>
          </a:prstGeom>
          <a:noFill/>
        </p:spPr>
        <p:txBody>
          <a:bodyPr wrap="square" rtlCol="0">
            <a:spAutoFit/>
          </a:bodyPr>
          <a:lstStyle/>
          <a:p>
            <a:pPr defTabSz="914400"/>
            <a:r>
              <a:rPr lang="zh-CN" altLang="en-US" dirty="0">
                <a:solidFill>
                  <a:prstClr val="black"/>
                </a:solidFill>
              </a:rPr>
              <a:t>画像构建流程</a:t>
            </a:r>
          </a:p>
        </p:txBody>
      </p:sp>
    </p:spTree>
    <p:extLst>
      <p:ext uri="{BB962C8B-B14F-4D97-AF65-F5344CB8AC3E}">
        <p14:creationId xmlns:p14="http://schemas.microsoft.com/office/powerpoint/2010/main" val="424788949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研究内容四：多模型融合的精准诊断技术</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3" name="矩形 2">
            <a:extLst>
              <a:ext uri="{FF2B5EF4-FFF2-40B4-BE49-F238E27FC236}">
                <a16:creationId xmlns:a16="http://schemas.microsoft.com/office/drawing/2014/main" id="{9D210E9B-A0C1-FD06-DE26-E2046DB1188A}"/>
              </a:ext>
            </a:extLst>
          </p:cNvPr>
          <p:cNvSpPr/>
          <p:nvPr/>
        </p:nvSpPr>
        <p:spPr>
          <a:xfrm>
            <a:off x="160511" y="1304925"/>
            <a:ext cx="2392649" cy="1137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b="1" dirty="0">
                <a:solidFill>
                  <a:prstClr val="white"/>
                </a:solidFill>
                <a:latin typeface="Segoe WPC"/>
              </a:rPr>
              <a:t>情绪状态评估模型</a:t>
            </a:r>
            <a:r>
              <a:rPr lang="zh-CN" altLang="en-US" dirty="0">
                <a:solidFill>
                  <a:prstClr val="white"/>
                </a:solidFill>
                <a:latin typeface="Segoe WPC"/>
              </a:rPr>
              <a:t>：</a:t>
            </a:r>
            <a:r>
              <a:rPr lang="zh-CN" altLang="en-US" sz="1600" dirty="0">
                <a:solidFill>
                  <a:prstClr val="white"/>
                </a:solidFill>
                <a:latin typeface="Segoe WPC"/>
              </a:rPr>
              <a:t>基于改进</a:t>
            </a:r>
            <a:r>
              <a:rPr lang="en-US" altLang="zh-CN" sz="1600" dirty="0">
                <a:solidFill>
                  <a:prstClr val="white"/>
                </a:solidFill>
                <a:latin typeface="Segoe WPC"/>
              </a:rPr>
              <a:t>PHQ-9</a:t>
            </a:r>
            <a:r>
              <a:rPr lang="zh-CN" altLang="en-US" sz="1600" dirty="0">
                <a:solidFill>
                  <a:prstClr val="white"/>
                </a:solidFill>
                <a:latin typeface="Segoe WPC"/>
              </a:rPr>
              <a:t>量表、情绪波动频谱和语音情感特征分析</a:t>
            </a:r>
            <a:endParaRPr lang="zh-CN" altLang="en-US" sz="1600" dirty="0">
              <a:solidFill>
                <a:prstClr val="white"/>
              </a:solidFill>
            </a:endParaRPr>
          </a:p>
        </p:txBody>
      </p:sp>
      <p:sp>
        <p:nvSpPr>
          <p:cNvPr id="4" name="矩形 3">
            <a:extLst>
              <a:ext uri="{FF2B5EF4-FFF2-40B4-BE49-F238E27FC236}">
                <a16:creationId xmlns:a16="http://schemas.microsoft.com/office/drawing/2014/main" id="{934740B1-DE70-1C5E-8B5E-FF559076BEB2}"/>
              </a:ext>
            </a:extLst>
          </p:cNvPr>
          <p:cNvSpPr/>
          <p:nvPr/>
        </p:nvSpPr>
        <p:spPr>
          <a:xfrm>
            <a:off x="2638885" y="1304926"/>
            <a:ext cx="2392649" cy="11373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b="1" dirty="0">
                <a:solidFill>
                  <a:prstClr val="white"/>
                </a:solidFill>
                <a:latin typeface="Segoe WPC"/>
              </a:rPr>
              <a:t>焦虑水平评估模型：</a:t>
            </a:r>
            <a:r>
              <a:rPr lang="zh-CN" altLang="en-US" sz="1600" dirty="0">
                <a:solidFill>
                  <a:prstClr val="white"/>
                </a:solidFill>
                <a:latin typeface="Segoe WPC"/>
              </a:rPr>
              <a:t>结合</a:t>
            </a:r>
            <a:r>
              <a:rPr lang="en-US" altLang="zh-CN" sz="1600" dirty="0">
                <a:solidFill>
                  <a:prstClr val="white"/>
                </a:solidFill>
                <a:latin typeface="Segoe WPC"/>
              </a:rPr>
              <a:t>GAD-7</a:t>
            </a:r>
            <a:r>
              <a:rPr lang="zh-CN" altLang="en-US" sz="1600" dirty="0">
                <a:solidFill>
                  <a:prstClr val="white"/>
                </a:solidFill>
                <a:latin typeface="Segoe WPC"/>
              </a:rPr>
              <a:t>量表深度学习、生理指标关联及认知行为模式识别</a:t>
            </a:r>
          </a:p>
        </p:txBody>
      </p:sp>
      <p:sp>
        <p:nvSpPr>
          <p:cNvPr id="5" name="矩形 4">
            <a:extLst>
              <a:ext uri="{FF2B5EF4-FFF2-40B4-BE49-F238E27FC236}">
                <a16:creationId xmlns:a16="http://schemas.microsoft.com/office/drawing/2014/main" id="{F834D61F-40D9-B43B-0900-8407E79A2637}"/>
              </a:ext>
            </a:extLst>
          </p:cNvPr>
          <p:cNvSpPr/>
          <p:nvPr/>
        </p:nvSpPr>
        <p:spPr>
          <a:xfrm>
            <a:off x="160511" y="2657475"/>
            <a:ext cx="2392649" cy="1123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b="1" dirty="0">
                <a:solidFill>
                  <a:prstClr val="white"/>
                </a:solidFill>
                <a:latin typeface="Segoe WPC"/>
              </a:rPr>
              <a:t>压力评估模型：</a:t>
            </a:r>
            <a:endParaRPr lang="en-US" altLang="zh-CN" b="1" dirty="0">
              <a:solidFill>
                <a:prstClr val="white"/>
              </a:solidFill>
              <a:latin typeface="Segoe WPC"/>
            </a:endParaRPr>
          </a:p>
          <a:p>
            <a:pPr algn="ctr" defTabSz="914400"/>
            <a:r>
              <a:rPr lang="zh-CN" altLang="en-US" sz="1600" dirty="0">
                <a:solidFill>
                  <a:prstClr val="white"/>
                </a:solidFill>
                <a:latin typeface="Segoe WPC"/>
              </a:rPr>
              <a:t>通过压力源识别分类、持续时间强度评估及应对机制效能分析</a:t>
            </a:r>
          </a:p>
        </p:txBody>
      </p:sp>
      <p:sp>
        <p:nvSpPr>
          <p:cNvPr id="6" name="矩形 5">
            <a:extLst>
              <a:ext uri="{FF2B5EF4-FFF2-40B4-BE49-F238E27FC236}">
                <a16:creationId xmlns:a16="http://schemas.microsoft.com/office/drawing/2014/main" id="{89D81A4D-3B17-5078-3A6D-53F6CD35EAF2}"/>
              </a:ext>
            </a:extLst>
          </p:cNvPr>
          <p:cNvSpPr/>
          <p:nvPr/>
        </p:nvSpPr>
        <p:spPr>
          <a:xfrm>
            <a:off x="2638885" y="2657475"/>
            <a:ext cx="2392649" cy="11239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zh-CN" altLang="en-US" b="1" dirty="0">
                <a:solidFill>
                  <a:prstClr val="white"/>
                </a:solidFill>
                <a:latin typeface="Segoe WPC"/>
              </a:rPr>
              <a:t>社会适应性评估模型：</a:t>
            </a:r>
            <a:r>
              <a:rPr lang="zh-CN" altLang="en-US" sz="1600" dirty="0">
                <a:solidFill>
                  <a:prstClr val="white"/>
                </a:solidFill>
                <a:latin typeface="Segoe WPC"/>
              </a:rPr>
              <a:t>基于社交网络结构、人际关系质量及社会参与度分析</a:t>
            </a:r>
          </a:p>
        </p:txBody>
      </p:sp>
      <p:sp>
        <p:nvSpPr>
          <p:cNvPr id="8" name="箭头: 下 17">
            <a:extLst>
              <a:ext uri="{FF2B5EF4-FFF2-40B4-BE49-F238E27FC236}">
                <a16:creationId xmlns:a16="http://schemas.microsoft.com/office/drawing/2014/main" id="{37101491-9756-026E-DC7E-E29B51806252}"/>
              </a:ext>
            </a:extLst>
          </p:cNvPr>
          <p:cNvSpPr/>
          <p:nvPr/>
        </p:nvSpPr>
        <p:spPr>
          <a:xfrm>
            <a:off x="2290214" y="3917111"/>
            <a:ext cx="620222" cy="748687"/>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defTabSz="914400"/>
            <a:endParaRPr lang="zh-CN" altLang="en-US">
              <a:solidFill>
                <a:prstClr val="white"/>
              </a:solidFill>
            </a:endParaRPr>
          </a:p>
        </p:txBody>
      </p:sp>
      <p:sp>
        <p:nvSpPr>
          <p:cNvPr id="9" name="矩形: 圆角 18">
            <a:extLst>
              <a:ext uri="{FF2B5EF4-FFF2-40B4-BE49-F238E27FC236}">
                <a16:creationId xmlns:a16="http://schemas.microsoft.com/office/drawing/2014/main" id="{B2630628-900B-00BA-3F7A-ADA7E493CCC6}"/>
              </a:ext>
            </a:extLst>
          </p:cNvPr>
          <p:cNvSpPr/>
          <p:nvPr/>
        </p:nvSpPr>
        <p:spPr>
          <a:xfrm>
            <a:off x="680700" y="4820136"/>
            <a:ext cx="3896399" cy="11290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r>
              <a:rPr lang="zh-CN" altLang="en-US" b="1" dirty="0">
                <a:solidFill>
                  <a:prstClr val="white"/>
                </a:solidFill>
                <a:latin typeface="Segoe WPC"/>
              </a:rPr>
              <a:t>综合诊断：</a:t>
            </a:r>
            <a:r>
              <a:rPr lang="zh-CN" altLang="en-US" sz="1600" dirty="0">
                <a:solidFill>
                  <a:prstClr val="white"/>
                </a:solidFill>
                <a:latin typeface="Segoe WPC"/>
              </a:rPr>
              <a:t>系统通过多源异构数据融合与标准化、深度与规则特征提取、多模型集成学习与投票机制，生成从无风险到重度风险的四级精准诊断结果</a:t>
            </a:r>
            <a:endParaRPr lang="zh-CN" altLang="en-US" sz="1600" b="1" dirty="0">
              <a:solidFill>
                <a:prstClr val="white"/>
              </a:solidFill>
              <a:latin typeface="Segoe WPC"/>
            </a:endParaRPr>
          </a:p>
        </p:txBody>
      </p:sp>
      <p:pic>
        <p:nvPicPr>
          <p:cNvPr id="10" name="图片 9">
            <a:extLst>
              <a:ext uri="{FF2B5EF4-FFF2-40B4-BE49-F238E27FC236}">
                <a16:creationId xmlns:a16="http://schemas.microsoft.com/office/drawing/2014/main" id="{09457656-E5DC-2056-5DFC-C7E0382E4124}"/>
              </a:ext>
            </a:extLst>
          </p:cNvPr>
          <p:cNvPicPr>
            <a:picLocks noChangeAspect="1"/>
          </p:cNvPicPr>
          <p:nvPr/>
        </p:nvPicPr>
        <p:blipFill>
          <a:blip r:embed="rId3"/>
          <a:srcRect l="6276" r="5450"/>
          <a:stretch/>
        </p:blipFill>
        <p:spPr>
          <a:xfrm>
            <a:off x="5118713" y="1856598"/>
            <a:ext cx="3977663" cy="3079101"/>
          </a:xfrm>
          <a:prstGeom prst="rect">
            <a:avLst/>
          </a:prstGeom>
          <a:noFill/>
        </p:spPr>
      </p:pic>
    </p:spTree>
    <p:extLst>
      <p:ext uri="{BB962C8B-B14F-4D97-AF65-F5344CB8AC3E}">
        <p14:creationId xmlns:p14="http://schemas.microsoft.com/office/powerpoint/2010/main" val="789260739"/>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研究内容四：</a:t>
            </a:r>
            <a:r>
              <a:rPr lang="zh-CN" altLang="en-US" sz="2400" dirty="0">
                <a:latin typeface="微软雅黑" panose="020B0503020204020204" charset="-122"/>
                <a:ea typeface="微软雅黑" panose="020B0503020204020204" charset="-122"/>
                <a:cs typeface="+mn-ea"/>
                <a:sym typeface="+mn-lt"/>
              </a:rPr>
              <a:t>多模型融合的精准诊断技术</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grpSp>
        <p:nvGrpSpPr>
          <p:cNvPr id="11" name="组合 10"/>
          <p:cNvGrpSpPr/>
          <p:nvPr/>
        </p:nvGrpSpPr>
        <p:grpSpPr>
          <a:xfrm>
            <a:off x="76200" y="1273945"/>
            <a:ext cx="8821195" cy="5288779"/>
            <a:chOff x="0" y="1407295"/>
            <a:chExt cx="8821195" cy="5288779"/>
          </a:xfrm>
        </p:grpSpPr>
        <p:pic>
          <p:nvPicPr>
            <p:cNvPr id="12" name="图片 11">
              <a:extLst>
                <a:ext uri="{FF2B5EF4-FFF2-40B4-BE49-F238E27FC236}">
                  <a16:creationId xmlns:a16="http://schemas.microsoft.com/office/drawing/2014/main" id="{261DD057-AD02-0E51-E00B-07F001A4B245}"/>
                </a:ext>
              </a:extLst>
            </p:cNvPr>
            <p:cNvPicPr>
              <a:picLocks noChangeAspect="1"/>
            </p:cNvPicPr>
            <p:nvPr/>
          </p:nvPicPr>
          <p:blipFill>
            <a:blip r:embed="rId3"/>
            <a:stretch>
              <a:fillRect/>
            </a:stretch>
          </p:blipFill>
          <p:spPr>
            <a:xfrm>
              <a:off x="0" y="1416822"/>
              <a:ext cx="6709649" cy="5215204"/>
            </a:xfrm>
            <a:prstGeom prst="rect">
              <a:avLst/>
            </a:prstGeom>
          </p:spPr>
        </p:pic>
        <p:pic>
          <p:nvPicPr>
            <p:cNvPr id="13" name="图片 12">
              <a:extLst>
                <a:ext uri="{FF2B5EF4-FFF2-40B4-BE49-F238E27FC236}">
                  <a16:creationId xmlns:a16="http://schemas.microsoft.com/office/drawing/2014/main" id="{CE9D3DF1-1669-132D-2D00-CD4A5A516513}"/>
                </a:ext>
              </a:extLst>
            </p:cNvPr>
            <p:cNvPicPr>
              <a:picLocks noChangeAspect="1"/>
            </p:cNvPicPr>
            <p:nvPr/>
          </p:nvPicPr>
          <p:blipFill rotWithShape="1">
            <a:blip r:embed="rId4"/>
            <a:srcRect l="71849"/>
            <a:stretch/>
          </p:blipFill>
          <p:spPr>
            <a:xfrm>
              <a:off x="6607874" y="1407295"/>
              <a:ext cx="2213321" cy="5288779"/>
            </a:xfrm>
            <a:prstGeom prst="rect">
              <a:avLst/>
            </a:prstGeom>
          </p:spPr>
        </p:pic>
        <p:pic>
          <p:nvPicPr>
            <p:cNvPr id="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3016" y="3191522"/>
              <a:ext cx="1153239" cy="452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6362700" y="4024424"/>
              <a:ext cx="804505" cy="182392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 name="矩形 1"/>
          <p:cNvSpPr/>
          <p:nvPr/>
        </p:nvSpPr>
        <p:spPr>
          <a:xfrm>
            <a:off x="3242570" y="881872"/>
            <a:ext cx="1915909" cy="369332"/>
          </a:xfrm>
          <a:prstGeom prst="rect">
            <a:avLst/>
          </a:prstGeom>
        </p:spPr>
        <p:txBody>
          <a:bodyPr wrap="none">
            <a:spAutoFit/>
          </a:bodyPr>
          <a:lstStyle/>
          <a:p>
            <a:pPr algn="ctr" defTabSz="309563" hangingPunct="0"/>
            <a:r>
              <a:rPr lang="en-US" altLang="zh-CN" dirty="0">
                <a:latin typeface="+mn-ea"/>
                <a:cs typeface="Helvetica Neue Medium"/>
                <a:sym typeface="Helvetica Neue Medium"/>
              </a:rPr>
              <a:t>AI</a:t>
            </a:r>
            <a:r>
              <a:rPr lang="zh-CN" altLang="en-US" dirty="0">
                <a:latin typeface="+mn-ea"/>
                <a:cs typeface="Helvetica Neue Medium"/>
                <a:sym typeface="Helvetica Neue Medium"/>
              </a:rPr>
              <a:t>初筛</a:t>
            </a:r>
            <a:r>
              <a:rPr lang="en-US" altLang="zh-CN" dirty="0">
                <a:latin typeface="+mn-ea"/>
                <a:cs typeface="Helvetica Neue Medium"/>
                <a:sym typeface="Helvetica Neue Medium"/>
              </a:rPr>
              <a:t>+</a:t>
            </a:r>
            <a:r>
              <a:rPr lang="zh-CN" altLang="en-US" dirty="0">
                <a:latin typeface="+mn-ea"/>
                <a:cs typeface="Helvetica Neue Medium"/>
                <a:sym typeface="Helvetica Neue Medium"/>
              </a:rPr>
              <a:t>人工复核</a:t>
            </a:r>
          </a:p>
        </p:txBody>
      </p:sp>
    </p:spTree>
    <p:extLst>
      <p:ext uri="{BB962C8B-B14F-4D97-AF65-F5344CB8AC3E}">
        <p14:creationId xmlns:p14="http://schemas.microsoft.com/office/powerpoint/2010/main" val="2105918179"/>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研究内容四：</a:t>
            </a:r>
            <a:r>
              <a:rPr lang="zh-CN" altLang="en-US" sz="2400" dirty="0">
                <a:latin typeface="微软雅黑" panose="020B0503020204020204" charset="-122"/>
                <a:ea typeface="微软雅黑" panose="020B0503020204020204" charset="-122"/>
                <a:cs typeface="+mn-ea"/>
                <a:sym typeface="+mn-lt"/>
              </a:rPr>
              <a:t>多模型融合的精准诊断技术</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11" name="文本框 4"/>
          <p:cNvSpPr txBox="1"/>
          <p:nvPr/>
        </p:nvSpPr>
        <p:spPr>
          <a:xfrm>
            <a:off x="419100" y="879025"/>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基于联邦学习的分布式评估算法：</a:t>
            </a:r>
          </a:p>
        </p:txBody>
      </p:sp>
      <p:sp>
        <p:nvSpPr>
          <p:cNvPr id="12" name="矩形 11"/>
          <p:cNvSpPr/>
          <p:nvPr/>
        </p:nvSpPr>
        <p:spPr>
          <a:xfrm>
            <a:off x="2670465" y="1377543"/>
            <a:ext cx="1555667"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学校</a:t>
            </a:r>
            <a:r>
              <a:rPr lang="en-US" altLang="zh-CN" sz="1600" dirty="0">
                <a:latin typeface="+mn-ea"/>
              </a:rPr>
              <a:t>A</a:t>
            </a:r>
            <a:r>
              <a:rPr lang="zh-CN" altLang="en-US" sz="1600" dirty="0">
                <a:latin typeface="+mn-ea"/>
              </a:rPr>
              <a:t>数据中心</a:t>
            </a:r>
          </a:p>
        </p:txBody>
      </p:sp>
      <p:sp>
        <p:nvSpPr>
          <p:cNvPr id="13" name="矩形 12"/>
          <p:cNvSpPr/>
          <p:nvPr/>
        </p:nvSpPr>
        <p:spPr>
          <a:xfrm>
            <a:off x="2670465" y="2484592"/>
            <a:ext cx="1555667"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医院</a:t>
            </a:r>
            <a:r>
              <a:rPr lang="en-US" altLang="zh-CN" sz="1600" dirty="0">
                <a:latin typeface="+mn-ea"/>
              </a:rPr>
              <a:t>A</a:t>
            </a:r>
            <a:r>
              <a:rPr lang="zh-CN" altLang="en-US" sz="1600" dirty="0">
                <a:latin typeface="+mn-ea"/>
              </a:rPr>
              <a:t>数据中心</a:t>
            </a:r>
          </a:p>
        </p:txBody>
      </p:sp>
      <p:sp>
        <p:nvSpPr>
          <p:cNvPr id="14" name="矩形 13"/>
          <p:cNvSpPr/>
          <p:nvPr/>
        </p:nvSpPr>
        <p:spPr>
          <a:xfrm>
            <a:off x="2670465" y="3591641"/>
            <a:ext cx="1555667"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学校</a:t>
            </a:r>
            <a:r>
              <a:rPr lang="en-US" altLang="zh-CN" sz="1600" dirty="0">
                <a:latin typeface="+mn-ea"/>
              </a:rPr>
              <a:t>B</a:t>
            </a:r>
            <a:r>
              <a:rPr lang="zh-CN" altLang="en-US" sz="1600" dirty="0">
                <a:latin typeface="+mn-ea"/>
              </a:rPr>
              <a:t>数据中心</a:t>
            </a:r>
          </a:p>
        </p:txBody>
      </p:sp>
      <p:sp>
        <p:nvSpPr>
          <p:cNvPr id="15" name="矩形 14"/>
          <p:cNvSpPr/>
          <p:nvPr/>
        </p:nvSpPr>
        <p:spPr>
          <a:xfrm>
            <a:off x="2670465" y="4698689"/>
            <a:ext cx="1555667"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医院</a:t>
            </a:r>
            <a:r>
              <a:rPr lang="en-US" altLang="zh-CN" sz="1600" dirty="0">
                <a:latin typeface="+mn-ea"/>
              </a:rPr>
              <a:t>B</a:t>
            </a:r>
            <a:r>
              <a:rPr lang="zh-CN" altLang="en-US" sz="1600" dirty="0">
                <a:latin typeface="+mn-ea"/>
              </a:rPr>
              <a:t>数据中心</a:t>
            </a:r>
          </a:p>
        </p:txBody>
      </p:sp>
      <p:sp>
        <p:nvSpPr>
          <p:cNvPr id="17" name="矩形 16"/>
          <p:cNvSpPr/>
          <p:nvPr/>
        </p:nvSpPr>
        <p:spPr>
          <a:xfrm>
            <a:off x="4975762" y="3031519"/>
            <a:ext cx="1555667"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联邦学习生态</a:t>
            </a:r>
          </a:p>
        </p:txBody>
      </p:sp>
      <p:sp>
        <p:nvSpPr>
          <p:cNvPr id="18" name="矩形 17"/>
          <p:cNvSpPr/>
          <p:nvPr/>
        </p:nvSpPr>
        <p:spPr>
          <a:xfrm>
            <a:off x="7182599" y="1923803"/>
            <a:ext cx="1555667"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个性化模型</a:t>
            </a:r>
          </a:p>
        </p:txBody>
      </p:sp>
      <p:sp>
        <p:nvSpPr>
          <p:cNvPr id="19" name="矩形 18"/>
          <p:cNvSpPr/>
          <p:nvPr/>
        </p:nvSpPr>
        <p:spPr>
          <a:xfrm>
            <a:off x="7195958" y="4280411"/>
            <a:ext cx="1555667"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全局模型</a:t>
            </a:r>
          </a:p>
        </p:txBody>
      </p:sp>
      <p:sp>
        <p:nvSpPr>
          <p:cNvPr id="20" name="矩形 19"/>
          <p:cNvSpPr/>
          <p:nvPr/>
        </p:nvSpPr>
        <p:spPr>
          <a:xfrm>
            <a:off x="483419" y="1377543"/>
            <a:ext cx="1000990"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本地模型</a:t>
            </a:r>
          </a:p>
        </p:txBody>
      </p:sp>
      <p:sp>
        <p:nvSpPr>
          <p:cNvPr id="24" name="矩形 23"/>
          <p:cNvSpPr/>
          <p:nvPr/>
        </p:nvSpPr>
        <p:spPr>
          <a:xfrm>
            <a:off x="483419" y="2484592"/>
            <a:ext cx="1000990"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本地模型</a:t>
            </a:r>
          </a:p>
        </p:txBody>
      </p:sp>
      <p:sp>
        <p:nvSpPr>
          <p:cNvPr id="25" name="矩形 24"/>
          <p:cNvSpPr/>
          <p:nvPr/>
        </p:nvSpPr>
        <p:spPr>
          <a:xfrm>
            <a:off x="493564" y="3591641"/>
            <a:ext cx="1000990"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本地模型</a:t>
            </a:r>
          </a:p>
        </p:txBody>
      </p:sp>
      <p:sp>
        <p:nvSpPr>
          <p:cNvPr id="26" name="矩形 25"/>
          <p:cNvSpPr/>
          <p:nvPr/>
        </p:nvSpPr>
        <p:spPr>
          <a:xfrm>
            <a:off x="493564" y="4698689"/>
            <a:ext cx="1000990" cy="712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n-ea"/>
              </a:rPr>
              <a:t>本地模型</a:t>
            </a:r>
          </a:p>
        </p:txBody>
      </p:sp>
      <p:cxnSp>
        <p:nvCxnSpPr>
          <p:cNvPr id="28" name="直接箭头连接符 27"/>
          <p:cNvCxnSpPr>
            <a:stCxn id="12" idx="1"/>
            <a:endCxn id="20" idx="3"/>
          </p:cNvCxnSpPr>
          <p:nvPr/>
        </p:nvCxnSpPr>
        <p:spPr>
          <a:xfrm flipH="1">
            <a:off x="1484409" y="1733803"/>
            <a:ext cx="118605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499689" y="1377543"/>
            <a:ext cx="1107996" cy="369332"/>
          </a:xfrm>
          <a:prstGeom prst="rect">
            <a:avLst/>
          </a:prstGeom>
          <a:noFill/>
        </p:spPr>
        <p:txBody>
          <a:bodyPr wrap="none" rtlCol="0">
            <a:spAutoFit/>
          </a:bodyPr>
          <a:lstStyle/>
          <a:p>
            <a:r>
              <a:rPr lang="zh-CN" altLang="en-US" dirty="0"/>
              <a:t>本地训练</a:t>
            </a:r>
          </a:p>
        </p:txBody>
      </p:sp>
      <p:cxnSp>
        <p:nvCxnSpPr>
          <p:cNvPr id="33" name="肘形连接符 32"/>
          <p:cNvCxnSpPr>
            <a:stCxn id="12" idx="3"/>
            <a:endCxn id="17" idx="1"/>
          </p:cNvCxnSpPr>
          <p:nvPr/>
        </p:nvCxnSpPr>
        <p:spPr>
          <a:xfrm>
            <a:off x="4226132" y="1733803"/>
            <a:ext cx="749630" cy="1653976"/>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肘形连接符 34"/>
          <p:cNvCxnSpPr>
            <a:stCxn id="13" idx="3"/>
            <a:endCxn id="17" idx="1"/>
          </p:cNvCxnSpPr>
          <p:nvPr/>
        </p:nvCxnSpPr>
        <p:spPr>
          <a:xfrm>
            <a:off x="4226132" y="2840852"/>
            <a:ext cx="749630" cy="546927"/>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肘形连接符 36"/>
          <p:cNvCxnSpPr>
            <a:stCxn id="14" idx="3"/>
            <a:endCxn id="17" idx="1"/>
          </p:cNvCxnSpPr>
          <p:nvPr/>
        </p:nvCxnSpPr>
        <p:spPr>
          <a:xfrm flipV="1">
            <a:off x="4226132" y="3387779"/>
            <a:ext cx="749630" cy="560122"/>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肘形连接符 38"/>
          <p:cNvCxnSpPr>
            <a:stCxn id="15" idx="3"/>
            <a:endCxn id="17" idx="1"/>
          </p:cNvCxnSpPr>
          <p:nvPr/>
        </p:nvCxnSpPr>
        <p:spPr>
          <a:xfrm flipV="1">
            <a:off x="4226132" y="3387779"/>
            <a:ext cx="749630" cy="1667170"/>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肘形连接符 40"/>
          <p:cNvCxnSpPr>
            <a:stCxn id="17" idx="3"/>
            <a:endCxn id="18" idx="1"/>
          </p:cNvCxnSpPr>
          <p:nvPr/>
        </p:nvCxnSpPr>
        <p:spPr>
          <a:xfrm flipV="1">
            <a:off x="6531429" y="2280063"/>
            <a:ext cx="651170" cy="1107716"/>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肘形连接符 42"/>
          <p:cNvCxnSpPr>
            <a:stCxn id="17" idx="3"/>
            <a:endCxn id="19" idx="1"/>
          </p:cNvCxnSpPr>
          <p:nvPr/>
        </p:nvCxnSpPr>
        <p:spPr>
          <a:xfrm>
            <a:off x="6531429" y="3387779"/>
            <a:ext cx="664529" cy="1248892"/>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直接箭头连接符 43"/>
          <p:cNvCxnSpPr>
            <a:stCxn id="13" idx="1"/>
            <a:endCxn id="24" idx="3"/>
          </p:cNvCxnSpPr>
          <p:nvPr/>
        </p:nvCxnSpPr>
        <p:spPr>
          <a:xfrm flipH="1">
            <a:off x="1484409" y="2840852"/>
            <a:ext cx="118605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523439" y="2506570"/>
            <a:ext cx="1107996" cy="369332"/>
          </a:xfrm>
          <a:prstGeom prst="rect">
            <a:avLst/>
          </a:prstGeom>
          <a:noFill/>
        </p:spPr>
        <p:txBody>
          <a:bodyPr wrap="none" rtlCol="0">
            <a:spAutoFit/>
          </a:bodyPr>
          <a:lstStyle/>
          <a:p>
            <a:r>
              <a:rPr lang="zh-CN" altLang="en-US" dirty="0"/>
              <a:t>本地训练</a:t>
            </a:r>
          </a:p>
        </p:txBody>
      </p:sp>
      <p:cxnSp>
        <p:nvCxnSpPr>
          <p:cNvPr id="46" name="直接箭头连接符 45"/>
          <p:cNvCxnSpPr>
            <a:stCxn id="14" idx="1"/>
            <a:endCxn id="25" idx="3"/>
          </p:cNvCxnSpPr>
          <p:nvPr/>
        </p:nvCxnSpPr>
        <p:spPr>
          <a:xfrm flipH="1">
            <a:off x="1494554" y="3947901"/>
            <a:ext cx="117591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535314" y="3600547"/>
            <a:ext cx="1107996" cy="369332"/>
          </a:xfrm>
          <a:prstGeom prst="rect">
            <a:avLst/>
          </a:prstGeom>
          <a:noFill/>
        </p:spPr>
        <p:txBody>
          <a:bodyPr wrap="none" rtlCol="0">
            <a:spAutoFit/>
          </a:bodyPr>
          <a:lstStyle/>
          <a:p>
            <a:r>
              <a:rPr lang="zh-CN" altLang="en-US" dirty="0"/>
              <a:t>本地训练</a:t>
            </a:r>
          </a:p>
        </p:txBody>
      </p:sp>
      <p:cxnSp>
        <p:nvCxnSpPr>
          <p:cNvPr id="48" name="直接箭头连接符 47"/>
          <p:cNvCxnSpPr>
            <a:stCxn id="15" idx="1"/>
            <a:endCxn id="26" idx="3"/>
          </p:cNvCxnSpPr>
          <p:nvPr/>
        </p:nvCxnSpPr>
        <p:spPr>
          <a:xfrm flipH="1">
            <a:off x="1494554" y="5054949"/>
            <a:ext cx="117591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523439" y="4698689"/>
            <a:ext cx="1107996" cy="369332"/>
          </a:xfrm>
          <a:prstGeom prst="rect">
            <a:avLst/>
          </a:prstGeom>
          <a:noFill/>
        </p:spPr>
        <p:txBody>
          <a:bodyPr wrap="none" rtlCol="0">
            <a:spAutoFit/>
          </a:bodyPr>
          <a:lstStyle/>
          <a:p>
            <a:r>
              <a:rPr lang="zh-CN" altLang="en-US" dirty="0"/>
              <a:t>本地训练</a:t>
            </a:r>
          </a:p>
        </p:txBody>
      </p:sp>
      <p:sp>
        <p:nvSpPr>
          <p:cNvPr id="56" name="TextBox 7">
            <a:extLst>
              <a:ext uri="{FF2B5EF4-FFF2-40B4-BE49-F238E27FC236}">
                <a16:creationId xmlns:a16="http://schemas.microsoft.com/office/drawing/2014/main" id="{30AC7245-CBE5-55ED-AC3E-B1C53FB3B017}"/>
              </a:ext>
            </a:extLst>
          </p:cNvPr>
          <p:cNvSpPr txBox="1"/>
          <p:nvPr/>
        </p:nvSpPr>
        <p:spPr>
          <a:xfrm>
            <a:off x="434188" y="5546836"/>
            <a:ext cx="8304077" cy="1200329"/>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latin typeface="Cambria Math" panose="02040503050406030204" pitchFamily="18" charset="0"/>
              </a:rPr>
              <a:t>本地模型：只在自己本地数据集训练的模型，如果数据量小，模型精准度低</a:t>
            </a:r>
            <a:endParaRPr lang="en-US" altLang="zh-CN" dirty="0">
              <a:latin typeface="Cambria Math" panose="02040503050406030204" pitchFamily="18" charset="0"/>
            </a:endParaRPr>
          </a:p>
          <a:p>
            <a:pPr marL="285750" indent="-285750">
              <a:buFont typeface="Wingdings" panose="05000000000000000000" pitchFamily="2" charset="2"/>
              <a:buChar char="Ø"/>
            </a:pPr>
            <a:r>
              <a:rPr lang="zh-CN" altLang="en-US" dirty="0">
                <a:latin typeface="Cambria Math" panose="02040503050406030204" pitchFamily="18" charset="0"/>
              </a:rPr>
              <a:t>全局模型：所有参与机构协同训练的共一个全局模型，可能不适配某些机构</a:t>
            </a:r>
            <a:endParaRPr lang="en-US" altLang="zh-CN" dirty="0">
              <a:latin typeface="Cambria Math" panose="02040503050406030204" pitchFamily="18" charset="0"/>
            </a:endParaRPr>
          </a:p>
          <a:p>
            <a:pPr marL="285750" indent="-285750">
              <a:buFont typeface="Wingdings" panose="05000000000000000000" pitchFamily="2" charset="2"/>
              <a:buChar char="Ø"/>
            </a:pPr>
            <a:r>
              <a:rPr lang="zh-CN" altLang="en-US" dirty="0">
                <a:latin typeface="Cambria Math" panose="02040503050406030204" pitchFamily="18" charset="0"/>
              </a:rPr>
              <a:t>个性化模型：即学习到了所有参与机构的全局知识，又可以适配机构本地数据分布</a:t>
            </a:r>
            <a:endParaRPr lang="zh-CN" altLang="zh-CN" dirty="0">
              <a:latin typeface="Cambria Math" panose="02040503050406030204" pitchFamily="18" charset="0"/>
            </a:endParaRPr>
          </a:p>
        </p:txBody>
      </p:sp>
    </p:spTree>
    <p:extLst>
      <p:ext uri="{BB962C8B-B14F-4D97-AF65-F5344CB8AC3E}">
        <p14:creationId xmlns:p14="http://schemas.microsoft.com/office/powerpoint/2010/main" val="12252011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down)">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06611" y="4459307"/>
            <a:ext cx="8194464" cy="216982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研究内容五：</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sym typeface="+mn-lt"/>
              </a:rPr>
              <a:t>个性化治疗技术</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2" name="矩形 1"/>
          <p:cNvSpPr/>
          <p:nvPr/>
        </p:nvSpPr>
        <p:spPr>
          <a:xfrm>
            <a:off x="254211" y="1005959"/>
            <a:ext cx="3438762" cy="369332"/>
          </a:xfrm>
          <a:prstGeom prst="rect">
            <a:avLst/>
          </a:prstGeom>
        </p:spPr>
        <p:txBody>
          <a:bodyPr wrap="none">
            <a:spAutoFit/>
          </a:bodyPr>
          <a:lstStyle/>
          <a:p>
            <a:pPr fontAlgn="base"/>
            <a:r>
              <a:rPr lang="zh-CN" altLang="en-US" b="1" dirty="0"/>
              <a:t>显性直接干预（行为响应式）：​</a:t>
            </a:r>
            <a:endParaRPr lang="zh-CN" altLang="en-US" b="1" dirty="0">
              <a:effectLst/>
            </a:endParaRPr>
          </a:p>
        </p:txBody>
      </p:sp>
      <p:graphicFrame>
        <p:nvGraphicFramePr>
          <p:cNvPr id="3" name="表格 2"/>
          <p:cNvGraphicFramePr>
            <a:graphicFrameLocks noGrp="1"/>
          </p:cNvGraphicFramePr>
          <p:nvPr>
            <p:extLst>
              <p:ext uri="{D42A27DB-BD31-4B8C-83A1-F6EECF244321}">
                <p14:modId xmlns:p14="http://schemas.microsoft.com/office/powerpoint/2010/main" val="1593565270"/>
              </p:ext>
            </p:extLst>
          </p:nvPr>
        </p:nvGraphicFramePr>
        <p:xfrm>
          <a:off x="406611" y="1504950"/>
          <a:ext cx="8099214" cy="2379345"/>
        </p:xfrm>
        <a:graphic>
          <a:graphicData uri="http://schemas.openxmlformats.org/drawingml/2006/table">
            <a:tbl>
              <a:tblPr>
                <a:tableStyleId>{5940675A-B579-460E-94D1-54222C63F5DA}</a:tableStyleId>
              </a:tblPr>
              <a:tblGrid>
                <a:gridCol w="2708064">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478473">
                <a:tc>
                  <a:txBody>
                    <a:bodyPr/>
                    <a:lstStyle/>
                    <a:p>
                      <a:pPr algn="ctr" fontAlgn="ctr">
                        <a:lnSpc>
                          <a:spcPct val="150000"/>
                        </a:lnSpc>
                      </a:pPr>
                      <a:r>
                        <a:rPr lang="zh-CN" altLang="en-US" sz="1400" u="none" strike="noStrike" dirty="0">
                          <a:effectLst/>
                        </a:rPr>
                        <a:t>触发条件</a:t>
                      </a:r>
                      <a:endParaRPr lang="zh-CN" altLang="en-US" sz="1400" b="1"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ct val="150000"/>
                        </a:lnSpc>
                      </a:pPr>
                      <a:r>
                        <a:rPr lang="zh-CN" altLang="en-US" sz="1400" u="none" strike="noStrike" dirty="0">
                          <a:effectLst/>
                        </a:rPr>
                        <a:t>干预措施</a:t>
                      </a:r>
                      <a:endParaRPr lang="zh-CN" altLang="en-US" sz="1400" b="1"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ct val="150000"/>
                        </a:lnSpc>
                      </a:pPr>
                      <a:r>
                        <a:rPr lang="zh-CN" altLang="en-US" sz="1400" u="none" strike="noStrike" dirty="0">
                          <a:effectLst/>
                        </a:rPr>
                        <a:t>强制等级</a:t>
                      </a:r>
                      <a:endParaRPr lang="zh-CN" altLang="en-US" sz="1400" b="1"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788352">
                <a:tc>
                  <a:txBody>
                    <a:bodyPr/>
                    <a:lstStyle/>
                    <a:p>
                      <a:pPr algn="ctr" fontAlgn="ctr">
                        <a:lnSpc>
                          <a:spcPct val="150000"/>
                        </a:lnSpc>
                      </a:pPr>
                      <a:r>
                        <a:rPr lang="zh-CN" altLang="en-US" sz="1400" u="none" strike="noStrike" dirty="0">
                          <a:effectLst/>
                        </a:rPr>
                        <a:t>凌晨</a:t>
                      </a:r>
                      <a:r>
                        <a:rPr lang="en-US" altLang="zh-CN" sz="1400" u="none" strike="noStrike" dirty="0">
                          <a:effectLst/>
                        </a:rPr>
                        <a:t>1</a:t>
                      </a:r>
                      <a:r>
                        <a:rPr lang="zh-CN" altLang="en-US" sz="1400" u="none" strike="noStrike" dirty="0">
                          <a:effectLst/>
                        </a:rPr>
                        <a:t>点后持续刷手机</a:t>
                      </a:r>
                      <a:endParaRPr lang="zh-CN" altLang="en-US" sz="1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ct val="150000"/>
                        </a:lnSpc>
                      </a:pPr>
                      <a:r>
                        <a:rPr lang="zh-CN" altLang="en-US" sz="1400" kern="1200" dirty="0">
                          <a:effectLst/>
                        </a:rPr>
                        <a:t>✓ 屏幕变灰</a:t>
                      </a:r>
                      <a:r>
                        <a:rPr lang="en-US" altLang="zh-CN" sz="1400" kern="1200" dirty="0">
                          <a:effectLst/>
                        </a:rPr>
                        <a:t>+</a:t>
                      </a:r>
                      <a:r>
                        <a:rPr lang="zh-CN" altLang="en-US" sz="1400" kern="1200" dirty="0">
                          <a:effectLst/>
                        </a:rPr>
                        <a:t>弹出</a:t>
                      </a:r>
                      <a:r>
                        <a:rPr lang="en-US" altLang="zh-CN" sz="1400" kern="1200" dirty="0">
                          <a:effectLst/>
                        </a:rPr>
                        <a:t>"</a:t>
                      </a:r>
                      <a:r>
                        <a:rPr lang="zh-CN" altLang="en-US" sz="1400" kern="1200" dirty="0">
                          <a:effectLst/>
                        </a:rPr>
                        <a:t>深夜模式已激活</a:t>
                      </a:r>
                      <a:r>
                        <a:rPr lang="en-US" altLang="zh-CN" sz="1400" kern="1200" dirty="0">
                          <a:effectLst/>
                        </a:rPr>
                        <a:t>"</a:t>
                      </a:r>
                      <a:br>
                        <a:rPr lang="zh-CN" altLang="en-US" sz="1400" dirty="0"/>
                      </a:br>
                      <a:r>
                        <a:rPr lang="zh-CN" altLang="en-US" sz="1400" kern="1200" dirty="0">
                          <a:effectLst/>
                        </a:rPr>
                        <a:t>✓ 次日推送睡眠质量问卷</a:t>
                      </a:r>
                      <a:endParaRPr lang="zh-CN" altLang="en-US" sz="1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ctr" latinLnBrk="0" hangingPunct="1">
                        <a:lnSpc>
                          <a:spcPct val="150000"/>
                        </a:lnSpc>
                        <a:spcBef>
                          <a:spcPts val="0"/>
                        </a:spcBef>
                        <a:spcAft>
                          <a:spcPts val="0"/>
                        </a:spcAft>
                        <a:buClrTx/>
                        <a:buSzTx/>
                        <a:buFontTx/>
                        <a:buNone/>
                        <a:tabLst/>
                        <a:defRPr/>
                      </a:pPr>
                      <a:r>
                        <a:rPr lang="zh-CN" altLang="en-US" sz="2400" u="none" strike="noStrike" dirty="0">
                          <a:effectLst/>
                        </a:rPr>
                        <a:t>⭐⭐⭐</a:t>
                      </a:r>
                      <a:endParaRPr lang="zh-CN" altLang="en-US" sz="2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02602">
                <a:tc>
                  <a:txBody>
                    <a:bodyPr/>
                    <a:lstStyle/>
                    <a:p>
                      <a:pPr algn="ctr" fontAlgn="ctr">
                        <a:lnSpc>
                          <a:spcPct val="150000"/>
                        </a:lnSpc>
                      </a:pPr>
                      <a:r>
                        <a:rPr lang="zh-CN" altLang="en-US" sz="1400" u="none" strike="noStrike" dirty="0">
                          <a:effectLst/>
                        </a:rPr>
                        <a:t>日均屏幕时间</a:t>
                      </a:r>
                      <a:r>
                        <a:rPr lang="en-US" altLang="zh-CN" sz="1400" u="none" strike="noStrike" dirty="0">
                          <a:effectLst/>
                        </a:rPr>
                        <a:t>&gt;10</a:t>
                      </a:r>
                      <a:r>
                        <a:rPr lang="zh-CN" altLang="en-US" sz="1400" u="none" strike="noStrike" dirty="0">
                          <a:effectLst/>
                        </a:rPr>
                        <a:t>小时</a:t>
                      </a:r>
                      <a:endParaRPr lang="zh-CN" altLang="en-US" sz="1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ct val="150000"/>
                        </a:lnSpc>
                      </a:pPr>
                      <a:r>
                        <a:rPr lang="zh-CN" altLang="en-US" sz="1400" u="none" strike="noStrike" dirty="0">
                          <a:effectLst/>
                        </a:rPr>
                        <a:t>强制护眼模式</a:t>
                      </a:r>
                      <a:endParaRPr lang="zh-CN" altLang="en-US" sz="1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ct val="150000"/>
                        </a:lnSpc>
                      </a:pPr>
                      <a:r>
                        <a:rPr lang="zh-CN" altLang="en-US" sz="2400" u="none" strike="noStrike" dirty="0">
                          <a:effectLst/>
                        </a:rPr>
                        <a:t>⭐⭐⭐</a:t>
                      </a:r>
                      <a:endParaRPr lang="zh-CN" altLang="en-US" sz="2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33400">
                <a:tc>
                  <a:txBody>
                    <a:bodyPr/>
                    <a:lstStyle/>
                    <a:p>
                      <a:pPr algn="ctr" fontAlgn="ctr">
                        <a:lnSpc>
                          <a:spcPct val="150000"/>
                        </a:lnSpc>
                      </a:pPr>
                      <a:r>
                        <a:rPr lang="zh-CN" altLang="en-US" sz="1400" u="none" strike="noStrike" dirty="0">
                          <a:effectLst/>
                        </a:rPr>
                        <a:t>食堂消费</a:t>
                      </a:r>
                      <a:r>
                        <a:rPr lang="en-US" altLang="zh-CN" sz="1400" u="none" strike="noStrike" dirty="0">
                          <a:effectLst/>
                        </a:rPr>
                        <a:t>&lt;1</a:t>
                      </a:r>
                      <a:r>
                        <a:rPr lang="zh-CN" altLang="en-US" sz="1400" u="none" strike="noStrike" dirty="0">
                          <a:effectLst/>
                        </a:rPr>
                        <a:t>餐</a:t>
                      </a:r>
                      <a:r>
                        <a:rPr lang="en-US" altLang="zh-CN" sz="1400" u="none" strike="noStrike" dirty="0">
                          <a:effectLst/>
                        </a:rPr>
                        <a:t>/</a:t>
                      </a:r>
                      <a:r>
                        <a:rPr lang="zh-CN" altLang="en-US" sz="1400" u="none" strike="noStrike" dirty="0">
                          <a:effectLst/>
                        </a:rPr>
                        <a:t>日</a:t>
                      </a:r>
                      <a:endParaRPr lang="zh-CN" altLang="en-US" sz="1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ct val="150000"/>
                        </a:lnSpc>
                      </a:pPr>
                      <a:r>
                        <a:rPr lang="zh-CN" altLang="en-US" sz="1400" u="none" strike="noStrike" dirty="0">
                          <a:effectLst/>
                        </a:rPr>
                        <a:t>问卷</a:t>
                      </a:r>
                      <a:r>
                        <a:rPr lang="en-US" altLang="zh-CN" sz="1400" u="none" strike="noStrike" dirty="0">
                          <a:effectLst/>
                        </a:rPr>
                        <a:t>+</a:t>
                      </a:r>
                      <a:r>
                        <a:rPr lang="zh-CN" altLang="en-US" sz="1400" u="none" strike="noStrike" dirty="0">
                          <a:effectLst/>
                        </a:rPr>
                        <a:t>营养券</a:t>
                      </a:r>
                      <a:endParaRPr lang="zh-CN" altLang="en-US" sz="1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ct val="150000"/>
                        </a:lnSpc>
                      </a:pPr>
                      <a:r>
                        <a:rPr lang="zh-CN" altLang="en-US" sz="2400" u="none" strike="noStrike" dirty="0">
                          <a:effectLst/>
                        </a:rPr>
                        <a:t>⭐</a:t>
                      </a:r>
                      <a:endParaRPr lang="zh-CN" altLang="en-US" sz="2400" b="0" i="0" u="none" strike="noStrike" dirty="0">
                        <a:solidFill>
                          <a:srgbClr val="000000"/>
                        </a:solidFill>
                        <a:effectLst/>
                        <a:latin typeface="Segoe UI"/>
                      </a:endParaRPr>
                    </a:p>
                  </a:txBody>
                  <a:tcPr marL="7620" marR="7620" marT="762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4" name="矩形 3"/>
          <p:cNvSpPr/>
          <p:nvPr/>
        </p:nvSpPr>
        <p:spPr>
          <a:xfrm>
            <a:off x="406611" y="4002643"/>
            <a:ext cx="3438762" cy="369332"/>
          </a:xfrm>
          <a:prstGeom prst="rect">
            <a:avLst/>
          </a:prstGeom>
        </p:spPr>
        <p:txBody>
          <a:bodyPr wrap="none">
            <a:spAutoFit/>
          </a:bodyPr>
          <a:lstStyle/>
          <a:p>
            <a:pPr fontAlgn="base"/>
            <a:r>
              <a:rPr lang="zh-CN" altLang="en-US" b="1" dirty="0"/>
              <a:t>环境渗透式干预（隐性引导）：</a:t>
            </a:r>
            <a:endParaRPr lang="zh-CN" altLang="en-US" b="1" dirty="0">
              <a:effectLst/>
            </a:endParaRPr>
          </a:p>
        </p:txBody>
      </p:sp>
      <p:sp>
        <p:nvSpPr>
          <p:cNvPr id="9" name="矩形 8"/>
          <p:cNvSpPr/>
          <p:nvPr/>
        </p:nvSpPr>
        <p:spPr>
          <a:xfrm>
            <a:off x="552450" y="4459307"/>
            <a:ext cx="4019550" cy="2116028"/>
          </a:xfrm>
          <a:prstGeom prst="rect">
            <a:avLst/>
          </a:prstGeom>
        </p:spPr>
        <p:txBody>
          <a:bodyPr wrap="square">
            <a:spAutoFit/>
          </a:bodyPr>
          <a:lstStyle/>
          <a:p>
            <a:pPr algn="ctr" fontAlgn="base">
              <a:lnSpc>
                <a:spcPct val="150000"/>
              </a:lnSpc>
            </a:pPr>
            <a:r>
              <a:rPr lang="zh-CN" altLang="en-US" dirty="0"/>
              <a:t>​</a:t>
            </a:r>
            <a:r>
              <a:rPr lang="zh-CN" altLang="en-US" b="1" dirty="0"/>
              <a:t>动态内容推荐</a:t>
            </a:r>
            <a:r>
              <a:rPr lang="zh-CN" altLang="en-US" dirty="0"/>
              <a:t>​</a:t>
            </a:r>
          </a:p>
          <a:p>
            <a:pPr marL="0" lvl="1" fontAlgn="base">
              <a:lnSpc>
                <a:spcPct val="150000"/>
              </a:lnSpc>
            </a:pPr>
            <a:r>
              <a:rPr lang="zh-CN" altLang="en-US" dirty="0"/>
              <a:t>场景：用户搜索</a:t>
            </a:r>
            <a:r>
              <a:rPr lang="en-US" altLang="zh-CN" dirty="0"/>
              <a:t>"</a:t>
            </a:r>
            <a:r>
              <a:rPr lang="zh-CN" altLang="en-US" dirty="0"/>
              <a:t>挂科怎么办</a:t>
            </a:r>
            <a:r>
              <a:rPr lang="en-US" altLang="zh-CN" dirty="0"/>
              <a:t>"</a:t>
            </a:r>
          </a:p>
          <a:p>
            <a:pPr marL="0" lvl="1" fontAlgn="base">
              <a:lnSpc>
                <a:spcPct val="150000"/>
              </a:lnSpc>
            </a:pPr>
            <a:r>
              <a:rPr lang="zh-CN" altLang="en-US" dirty="0"/>
              <a:t>干预：</a:t>
            </a:r>
            <a:br>
              <a:rPr lang="zh-CN" altLang="en-US" dirty="0"/>
            </a:br>
            <a:r>
              <a:rPr lang="zh-CN" altLang="en-US" dirty="0"/>
              <a:t>✓ 首页推送</a:t>
            </a:r>
            <a:r>
              <a:rPr lang="en-US" altLang="zh-CN" dirty="0"/>
              <a:t>《</a:t>
            </a:r>
            <a:r>
              <a:rPr lang="zh-CN" altLang="en-US" dirty="0"/>
              <a:t>逆袭学长访谈录</a:t>
            </a:r>
            <a:r>
              <a:rPr lang="en-US" altLang="zh-CN" dirty="0"/>
              <a:t>》</a:t>
            </a:r>
            <a:br>
              <a:rPr lang="en-US" altLang="zh-CN" dirty="0"/>
            </a:br>
            <a:r>
              <a:rPr lang="en-US" altLang="zh-CN" dirty="0"/>
              <a:t>✓ </a:t>
            </a:r>
            <a:r>
              <a:rPr lang="zh-CN" altLang="en-US" dirty="0"/>
              <a:t>学习版块新增</a:t>
            </a:r>
            <a:r>
              <a:rPr lang="en-US" altLang="zh-CN" dirty="0"/>
              <a:t>"</a:t>
            </a:r>
            <a:r>
              <a:rPr lang="zh-CN" altLang="en-US" dirty="0"/>
              <a:t>考前急救包</a:t>
            </a:r>
            <a:r>
              <a:rPr lang="en-US" altLang="zh-CN" dirty="0"/>
              <a:t>"</a:t>
            </a:r>
            <a:r>
              <a:rPr lang="zh-CN" altLang="en-US" dirty="0"/>
              <a:t>标签</a:t>
            </a:r>
          </a:p>
        </p:txBody>
      </p:sp>
      <p:sp>
        <p:nvSpPr>
          <p:cNvPr id="10" name="矩形 9"/>
          <p:cNvSpPr/>
          <p:nvPr/>
        </p:nvSpPr>
        <p:spPr>
          <a:xfrm>
            <a:off x="4943475" y="4459307"/>
            <a:ext cx="3438525" cy="2169825"/>
          </a:xfrm>
          <a:prstGeom prst="rect">
            <a:avLst/>
          </a:prstGeom>
        </p:spPr>
        <p:txBody>
          <a:bodyPr wrap="square">
            <a:spAutoFit/>
          </a:bodyPr>
          <a:lstStyle/>
          <a:p>
            <a:pPr algn="ctr" fontAlgn="base">
              <a:lnSpc>
                <a:spcPct val="150000"/>
              </a:lnSpc>
            </a:pPr>
            <a:r>
              <a:rPr lang="zh-CN" altLang="en-US" b="1" dirty="0"/>
              <a:t>智能评论引导​</a:t>
            </a:r>
          </a:p>
          <a:p>
            <a:pPr marL="0" lvl="1" fontAlgn="base">
              <a:lnSpc>
                <a:spcPct val="150000"/>
              </a:lnSpc>
            </a:pPr>
            <a:r>
              <a:rPr lang="zh-CN" altLang="en-US" dirty="0"/>
              <a:t>场景：帖子含</a:t>
            </a:r>
            <a:r>
              <a:rPr lang="en-US" altLang="zh-CN" dirty="0"/>
              <a:t>"</a:t>
            </a:r>
            <a:r>
              <a:rPr lang="zh-CN" altLang="en-US" dirty="0"/>
              <a:t>想退学</a:t>
            </a:r>
            <a:r>
              <a:rPr lang="en-US" altLang="zh-CN" dirty="0"/>
              <a:t>"</a:t>
            </a:r>
            <a:r>
              <a:rPr lang="zh-CN" altLang="en-US" dirty="0"/>
              <a:t>关键词</a:t>
            </a:r>
          </a:p>
          <a:p>
            <a:pPr marL="0" lvl="1" fontAlgn="base">
              <a:lnSpc>
                <a:spcPct val="150000"/>
              </a:lnSpc>
            </a:pPr>
            <a:r>
              <a:rPr lang="zh-CN" altLang="en-US" dirty="0"/>
              <a:t>干预：</a:t>
            </a:r>
            <a:br>
              <a:rPr lang="zh-CN" altLang="en-US" dirty="0"/>
            </a:br>
            <a:r>
              <a:rPr lang="zh-CN" altLang="en-US" dirty="0"/>
              <a:t>✓ 自动置顶</a:t>
            </a:r>
            <a:r>
              <a:rPr lang="en-US" altLang="zh-CN" dirty="0"/>
              <a:t>"</a:t>
            </a:r>
            <a:r>
              <a:rPr lang="zh-CN" altLang="en-US" dirty="0"/>
              <a:t>心理委员</a:t>
            </a:r>
            <a:r>
              <a:rPr lang="en-US" altLang="zh-CN" dirty="0"/>
              <a:t>"</a:t>
            </a:r>
            <a:r>
              <a:rPr lang="zh-CN" altLang="en-US" dirty="0"/>
              <a:t>联系方式</a:t>
            </a:r>
            <a:br>
              <a:rPr lang="zh-CN" altLang="en-US" dirty="0"/>
            </a:br>
            <a:r>
              <a:rPr lang="zh-CN" altLang="en-US" dirty="0"/>
              <a:t>✓ 关联展示</a:t>
            </a:r>
            <a:r>
              <a:rPr lang="en-US" altLang="zh-CN" dirty="0"/>
              <a:t>《</a:t>
            </a:r>
            <a:r>
              <a:rPr lang="zh-CN" altLang="en-US" dirty="0"/>
              <a:t>专业转换指南</a:t>
            </a:r>
            <a:r>
              <a:rPr lang="en-US" altLang="zh-CN" dirty="0"/>
              <a:t>》</a:t>
            </a:r>
            <a:endParaRPr lang="zh-CN" altLang="en-US" dirty="0"/>
          </a:p>
        </p:txBody>
      </p:sp>
    </p:spTree>
    <p:extLst>
      <p:ext uri="{BB962C8B-B14F-4D97-AF65-F5344CB8AC3E}">
        <p14:creationId xmlns:p14="http://schemas.microsoft.com/office/powerpoint/2010/main" val="3998095153"/>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848420" y="202089"/>
            <a:ext cx="8417500" cy="464296"/>
          </a:xfrm>
        </p:spPr>
        <p:txBody>
          <a:bodyPr>
            <a:noAutofit/>
          </a:bodyPr>
          <a:lstStyle/>
          <a:p>
            <a:r>
              <a:rPr lang="zh-CN" altLang="en-US" sz="2500" dirty="0">
                <a:latin typeface="微软雅黑" panose="020B0503020204020204" charset="-122"/>
                <a:ea typeface="微软雅黑" panose="020B0503020204020204" charset="-122"/>
                <a:cs typeface="+mn-ea"/>
                <a:sym typeface="+mn-lt"/>
              </a:rPr>
              <a:t>研究内容五：</a:t>
            </a:r>
            <a:r>
              <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sym typeface="+mn-lt"/>
              </a:rPr>
              <a:t>个性化治疗技术</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11" name="文本框 4"/>
          <p:cNvSpPr txBox="1"/>
          <p:nvPr/>
        </p:nvSpPr>
        <p:spPr>
          <a:xfrm>
            <a:off x="419100" y="879025"/>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​基于联邦学习的协同过滤个性化治疗技术：</a:t>
            </a:r>
          </a:p>
        </p:txBody>
      </p:sp>
      <p:sp>
        <p:nvSpPr>
          <p:cNvPr id="5" name="矩形 4"/>
          <p:cNvSpPr/>
          <p:nvPr/>
        </p:nvSpPr>
        <p:spPr>
          <a:xfrm>
            <a:off x="540326" y="5694660"/>
            <a:ext cx="7938655"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latin typeface="Cambria Math" panose="02040503050406030204" pitchFamily="18" charset="0"/>
              </a:rPr>
              <a:t>协同过滤推荐技术：向有相似困扰的学生推荐心理疏导内容</a:t>
            </a:r>
          </a:p>
          <a:p>
            <a:pPr marL="285750" indent="-285750">
              <a:buFont typeface="Wingdings" panose="05000000000000000000" pitchFamily="2" charset="2"/>
              <a:buChar char="Ø"/>
            </a:pPr>
            <a:r>
              <a:rPr lang="zh-CN" altLang="en-US" dirty="0">
                <a:latin typeface="Cambria Math" panose="02040503050406030204" pitchFamily="18" charset="0"/>
              </a:rPr>
              <a:t>联邦协同过滤：缓解冷启动问题，在保护学生隐私的同时建立校园心理预警机制</a:t>
            </a:r>
          </a:p>
        </p:txBody>
      </p:sp>
      <p:pic>
        <p:nvPicPr>
          <p:cNvPr id="14" name="图片 13"/>
          <p:cNvPicPr>
            <a:picLocks noChangeAspect="1"/>
          </p:cNvPicPr>
          <p:nvPr/>
        </p:nvPicPr>
        <p:blipFill rotWithShape="1">
          <a:blip r:embed="rId3"/>
          <a:srcRect l="2574" r="5960" b="2329"/>
          <a:stretch>
            <a:fillRect/>
          </a:stretch>
        </p:blipFill>
        <p:spPr>
          <a:xfrm>
            <a:off x="599701" y="1279135"/>
            <a:ext cx="3645894" cy="3635905"/>
          </a:xfrm>
          <a:prstGeom prst="rect">
            <a:avLst/>
          </a:prstGeom>
        </p:spPr>
      </p:pic>
      <p:pic>
        <p:nvPicPr>
          <p:cNvPr id="15" name="图片 14"/>
          <p:cNvPicPr>
            <a:picLocks noChangeAspect="1"/>
          </p:cNvPicPr>
          <p:nvPr/>
        </p:nvPicPr>
        <p:blipFill rotWithShape="1">
          <a:blip r:embed="rId4"/>
          <a:srcRect l="2716" r="2637" b="3290"/>
          <a:stretch>
            <a:fillRect/>
          </a:stretch>
        </p:blipFill>
        <p:spPr>
          <a:xfrm>
            <a:off x="4698175" y="1326635"/>
            <a:ext cx="3865419" cy="3527047"/>
          </a:xfrm>
          <a:prstGeom prst="rect">
            <a:avLst/>
          </a:prstGeom>
        </p:spPr>
      </p:pic>
      <p:sp>
        <p:nvSpPr>
          <p:cNvPr id="16" name="文本框 10"/>
          <p:cNvSpPr txBox="1"/>
          <p:nvPr/>
        </p:nvSpPr>
        <p:spPr>
          <a:xfrm>
            <a:off x="599701" y="4869560"/>
            <a:ext cx="3969327" cy="584775"/>
          </a:xfrm>
          <a:prstGeom prst="rect">
            <a:avLst/>
          </a:prstGeom>
          <a:noFill/>
        </p:spPr>
        <p:txBody>
          <a:bodyPr wrap="square">
            <a:spAutoFit/>
          </a:bodyPr>
          <a:lstStyle/>
          <a:p>
            <a:pPr defTabSz="342900" eaLnBrk="0" fontAlgn="base" hangingPunct="0">
              <a:spcBef>
                <a:spcPct val="0"/>
              </a:spcBef>
              <a:spcAft>
                <a:spcPts val="450"/>
              </a:spcAft>
              <a:buClr>
                <a:srgbClr val="ED7D31">
                  <a:lumMod val="50000"/>
                </a:srgbClr>
              </a:buClr>
              <a:defRPr/>
            </a:pPr>
            <a:r>
              <a:rPr lang="zh-CN" altLang="en-US" sz="1600" dirty="0">
                <a:solidFill>
                  <a:prstClr val="black"/>
                </a:solidFill>
                <a:latin typeface="黑体" pitchFamily="49" charset="-122"/>
                <a:ea typeface="黑体" pitchFamily="49" charset="-122"/>
              </a:rPr>
              <a:t>横向联邦学习将同一学生在学校的日常行为数据与医院的诊疗记录进行联合建模</a:t>
            </a:r>
            <a:endParaRPr lang="en-US" altLang="zh-CN" sz="1600" dirty="0">
              <a:solidFill>
                <a:prstClr val="black"/>
              </a:solidFill>
              <a:latin typeface="黑体" pitchFamily="49" charset="-122"/>
              <a:ea typeface="黑体" pitchFamily="49" charset="-122"/>
            </a:endParaRPr>
          </a:p>
        </p:txBody>
      </p:sp>
      <p:sp>
        <p:nvSpPr>
          <p:cNvPr id="18" name="文本框 10"/>
          <p:cNvSpPr txBox="1"/>
          <p:nvPr/>
        </p:nvSpPr>
        <p:spPr>
          <a:xfrm>
            <a:off x="4874650" y="4852531"/>
            <a:ext cx="4150598" cy="584775"/>
          </a:xfrm>
          <a:prstGeom prst="rect">
            <a:avLst/>
          </a:prstGeom>
          <a:noFill/>
        </p:spPr>
        <p:txBody>
          <a:bodyPr wrap="square">
            <a:spAutoFit/>
          </a:bodyPr>
          <a:lstStyle/>
          <a:p>
            <a:pPr defTabSz="342900" eaLnBrk="0" fontAlgn="base" hangingPunct="0">
              <a:spcBef>
                <a:spcPct val="0"/>
              </a:spcBef>
              <a:spcAft>
                <a:spcPts val="450"/>
              </a:spcAft>
              <a:buClr>
                <a:srgbClr val="ED7D31">
                  <a:lumMod val="50000"/>
                </a:srgbClr>
              </a:buClr>
              <a:defRPr/>
            </a:pPr>
            <a:r>
              <a:rPr lang="zh-CN" altLang="en-US" sz="1600" dirty="0">
                <a:solidFill>
                  <a:prstClr val="black"/>
                </a:solidFill>
                <a:latin typeface="黑体" pitchFamily="49" charset="-122"/>
                <a:ea typeface="黑体" pitchFamily="49" charset="-122"/>
              </a:rPr>
              <a:t>纵向联邦学习将不同学生在不同机构的相同特征维度联合建模，实现跨群体知识迁移</a:t>
            </a:r>
            <a:endParaRPr lang="en-US" altLang="zh-CN" sz="1600" dirty="0">
              <a:solidFill>
                <a:prstClr val="black"/>
              </a:solidFill>
              <a:latin typeface="黑体" pitchFamily="49" charset="-122"/>
              <a:ea typeface="黑体" pitchFamily="49" charset="-122"/>
            </a:endParaRPr>
          </a:p>
        </p:txBody>
      </p:sp>
    </p:spTree>
    <p:extLst>
      <p:ext uri="{BB962C8B-B14F-4D97-AF65-F5344CB8AC3E}">
        <p14:creationId xmlns:p14="http://schemas.microsoft.com/office/powerpoint/2010/main" val="2387943448"/>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142232" y="4334690"/>
            <a:ext cx="1492064" cy="395576"/>
          </a:xfrm>
          <a:prstGeom prst="roundRect">
            <a:avLst>
              <a:gd name="adj" fmla="val 50000"/>
            </a:avLst>
          </a:prstGeom>
          <a:solidFill>
            <a:srgbClr val="00206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2200" b="1" dirty="0">
                <a:latin typeface="微软雅黑" panose="020B0503020204020204" charset="-122"/>
                <a:ea typeface="微软雅黑" panose="020B0503020204020204" charset="-122"/>
              </a:rPr>
              <a:t>  新 </a:t>
            </a:r>
            <a:r>
              <a:rPr lang="zh-CN" altLang="en-US" b="1" dirty="0">
                <a:latin typeface="微软雅黑" panose="020B0503020204020204" charset="-122"/>
                <a:ea typeface="微软雅黑" panose="020B0503020204020204" charset="-122"/>
              </a:rPr>
              <a:t>机制</a:t>
            </a:r>
          </a:p>
        </p:txBody>
      </p:sp>
      <p:sp>
        <p:nvSpPr>
          <p:cNvPr id="4" name="矩形: 圆角 3"/>
          <p:cNvSpPr/>
          <p:nvPr/>
        </p:nvSpPr>
        <p:spPr>
          <a:xfrm>
            <a:off x="151141" y="3115555"/>
            <a:ext cx="1492064" cy="395576"/>
          </a:xfrm>
          <a:prstGeom prst="roundRect">
            <a:avLst>
              <a:gd name="adj" fmla="val 50000"/>
            </a:avLst>
          </a:prstGeom>
          <a:solidFill>
            <a:srgbClr val="00206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2200" b="1" dirty="0">
                <a:latin typeface="微软雅黑" panose="020B0503020204020204" charset="-122"/>
                <a:ea typeface="微软雅黑" panose="020B0503020204020204" charset="-122"/>
              </a:rPr>
              <a:t>  新 框架</a:t>
            </a:r>
            <a:endParaRPr lang="zh-CN" altLang="en-US" b="1" dirty="0">
              <a:latin typeface="微软雅黑" panose="020B0503020204020204" charset="-122"/>
              <a:ea typeface="微软雅黑" panose="020B0503020204020204" charset="-122"/>
            </a:endParaRPr>
          </a:p>
        </p:txBody>
      </p:sp>
      <p:sp>
        <p:nvSpPr>
          <p:cNvPr id="5" name="矩形: 圆角 4"/>
          <p:cNvSpPr/>
          <p:nvPr/>
        </p:nvSpPr>
        <p:spPr>
          <a:xfrm>
            <a:off x="151141" y="1956930"/>
            <a:ext cx="1492064" cy="395576"/>
          </a:xfrm>
          <a:prstGeom prst="roundRect">
            <a:avLst>
              <a:gd name="adj" fmla="val 50000"/>
            </a:avLst>
          </a:prstGeom>
          <a:solidFill>
            <a:srgbClr val="00206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2200" b="1" dirty="0">
                <a:latin typeface="微软雅黑" panose="020B0503020204020204" charset="-122"/>
                <a:ea typeface="微软雅黑" panose="020B0503020204020204" charset="-122"/>
              </a:rPr>
              <a:t>  新 技术</a:t>
            </a:r>
            <a:endParaRPr lang="zh-CN" altLang="en-US" b="1" dirty="0">
              <a:latin typeface="微软雅黑" panose="020B0503020204020204" charset="-122"/>
              <a:ea typeface="微软雅黑" panose="020B0503020204020204" charset="-122"/>
            </a:endParaRPr>
          </a:p>
        </p:txBody>
      </p:sp>
      <p:sp>
        <p:nvSpPr>
          <p:cNvPr id="6" name="矩形: 圆角 5"/>
          <p:cNvSpPr/>
          <p:nvPr/>
        </p:nvSpPr>
        <p:spPr>
          <a:xfrm>
            <a:off x="1489408" y="4142552"/>
            <a:ext cx="7535065" cy="774492"/>
          </a:xfrm>
          <a:prstGeom prst="round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矩形: 圆角 6"/>
          <p:cNvSpPr/>
          <p:nvPr/>
        </p:nvSpPr>
        <p:spPr>
          <a:xfrm>
            <a:off x="1489410" y="2938686"/>
            <a:ext cx="7541384" cy="774492"/>
          </a:xfrm>
          <a:prstGeom prst="round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 name="矩形: 圆角 7"/>
          <p:cNvSpPr/>
          <p:nvPr/>
        </p:nvSpPr>
        <p:spPr>
          <a:xfrm>
            <a:off x="1489408" y="1786760"/>
            <a:ext cx="7541385" cy="774492"/>
          </a:xfrm>
          <a:prstGeom prst="round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cxnSp>
        <p:nvCxnSpPr>
          <p:cNvPr id="9" name="直接连接符 8"/>
          <p:cNvCxnSpPr>
            <a:stCxn id="20" idx="4"/>
          </p:cNvCxnSpPr>
          <p:nvPr/>
        </p:nvCxnSpPr>
        <p:spPr>
          <a:xfrm flipH="1">
            <a:off x="330295" y="2352508"/>
            <a:ext cx="4595" cy="7630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23980" y="3465079"/>
            <a:ext cx="6319" cy="8696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42232" y="4334696"/>
            <a:ext cx="390495" cy="395576"/>
            <a:chOff x="2136422" y="3275104"/>
            <a:chExt cx="318477" cy="318477"/>
          </a:xfrm>
          <a:solidFill>
            <a:srgbClr val="002060"/>
          </a:solidFill>
        </p:grpSpPr>
        <p:sp>
          <p:nvSpPr>
            <p:cNvPr id="12" name="椭圆 11"/>
            <p:cNvSpPr/>
            <p:nvPr/>
          </p:nvSpPr>
          <p:spPr>
            <a:xfrm>
              <a:off x="2136422" y="3275104"/>
              <a:ext cx="318477" cy="31847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a:solidFill>
                  <a:srgbClr val="435786"/>
                </a:solidFill>
                <a:latin typeface="微软雅黑" panose="020B0503020204020204" charset="-122"/>
                <a:ea typeface="微软雅黑" panose="020B0503020204020204" charset="-122"/>
              </a:endParaRPr>
            </a:p>
          </p:txBody>
        </p:sp>
        <p:sp>
          <p:nvSpPr>
            <p:cNvPr id="13" name="椭圆 12"/>
            <p:cNvSpPr/>
            <p:nvPr/>
          </p:nvSpPr>
          <p:spPr>
            <a:xfrm>
              <a:off x="2168017" y="3312177"/>
              <a:ext cx="244329" cy="244329"/>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chemeClr val="bg1"/>
                  </a:solidFill>
                  <a:latin typeface="微软雅黑" panose="020B0503020204020204" charset="-122"/>
                  <a:ea typeface="微软雅黑" panose="020B0503020204020204" charset="-122"/>
                </a:rPr>
                <a:t>3</a:t>
              </a:r>
              <a:endParaRPr lang="zh-CN" altLang="en-US" sz="2000" dirty="0">
                <a:solidFill>
                  <a:schemeClr val="bg1"/>
                </a:solidFill>
                <a:latin typeface="微软雅黑" panose="020B0503020204020204" charset="-122"/>
                <a:ea typeface="微软雅黑" panose="020B0503020204020204" charset="-122"/>
              </a:endParaRPr>
            </a:p>
          </p:txBody>
        </p:sp>
      </p:grpSp>
      <p:sp>
        <p:nvSpPr>
          <p:cNvPr id="14" name="文本框 22"/>
          <p:cNvSpPr txBox="1"/>
          <p:nvPr/>
        </p:nvSpPr>
        <p:spPr>
          <a:xfrm>
            <a:off x="1617172" y="4351717"/>
            <a:ext cx="734219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charset="-122"/>
                <a:ea typeface="微软雅黑" panose="020B0503020204020204" charset="-122"/>
                <a:cs typeface="+mn-ea"/>
              </a:rPr>
              <a:t>提出了</a:t>
            </a:r>
            <a:r>
              <a:rPr lang="zh-CN" altLang="en-US" b="1" dirty="0">
                <a:latin typeface="微软雅黑" panose="020B0503020204020204" charset="-122"/>
                <a:ea typeface="微软雅黑" panose="020B0503020204020204" charset="-122"/>
                <a:cs typeface="+mn-ea"/>
              </a:rPr>
              <a:t>人工智能赋能的大学生心理健康精准诊断和个性化治疗</a:t>
            </a:r>
          </a:p>
        </p:txBody>
      </p:sp>
      <p:grpSp>
        <p:nvGrpSpPr>
          <p:cNvPr id="15" name="组合 14"/>
          <p:cNvGrpSpPr/>
          <p:nvPr/>
        </p:nvGrpSpPr>
        <p:grpSpPr>
          <a:xfrm>
            <a:off x="142233" y="3115555"/>
            <a:ext cx="391468" cy="395578"/>
            <a:chOff x="2136422" y="3043726"/>
            <a:chExt cx="318477" cy="318477"/>
          </a:xfrm>
          <a:solidFill>
            <a:srgbClr val="002060"/>
          </a:solidFill>
        </p:grpSpPr>
        <p:sp>
          <p:nvSpPr>
            <p:cNvPr id="16" name="椭圆 15"/>
            <p:cNvSpPr/>
            <p:nvPr/>
          </p:nvSpPr>
          <p:spPr>
            <a:xfrm>
              <a:off x="2136422" y="3043726"/>
              <a:ext cx="318477" cy="31847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435786"/>
                </a:solidFill>
                <a:latin typeface="微软雅黑" panose="020B0503020204020204" charset="-122"/>
                <a:ea typeface="微软雅黑" panose="020B0503020204020204" charset="-122"/>
              </a:endParaRPr>
            </a:p>
          </p:txBody>
        </p:sp>
        <p:sp>
          <p:nvSpPr>
            <p:cNvPr id="17" name="椭圆 16"/>
            <p:cNvSpPr/>
            <p:nvPr/>
          </p:nvSpPr>
          <p:spPr>
            <a:xfrm>
              <a:off x="2168146" y="3080800"/>
              <a:ext cx="244329" cy="244329"/>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chemeClr val="bg1"/>
                  </a:solidFill>
                  <a:latin typeface="微软雅黑" panose="020B0503020204020204" charset="-122"/>
                  <a:ea typeface="微软雅黑" panose="020B0503020204020204" charset="-122"/>
                </a:rPr>
                <a:t>2</a:t>
              </a:r>
              <a:endParaRPr lang="zh-CN" altLang="en-US" sz="2000" dirty="0">
                <a:solidFill>
                  <a:schemeClr val="bg1"/>
                </a:solidFill>
                <a:latin typeface="微软雅黑" panose="020B0503020204020204" charset="-122"/>
                <a:ea typeface="微软雅黑" panose="020B0503020204020204" charset="-122"/>
              </a:endParaRPr>
            </a:p>
          </p:txBody>
        </p:sp>
      </p:grpSp>
      <p:sp>
        <p:nvSpPr>
          <p:cNvPr id="18" name="文本框 24"/>
          <p:cNvSpPr txBox="1"/>
          <p:nvPr/>
        </p:nvSpPr>
        <p:spPr>
          <a:xfrm>
            <a:off x="1604127" y="3132572"/>
            <a:ext cx="7355236"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charset="-122"/>
                <a:ea typeface="微软雅黑" panose="020B0503020204020204" charset="-122"/>
                <a:cs typeface="+mn-ea"/>
              </a:rPr>
              <a:t>构建</a:t>
            </a:r>
            <a:r>
              <a:rPr lang="zh-CN" altLang="en-US" b="1" dirty="0">
                <a:latin typeface="微软雅黑" panose="020B0503020204020204" charset="-122"/>
                <a:ea typeface="微软雅黑" panose="020B0503020204020204" charset="-122"/>
                <a:cs typeface="+mn-ea"/>
              </a:rPr>
              <a:t>基于区块链的去中心化联邦学习模型存证架构</a:t>
            </a:r>
          </a:p>
        </p:txBody>
      </p:sp>
      <p:grpSp>
        <p:nvGrpSpPr>
          <p:cNvPr id="19" name="组合 18"/>
          <p:cNvGrpSpPr/>
          <p:nvPr/>
        </p:nvGrpSpPr>
        <p:grpSpPr>
          <a:xfrm>
            <a:off x="142234" y="1956931"/>
            <a:ext cx="385312" cy="395577"/>
            <a:chOff x="2136422" y="3275104"/>
            <a:chExt cx="318477" cy="318477"/>
          </a:xfrm>
          <a:solidFill>
            <a:srgbClr val="002060"/>
          </a:solidFill>
        </p:grpSpPr>
        <p:sp>
          <p:nvSpPr>
            <p:cNvPr id="20" name="椭圆 19"/>
            <p:cNvSpPr/>
            <p:nvPr/>
          </p:nvSpPr>
          <p:spPr>
            <a:xfrm>
              <a:off x="2136422" y="3275104"/>
              <a:ext cx="318477" cy="31847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435786"/>
                </a:solidFill>
                <a:latin typeface="微软雅黑" panose="020B0503020204020204" charset="-122"/>
                <a:ea typeface="微软雅黑" panose="020B0503020204020204" charset="-122"/>
              </a:endParaRPr>
            </a:p>
          </p:txBody>
        </p:sp>
        <p:sp>
          <p:nvSpPr>
            <p:cNvPr id="21" name="椭圆 20"/>
            <p:cNvSpPr/>
            <p:nvPr/>
          </p:nvSpPr>
          <p:spPr>
            <a:xfrm>
              <a:off x="2169332" y="3312178"/>
              <a:ext cx="244329" cy="244329"/>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chemeClr val="bg1"/>
                  </a:solidFill>
                  <a:latin typeface="微软雅黑" panose="020B0503020204020204" charset="-122"/>
                  <a:ea typeface="微软雅黑" panose="020B0503020204020204" charset="-122"/>
                </a:rPr>
                <a:t>1</a:t>
              </a:r>
              <a:endParaRPr lang="zh-CN" altLang="en-US" sz="2000" dirty="0">
                <a:solidFill>
                  <a:schemeClr val="bg1"/>
                </a:solidFill>
                <a:latin typeface="微软雅黑" panose="020B0503020204020204" charset="-122"/>
                <a:ea typeface="微软雅黑" panose="020B0503020204020204" charset="-122"/>
              </a:endParaRPr>
            </a:p>
          </p:txBody>
        </p:sp>
      </p:grpSp>
      <p:sp>
        <p:nvSpPr>
          <p:cNvPr id="22" name="文本框 25"/>
          <p:cNvSpPr txBox="1"/>
          <p:nvPr/>
        </p:nvSpPr>
        <p:spPr>
          <a:xfrm>
            <a:off x="1632170" y="1973951"/>
            <a:ext cx="7327192"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charset="-122"/>
                <a:ea typeface="微软雅黑" panose="020B0503020204020204" charset="-122"/>
                <a:cs typeface="+mn-ea"/>
              </a:rPr>
              <a:t>提出了</a:t>
            </a:r>
            <a:r>
              <a:rPr lang="zh-CN" altLang="en-US" b="1" dirty="0">
                <a:latin typeface="微软雅黑" panose="020B0503020204020204" charset="-122"/>
                <a:ea typeface="微软雅黑" panose="020B0503020204020204" charset="-122"/>
                <a:cs typeface="+mn-ea"/>
              </a:rPr>
              <a:t>基于双层循环的高效个性化联邦学习技术</a:t>
            </a:r>
          </a:p>
        </p:txBody>
      </p:sp>
      <p:sp>
        <p:nvSpPr>
          <p:cNvPr id="23"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项目创新点</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Tree>
    <p:extLst>
      <p:ext uri="{BB962C8B-B14F-4D97-AF65-F5344CB8AC3E}">
        <p14:creationId xmlns:p14="http://schemas.microsoft.com/office/powerpoint/2010/main" val="97324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2" presetClass="entr" presetSubtype="4"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1+#ppt_h/2"/>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anim calcmode="lin" valueType="num">
                                      <p:cBhvr>
                                        <p:cTn id="33" dur="1000" fill="hold"/>
                                        <p:tgtEl>
                                          <p:spTgt spid="4"/>
                                        </p:tgtEl>
                                        <p:attrNameLst>
                                          <p:attrName>ppt_x</p:attrName>
                                        </p:attrNameLst>
                                      </p:cBhvr>
                                      <p:tavLst>
                                        <p:tav tm="0">
                                          <p:val>
                                            <p:strVal val="#ppt_x"/>
                                          </p:val>
                                        </p:tav>
                                        <p:tav tm="100000">
                                          <p:val>
                                            <p:strVal val="#ppt_x"/>
                                          </p:val>
                                        </p:tav>
                                      </p:tavLst>
                                    </p:anim>
                                    <p:anim calcmode="lin" valueType="num">
                                      <p:cBhvr>
                                        <p:cTn id="34" dur="1000" fill="hold"/>
                                        <p:tgtEl>
                                          <p:spTgt spid="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childTnLst>
                          </p:cTn>
                        </p:par>
                        <p:par>
                          <p:cTn id="50" fill="hold">
                            <p:stCondLst>
                              <p:cond delay="1500"/>
                            </p:stCondLst>
                            <p:childTnLst>
                              <p:par>
                                <p:cTn id="51" presetID="2" presetClass="entr" presetSubtype="4" fill="hold" nodeType="after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1000"/>
                                        <p:tgtEl>
                                          <p:spTgt spid="3"/>
                                        </p:tgtEl>
                                      </p:cBhvr>
                                    </p:animEffect>
                                    <p:anim calcmode="lin" valueType="num">
                                      <p:cBhvr>
                                        <p:cTn id="58" dur="1000" fill="hold"/>
                                        <p:tgtEl>
                                          <p:spTgt spid="3"/>
                                        </p:tgtEl>
                                        <p:attrNameLst>
                                          <p:attrName>ppt_x</p:attrName>
                                        </p:attrNameLst>
                                      </p:cBhvr>
                                      <p:tavLst>
                                        <p:tav tm="0">
                                          <p:val>
                                            <p:strVal val="#ppt_x"/>
                                          </p:val>
                                        </p:tav>
                                        <p:tav tm="100000">
                                          <p:val>
                                            <p:strVal val="#ppt_x"/>
                                          </p:val>
                                        </p:tav>
                                      </p:tavLst>
                                    </p:anim>
                                    <p:anim calcmode="lin" valueType="num">
                                      <p:cBhvr>
                                        <p:cTn id="59" dur="1000" fill="hold"/>
                                        <p:tgtEl>
                                          <p:spTgt spid="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1000"/>
                                        <p:tgtEl>
                                          <p:spTgt spid="6"/>
                                        </p:tgtEl>
                                      </p:cBhvr>
                                    </p:animEffect>
                                    <p:anim calcmode="lin" valueType="num">
                                      <p:cBhvr>
                                        <p:cTn id="63" dur="1000" fill="hold"/>
                                        <p:tgtEl>
                                          <p:spTgt spid="6"/>
                                        </p:tgtEl>
                                        <p:attrNameLst>
                                          <p:attrName>ppt_x</p:attrName>
                                        </p:attrNameLst>
                                      </p:cBhvr>
                                      <p:tavLst>
                                        <p:tav tm="0">
                                          <p:val>
                                            <p:strVal val="#ppt_x"/>
                                          </p:val>
                                        </p:tav>
                                        <p:tav tm="100000">
                                          <p:val>
                                            <p:strVal val="#ppt_x"/>
                                          </p:val>
                                        </p:tav>
                                      </p:tavLst>
                                    </p:anim>
                                    <p:anim calcmode="lin" valueType="num">
                                      <p:cBhvr>
                                        <p:cTn id="64" dur="1000" fill="hold"/>
                                        <p:tgtEl>
                                          <p:spTgt spid="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1000"/>
                                        <p:tgtEl>
                                          <p:spTgt spid="11"/>
                                        </p:tgtEl>
                                      </p:cBhvr>
                                    </p:animEffect>
                                    <p:anim calcmode="lin" valueType="num">
                                      <p:cBhvr>
                                        <p:cTn id="68" dur="1000" fill="hold"/>
                                        <p:tgtEl>
                                          <p:spTgt spid="11"/>
                                        </p:tgtEl>
                                        <p:attrNameLst>
                                          <p:attrName>ppt_x</p:attrName>
                                        </p:attrNameLst>
                                      </p:cBhvr>
                                      <p:tavLst>
                                        <p:tav tm="0">
                                          <p:val>
                                            <p:strVal val="#ppt_x"/>
                                          </p:val>
                                        </p:tav>
                                        <p:tav tm="100000">
                                          <p:val>
                                            <p:strVal val="#ppt_x"/>
                                          </p:val>
                                        </p:tav>
                                      </p:tavLst>
                                    </p:anim>
                                    <p:anim calcmode="lin" valueType="num">
                                      <p:cBhvr>
                                        <p:cTn id="69" dur="1000" fill="hold"/>
                                        <p:tgtEl>
                                          <p:spTgt spid="1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1000"/>
                                        <p:tgtEl>
                                          <p:spTgt spid="14"/>
                                        </p:tgtEl>
                                      </p:cBhvr>
                                    </p:animEffect>
                                    <p:anim calcmode="lin" valueType="num">
                                      <p:cBhvr>
                                        <p:cTn id="73" dur="1000" fill="hold"/>
                                        <p:tgtEl>
                                          <p:spTgt spid="14"/>
                                        </p:tgtEl>
                                        <p:attrNameLst>
                                          <p:attrName>ppt_x</p:attrName>
                                        </p:attrNameLst>
                                      </p:cBhvr>
                                      <p:tavLst>
                                        <p:tav tm="0">
                                          <p:val>
                                            <p:strVal val="#ppt_x"/>
                                          </p:val>
                                        </p:tav>
                                        <p:tav tm="100000">
                                          <p:val>
                                            <p:strVal val="#ppt_x"/>
                                          </p:val>
                                        </p:tav>
                                      </p:tavLst>
                                    </p:anim>
                                    <p:anim calcmode="lin" valueType="num">
                                      <p:cBhvr>
                                        <p:cTn id="7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4" grpId="0"/>
      <p:bldP spid="18"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联邦学习部分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953" y="1522808"/>
            <a:ext cx="8275264" cy="3394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7">
            <a:extLst>
              <a:ext uri="{FF2B5EF4-FFF2-40B4-BE49-F238E27FC236}">
                <a16:creationId xmlns:a16="http://schemas.microsoft.com/office/drawing/2014/main" id="{30AC7245-CBE5-55ED-AC3E-B1C53FB3B017}"/>
              </a:ext>
            </a:extLst>
          </p:cNvPr>
          <p:cNvSpPr txBox="1"/>
          <p:nvPr/>
        </p:nvSpPr>
        <p:spPr>
          <a:xfrm>
            <a:off x="817108" y="5024318"/>
            <a:ext cx="7592210" cy="147732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000" dirty="0">
                <a:latin typeface="Cambria Math" panose="02040503050406030204" pitchFamily="18" charset="0"/>
              </a:rPr>
              <a:t>在所有数据集上，我们的方法</a:t>
            </a:r>
            <a:r>
              <a:rPr lang="en-US" altLang="zh-CN" sz="2000" dirty="0" err="1">
                <a:latin typeface="Cambria Math" panose="02040503050406030204" pitchFamily="18" charset="0"/>
              </a:rPr>
              <a:t>HierPerFed</a:t>
            </a:r>
            <a:r>
              <a:rPr lang="zh-CN" altLang="en-US" sz="2000" dirty="0">
                <a:latin typeface="Cambria Math" panose="02040503050406030204" pitchFamily="18" charset="0"/>
              </a:rPr>
              <a:t>的精度都高于其他方法</a:t>
            </a:r>
            <a:endParaRPr lang="en-US" altLang="zh-CN" sz="2000" dirty="0">
              <a:latin typeface="Cambria Math" panose="02040503050406030204" pitchFamily="18" charset="0"/>
            </a:endParaRPr>
          </a:p>
          <a:p>
            <a:pPr marL="285750" indent="-285750">
              <a:lnSpc>
                <a:spcPct val="150000"/>
              </a:lnSpc>
              <a:buFont typeface="Wingdings" panose="05000000000000000000" pitchFamily="2" charset="2"/>
              <a:buChar char="Ø"/>
            </a:pPr>
            <a:r>
              <a:rPr lang="zh-CN" altLang="en-US" sz="2000" dirty="0">
                <a:latin typeface="Cambria Math" panose="02040503050406030204" pitchFamily="18" charset="0"/>
              </a:rPr>
              <a:t>表明</a:t>
            </a:r>
            <a:r>
              <a:rPr lang="en-US" altLang="zh-CN" sz="2000" dirty="0" err="1">
                <a:latin typeface="Cambria Math" panose="02040503050406030204" pitchFamily="18" charset="0"/>
              </a:rPr>
              <a:t>HierPerFed</a:t>
            </a:r>
            <a:r>
              <a:rPr lang="zh-CN" altLang="en-US" sz="2000" dirty="0">
                <a:latin typeface="Cambria Math" panose="02040503050406030204" pitchFamily="18" charset="0"/>
              </a:rPr>
              <a:t>可以利用全局信息来指导个性化模型的更新，具有更广泛的适用性。</a:t>
            </a:r>
            <a:endParaRPr lang="zh-CN" altLang="zh-CN" sz="2000" dirty="0">
              <a:latin typeface="Cambria Math" panose="02040503050406030204" pitchFamily="18" charset="0"/>
            </a:endParaRPr>
          </a:p>
        </p:txBody>
      </p:sp>
      <p:sp>
        <p:nvSpPr>
          <p:cNvPr id="10"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为了验证算法的有效性，我们在开源数据集上进行了测试：</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联邦学习部分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10"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为了验证算法的有效性，我们在开源数据集上进行了测试：</a:t>
            </a:r>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3460"/>
          <a:stretch/>
        </p:blipFill>
        <p:spPr bwMode="auto">
          <a:xfrm>
            <a:off x="888741" y="1381361"/>
            <a:ext cx="7020225" cy="210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592" y="3399804"/>
            <a:ext cx="6526384" cy="207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904" y="3678139"/>
            <a:ext cx="6955021" cy="203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5952" y="5749161"/>
            <a:ext cx="6413757" cy="200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00616" y="6086541"/>
            <a:ext cx="6951184" cy="369332"/>
          </a:xfrm>
          <a:prstGeom prst="rect">
            <a:avLst/>
          </a:prstGeom>
        </p:spPr>
        <p:txBody>
          <a:bodyPr wrap="square">
            <a:spAutoFit/>
          </a:bodyPr>
          <a:lstStyle/>
          <a:p>
            <a:r>
              <a:rPr lang="zh-CN" altLang="zh-CN" dirty="0"/>
              <a:t>我们的方法</a:t>
            </a:r>
            <a:r>
              <a:rPr lang="en-US" altLang="zh-CN" dirty="0" err="1"/>
              <a:t>HierPerFed</a:t>
            </a:r>
            <a:r>
              <a:rPr lang="zh-CN" altLang="zh-CN" dirty="0"/>
              <a:t>在收敛速度和收敛稳定性方面都有显著优势。</a:t>
            </a:r>
            <a:endParaRPr lang="zh-CN" altLang="en-US" dirty="0"/>
          </a:p>
        </p:txBody>
      </p:sp>
    </p:spTree>
    <p:extLst>
      <p:ext uri="{BB962C8B-B14F-4D97-AF65-F5344CB8AC3E}">
        <p14:creationId xmlns:p14="http://schemas.microsoft.com/office/powerpoint/2010/main" val="3837869468"/>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联邦学习部分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10"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为了验证算法的有效性，我们在开源数据集上进行了测试：</a:t>
            </a:r>
          </a:p>
        </p:txBody>
      </p:sp>
      <p:sp>
        <p:nvSpPr>
          <p:cNvPr id="9" name="TextBox 4">
            <a:extLst>
              <a:ext uri="{FF2B5EF4-FFF2-40B4-BE49-F238E27FC236}">
                <a16:creationId xmlns:a16="http://schemas.microsoft.com/office/drawing/2014/main" id="{1C21F1D1-AFC9-4C51-47F5-5CCDDBCFA756}"/>
              </a:ext>
            </a:extLst>
          </p:cNvPr>
          <p:cNvSpPr txBox="1"/>
          <p:nvPr/>
        </p:nvSpPr>
        <p:spPr>
          <a:xfrm>
            <a:off x="5142015" y="2406824"/>
            <a:ext cx="3550723" cy="1015663"/>
          </a:xfrm>
          <a:prstGeom prst="rect">
            <a:avLst/>
          </a:prstGeom>
          <a:noFill/>
        </p:spPr>
        <p:txBody>
          <a:bodyPr wrap="square" rtlCol="0">
            <a:spAutoFit/>
          </a:bodyPr>
          <a:lstStyle/>
          <a:p>
            <a:pPr>
              <a:lnSpc>
                <a:spcPct val="150000"/>
              </a:lnSpc>
            </a:pPr>
            <a:r>
              <a:rPr lang="zh-CN" altLang="en-US" sz="2000" dirty="0"/>
              <a:t>左图显示</a:t>
            </a:r>
            <a:r>
              <a:rPr lang="zh-CN" altLang="zh-CN" sz="2000" dirty="0"/>
              <a:t>不同方法在一轮全局迭代中的消耗时间</a:t>
            </a:r>
            <a:endParaRPr lang="zh-CN" altLang="en-US" sz="2000" dirty="0"/>
          </a:p>
        </p:txBody>
      </p:sp>
      <p:sp>
        <p:nvSpPr>
          <p:cNvPr id="14" name="TextBox 7">
            <a:extLst>
              <a:ext uri="{FF2B5EF4-FFF2-40B4-BE49-F238E27FC236}">
                <a16:creationId xmlns:a16="http://schemas.microsoft.com/office/drawing/2014/main" id="{FB289B04-9CD6-72BC-C931-DF8258BA099F}"/>
              </a:ext>
            </a:extLst>
          </p:cNvPr>
          <p:cNvSpPr txBox="1"/>
          <p:nvPr/>
        </p:nvSpPr>
        <p:spPr>
          <a:xfrm>
            <a:off x="461529" y="5065349"/>
            <a:ext cx="8602895" cy="147732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zh-CN" sz="2000" dirty="0"/>
              <a:t>在计算时间上，</a:t>
            </a:r>
            <a:r>
              <a:rPr lang="en-US" altLang="zh-CN" sz="2000" dirty="0" err="1"/>
              <a:t>HierPerFed</a:t>
            </a:r>
            <a:r>
              <a:rPr lang="zh-CN" altLang="zh-CN" sz="2000" dirty="0"/>
              <a:t>和</a:t>
            </a:r>
            <a:r>
              <a:rPr lang="en-US" altLang="zh-CN" sz="2000" dirty="0" err="1"/>
              <a:t>FedAvg</a:t>
            </a:r>
            <a:r>
              <a:rPr lang="zh-CN" altLang="en-US" sz="2000" dirty="0"/>
              <a:t>相差不大</a:t>
            </a:r>
            <a:r>
              <a:rPr lang="zh-CN" altLang="zh-CN" sz="2000" dirty="0"/>
              <a:t>。</a:t>
            </a:r>
            <a:endParaRPr lang="en-US" altLang="zh-CN" sz="2000" dirty="0"/>
          </a:p>
          <a:p>
            <a:pPr marL="285750" indent="-285750">
              <a:lnSpc>
                <a:spcPct val="150000"/>
              </a:lnSpc>
              <a:buFont typeface="Wingdings" panose="05000000000000000000" pitchFamily="2" charset="2"/>
              <a:buChar char="Ø"/>
            </a:pPr>
            <a:r>
              <a:rPr lang="en-US" altLang="zh-CN" sz="2000" dirty="0" err="1"/>
              <a:t>FedAvg</a:t>
            </a:r>
            <a:r>
              <a:rPr lang="zh-CN" altLang="zh-CN" sz="2000" dirty="0"/>
              <a:t>的通信时间随着边缘终端数量的增加而迅速增加，</a:t>
            </a:r>
            <a:r>
              <a:rPr lang="en-US" altLang="zh-CN" sz="2000" dirty="0" err="1"/>
              <a:t>HierPerFed</a:t>
            </a:r>
            <a:r>
              <a:rPr lang="zh-CN" altLang="zh-CN" sz="2000" dirty="0"/>
              <a:t>通信时间没有增加</a:t>
            </a:r>
            <a:endParaRPr lang="en-US" altLang="zh-CN" sz="2000" dirty="0"/>
          </a:p>
        </p:txBody>
      </p:sp>
      <p:pic>
        <p:nvPicPr>
          <p:cNvPr id="15" name="图片 14">
            <a:extLst>
              <a:ext uri="{FF2B5EF4-FFF2-40B4-BE49-F238E27FC236}">
                <a16:creationId xmlns:a16="http://schemas.microsoft.com/office/drawing/2014/main" id="{BD0D5B3C-0024-C083-2156-CE723DB08076}"/>
              </a:ext>
            </a:extLst>
          </p:cNvPr>
          <p:cNvPicPr>
            <a:picLocks noChangeAspect="1"/>
          </p:cNvPicPr>
          <p:nvPr/>
        </p:nvPicPr>
        <p:blipFill rotWithShape="1">
          <a:blip r:embed="rId3"/>
          <a:srcRect l="36611" t="12742" r="32883" b="19221"/>
          <a:stretch/>
        </p:blipFill>
        <p:spPr>
          <a:xfrm>
            <a:off x="676894" y="1409760"/>
            <a:ext cx="4465121" cy="3793555"/>
          </a:xfrm>
          <a:prstGeom prst="rect">
            <a:avLst/>
          </a:prstGeom>
        </p:spPr>
      </p:pic>
    </p:spTree>
    <p:extLst>
      <p:ext uri="{BB962C8B-B14F-4D97-AF65-F5344CB8AC3E}">
        <p14:creationId xmlns:p14="http://schemas.microsoft.com/office/powerpoint/2010/main" val="21598453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联邦学习部分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10"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我们理论证明了算法的收敛性：</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943" y="1543792"/>
            <a:ext cx="8443818" cy="2885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63412" y="4701432"/>
            <a:ext cx="2659702" cy="369332"/>
          </a:xfrm>
          <a:prstGeom prst="rect">
            <a:avLst/>
          </a:prstGeom>
          <a:noFill/>
        </p:spPr>
        <p:txBody>
          <a:bodyPr wrap="none" rtlCol="0">
            <a:spAutoFit/>
          </a:bodyPr>
          <a:lstStyle/>
          <a:p>
            <a:r>
              <a:rPr lang="zh-CN" altLang="en-US" dirty="0"/>
              <a:t>详细证明过程请见附录</a:t>
            </a:r>
            <a:r>
              <a:rPr lang="en-US" altLang="zh-CN" dirty="0"/>
              <a:t>D</a:t>
            </a:r>
            <a:endParaRPr lang="zh-CN" altLang="en-US" dirty="0"/>
          </a:p>
        </p:txBody>
      </p:sp>
    </p:spTree>
    <p:extLst>
      <p:ext uri="{BB962C8B-B14F-4D97-AF65-F5344CB8AC3E}">
        <p14:creationId xmlns:p14="http://schemas.microsoft.com/office/powerpoint/2010/main" val="2259617683"/>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0995" y="1470550"/>
            <a:ext cx="8029861" cy="5170646"/>
          </a:xfrm>
          <a:prstGeom prst="rect">
            <a:avLst/>
          </a:prstGeom>
        </p:spPr>
        <p:txBody>
          <a:bodyPr wrap="square">
            <a:spAutoFit/>
          </a:bodyPr>
          <a:lstStyle/>
          <a:p>
            <a:pPr>
              <a:lnSpc>
                <a:spcPct val="150000"/>
              </a:lnSpc>
            </a:pPr>
            <a:r>
              <a:rPr lang="zh-CN" altLang="en-US" sz="2000" dirty="0">
                <a:latin typeface="+mn-ea"/>
              </a:rPr>
              <a:t>区块链、智能合约以及对象存储为本系统的基础模块与核心依赖，本系统具体使用的区块链、智能合约以及对象存储具体版本对应如下：</a:t>
            </a:r>
            <a:r>
              <a:rPr lang="en-US" altLang="zh-CN" sz="2000" dirty="0" err="1">
                <a:latin typeface="+mn-ea"/>
              </a:rPr>
              <a:t>Fisco</a:t>
            </a:r>
            <a:r>
              <a:rPr lang="en-US" altLang="zh-CN" sz="2000" dirty="0">
                <a:latin typeface="+mn-ea"/>
              </a:rPr>
              <a:t> </a:t>
            </a:r>
            <a:r>
              <a:rPr lang="en-US" altLang="zh-CN" sz="2000" dirty="0" err="1">
                <a:latin typeface="+mn-ea"/>
              </a:rPr>
              <a:t>Bcos</a:t>
            </a:r>
            <a:r>
              <a:rPr lang="en-US" altLang="zh-CN" sz="2000" dirty="0">
                <a:latin typeface="+mn-ea"/>
              </a:rPr>
              <a:t> 3.1</a:t>
            </a:r>
            <a:r>
              <a:rPr lang="zh-CN" altLang="en-US" sz="2000" dirty="0">
                <a:latin typeface="+mn-ea"/>
              </a:rPr>
              <a:t>、智能合约开发语言</a:t>
            </a:r>
            <a:r>
              <a:rPr lang="en-US" altLang="zh-CN" sz="2000" dirty="0">
                <a:latin typeface="+mn-ea"/>
              </a:rPr>
              <a:t>Solidity 0.8.11</a:t>
            </a:r>
            <a:r>
              <a:rPr lang="zh-CN" altLang="en-US" sz="2000" dirty="0">
                <a:latin typeface="+mn-ea"/>
              </a:rPr>
              <a:t>、</a:t>
            </a:r>
            <a:r>
              <a:rPr lang="en-US" altLang="zh-CN" sz="2000" dirty="0" err="1">
                <a:latin typeface="+mn-ea"/>
              </a:rPr>
              <a:t>minio</a:t>
            </a:r>
            <a:r>
              <a:rPr lang="en-US" altLang="zh-CN" sz="2000" dirty="0">
                <a:latin typeface="+mn-ea"/>
              </a:rPr>
              <a:t> 2025-04-08</a:t>
            </a:r>
          </a:p>
          <a:p>
            <a:pPr>
              <a:lnSpc>
                <a:spcPct val="150000"/>
              </a:lnSpc>
            </a:pPr>
            <a:r>
              <a:rPr lang="zh-CN" altLang="en-US" sz="2000" dirty="0">
                <a:solidFill>
                  <a:srgbClr val="FF0000"/>
                </a:solidFill>
                <a:latin typeface="+mn-ea"/>
              </a:rPr>
              <a:t>相关配置：</a:t>
            </a:r>
          </a:p>
          <a:p>
            <a:pPr>
              <a:lnSpc>
                <a:spcPct val="150000"/>
              </a:lnSpc>
            </a:pPr>
            <a:r>
              <a:rPr lang="zh-CN" altLang="en-US" sz="2000" dirty="0">
                <a:latin typeface="+mn-ea"/>
              </a:rPr>
              <a:t>系统基础区块链模块使用</a:t>
            </a:r>
            <a:r>
              <a:rPr lang="en-US" altLang="zh-CN" sz="2000" dirty="0" err="1">
                <a:latin typeface="+mn-ea"/>
              </a:rPr>
              <a:t>Fisco</a:t>
            </a:r>
            <a:r>
              <a:rPr lang="en-US" altLang="zh-CN" sz="2000" dirty="0">
                <a:latin typeface="+mn-ea"/>
              </a:rPr>
              <a:t> </a:t>
            </a:r>
            <a:r>
              <a:rPr lang="en-US" altLang="zh-CN" sz="2000" dirty="0" err="1">
                <a:latin typeface="+mn-ea"/>
              </a:rPr>
              <a:t>Bcos</a:t>
            </a:r>
            <a:r>
              <a:rPr lang="en-US" altLang="zh-CN" sz="2000" dirty="0">
                <a:latin typeface="+mn-ea"/>
              </a:rPr>
              <a:t> 3.0</a:t>
            </a:r>
            <a:r>
              <a:rPr lang="zh-CN" altLang="en-US" sz="2000" dirty="0">
                <a:latin typeface="+mn-ea"/>
              </a:rPr>
              <a:t>版本区块链，结合</a:t>
            </a:r>
            <a:r>
              <a:rPr lang="en-US" altLang="zh-CN" sz="2000" dirty="0" err="1">
                <a:latin typeface="+mn-ea"/>
              </a:rPr>
              <a:t>Fisco</a:t>
            </a:r>
            <a:r>
              <a:rPr lang="en-US" altLang="zh-CN" sz="2000" dirty="0">
                <a:latin typeface="+mn-ea"/>
              </a:rPr>
              <a:t> </a:t>
            </a:r>
            <a:r>
              <a:rPr lang="en-US" altLang="zh-CN" sz="2000" dirty="0" err="1">
                <a:latin typeface="+mn-ea"/>
              </a:rPr>
              <a:t>Bcos</a:t>
            </a:r>
            <a:r>
              <a:rPr lang="zh-CN" altLang="en-US" sz="2000" dirty="0">
                <a:latin typeface="+mn-ea"/>
              </a:rPr>
              <a:t>官方推荐</a:t>
            </a:r>
            <a:r>
              <a:rPr lang="en-US" altLang="zh-CN" sz="2000" dirty="0">
                <a:latin typeface="+mn-ea"/>
              </a:rPr>
              <a:t>Java SDK</a:t>
            </a:r>
            <a:r>
              <a:rPr lang="zh-CN" altLang="en-US" sz="2000" dirty="0">
                <a:latin typeface="+mn-ea"/>
              </a:rPr>
              <a:t>开发套件开发而成，在此基础上使用</a:t>
            </a:r>
            <a:r>
              <a:rPr lang="en-US" altLang="zh-CN" sz="2000" dirty="0" err="1">
                <a:latin typeface="+mn-ea"/>
              </a:rPr>
              <a:t>Fisco</a:t>
            </a:r>
            <a:r>
              <a:rPr lang="zh-CN" altLang="en-US" sz="2000" dirty="0">
                <a:latin typeface="+mn-ea"/>
              </a:rPr>
              <a:t>支持的最高智能合约版本</a:t>
            </a:r>
            <a:r>
              <a:rPr lang="en-US" altLang="zh-CN" sz="2000" dirty="0">
                <a:latin typeface="+mn-ea"/>
              </a:rPr>
              <a:t>Solidity 0.8.11</a:t>
            </a:r>
            <a:r>
              <a:rPr lang="zh-CN" altLang="en-US" sz="2000" dirty="0">
                <a:latin typeface="+mn-ea"/>
              </a:rPr>
              <a:t>编写文件存证及文件分享合约（见文件附录</a:t>
            </a:r>
            <a:r>
              <a:rPr lang="en-US" altLang="zh-CN" sz="2000" dirty="0">
                <a:latin typeface="+mn-ea"/>
              </a:rPr>
              <a:t>A</a:t>
            </a:r>
            <a:r>
              <a:rPr lang="zh-CN" altLang="en-US" sz="2000" dirty="0">
                <a:latin typeface="+mn-ea"/>
              </a:rPr>
              <a:t>、附录</a:t>
            </a:r>
            <a:r>
              <a:rPr lang="en-US" altLang="zh-CN" sz="2000" dirty="0">
                <a:latin typeface="+mn-ea"/>
              </a:rPr>
              <a:t>B</a:t>
            </a:r>
            <a:r>
              <a:rPr lang="zh-CN" altLang="en-US" sz="2000" dirty="0">
                <a:latin typeface="+mn-ea"/>
              </a:rPr>
              <a:t>）。</a:t>
            </a:r>
          </a:p>
          <a:p>
            <a:pPr>
              <a:lnSpc>
                <a:spcPct val="150000"/>
              </a:lnSpc>
            </a:pPr>
            <a:r>
              <a:rPr lang="zh-CN" altLang="en-US" sz="2000" dirty="0">
                <a:latin typeface="+mn-ea"/>
              </a:rPr>
              <a:t>为了便于开发，本次使用官方示例建链模型，仅搭建共包含</a:t>
            </a:r>
            <a:r>
              <a:rPr lang="en-US" altLang="zh-CN" sz="2000" dirty="0">
                <a:latin typeface="+mn-ea"/>
              </a:rPr>
              <a:t>4</a:t>
            </a:r>
            <a:r>
              <a:rPr lang="zh-CN" altLang="en-US" sz="2000" dirty="0">
                <a:latin typeface="+mn-ea"/>
              </a:rPr>
              <a:t>个区块链节点的基础实验链，同时部署对应的控制台来便于调试智能合约。</a:t>
            </a:r>
          </a:p>
        </p:txBody>
      </p:sp>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区块链、智能合约及对象存储模块设置：</a:t>
            </a:r>
          </a:p>
        </p:txBody>
      </p:sp>
    </p:spTree>
    <p:extLst>
      <p:ext uri="{BB962C8B-B14F-4D97-AF65-F5344CB8AC3E}">
        <p14:creationId xmlns:p14="http://schemas.microsoft.com/office/powerpoint/2010/main" val="3024870205"/>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搭建</a:t>
            </a:r>
            <a:r>
              <a:rPr lang="en-US" altLang="zh-CN" sz="2000" b="1" dirty="0" err="1">
                <a:solidFill>
                  <a:srgbClr val="FF0000"/>
                </a:solidFill>
                <a:latin typeface="微软雅黑" panose="020B0503020204020204" charset="-122"/>
                <a:ea typeface="微软雅黑" panose="020B0503020204020204" charset="-122"/>
                <a:cs typeface="Times New Roman" panose="02020603050405020304" pitchFamily="18" charset="0"/>
                <a:sym typeface="+mn-ea"/>
              </a:rPr>
              <a:t>Fisco</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 </a:t>
            </a:r>
            <a:r>
              <a:rPr lang="en-US" altLang="zh-CN" sz="2000" b="1" dirty="0" err="1">
                <a:solidFill>
                  <a:srgbClr val="FF0000"/>
                </a:solidFill>
                <a:latin typeface="微软雅黑" panose="020B0503020204020204" charset="-122"/>
                <a:ea typeface="微软雅黑" panose="020B0503020204020204" charset="-122"/>
                <a:cs typeface="Times New Roman" panose="02020603050405020304" pitchFamily="18" charset="0"/>
                <a:sym typeface="+mn-ea"/>
              </a:rPr>
              <a:t>Bcos</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区块链：</a:t>
            </a:r>
          </a:p>
        </p:txBody>
      </p:sp>
      <p:pic>
        <p:nvPicPr>
          <p:cNvPr id="5" name="图片 4" descr="截屏2025-05-05 06.50.07"/>
          <p:cNvPicPr/>
          <p:nvPr/>
        </p:nvPicPr>
        <p:blipFill>
          <a:blip r:embed="rId3" cstate="print"/>
          <a:srcRect/>
          <a:stretch>
            <a:fillRect/>
          </a:stretch>
        </p:blipFill>
        <p:spPr>
          <a:xfrm>
            <a:off x="746360" y="1409760"/>
            <a:ext cx="7471365" cy="5169170"/>
          </a:xfrm>
          <a:prstGeom prst="rect">
            <a:avLst/>
          </a:prstGeom>
          <a:ln>
            <a:noFill/>
          </a:ln>
        </p:spPr>
      </p:pic>
    </p:spTree>
    <p:extLst>
      <p:ext uri="{BB962C8B-B14F-4D97-AF65-F5344CB8AC3E}">
        <p14:creationId xmlns:p14="http://schemas.microsoft.com/office/powerpoint/2010/main" val="1377957212"/>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en-US" altLang="zh-CN" sz="2000" b="1" dirty="0" err="1">
                <a:solidFill>
                  <a:srgbClr val="FF0000"/>
                </a:solidFill>
                <a:latin typeface="微软雅黑" panose="020B0503020204020204" charset="-122"/>
                <a:ea typeface="微软雅黑" panose="020B0503020204020204" charset="-122"/>
                <a:cs typeface="Times New Roman" panose="02020603050405020304" pitchFamily="18" charset="0"/>
                <a:sym typeface="+mn-ea"/>
              </a:rPr>
              <a:t>Fisco</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 </a:t>
            </a:r>
            <a:r>
              <a:rPr lang="en-US" altLang="zh-CN" sz="2000" b="1" dirty="0" err="1">
                <a:solidFill>
                  <a:srgbClr val="FF0000"/>
                </a:solidFill>
                <a:latin typeface="微软雅黑" panose="020B0503020204020204" charset="-122"/>
                <a:ea typeface="微软雅黑" panose="020B0503020204020204" charset="-122"/>
                <a:cs typeface="Times New Roman" panose="02020603050405020304" pitchFamily="18" charset="0"/>
                <a:sym typeface="+mn-ea"/>
              </a:rPr>
              <a:t>Bcos</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部署控制台：</a:t>
            </a:r>
          </a:p>
        </p:txBody>
      </p:sp>
      <p:pic>
        <p:nvPicPr>
          <p:cNvPr id="8" name="图片 7" descr="411746401279_.pic_hd"/>
          <p:cNvPicPr/>
          <p:nvPr/>
        </p:nvPicPr>
        <p:blipFill>
          <a:blip r:embed="rId3" cstate="print"/>
          <a:srcRect/>
          <a:stretch>
            <a:fillRect/>
          </a:stretch>
        </p:blipFill>
        <p:spPr>
          <a:xfrm>
            <a:off x="631735" y="1394916"/>
            <a:ext cx="7680992" cy="5255266"/>
          </a:xfrm>
          <a:prstGeom prst="rect">
            <a:avLst/>
          </a:prstGeom>
          <a:ln>
            <a:noFill/>
          </a:ln>
        </p:spPr>
      </p:pic>
    </p:spTree>
    <p:extLst>
      <p:ext uri="{BB962C8B-B14F-4D97-AF65-F5344CB8AC3E}">
        <p14:creationId xmlns:p14="http://schemas.microsoft.com/office/powerpoint/2010/main" val="2906653317"/>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en-US" altLang="zh-CN" sz="2000" b="1" dirty="0" err="1">
                <a:solidFill>
                  <a:srgbClr val="FF0000"/>
                </a:solidFill>
                <a:latin typeface="微软雅黑" panose="020B0503020204020204" charset="-122"/>
                <a:ea typeface="微软雅黑" panose="020B0503020204020204" charset="-122"/>
                <a:cs typeface="Times New Roman" panose="02020603050405020304" pitchFamily="18" charset="0"/>
                <a:sym typeface="+mn-ea"/>
              </a:rPr>
              <a:t>Nacos</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部署及配置文件编写：</a:t>
            </a:r>
          </a:p>
        </p:txBody>
      </p:sp>
      <p:sp>
        <p:nvSpPr>
          <p:cNvPr id="2" name="矩形 1"/>
          <p:cNvSpPr/>
          <p:nvPr/>
        </p:nvSpPr>
        <p:spPr>
          <a:xfrm>
            <a:off x="463139" y="1369602"/>
            <a:ext cx="8134595" cy="5078313"/>
          </a:xfrm>
          <a:prstGeom prst="rect">
            <a:avLst/>
          </a:prstGeom>
        </p:spPr>
        <p:txBody>
          <a:bodyPr wrap="square">
            <a:spAutoFit/>
          </a:bodyPr>
          <a:lstStyle/>
          <a:p>
            <a:pPr>
              <a:lnSpc>
                <a:spcPct val="150000"/>
              </a:lnSpc>
            </a:pPr>
            <a:r>
              <a:rPr lang="en-US" altLang="zh-CN" dirty="0" err="1">
                <a:solidFill>
                  <a:srgbClr val="FF0000"/>
                </a:solidFill>
              </a:rPr>
              <a:t>Nacos</a:t>
            </a:r>
            <a:r>
              <a:rPr lang="zh-CN" altLang="zh-CN" dirty="0">
                <a:solidFill>
                  <a:srgbClr val="FF0000"/>
                </a:solidFill>
              </a:rPr>
              <a:t>担任着最为关键的调度员角色</a:t>
            </a:r>
            <a:r>
              <a:rPr lang="zh-CN" altLang="en-US" dirty="0">
                <a:solidFill>
                  <a:srgbClr val="FF0000"/>
                </a:solidFill>
              </a:rPr>
              <a:t>：</a:t>
            </a:r>
            <a:r>
              <a:rPr lang="zh-CN" altLang="zh-CN" dirty="0"/>
              <a:t>作为在系统多个模块间同步数据的服务发现、配置中心与注册中心，</a:t>
            </a:r>
            <a:r>
              <a:rPr lang="en-US" altLang="zh-CN" dirty="0" err="1"/>
              <a:t>Nacos</a:t>
            </a:r>
            <a:r>
              <a:rPr lang="zh-CN" altLang="zh-CN" dirty="0"/>
              <a:t>担任着最为关键的调度员角色，其需要与</a:t>
            </a:r>
            <a:r>
              <a:rPr lang="en-US" altLang="zh-CN" dirty="0"/>
              <a:t>Apache </a:t>
            </a:r>
            <a:r>
              <a:rPr lang="en-US" altLang="zh-CN" dirty="0" err="1"/>
              <a:t>Dubbo</a:t>
            </a:r>
            <a:r>
              <a:rPr lang="zh-CN" altLang="zh-CN" dirty="0"/>
              <a:t>云原生微服务开发框架配合使用，协作完成各个模块之间的远程调用。</a:t>
            </a:r>
            <a:endParaRPr lang="en-US" altLang="zh-CN" dirty="0"/>
          </a:p>
          <a:p>
            <a:pPr>
              <a:lnSpc>
                <a:spcPct val="150000"/>
              </a:lnSpc>
            </a:pPr>
            <a:r>
              <a:rPr lang="en-US" altLang="zh-CN" dirty="0" err="1">
                <a:solidFill>
                  <a:srgbClr val="FF0000"/>
                </a:solidFill>
              </a:rPr>
              <a:t>Nacos</a:t>
            </a:r>
            <a:r>
              <a:rPr lang="zh-CN" altLang="zh-CN" dirty="0">
                <a:solidFill>
                  <a:srgbClr val="FF0000"/>
                </a:solidFill>
              </a:rPr>
              <a:t>组件</a:t>
            </a:r>
            <a:r>
              <a:rPr lang="zh-CN" altLang="en-US" dirty="0">
                <a:solidFill>
                  <a:srgbClr val="FF0000"/>
                </a:solidFill>
              </a:rPr>
              <a:t>的</a:t>
            </a:r>
            <a:r>
              <a:rPr lang="zh-CN" altLang="zh-CN" dirty="0">
                <a:solidFill>
                  <a:srgbClr val="FF0000"/>
                </a:solidFill>
              </a:rPr>
              <a:t>服务稳定性</a:t>
            </a:r>
            <a:r>
              <a:rPr lang="zh-CN" altLang="en-US" dirty="0">
                <a:solidFill>
                  <a:srgbClr val="FF0000"/>
                </a:solidFill>
              </a:rPr>
              <a:t>：</a:t>
            </a:r>
            <a:r>
              <a:rPr lang="zh-CN" altLang="zh-CN" dirty="0"/>
              <a:t>对于</a:t>
            </a:r>
            <a:r>
              <a:rPr lang="en-US" altLang="zh-CN" dirty="0" err="1"/>
              <a:t>Nacos</a:t>
            </a:r>
            <a:r>
              <a:rPr lang="zh-CN" altLang="zh-CN" dirty="0"/>
              <a:t>组件来说，最为重要的性能指标即服务稳定性，因此在部署</a:t>
            </a:r>
            <a:r>
              <a:rPr lang="en-US" altLang="zh-CN" dirty="0" err="1"/>
              <a:t>Nacos</a:t>
            </a:r>
            <a:r>
              <a:rPr lang="zh-CN" altLang="zh-CN" dirty="0"/>
              <a:t>时，使用集群方式部署，且应当至少在两台独立服务器中部署并互为备份，以此提升系统整体稳定性，减少因网络波动导致的程序错误。同时，由于本系统使用了</a:t>
            </a:r>
            <a:r>
              <a:rPr lang="en-US" altLang="zh-CN" dirty="0" err="1"/>
              <a:t>Nacos</a:t>
            </a:r>
            <a:r>
              <a:rPr lang="zh-CN" altLang="zh-CN" dirty="0"/>
              <a:t>的配置中心功能，并将对象存储的相关配置在上面进行发布，详细配置见附录</a:t>
            </a:r>
            <a:r>
              <a:rPr lang="en-US" altLang="zh-CN" dirty="0"/>
              <a:t>C</a:t>
            </a:r>
            <a:r>
              <a:rPr lang="zh-CN" altLang="en-US" dirty="0"/>
              <a:t>。</a:t>
            </a:r>
            <a:endParaRPr lang="en-US" altLang="zh-CN" dirty="0"/>
          </a:p>
          <a:p>
            <a:pPr>
              <a:lnSpc>
                <a:spcPct val="150000"/>
              </a:lnSpc>
            </a:pPr>
            <a:r>
              <a:rPr lang="zh-CN" altLang="en-US" dirty="0">
                <a:solidFill>
                  <a:srgbClr val="FF0000"/>
                </a:solidFill>
              </a:rPr>
              <a:t>物理存储与逻辑管理分离：</a:t>
            </a:r>
            <a:r>
              <a:rPr lang="zh-CN" altLang="zh-CN" dirty="0"/>
              <a:t>该配置由物理节点信息与物理—逻辑节点映射两部分构成，当配置文件发生变更时，存储模块中的对应配置也会实时更改，以此来动态调整节点数量及文件存储位置，便于后期维护。</a:t>
            </a:r>
          </a:p>
        </p:txBody>
      </p:sp>
    </p:spTree>
    <p:extLst>
      <p:ext uri="{BB962C8B-B14F-4D97-AF65-F5344CB8AC3E}">
        <p14:creationId xmlns:p14="http://schemas.microsoft.com/office/powerpoint/2010/main" val="3310127842"/>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模型文件自动上传与下载：</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006" y="1409760"/>
            <a:ext cx="5058888" cy="445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157179" y="6026129"/>
            <a:ext cx="2262158" cy="369332"/>
          </a:xfrm>
          <a:prstGeom prst="rect">
            <a:avLst/>
          </a:prstGeom>
          <a:noFill/>
        </p:spPr>
        <p:txBody>
          <a:bodyPr wrap="none" rtlCol="0">
            <a:spAutoFit/>
          </a:bodyPr>
          <a:lstStyle/>
          <a:p>
            <a:r>
              <a:rPr lang="zh-CN" altLang="en-US" dirty="0"/>
              <a:t>文件监听，自动上传</a:t>
            </a:r>
          </a:p>
        </p:txBody>
      </p:sp>
      <p:sp>
        <p:nvSpPr>
          <p:cNvPr id="10" name="TextBox 9"/>
          <p:cNvSpPr txBox="1"/>
          <p:nvPr/>
        </p:nvSpPr>
        <p:spPr>
          <a:xfrm>
            <a:off x="4686300" y="5981988"/>
            <a:ext cx="4339650" cy="369332"/>
          </a:xfrm>
          <a:prstGeom prst="rect">
            <a:avLst/>
          </a:prstGeom>
          <a:noFill/>
        </p:spPr>
        <p:txBody>
          <a:bodyPr wrap="none" rtlCol="0">
            <a:spAutoFit/>
          </a:bodyPr>
          <a:lstStyle/>
          <a:p>
            <a:r>
              <a:rPr lang="zh-CN" altLang="en-US" dirty="0"/>
              <a:t>监听区块链新增交易并自动触发读取操作</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9497" y="932694"/>
            <a:ext cx="4524003" cy="4933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8763919"/>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文件上传与可靠存储：</a:t>
            </a:r>
          </a:p>
        </p:txBody>
      </p:sp>
      <p:pic>
        <p:nvPicPr>
          <p:cNvPr id="5" name="图片 16" descr="5601746771951_.pic"/>
          <p:cNvPicPr>
            <a:picLocks noChangeAspect="1"/>
          </p:cNvPicPr>
          <p:nvPr/>
        </p:nvPicPr>
        <p:blipFill>
          <a:blip r:embed="rId3"/>
          <a:stretch>
            <a:fillRect/>
          </a:stretch>
        </p:blipFill>
        <p:spPr>
          <a:xfrm>
            <a:off x="3880688" y="877372"/>
            <a:ext cx="4790123" cy="3014980"/>
          </a:xfrm>
          <a:prstGeom prst="rect">
            <a:avLst/>
          </a:prstGeom>
        </p:spPr>
      </p:pic>
      <p:pic>
        <p:nvPicPr>
          <p:cNvPr id="8" name="图片 2" descr="5591746771934_.pic"/>
          <p:cNvPicPr>
            <a:picLocks noChangeAspect="1"/>
          </p:cNvPicPr>
          <p:nvPr/>
        </p:nvPicPr>
        <p:blipFill>
          <a:blip r:embed="rId4"/>
          <a:stretch>
            <a:fillRect/>
          </a:stretch>
        </p:blipFill>
        <p:spPr>
          <a:xfrm>
            <a:off x="150019" y="1536716"/>
            <a:ext cx="4617720" cy="4436745"/>
          </a:xfrm>
          <a:prstGeom prst="rect">
            <a:avLst/>
          </a:prstGeom>
        </p:spPr>
      </p:pic>
      <p:pic>
        <p:nvPicPr>
          <p:cNvPr id="9" name="图片 1"/>
          <p:cNvPicPr>
            <a:picLocks noChangeAspect="1"/>
          </p:cNvPicPr>
          <p:nvPr/>
        </p:nvPicPr>
        <p:blipFill>
          <a:blip r:embed="rId5"/>
          <a:stretch>
            <a:fillRect/>
          </a:stretch>
        </p:blipFill>
        <p:spPr>
          <a:xfrm>
            <a:off x="4406730" y="2384862"/>
            <a:ext cx="4368641" cy="4158615"/>
          </a:xfrm>
          <a:prstGeom prst="rect">
            <a:avLst/>
          </a:prstGeom>
          <a:noFill/>
          <a:ln>
            <a:noFill/>
          </a:ln>
        </p:spPr>
      </p:pic>
    </p:spTree>
    <p:extLst>
      <p:ext uri="{BB962C8B-B14F-4D97-AF65-F5344CB8AC3E}">
        <p14:creationId xmlns:p14="http://schemas.microsoft.com/office/powerpoint/2010/main" val="119032254"/>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文件下载与分片加速：</a:t>
            </a:r>
          </a:p>
        </p:txBody>
      </p:sp>
      <p:pic>
        <p:nvPicPr>
          <p:cNvPr id="10" name="图片 3"/>
          <p:cNvPicPr>
            <a:picLocks noChangeAspect="1"/>
          </p:cNvPicPr>
          <p:nvPr/>
        </p:nvPicPr>
        <p:blipFill>
          <a:blip r:embed="rId3"/>
          <a:stretch>
            <a:fillRect/>
          </a:stretch>
        </p:blipFill>
        <p:spPr>
          <a:xfrm>
            <a:off x="150017" y="1409760"/>
            <a:ext cx="5838349" cy="4166235"/>
          </a:xfrm>
          <a:prstGeom prst="rect">
            <a:avLst/>
          </a:prstGeom>
          <a:noFill/>
          <a:ln>
            <a:noFill/>
          </a:ln>
        </p:spPr>
      </p:pic>
      <p:pic>
        <p:nvPicPr>
          <p:cNvPr id="11" name="图片 2"/>
          <p:cNvPicPr>
            <a:picLocks noChangeAspect="1"/>
          </p:cNvPicPr>
          <p:nvPr/>
        </p:nvPicPr>
        <p:blipFill>
          <a:blip r:embed="rId4"/>
          <a:stretch>
            <a:fillRect/>
          </a:stretch>
        </p:blipFill>
        <p:spPr>
          <a:xfrm>
            <a:off x="3156109" y="2743835"/>
            <a:ext cx="5837873" cy="3906520"/>
          </a:xfrm>
          <a:prstGeom prst="rect">
            <a:avLst/>
          </a:prstGeom>
          <a:noFill/>
          <a:ln>
            <a:noFill/>
          </a:ln>
        </p:spPr>
      </p:pic>
    </p:spTree>
    <p:extLst>
      <p:ext uri="{BB962C8B-B14F-4D97-AF65-F5344CB8AC3E}">
        <p14:creationId xmlns:p14="http://schemas.microsoft.com/office/powerpoint/2010/main" val="85360126"/>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文件签名与链上验证：</a:t>
            </a:r>
          </a:p>
        </p:txBody>
      </p:sp>
      <p:pic>
        <p:nvPicPr>
          <p:cNvPr id="8" name="图片 15"/>
          <p:cNvPicPr>
            <a:picLocks noChangeAspect="1"/>
          </p:cNvPicPr>
          <p:nvPr/>
        </p:nvPicPr>
        <p:blipFill>
          <a:blip r:embed="rId3"/>
          <a:stretch>
            <a:fillRect/>
          </a:stretch>
        </p:blipFill>
        <p:spPr>
          <a:xfrm>
            <a:off x="193469" y="1409760"/>
            <a:ext cx="5976461" cy="4053205"/>
          </a:xfrm>
          <a:prstGeom prst="rect">
            <a:avLst/>
          </a:prstGeom>
          <a:noFill/>
          <a:ln>
            <a:noFill/>
          </a:ln>
        </p:spPr>
      </p:pic>
      <p:pic>
        <p:nvPicPr>
          <p:cNvPr id="9" name="图片 16"/>
          <p:cNvPicPr>
            <a:picLocks noChangeAspect="1"/>
          </p:cNvPicPr>
          <p:nvPr/>
        </p:nvPicPr>
        <p:blipFill>
          <a:blip r:embed="rId4"/>
          <a:stretch>
            <a:fillRect/>
          </a:stretch>
        </p:blipFill>
        <p:spPr>
          <a:xfrm>
            <a:off x="3023235" y="2597150"/>
            <a:ext cx="5970746" cy="4053205"/>
          </a:xfrm>
          <a:prstGeom prst="rect">
            <a:avLst/>
          </a:prstGeom>
          <a:noFill/>
          <a:ln>
            <a:noFill/>
          </a:ln>
        </p:spPr>
      </p:pic>
    </p:spTree>
    <p:extLst>
      <p:ext uri="{BB962C8B-B14F-4D97-AF65-F5344CB8AC3E}">
        <p14:creationId xmlns:p14="http://schemas.microsoft.com/office/powerpoint/2010/main" val="3537009663"/>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文件分享与获取：</a:t>
            </a:r>
          </a:p>
        </p:txBody>
      </p:sp>
      <p:pic>
        <p:nvPicPr>
          <p:cNvPr id="10" name="图片 4"/>
          <p:cNvPicPr>
            <a:picLocks noChangeAspect="1"/>
          </p:cNvPicPr>
          <p:nvPr/>
        </p:nvPicPr>
        <p:blipFill>
          <a:blip r:embed="rId3"/>
          <a:stretch>
            <a:fillRect/>
          </a:stretch>
        </p:blipFill>
        <p:spPr>
          <a:xfrm>
            <a:off x="150019" y="1435330"/>
            <a:ext cx="4559618" cy="2219295"/>
          </a:xfrm>
          <a:prstGeom prst="rect">
            <a:avLst/>
          </a:prstGeom>
          <a:noFill/>
          <a:ln>
            <a:noFill/>
          </a:ln>
        </p:spPr>
      </p:pic>
      <p:pic>
        <p:nvPicPr>
          <p:cNvPr id="11" name="图片 5"/>
          <p:cNvPicPr>
            <a:picLocks noChangeAspect="1"/>
          </p:cNvPicPr>
          <p:nvPr/>
        </p:nvPicPr>
        <p:blipFill>
          <a:blip r:embed="rId4"/>
          <a:stretch>
            <a:fillRect/>
          </a:stretch>
        </p:blipFill>
        <p:spPr>
          <a:xfrm>
            <a:off x="4593296" y="951546"/>
            <a:ext cx="4229576" cy="3146425"/>
          </a:xfrm>
          <a:prstGeom prst="rect">
            <a:avLst/>
          </a:prstGeom>
          <a:noFill/>
          <a:ln>
            <a:noFill/>
          </a:ln>
        </p:spPr>
      </p:pic>
      <p:pic>
        <p:nvPicPr>
          <p:cNvPr id="12" name="图片 6"/>
          <p:cNvPicPr>
            <a:picLocks noChangeAspect="1"/>
          </p:cNvPicPr>
          <p:nvPr/>
        </p:nvPicPr>
        <p:blipFill>
          <a:blip r:embed="rId5"/>
          <a:stretch>
            <a:fillRect/>
          </a:stretch>
        </p:blipFill>
        <p:spPr>
          <a:xfrm>
            <a:off x="150019" y="3633850"/>
            <a:ext cx="4802029" cy="3028570"/>
          </a:xfrm>
          <a:prstGeom prst="rect">
            <a:avLst/>
          </a:prstGeom>
          <a:noFill/>
          <a:ln>
            <a:noFill/>
          </a:ln>
        </p:spPr>
      </p:pic>
      <p:pic>
        <p:nvPicPr>
          <p:cNvPr id="13" name="图片 7"/>
          <p:cNvPicPr>
            <a:picLocks noChangeAspect="1"/>
          </p:cNvPicPr>
          <p:nvPr/>
        </p:nvPicPr>
        <p:blipFill>
          <a:blip r:embed="rId6"/>
          <a:stretch>
            <a:fillRect/>
          </a:stretch>
        </p:blipFill>
        <p:spPr>
          <a:xfrm>
            <a:off x="4293870" y="2968831"/>
            <a:ext cx="4645343" cy="3694224"/>
          </a:xfrm>
          <a:prstGeom prst="rect">
            <a:avLst/>
          </a:prstGeom>
          <a:noFill/>
          <a:ln>
            <a:noFill/>
          </a:ln>
        </p:spPr>
      </p:pic>
    </p:spTree>
    <p:extLst>
      <p:ext uri="{BB962C8B-B14F-4D97-AF65-F5344CB8AC3E}">
        <p14:creationId xmlns:p14="http://schemas.microsoft.com/office/powerpoint/2010/main" val="3249647625"/>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系统审计：</a:t>
            </a:r>
          </a:p>
        </p:txBody>
      </p:sp>
      <p:pic>
        <p:nvPicPr>
          <p:cNvPr id="8" name="图片 11"/>
          <p:cNvPicPr>
            <a:picLocks noChangeAspect="1"/>
          </p:cNvPicPr>
          <p:nvPr/>
        </p:nvPicPr>
        <p:blipFill>
          <a:blip r:embed="rId3"/>
          <a:stretch>
            <a:fillRect/>
          </a:stretch>
        </p:blipFill>
        <p:spPr>
          <a:xfrm>
            <a:off x="150019" y="1409760"/>
            <a:ext cx="5218748" cy="3503295"/>
          </a:xfrm>
          <a:prstGeom prst="rect">
            <a:avLst/>
          </a:prstGeom>
          <a:noFill/>
          <a:ln>
            <a:noFill/>
          </a:ln>
        </p:spPr>
      </p:pic>
      <p:pic>
        <p:nvPicPr>
          <p:cNvPr id="9" name="图片 10"/>
          <p:cNvPicPr>
            <a:picLocks noChangeAspect="1"/>
          </p:cNvPicPr>
          <p:nvPr/>
        </p:nvPicPr>
        <p:blipFill>
          <a:blip r:embed="rId4"/>
          <a:stretch>
            <a:fillRect/>
          </a:stretch>
        </p:blipFill>
        <p:spPr>
          <a:xfrm>
            <a:off x="4002405" y="3313430"/>
            <a:ext cx="4991576" cy="3336925"/>
          </a:xfrm>
          <a:prstGeom prst="rect">
            <a:avLst/>
          </a:prstGeom>
          <a:noFill/>
          <a:ln>
            <a:noFill/>
          </a:ln>
        </p:spPr>
      </p:pic>
      <p:pic>
        <p:nvPicPr>
          <p:cNvPr id="14" name="图片 9"/>
          <p:cNvPicPr>
            <a:picLocks noChangeAspect="1"/>
          </p:cNvPicPr>
          <p:nvPr/>
        </p:nvPicPr>
        <p:blipFill>
          <a:blip r:embed="rId5"/>
          <a:stretch>
            <a:fillRect/>
          </a:stretch>
        </p:blipFill>
        <p:spPr>
          <a:xfrm>
            <a:off x="150019" y="3313430"/>
            <a:ext cx="4532948" cy="3336925"/>
          </a:xfrm>
          <a:prstGeom prst="rect">
            <a:avLst/>
          </a:prstGeom>
          <a:noFill/>
          <a:ln>
            <a:noFill/>
          </a:ln>
        </p:spPr>
      </p:pic>
    </p:spTree>
    <p:extLst>
      <p:ext uri="{BB962C8B-B14F-4D97-AF65-F5344CB8AC3E}">
        <p14:creationId xmlns:p14="http://schemas.microsoft.com/office/powerpoint/2010/main" val="2697144484"/>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系统运行状态监控：</a:t>
            </a:r>
          </a:p>
        </p:txBody>
      </p:sp>
      <p:pic>
        <p:nvPicPr>
          <p:cNvPr id="15" name="图片 40" descr="截屏2025-05-07 05.43.40"/>
          <p:cNvPicPr>
            <a:picLocks noChangeAspect="1"/>
          </p:cNvPicPr>
          <p:nvPr/>
        </p:nvPicPr>
        <p:blipFill>
          <a:blip r:embed="rId3"/>
          <a:stretch>
            <a:fillRect/>
          </a:stretch>
        </p:blipFill>
        <p:spPr>
          <a:xfrm>
            <a:off x="4191892" y="3566888"/>
            <a:ext cx="4652070" cy="3202217"/>
          </a:xfrm>
          <a:prstGeom prst="rect">
            <a:avLst/>
          </a:prstGeom>
        </p:spPr>
      </p:pic>
      <p:pic>
        <p:nvPicPr>
          <p:cNvPr id="16" name="图片 37" descr="截屏2025-05-07 05.39.38"/>
          <p:cNvPicPr>
            <a:picLocks noChangeAspect="1"/>
          </p:cNvPicPr>
          <p:nvPr/>
        </p:nvPicPr>
        <p:blipFill>
          <a:blip r:embed="rId4"/>
          <a:stretch>
            <a:fillRect/>
          </a:stretch>
        </p:blipFill>
        <p:spPr>
          <a:xfrm>
            <a:off x="233146" y="1360962"/>
            <a:ext cx="3957638" cy="2724150"/>
          </a:xfrm>
          <a:prstGeom prst="rect">
            <a:avLst/>
          </a:prstGeom>
        </p:spPr>
      </p:pic>
      <p:pic>
        <p:nvPicPr>
          <p:cNvPr id="17" name="图片 38" descr="截屏2025-05-07 05.39.49"/>
          <p:cNvPicPr>
            <a:picLocks noChangeAspect="1"/>
          </p:cNvPicPr>
          <p:nvPr/>
        </p:nvPicPr>
        <p:blipFill>
          <a:blip r:embed="rId5"/>
          <a:stretch>
            <a:fillRect/>
          </a:stretch>
        </p:blipFill>
        <p:spPr>
          <a:xfrm>
            <a:off x="4191892" y="889071"/>
            <a:ext cx="4433532" cy="3051570"/>
          </a:xfrm>
          <a:prstGeom prst="rect">
            <a:avLst/>
          </a:prstGeom>
        </p:spPr>
      </p:pic>
      <p:pic>
        <p:nvPicPr>
          <p:cNvPr id="18" name="图片 39" descr="截屏2025-05-07 05.40.01"/>
          <p:cNvPicPr>
            <a:picLocks noChangeAspect="1"/>
          </p:cNvPicPr>
          <p:nvPr/>
        </p:nvPicPr>
        <p:blipFill>
          <a:blip r:embed="rId6"/>
          <a:stretch>
            <a:fillRect/>
          </a:stretch>
        </p:blipFill>
        <p:spPr>
          <a:xfrm>
            <a:off x="150019" y="4085112"/>
            <a:ext cx="4511516" cy="2683993"/>
          </a:xfrm>
          <a:prstGeom prst="rect">
            <a:avLst/>
          </a:prstGeom>
        </p:spPr>
      </p:pic>
    </p:spTree>
    <p:extLst>
      <p:ext uri="{BB962C8B-B14F-4D97-AF65-F5344CB8AC3E}">
        <p14:creationId xmlns:p14="http://schemas.microsoft.com/office/powerpoint/2010/main" val="1135410789"/>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区块链部分</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6"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区块链数据概况：</a:t>
            </a:r>
          </a:p>
        </p:txBody>
      </p:sp>
      <p:pic>
        <p:nvPicPr>
          <p:cNvPr id="8" name="图片 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100" y="1508166"/>
            <a:ext cx="8153400" cy="4892633"/>
          </a:xfrm>
          <a:prstGeom prst="rect">
            <a:avLst/>
          </a:prstGeom>
          <a:noFill/>
          <a:ln>
            <a:noFill/>
          </a:ln>
        </p:spPr>
      </p:pic>
    </p:spTree>
    <p:extLst>
      <p:ext uri="{BB962C8B-B14F-4D97-AF65-F5344CB8AC3E}">
        <p14:creationId xmlns:p14="http://schemas.microsoft.com/office/powerpoint/2010/main" val="1005140392"/>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医生功能模块</a:t>
            </a:r>
          </a:p>
        </p:txBody>
      </p:sp>
      <p:pic>
        <p:nvPicPr>
          <p:cNvPr id="10" name="图片 9"/>
          <p:cNvPicPr/>
          <p:nvPr/>
        </p:nvPicPr>
        <p:blipFill>
          <a:blip r:embed="rId3"/>
          <a:stretch>
            <a:fillRect/>
          </a:stretch>
        </p:blipFill>
        <p:spPr>
          <a:xfrm>
            <a:off x="2457450" y="1489710"/>
            <a:ext cx="4229100" cy="387858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医生功能模块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历史病历</a:t>
            </a:r>
          </a:p>
        </p:txBody>
      </p:sp>
      <p:pic>
        <p:nvPicPr>
          <p:cNvPr id="5" name="图片 4"/>
          <p:cNvPicPr/>
          <p:nvPr/>
        </p:nvPicPr>
        <p:blipFill>
          <a:blip r:embed="rId3"/>
          <a:stretch>
            <a:fillRect/>
          </a:stretch>
        </p:blipFill>
        <p:spPr>
          <a:xfrm>
            <a:off x="160968" y="1409760"/>
            <a:ext cx="4406578" cy="5142014"/>
          </a:xfrm>
          <a:prstGeom prst="rect">
            <a:avLst/>
          </a:prstGeom>
        </p:spPr>
      </p:pic>
      <p:pic>
        <p:nvPicPr>
          <p:cNvPr id="6" name="图片 5"/>
          <p:cNvPicPr/>
          <p:nvPr/>
        </p:nvPicPr>
        <p:blipFill rotWithShape="1">
          <a:blip r:embed="rId4"/>
          <a:srcRect t="14925"/>
          <a:stretch/>
        </p:blipFill>
        <p:spPr>
          <a:xfrm>
            <a:off x="4426943" y="878772"/>
            <a:ext cx="4630882" cy="3924727"/>
          </a:xfrm>
          <a:prstGeom prst="rect">
            <a:avLst/>
          </a:prstGeom>
        </p:spPr>
      </p:pic>
      <p:pic>
        <p:nvPicPr>
          <p:cNvPr id="8" name="图片 7"/>
          <p:cNvPicPr/>
          <p:nvPr/>
        </p:nvPicPr>
        <p:blipFill>
          <a:blip r:embed="rId5"/>
          <a:stretch>
            <a:fillRect/>
          </a:stretch>
        </p:blipFill>
        <p:spPr>
          <a:xfrm>
            <a:off x="4310743" y="4803498"/>
            <a:ext cx="4747082" cy="2054501"/>
          </a:xfrm>
          <a:prstGeom prst="rect">
            <a:avLst/>
          </a:prstGeom>
        </p:spPr>
      </p:pic>
    </p:spTree>
    <p:extLst>
      <p:ext uri="{BB962C8B-B14F-4D97-AF65-F5344CB8AC3E}">
        <p14:creationId xmlns:p14="http://schemas.microsoft.com/office/powerpoint/2010/main" val="2140721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医生功能模块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新增病历</a:t>
            </a:r>
          </a:p>
        </p:txBody>
      </p:sp>
      <p:pic>
        <p:nvPicPr>
          <p:cNvPr id="10" name="图片 9"/>
          <p:cNvPicPr/>
          <p:nvPr/>
        </p:nvPicPr>
        <p:blipFill>
          <a:blip r:embed="rId3"/>
          <a:stretch>
            <a:fillRect/>
          </a:stretch>
        </p:blipFill>
        <p:spPr>
          <a:xfrm>
            <a:off x="1104405" y="1508165"/>
            <a:ext cx="6757060" cy="4595751"/>
          </a:xfrm>
          <a:prstGeom prst="rect">
            <a:avLst/>
          </a:prstGeom>
        </p:spPr>
      </p:pic>
    </p:spTree>
    <p:extLst>
      <p:ext uri="{BB962C8B-B14F-4D97-AF65-F5344CB8AC3E}">
        <p14:creationId xmlns:p14="http://schemas.microsoft.com/office/powerpoint/2010/main" val="2911828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医生功能模块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用户画像</a:t>
            </a: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5"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29" y="1409760"/>
            <a:ext cx="8513479" cy="23216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0" y="1897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pic>
        <p:nvPicPr>
          <p:cNvPr id="11" name="图片 10"/>
          <p:cNvPicPr/>
          <p:nvPr/>
        </p:nvPicPr>
        <p:blipFill>
          <a:blip r:embed="rId4"/>
          <a:stretch>
            <a:fillRect/>
          </a:stretch>
        </p:blipFill>
        <p:spPr>
          <a:xfrm>
            <a:off x="285003" y="3731385"/>
            <a:ext cx="8513479" cy="3025675"/>
          </a:xfrm>
          <a:prstGeom prst="rect">
            <a:avLst/>
          </a:prstGeom>
        </p:spPr>
      </p:pic>
    </p:spTree>
    <p:extLst>
      <p:ext uri="{BB962C8B-B14F-4D97-AF65-F5344CB8AC3E}">
        <p14:creationId xmlns:p14="http://schemas.microsoft.com/office/powerpoint/2010/main" val="2953102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医生功能模块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辅助诊断：模型选择</a:t>
            </a:r>
          </a:p>
        </p:txBody>
      </p:sp>
      <p:pic>
        <p:nvPicPr>
          <p:cNvPr id="5" name="图片 4"/>
          <p:cNvPicPr/>
          <p:nvPr/>
        </p:nvPicPr>
        <p:blipFill>
          <a:blip r:embed="rId3"/>
          <a:stretch>
            <a:fillRect/>
          </a:stretch>
        </p:blipFill>
        <p:spPr>
          <a:xfrm>
            <a:off x="419100" y="1643730"/>
            <a:ext cx="8131134" cy="4935200"/>
          </a:xfrm>
          <a:prstGeom prst="rect">
            <a:avLst/>
          </a:prstGeom>
        </p:spPr>
      </p:pic>
    </p:spTree>
    <p:extLst>
      <p:ext uri="{BB962C8B-B14F-4D97-AF65-F5344CB8AC3E}">
        <p14:creationId xmlns:p14="http://schemas.microsoft.com/office/powerpoint/2010/main" val="458038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医生功能模块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辅助诊断：</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AI</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智能分析</a:t>
            </a:r>
          </a:p>
        </p:txBody>
      </p:sp>
      <p:pic>
        <p:nvPicPr>
          <p:cNvPr id="6" name="图片 5"/>
          <p:cNvPicPr/>
          <p:nvPr/>
        </p:nvPicPr>
        <p:blipFill>
          <a:blip r:embed="rId3"/>
          <a:stretch>
            <a:fillRect/>
          </a:stretch>
        </p:blipFill>
        <p:spPr>
          <a:xfrm>
            <a:off x="419100" y="1409761"/>
            <a:ext cx="4354781" cy="2105336"/>
          </a:xfrm>
          <a:prstGeom prst="rect">
            <a:avLst/>
          </a:prstGeom>
        </p:spPr>
      </p:pic>
      <p:pic>
        <p:nvPicPr>
          <p:cNvPr id="8" name="图片 7"/>
          <p:cNvPicPr/>
          <p:nvPr/>
        </p:nvPicPr>
        <p:blipFill>
          <a:blip r:embed="rId4"/>
          <a:stretch>
            <a:fillRect/>
          </a:stretch>
        </p:blipFill>
        <p:spPr>
          <a:xfrm>
            <a:off x="419101" y="3337729"/>
            <a:ext cx="4267200" cy="3336204"/>
          </a:xfrm>
          <a:prstGeom prst="rect">
            <a:avLst/>
          </a:prstGeom>
        </p:spPr>
      </p:pic>
      <p:pic>
        <p:nvPicPr>
          <p:cNvPr id="10" name="图片 9"/>
          <p:cNvPicPr/>
          <p:nvPr/>
        </p:nvPicPr>
        <p:blipFill>
          <a:blip r:embed="rId5"/>
          <a:stretch>
            <a:fillRect/>
          </a:stretch>
        </p:blipFill>
        <p:spPr>
          <a:xfrm>
            <a:off x="4686301" y="1409761"/>
            <a:ext cx="4374572" cy="2883917"/>
          </a:xfrm>
          <a:prstGeom prst="rect">
            <a:avLst/>
          </a:prstGeom>
        </p:spPr>
      </p:pic>
      <p:pic>
        <p:nvPicPr>
          <p:cNvPr id="11" name="图片 10"/>
          <p:cNvPicPr/>
          <p:nvPr/>
        </p:nvPicPr>
        <p:blipFill>
          <a:blip r:embed="rId6"/>
          <a:stretch>
            <a:fillRect/>
          </a:stretch>
        </p:blipFill>
        <p:spPr>
          <a:xfrm>
            <a:off x="4646222" y="4293679"/>
            <a:ext cx="4388674" cy="2380254"/>
          </a:xfrm>
          <a:prstGeom prst="rect">
            <a:avLst/>
          </a:prstGeom>
        </p:spPr>
      </p:pic>
    </p:spTree>
    <p:extLst>
      <p:ext uri="{BB962C8B-B14F-4D97-AF65-F5344CB8AC3E}">
        <p14:creationId xmlns:p14="http://schemas.microsoft.com/office/powerpoint/2010/main" val="11024413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学校心理中心功能模块：</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0677" y="1409760"/>
            <a:ext cx="5286375" cy="484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687790" y="6377049"/>
            <a:ext cx="5032147" cy="369332"/>
          </a:xfrm>
          <a:prstGeom prst="rect">
            <a:avLst/>
          </a:prstGeom>
          <a:noFill/>
        </p:spPr>
        <p:txBody>
          <a:bodyPr wrap="none" rtlCol="0">
            <a:spAutoFit/>
          </a:bodyPr>
          <a:lstStyle/>
          <a:p>
            <a:r>
              <a:rPr lang="zh-CN" altLang="en-US" dirty="0"/>
              <a:t>学校心理中心功能模块比医生多了转诊建议功能</a:t>
            </a:r>
          </a:p>
        </p:txBody>
      </p:sp>
    </p:spTree>
    <p:extLst>
      <p:ext uri="{BB962C8B-B14F-4D97-AF65-F5344CB8AC3E}">
        <p14:creationId xmlns:p14="http://schemas.microsoft.com/office/powerpoint/2010/main" val="1375547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学校心理中心功能模块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历史档案：</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227" y="1409759"/>
            <a:ext cx="3345378" cy="5287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8563" y="906482"/>
            <a:ext cx="4354843"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19739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学校心理中心功能模块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新增档案：</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964" y="1409760"/>
            <a:ext cx="5416550" cy="539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49144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学校心理中心功能模块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学生画像：</a:t>
            </a:r>
          </a:p>
        </p:txBody>
      </p:sp>
      <p:pic>
        <p:nvPicPr>
          <p:cNvPr id="1024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4144"/>
          <a:stretch/>
        </p:blipFill>
        <p:spPr bwMode="auto">
          <a:xfrm>
            <a:off x="1757548" y="1409760"/>
            <a:ext cx="5403768" cy="5287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14387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学校心理中心功能模块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辅助诊断：</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5131" y="1409760"/>
            <a:ext cx="5514975" cy="5335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6609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学校心理中心功能模块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转诊建议：</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1409760"/>
            <a:ext cx="3956050" cy="5145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4964" y="1409760"/>
            <a:ext cx="4568536"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73871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管理员功能模块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查看本地模型：</a:t>
            </a:r>
          </a:p>
        </p:txBody>
      </p:sp>
      <p:pic>
        <p:nvPicPr>
          <p:cNvPr id="5" name="图片 4"/>
          <p:cNvPicPr/>
          <p:nvPr/>
        </p:nvPicPr>
        <p:blipFill>
          <a:blip r:embed="rId3"/>
          <a:stretch>
            <a:fillRect/>
          </a:stretch>
        </p:blipFill>
        <p:spPr>
          <a:xfrm>
            <a:off x="753417" y="1409760"/>
            <a:ext cx="7488058" cy="5299798"/>
          </a:xfrm>
          <a:prstGeom prst="rect">
            <a:avLst/>
          </a:prstGeom>
        </p:spPr>
      </p:pic>
    </p:spTree>
    <p:extLst>
      <p:ext uri="{BB962C8B-B14F-4D97-AF65-F5344CB8AC3E}">
        <p14:creationId xmlns:p14="http://schemas.microsoft.com/office/powerpoint/2010/main" val="21616208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管理员功能模块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查看协同模型：</a:t>
            </a:r>
          </a:p>
        </p:txBody>
      </p:sp>
      <p:pic>
        <p:nvPicPr>
          <p:cNvPr id="6" name="图片 5"/>
          <p:cNvPicPr/>
          <p:nvPr/>
        </p:nvPicPr>
        <p:blipFill>
          <a:blip r:embed="rId3"/>
          <a:stretch>
            <a:fillRect/>
          </a:stretch>
        </p:blipFill>
        <p:spPr>
          <a:xfrm>
            <a:off x="533556" y="1409759"/>
            <a:ext cx="7696044" cy="5074167"/>
          </a:xfrm>
          <a:prstGeom prst="rect">
            <a:avLst/>
          </a:prstGeom>
        </p:spPr>
      </p:pic>
    </p:spTree>
    <p:extLst>
      <p:ext uri="{BB962C8B-B14F-4D97-AF65-F5344CB8AC3E}">
        <p14:creationId xmlns:p14="http://schemas.microsoft.com/office/powerpoint/2010/main" val="3038605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管理员功能模块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新增模型：</a:t>
            </a:r>
          </a:p>
        </p:txBody>
      </p:sp>
      <p:pic>
        <p:nvPicPr>
          <p:cNvPr id="5" name="图片 4"/>
          <p:cNvPicPr/>
          <p:nvPr/>
        </p:nvPicPr>
        <p:blipFill>
          <a:blip r:embed="rId3"/>
          <a:stretch>
            <a:fillRect/>
          </a:stretch>
        </p:blipFill>
        <p:spPr>
          <a:xfrm>
            <a:off x="260424" y="1524304"/>
            <a:ext cx="3884064" cy="3693697"/>
          </a:xfrm>
          <a:prstGeom prst="rect">
            <a:avLst/>
          </a:prstGeom>
        </p:spPr>
      </p:pic>
      <p:pic>
        <p:nvPicPr>
          <p:cNvPr id="8" name="图片 7"/>
          <p:cNvPicPr/>
          <p:nvPr/>
        </p:nvPicPr>
        <p:blipFill>
          <a:blip r:embed="rId4"/>
          <a:stretch>
            <a:fillRect/>
          </a:stretch>
        </p:blipFill>
        <p:spPr>
          <a:xfrm>
            <a:off x="4334493" y="1489917"/>
            <a:ext cx="4381500" cy="3728085"/>
          </a:xfrm>
          <a:prstGeom prst="rect">
            <a:avLst/>
          </a:prstGeom>
        </p:spPr>
      </p:pic>
      <p:sp>
        <p:nvSpPr>
          <p:cNvPr id="2" name="TextBox 1"/>
          <p:cNvSpPr txBox="1"/>
          <p:nvPr/>
        </p:nvSpPr>
        <p:spPr>
          <a:xfrm>
            <a:off x="1080655" y="5266109"/>
            <a:ext cx="1569660" cy="369332"/>
          </a:xfrm>
          <a:prstGeom prst="rect">
            <a:avLst/>
          </a:prstGeom>
          <a:noFill/>
        </p:spPr>
        <p:txBody>
          <a:bodyPr wrap="none" rtlCol="0">
            <a:spAutoFit/>
          </a:bodyPr>
          <a:lstStyle/>
          <a:p>
            <a:r>
              <a:rPr lang="zh-CN" altLang="en-US" dirty="0"/>
              <a:t>新增本地模型</a:t>
            </a:r>
          </a:p>
        </p:txBody>
      </p:sp>
      <p:sp>
        <p:nvSpPr>
          <p:cNvPr id="10" name="TextBox 9"/>
          <p:cNvSpPr txBox="1"/>
          <p:nvPr/>
        </p:nvSpPr>
        <p:spPr>
          <a:xfrm>
            <a:off x="5740413" y="5270667"/>
            <a:ext cx="1569660" cy="369332"/>
          </a:xfrm>
          <a:prstGeom prst="rect">
            <a:avLst/>
          </a:prstGeom>
          <a:noFill/>
        </p:spPr>
        <p:txBody>
          <a:bodyPr wrap="none" rtlCol="0">
            <a:spAutoFit/>
          </a:bodyPr>
          <a:lstStyle/>
          <a:p>
            <a:r>
              <a:rPr lang="zh-CN" altLang="en-US" dirty="0"/>
              <a:t>新增本地模型</a:t>
            </a:r>
          </a:p>
        </p:txBody>
      </p:sp>
      <p:sp>
        <p:nvSpPr>
          <p:cNvPr id="3" name="TextBox 2"/>
          <p:cNvSpPr txBox="1"/>
          <p:nvPr/>
        </p:nvSpPr>
        <p:spPr>
          <a:xfrm>
            <a:off x="848420" y="5748173"/>
            <a:ext cx="7340471" cy="923330"/>
          </a:xfrm>
          <a:prstGeom prst="rect">
            <a:avLst/>
          </a:prstGeom>
          <a:noFill/>
        </p:spPr>
        <p:txBody>
          <a:bodyPr wrap="none" rtlCol="0">
            <a:spAutoFit/>
          </a:bodyPr>
          <a:lstStyle/>
          <a:p>
            <a:pPr>
              <a:lnSpc>
                <a:spcPct val="150000"/>
              </a:lnSpc>
            </a:pPr>
            <a:r>
              <a:rPr lang="zh-CN" altLang="en-US" dirty="0"/>
              <a:t>当现有模型无法满足需求时，管理员可以自定义模型，上传到区块链；</a:t>
            </a:r>
            <a:endParaRPr lang="en-US" altLang="zh-CN" dirty="0"/>
          </a:p>
          <a:p>
            <a:pPr>
              <a:lnSpc>
                <a:spcPct val="150000"/>
              </a:lnSpc>
            </a:pPr>
            <a:r>
              <a:rPr lang="zh-CN" altLang="en-US" dirty="0"/>
              <a:t>其他参与机构从链上查看模型信息，可自行决定是否参与联邦训练。</a:t>
            </a:r>
          </a:p>
        </p:txBody>
      </p:sp>
    </p:spTree>
    <p:extLst>
      <p:ext uri="{BB962C8B-B14F-4D97-AF65-F5344CB8AC3E}">
        <p14:creationId xmlns:p14="http://schemas.microsoft.com/office/powerpoint/2010/main" val="3224277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管理员功能模块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用户信息管理：</a:t>
            </a:r>
          </a:p>
        </p:txBody>
      </p:sp>
      <p:pic>
        <p:nvPicPr>
          <p:cNvPr id="11" name="图片 10"/>
          <p:cNvPicPr/>
          <p:nvPr/>
        </p:nvPicPr>
        <p:blipFill>
          <a:blip r:embed="rId3"/>
          <a:stretch>
            <a:fillRect/>
          </a:stretch>
        </p:blipFill>
        <p:spPr>
          <a:xfrm>
            <a:off x="419100" y="1709853"/>
            <a:ext cx="3796640" cy="3681543"/>
          </a:xfrm>
          <a:prstGeom prst="rect">
            <a:avLst/>
          </a:prstGeom>
        </p:spPr>
      </p:pic>
      <p:pic>
        <p:nvPicPr>
          <p:cNvPr id="12" name="图片 11"/>
          <p:cNvPicPr/>
          <p:nvPr/>
        </p:nvPicPr>
        <p:blipFill>
          <a:blip r:embed="rId4"/>
          <a:stretch>
            <a:fillRect/>
          </a:stretch>
        </p:blipFill>
        <p:spPr>
          <a:xfrm>
            <a:off x="4369287" y="1709853"/>
            <a:ext cx="4584213" cy="3681543"/>
          </a:xfrm>
          <a:prstGeom prst="rect">
            <a:avLst/>
          </a:prstGeom>
        </p:spPr>
      </p:pic>
    </p:spTree>
    <p:extLst>
      <p:ext uri="{BB962C8B-B14F-4D97-AF65-F5344CB8AC3E}">
        <p14:creationId xmlns:p14="http://schemas.microsoft.com/office/powerpoint/2010/main" val="40327064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心理建议浏览：</a:t>
            </a:r>
          </a:p>
        </p:txBody>
      </p:sp>
      <p:pic>
        <p:nvPicPr>
          <p:cNvPr id="2050"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664" y="1409760"/>
            <a:ext cx="3206338" cy="456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4758" y="1409760"/>
            <a:ext cx="3296068" cy="456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36270" y="6056420"/>
            <a:ext cx="7398179" cy="646331"/>
          </a:xfrm>
          <a:prstGeom prst="rect">
            <a:avLst/>
          </a:prstGeom>
          <a:noFill/>
        </p:spPr>
        <p:txBody>
          <a:bodyPr wrap="none" rtlCol="0">
            <a:spAutoFit/>
          </a:bodyPr>
          <a:lstStyle/>
          <a:p>
            <a:pPr marL="285750" lvl="0" indent="-285750">
              <a:buFont typeface="Arial" pitchFamily="34" charset="0"/>
              <a:buChar char="•"/>
            </a:pPr>
            <a:r>
              <a:rPr lang="zh-CN" altLang="en-US" dirty="0"/>
              <a:t>通过个性化治疗技术推送心理</a:t>
            </a:r>
            <a:r>
              <a:rPr lang="zh-CN" altLang="zh-CN" dirty="0"/>
              <a:t>分类建议</a:t>
            </a:r>
            <a:r>
              <a:rPr lang="zh-CN" altLang="en-US" dirty="0"/>
              <a:t>，如</a:t>
            </a:r>
            <a:r>
              <a:rPr lang="zh-CN" altLang="zh-CN" dirty="0"/>
              <a:t>学习压力、情绪管理等</a:t>
            </a:r>
          </a:p>
          <a:p>
            <a:pPr marL="285750" lvl="0" indent="-285750">
              <a:buFont typeface="Arial" pitchFamily="34" charset="0"/>
              <a:buChar char="•"/>
            </a:pPr>
            <a:r>
              <a:rPr lang="zh-CN" altLang="zh-CN" dirty="0"/>
              <a:t>支持收藏、评论和分享建议，方便后续回顾或与他人交流</a:t>
            </a:r>
          </a:p>
        </p:txBody>
      </p:sp>
    </p:spTree>
    <p:extLst>
      <p:ext uri="{BB962C8B-B14F-4D97-AF65-F5344CB8AC3E}">
        <p14:creationId xmlns:p14="http://schemas.microsoft.com/office/powerpoint/2010/main" val="2688023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心理问卷测评：</a:t>
            </a:r>
          </a:p>
        </p:txBody>
      </p:sp>
      <p:sp>
        <p:nvSpPr>
          <p:cNvPr id="2" name="TextBox 1"/>
          <p:cNvSpPr txBox="1"/>
          <p:nvPr/>
        </p:nvSpPr>
        <p:spPr>
          <a:xfrm>
            <a:off x="736270" y="6056420"/>
            <a:ext cx="6474849" cy="646331"/>
          </a:xfrm>
          <a:prstGeom prst="rect">
            <a:avLst/>
          </a:prstGeom>
          <a:noFill/>
        </p:spPr>
        <p:txBody>
          <a:bodyPr wrap="none" rtlCol="0">
            <a:spAutoFit/>
          </a:bodyPr>
          <a:lstStyle/>
          <a:p>
            <a:pPr marL="285750" lvl="0" indent="-285750">
              <a:buFont typeface="Arial" pitchFamily="34" charset="0"/>
              <a:buChar char="•"/>
            </a:pPr>
            <a:r>
              <a:rPr lang="zh-CN" altLang="en-US" dirty="0"/>
              <a:t>参与专业心理问卷（如抑郁症筛查、焦虑评估、压力测试）</a:t>
            </a:r>
          </a:p>
          <a:p>
            <a:pPr marL="285750" lvl="0" indent="-285750">
              <a:buFont typeface="Arial" pitchFamily="34" charset="0"/>
              <a:buChar char="•"/>
            </a:pPr>
            <a:r>
              <a:rPr lang="zh-CN" altLang="en-US" dirty="0"/>
              <a:t>按步骤完成题目选择，提交后可获取</a:t>
            </a:r>
            <a:r>
              <a:rPr lang="en-US" altLang="zh-CN" dirty="0"/>
              <a:t>AI</a:t>
            </a:r>
            <a:r>
              <a:rPr lang="zh-CN" altLang="en-US" dirty="0"/>
              <a:t>评估报告</a:t>
            </a:r>
          </a:p>
        </p:txBody>
      </p:sp>
      <p:pic>
        <p:nvPicPr>
          <p:cNvPr id="3074" name="图片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270" y="1409760"/>
            <a:ext cx="3318488" cy="456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图片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5751" y="1409760"/>
            <a:ext cx="3265714" cy="456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62425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学生功能模块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预约心理医生：</a:t>
            </a:r>
          </a:p>
        </p:txBody>
      </p:sp>
      <p:sp>
        <p:nvSpPr>
          <p:cNvPr id="2" name="TextBox 1"/>
          <p:cNvSpPr txBox="1"/>
          <p:nvPr/>
        </p:nvSpPr>
        <p:spPr>
          <a:xfrm>
            <a:off x="736270" y="6056420"/>
            <a:ext cx="4570482" cy="646331"/>
          </a:xfrm>
          <a:prstGeom prst="rect">
            <a:avLst/>
          </a:prstGeom>
          <a:noFill/>
        </p:spPr>
        <p:txBody>
          <a:bodyPr wrap="none" rtlCol="0">
            <a:spAutoFit/>
          </a:bodyPr>
          <a:lstStyle/>
          <a:p>
            <a:pPr marL="285750" lvl="0" indent="-285750">
              <a:buFont typeface="Arial" pitchFamily="34" charset="0"/>
              <a:buChar char="•"/>
            </a:pPr>
            <a:r>
              <a:rPr lang="zh-CN" altLang="en-US" dirty="0"/>
              <a:t>学生可预约专业的心理医生</a:t>
            </a:r>
          </a:p>
          <a:p>
            <a:pPr marL="285750" lvl="0" indent="-285750">
              <a:buFont typeface="Arial" pitchFamily="34" charset="0"/>
              <a:buChar char="•"/>
            </a:pPr>
            <a:r>
              <a:rPr lang="zh-CN" altLang="en-US" dirty="0"/>
              <a:t>每位心理医生下面会有评分和擅长问题</a:t>
            </a:r>
          </a:p>
        </p:txBody>
      </p:sp>
      <p:pic>
        <p:nvPicPr>
          <p:cNvPr id="4098" name="图片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8377" y="1409759"/>
            <a:ext cx="3435087" cy="4604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72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家长</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辅导员角色功能模块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学生状态监测：</a:t>
            </a:r>
          </a:p>
        </p:txBody>
      </p:sp>
      <p:pic>
        <p:nvPicPr>
          <p:cNvPr id="5122" name="图片 18"/>
          <p:cNvPicPr>
            <a:picLocks noChangeAspect="1" noChangeArrowheads="1"/>
          </p:cNvPicPr>
          <p:nvPr/>
        </p:nvPicPr>
        <p:blipFill rotWithShape="1">
          <a:blip r:embed="rId3">
            <a:extLst>
              <a:ext uri="{28A0092B-C50C-407E-A947-70E740481C1C}">
                <a14:useLocalDpi xmlns:a14="http://schemas.microsoft.com/office/drawing/2010/main" val="0"/>
              </a:ext>
            </a:extLst>
          </a:blip>
          <a:srcRect t="-1" b="34706"/>
          <a:stretch/>
        </p:blipFill>
        <p:spPr bwMode="auto">
          <a:xfrm>
            <a:off x="848420" y="1409760"/>
            <a:ext cx="3140034" cy="462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图片 19"/>
          <p:cNvPicPr>
            <a:picLocks noChangeAspect="1" noChangeArrowheads="1"/>
          </p:cNvPicPr>
          <p:nvPr/>
        </p:nvPicPr>
        <p:blipFill rotWithShape="1">
          <a:blip r:embed="rId4">
            <a:extLst>
              <a:ext uri="{28A0092B-C50C-407E-A947-70E740481C1C}">
                <a14:useLocalDpi xmlns:a14="http://schemas.microsoft.com/office/drawing/2010/main" val="0"/>
              </a:ext>
            </a:extLst>
          </a:blip>
          <a:srcRect b="13983"/>
          <a:stretch/>
        </p:blipFill>
        <p:spPr bwMode="auto">
          <a:xfrm>
            <a:off x="4191144" y="1409760"/>
            <a:ext cx="2922176" cy="462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736270" y="6032670"/>
            <a:ext cx="8090676" cy="646331"/>
          </a:xfrm>
          <a:prstGeom prst="rect">
            <a:avLst/>
          </a:prstGeom>
          <a:noFill/>
        </p:spPr>
        <p:txBody>
          <a:bodyPr wrap="none" rtlCol="0">
            <a:spAutoFit/>
          </a:bodyPr>
          <a:lstStyle/>
          <a:p>
            <a:pPr marL="285750" lvl="0" indent="-285750">
              <a:buFont typeface="Arial" pitchFamily="34" charset="0"/>
              <a:buChar char="•"/>
            </a:pPr>
            <a:r>
              <a:rPr lang="zh-CN" altLang="en-US" dirty="0"/>
              <a:t>列表浏览：首页查看所关注学生的基本信息（姓名、班级、心理状态标签）</a:t>
            </a:r>
          </a:p>
          <a:p>
            <a:pPr marL="285750" lvl="0" indent="-285750">
              <a:buFont typeface="Arial" pitchFamily="34" charset="0"/>
              <a:buChar char="•"/>
            </a:pPr>
            <a:r>
              <a:rPr lang="zh-CN" altLang="en-US" dirty="0"/>
              <a:t>状态识别：通过标签快速判断学生心理状态（良好 </a:t>
            </a:r>
            <a:r>
              <a:rPr lang="en-US" altLang="zh-CN" dirty="0"/>
              <a:t>/ </a:t>
            </a:r>
            <a:r>
              <a:rPr lang="zh-CN" altLang="en-US" dirty="0"/>
              <a:t>正常 </a:t>
            </a:r>
            <a:r>
              <a:rPr lang="en-US" altLang="zh-CN" dirty="0"/>
              <a:t>/ </a:t>
            </a:r>
            <a:r>
              <a:rPr lang="zh-CN" altLang="en-US" dirty="0"/>
              <a:t>需关注）</a:t>
            </a:r>
          </a:p>
        </p:txBody>
      </p:sp>
    </p:spTree>
    <p:extLst>
      <p:ext uri="{BB962C8B-B14F-4D97-AF65-F5344CB8AC3E}">
        <p14:creationId xmlns:p14="http://schemas.microsoft.com/office/powerpoint/2010/main" val="40851602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家长</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辅导员角色功能模块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评估报告管理：</a:t>
            </a:r>
          </a:p>
        </p:txBody>
      </p:sp>
      <p:sp>
        <p:nvSpPr>
          <p:cNvPr id="8" name="TextBox 7"/>
          <p:cNvSpPr txBox="1"/>
          <p:nvPr/>
        </p:nvSpPr>
        <p:spPr>
          <a:xfrm>
            <a:off x="736270" y="6078217"/>
            <a:ext cx="6474849" cy="646331"/>
          </a:xfrm>
          <a:prstGeom prst="rect">
            <a:avLst/>
          </a:prstGeom>
          <a:noFill/>
        </p:spPr>
        <p:txBody>
          <a:bodyPr wrap="none" rtlCol="0">
            <a:spAutoFit/>
          </a:bodyPr>
          <a:lstStyle/>
          <a:p>
            <a:pPr marL="285750" lvl="0" indent="-285750">
              <a:buFont typeface="Arial" pitchFamily="34" charset="0"/>
              <a:buChar char="•"/>
            </a:pPr>
            <a:r>
              <a:rPr lang="zh-CN" altLang="en-US" dirty="0"/>
              <a:t>查看学生最新心理评估数据（评分、情绪状态、压力指数）</a:t>
            </a:r>
          </a:p>
          <a:p>
            <a:pPr marL="285750" lvl="0" indent="-285750">
              <a:buFont typeface="Arial" pitchFamily="34" charset="0"/>
              <a:buChar char="•"/>
            </a:pPr>
            <a:r>
              <a:rPr lang="zh-CN" altLang="en-US" dirty="0"/>
              <a:t>对学生心理状态添加匿名评论，支持历史评论查看</a:t>
            </a:r>
          </a:p>
        </p:txBody>
      </p:sp>
      <p:pic>
        <p:nvPicPr>
          <p:cNvPr id="6146" name="图片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420" y="1389062"/>
            <a:ext cx="3240691" cy="459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图片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4494" y="1375566"/>
            <a:ext cx="3063833" cy="4609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09150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848420" y="202089"/>
            <a:ext cx="8417500" cy="464296"/>
          </a:xfrm>
          <a:prstGeom prst="rect">
            <a:avLst/>
          </a:prstGeom>
          <a:effectLst/>
        </p:spPr>
        <p:txBody>
          <a:bodyPr vert="horz" lIns="91440" tIns="45720" rIns="91440" bIns="45720" rtlCol="0" anchor="ctr">
            <a:no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sz="2500" dirty="0">
                <a:latin typeface="微软雅黑" panose="020B0503020204020204" charset="-122"/>
                <a:ea typeface="微软雅黑" panose="020B0503020204020204" charset="-122"/>
                <a:cs typeface="+mn-ea"/>
                <a:sym typeface="+mn-lt"/>
              </a:rPr>
              <a:t>项目演示</a:t>
            </a:r>
            <a:r>
              <a:rPr lang="en-US" altLang="zh-CN" sz="2500" dirty="0">
                <a:latin typeface="微软雅黑" panose="020B0503020204020204" charset="-122"/>
                <a:ea typeface="微软雅黑" panose="020B0503020204020204" charset="-122"/>
                <a:cs typeface="+mn-ea"/>
                <a:sym typeface="+mn-lt"/>
              </a:rPr>
              <a:t>---</a:t>
            </a:r>
            <a:r>
              <a:rPr lang="zh-CN" altLang="en-US" sz="2500" dirty="0">
                <a:latin typeface="微软雅黑" panose="020B0503020204020204" charset="-122"/>
                <a:ea typeface="微软雅黑" panose="020B0503020204020204" charset="-122"/>
                <a:cs typeface="+mn-ea"/>
                <a:sym typeface="+mn-lt"/>
              </a:rPr>
              <a:t>前端结果展示</a:t>
            </a:r>
            <a:endParaRPr lang="zh-CN" altLang="en-US" sz="2400" dirty="0">
              <a:solidFill>
                <a:schemeClr val="accent6">
                  <a:lumMod val="50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9"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家长</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辅导员角色功能模块</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社区与资源：</a:t>
            </a:r>
          </a:p>
        </p:txBody>
      </p:sp>
      <p:sp>
        <p:nvSpPr>
          <p:cNvPr id="8" name="TextBox 7"/>
          <p:cNvSpPr txBox="1"/>
          <p:nvPr/>
        </p:nvSpPr>
        <p:spPr>
          <a:xfrm>
            <a:off x="736270" y="6125717"/>
            <a:ext cx="7167347" cy="646331"/>
          </a:xfrm>
          <a:prstGeom prst="rect">
            <a:avLst/>
          </a:prstGeom>
          <a:noFill/>
        </p:spPr>
        <p:txBody>
          <a:bodyPr wrap="none" rtlCol="0">
            <a:spAutoFit/>
          </a:bodyPr>
          <a:lstStyle/>
          <a:p>
            <a:pPr marL="285750" lvl="0" indent="-285750">
              <a:buFont typeface="Arial" pitchFamily="34" charset="0"/>
              <a:buChar char="•"/>
            </a:pPr>
            <a:r>
              <a:rPr lang="zh-CN" altLang="en-US" dirty="0"/>
              <a:t>通过个性化技术，给家长推送相关内容，建立家校医协同机制</a:t>
            </a:r>
            <a:endParaRPr lang="en-US" altLang="zh-CN" dirty="0"/>
          </a:p>
          <a:p>
            <a:pPr marL="285750" lvl="0" indent="-285750">
              <a:buFont typeface="Arial" pitchFamily="34" charset="0"/>
              <a:buChar char="•"/>
            </a:pPr>
            <a:r>
              <a:rPr lang="zh-CN" altLang="en-US" dirty="0"/>
              <a:t>家长和辅导员也可以发布帖子，营造积极舆论环境，实现隐性引导</a:t>
            </a:r>
          </a:p>
        </p:txBody>
      </p:sp>
      <p:pic>
        <p:nvPicPr>
          <p:cNvPr id="7170" name="图片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269" y="1496291"/>
            <a:ext cx="3240479" cy="4536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图片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7614" y="1496291"/>
            <a:ext cx="3336967" cy="4536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76162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2"/>
          <p:cNvSpPr/>
          <p:nvPr/>
        </p:nvSpPr>
        <p:spPr>
          <a:xfrm>
            <a:off x="2951048" y="3709629"/>
            <a:ext cx="3603132" cy="564921"/>
          </a:xfrm>
          <a:prstGeom prst="roundRect">
            <a:avLst>
              <a:gd name="adj" fmla="val 651"/>
            </a:avLst>
          </a:prstGeom>
          <a:solidFill>
            <a:srgbClr val="DCEDF8"/>
          </a:solidFill>
          <a:ln w="28575">
            <a:solidFill>
              <a:srgbClr val="4256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solidFill>
                <a:srgbClr val="C00000"/>
              </a:solidFill>
              <a:latin typeface="微软雅黑" panose="020B0503020204020204" charset="-122"/>
              <a:ea typeface="微软雅黑" panose="020B0503020204020204" charset="-122"/>
            </a:endParaRPr>
          </a:p>
        </p:txBody>
      </p:sp>
      <p:sp>
        <p:nvSpPr>
          <p:cNvPr id="2" name="标题 1"/>
          <p:cNvSpPr txBox="1"/>
          <p:nvPr/>
        </p:nvSpPr>
        <p:spPr>
          <a:xfrm>
            <a:off x="848421" y="128605"/>
            <a:ext cx="4746462" cy="586998"/>
          </a:xfrm>
          <a:prstGeom prst="rect">
            <a:avLst/>
          </a:prstGeom>
          <a:effectLst/>
        </p:spPr>
        <p:txBody>
          <a:bodyPr vert="horz" lIns="91440" tIns="45720" rIns="91440" bIns="45720" rtlCol="0" anchor="ctr">
            <a:norm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a:effectLst/>
                <a:latin typeface="微软雅黑" panose="020B0503020204020204" charset="-122"/>
                <a:ea typeface="微软雅黑" panose="020B0503020204020204" charset="-122"/>
                <a:cs typeface="黑体" panose="02010609060101010101" pitchFamily="49" charset="-122"/>
              </a:rPr>
              <a:t>报告提纲</a:t>
            </a:r>
          </a:p>
        </p:txBody>
      </p:sp>
      <p:sp>
        <p:nvSpPr>
          <p:cNvPr id="33" name="内容占位符 2"/>
          <p:cNvSpPr txBox="1"/>
          <p:nvPr/>
        </p:nvSpPr>
        <p:spPr>
          <a:xfrm>
            <a:off x="3149411" y="2959229"/>
            <a:ext cx="3144643" cy="401159"/>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rPr>
              <a:t>研究内容</a:t>
            </a:r>
            <a:endParaRPr lang="en-US" altLang="zh-CN" sz="2400" dirty="0">
              <a:solidFill>
                <a:srgbClr val="425686"/>
              </a:solidFill>
              <a:effectLst/>
              <a:latin typeface="微软雅黑" panose="020B0503020204020204" charset="-122"/>
              <a:ea typeface="微软雅黑" panose="020B0503020204020204" charset="-122"/>
            </a:endParaRPr>
          </a:p>
        </p:txBody>
      </p:sp>
      <p:sp>
        <p:nvSpPr>
          <p:cNvPr id="34" name="圆角矩形 9"/>
          <p:cNvSpPr/>
          <p:nvPr/>
        </p:nvSpPr>
        <p:spPr>
          <a:xfrm>
            <a:off x="2951048" y="2028368"/>
            <a:ext cx="3603132" cy="564921"/>
          </a:xfrm>
          <a:prstGeom prst="roundRect">
            <a:avLst>
              <a:gd name="adj" fmla="val 0"/>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dirty="0">
              <a:latin typeface="微软雅黑" panose="020B0503020204020204" charset="-122"/>
              <a:ea typeface="微软雅黑" panose="020B0503020204020204" charset="-122"/>
            </a:endParaRPr>
          </a:p>
        </p:txBody>
      </p:sp>
      <p:sp>
        <p:nvSpPr>
          <p:cNvPr id="35" name="椭圆 34"/>
          <p:cNvSpPr/>
          <p:nvPr/>
        </p:nvSpPr>
        <p:spPr>
          <a:xfrm>
            <a:off x="2121466" y="2028368"/>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一</a:t>
            </a:r>
          </a:p>
        </p:txBody>
      </p:sp>
      <p:sp>
        <p:nvSpPr>
          <p:cNvPr id="37" name="圆角矩形 12"/>
          <p:cNvSpPr/>
          <p:nvPr/>
        </p:nvSpPr>
        <p:spPr>
          <a:xfrm>
            <a:off x="2951048" y="2879395"/>
            <a:ext cx="3603132" cy="564921"/>
          </a:xfrm>
          <a:prstGeom prst="roundRect">
            <a:avLst>
              <a:gd name="adj" fmla="val 651"/>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38" name="椭圆 37"/>
          <p:cNvSpPr/>
          <p:nvPr/>
        </p:nvSpPr>
        <p:spPr>
          <a:xfrm>
            <a:off x="2121466" y="2879395"/>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二</a:t>
            </a:r>
          </a:p>
        </p:txBody>
      </p:sp>
      <p:sp>
        <p:nvSpPr>
          <p:cNvPr id="50" name="内容占位符 2"/>
          <p:cNvSpPr txBox="1"/>
          <p:nvPr/>
        </p:nvSpPr>
        <p:spPr>
          <a:xfrm>
            <a:off x="3149412" y="2106430"/>
            <a:ext cx="3144643" cy="392237"/>
          </a:xfrm>
          <a:prstGeom prst="rect">
            <a:avLst/>
          </a:prstGeom>
          <a:noFill/>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rPr>
              <a:t>项目背景</a:t>
            </a:r>
            <a:endParaRPr lang="en-US" altLang="zh-CN" sz="2400" dirty="0">
              <a:solidFill>
                <a:srgbClr val="425686"/>
              </a:solidFill>
              <a:effectLst/>
              <a:latin typeface="微软雅黑" panose="020B0503020204020204" charset="-122"/>
              <a:ea typeface="微软雅黑" panose="020B0503020204020204" charset="-122"/>
            </a:endParaRPr>
          </a:p>
        </p:txBody>
      </p:sp>
      <p:sp>
        <p:nvSpPr>
          <p:cNvPr id="16" name="内容占位符 2"/>
          <p:cNvSpPr txBox="1"/>
          <p:nvPr/>
        </p:nvSpPr>
        <p:spPr>
          <a:xfrm>
            <a:off x="3149412" y="3782656"/>
            <a:ext cx="3144643" cy="423298"/>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C00000"/>
                </a:solidFill>
                <a:effectLst/>
                <a:latin typeface="微软雅黑" panose="020B0503020204020204" charset="-122"/>
                <a:ea typeface="微软雅黑" panose="020B0503020204020204" charset="-122"/>
              </a:rPr>
              <a:t>团队研究成果</a:t>
            </a:r>
          </a:p>
        </p:txBody>
      </p:sp>
      <p:sp>
        <p:nvSpPr>
          <p:cNvPr id="18" name="椭圆 17"/>
          <p:cNvSpPr/>
          <p:nvPr/>
        </p:nvSpPr>
        <p:spPr>
          <a:xfrm>
            <a:off x="2121466" y="3705097"/>
            <a:ext cx="569453" cy="569453"/>
          </a:xfrm>
          <a:prstGeom prst="ellipse">
            <a:avLst/>
          </a:prstGeom>
          <a:solidFill>
            <a:srgbClr val="DCEDF8"/>
          </a:solidFill>
          <a:ln w="25400">
            <a:solidFill>
              <a:srgbClr val="4357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C00000"/>
                </a:solidFill>
                <a:latin typeface="微软雅黑" panose="020B0503020204020204" charset="-122"/>
                <a:ea typeface="微软雅黑" panose="020B0503020204020204" charset="-122"/>
              </a:rPr>
              <a:t>三</a:t>
            </a:r>
          </a:p>
        </p:txBody>
      </p:sp>
      <p:sp>
        <p:nvSpPr>
          <p:cNvPr id="19" name="内容占位符 2"/>
          <p:cNvSpPr txBox="1"/>
          <p:nvPr/>
        </p:nvSpPr>
        <p:spPr>
          <a:xfrm>
            <a:off x="3180292" y="4639248"/>
            <a:ext cx="3144643" cy="400443"/>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cs typeface="黑体" panose="02010609060101010101" pitchFamily="49" charset="-122"/>
              </a:rPr>
              <a:t>应用前景与未来规划</a:t>
            </a:r>
          </a:p>
        </p:txBody>
      </p:sp>
      <p:sp>
        <p:nvSpPr>
          <p:cNvPr id="20" name="圆角矩形 15"/>
          <p:cNvSpPr/>
          <p:nvPr/>
        </p:nvSpPr>
        <p:spPr>
          <a:xfrm>
            <a:off x="2951048" y="4560656"/>
            <a:ext cx="3603132" cy="564921"/>
          </a:xfrm>
          <a:prstGeom prst="roundRect">
            <a:avLst>
              <a:gd name="adj" fmla="val 0"/>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21" name="椭圆 20"/>
          <p:cNvSpPr/>
          <p:nvPr/>
        </p:nvSpPr>
        <p:spPr>
          <a:xfrm>
            <a:off x="2121467" y="4554744"/>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四</a:t>
            </a: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团队研究成果</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13" y="1774087"/>
            <a:ext cx="2208810" cy="2987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475013" y="4764849"/>
            <a:ext cx="2159566" cy="523220"/>
          </a:xfrm>
          <a:prstGeom prst="rect">
            <a:avLst/>
          </a:prstGeom>
        </p:spPr>
        <p:txBody>
          <a:bodyPr wrap="none">
            <a:spAutoFit/>
          </a:bodyPr>
          <a:lstStyle/>
          <a:p>
            <a:r>
              <a:rPr lang="zh-CN" altLang="en-US" sz="1400" dirty="0"/>
              <a:t>基于区块链的个性化层次</a:t>
            </a:r>
            <a:endParaRPr lang="en-US" altLang="zh-CN" sz="1400" dirty="0"/>
          </a:p>
          <a:p>
            <a:pPr algn="ctr"/>
            <a:r>
              <a:rPr lang="zh-CN" altLang="en-US" sz="1400" dirty="0"/>
              <a:t>联邦学习平台</a:t>
            </a:r>
          </a:p>
        </p:txBody>
      </p:sp>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8899" y="1815055"/>
            <a:ext cx="2161308" cy="2986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3384729" y="4783005"/>
            <a:ext cx="1989647" cy="523220"/>
          </a:xfrm>
          <a:prstGeom prst="rect">
            <a:avLst/>
          </a:prstGeom>
        </p:spPr>
        <p:txBody>
          <a:bodyPr wrap="none">
            <a:spAutoFit/>
          </a:bodyPr>
          <a:lstStyle/>
          <a:p>
            <a:pPr algn="ctr"/>
            <a:r>
              <a:rPr lang="zh-CN" altLang="en-US" sz="1400" dirty="0"/>
              <a:t>基于</a:t>
            </a:r>
            <a:r>
              <a:rPr lang="en-US" altLang="zh-CN" sz="1400" dirty="0"/>
              <a:t>FISCO</a:t>
            </a:r>
            <a:r>
              <a:rPr lang="zh-CN" altLang="en-US" sz="1400" dirty="0"/>
              <a:t>群组机制的</a:t>
            </a:r>
            <a:endParaRPr lang="en-US" altLang="zh-CN" sz="1400" dirty="0"/>
          </a:p>
          <a:p>
            <a:pPr algn="ctr"/>
            <a:r>
              <a:rPr lang="zh-CN" altLang="en-US" sz="1400" dirty="0"/>
              <a:t>联邦学习系统</a:t>
            </a:r>
          </a:p>
        </p:txBody>
      </p:sp>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0767" y="1782598"/>
            <a:ext cx="2168565" cy="291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6139766" y="4711128"/>
            <a:ext cx="2159566" cy="523220"/>
          </a:xfrm>
          <a:prstGeom prst="rect">
            <a:avLst/>
          </a:prstGeom>
        </p:spPr>
        <p:txBody>
          <a:bodyPr wrap="none">
            <a:spAutoFit/>
          </a:bodyPr>
          <a:lstStyle/>
          <a:p>
            <a:r>
              <a:rPr lang="zh-CN" altLang="en-US" sz="1400" dirty="0"/>
              <a:t>基于边</a:t>
            </a:r>
            <a:r>
              <a:rPr lang="en-US" altLang="zh-CN" sz="1400" dirty="0"/>
              <a:t>-</a:t>
            </a:r>
            <a:r>
              <a:rPr lang="zh-CN" altLang="en-US" sz="1400" dirty="0"/>
              <a:t>端</a:t>
            </a:r>
            <a:r>
              <a:rPr lang="en-US" altLang="zh-CN" sz="1400" dirty="0"/>
              <a:t>-</a:t>
            </a:r>
            <a:r>
              <a:rPr lang="zh-CN" altLang="en-US" sz="1400" dirty="0"/>
              <a:t>云三层架构的</a:t>
            </a:r>
            <a:endParaRPr lang="en-US" altLang="zh-CN" sz="1400" dirty="0"/>
          </a:p>
          <a:p>
            <a:r>
              <a:rPr lang="zh-CN" altLang="en-US" sz="1400" dirty="0"/>
              <a:t>个性联邦学习方法及系统</a:t>
            </a:r>
          </a:p>
        </p:txBody>
      </p:sp>
      <p:sp>
        <p:nvSpPr>
          <p:cNvPr id="3" name="TextBox 2"/>
          <p:cNvSpPr txBox="1"/>
          <p:nvPr/>
        </p:nvSpPr>
        <p:spPr>
          <a:xfrm>
            <a:off x="475013" y="1014742"/>
            <a:ext cx="2954655" cy="369332"/>
          </a:xfrm>
          <a:prstGeom prst="rect">
            <a:avLst/>
          </a:prstGeom>
          <a:noFill/>
        </p:spPr>
        <p:txBody>
          <a:bodyPr wrap="none" rtlCol="0">
            <a:spAutoFit/>
          </a:bodyPr>
          <a:lstStyle/>
          <a:p>
            <a:r>
              <a:rPr lang="zh-CN" altLang="en-US" dirty="0"/>
              <a:t>与项目相关的软著和专利：</a:t>
            </a:r>
          </a:p>
        </p:txBody>
      </p:sp>
    </p:spTree>
    <p:extLst>
      <p:ext uri="{BB962C8B-B14F-4D97-AF65-F5344CB8AC3E}">
        <p14:creationId xmlns:p14="http://schemas.microsoft.com/office/powerpoint/2010/main" val="29914777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团队研究成果</a:t>
            </a:r>
          </a:p>
        </p:txBody>
      </p:sp>
      <p:sp>
        <p:nvSpPr>
          <p:cNvPr id="21" name="TextBox 20"/>
          <p:cNvSpPr txBox="1"/>
          <p:nvPr/>
        </p:nvSpPr>
        <p:spPr>
          <a:xfrm>
            <a:off x="475013" y="1014742"/>
            <a:ext cx="2262158" cy="369332"/>
          </a:xfrm>
          <a:prstGeom prst="rect">
            <a:avLst/>
          </a:prstGeom>
          <a:noFill/>
        </p:spPr>
        <p:txBody>
          <a:bodyPr wrap="none" rtlCol="0">
            <a:spAutoFit/>
          </a:bodyPr>
          <a:lstStyle/>
          <a:p>
            <a:r>
              <a:rPr lang="zh-CN" altLang="en-US" dirty="0"/>
              <a:t>与项目相关的论文：</a:t>
            </a:r>
          </a:p>
        </p:txBody>
      </p:sp>
      <p:pic>
        <p:nvPicPr>
          <p:cNvPr id="1332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008" y="1350294"/>
            <a:ext cx="5419404" cy="4326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965200" y="5676810"/>
            <a:ext cx="7416799" cy="307777"/>
          </a:xfrm>
          <a:prstGeom prst="rect">
            <a:avLst/>
          </a:prstGeom>
        </p:spPr>
        <p:txBody>
          <a:bodyPr wrap="square">
            <a:spAutoFit/>
          </a:bodyPr>
          <a:lstStyle/>
          <a:p>
            <a:r>
              <a:rPr lang="en-US" altLang="zh-CN" sz="1400" dirty="0"/>
              <a:t>A Secure Hierarchical Federated Learning Framework based on FISCO Group Mechanism</a:t>
            </a:r>
            <a:endParaRPr lang="zh-CN" altLang="en-US" sz="1400" dirty="0"/>
          </a:p>
        </p:txBody>
      </p:sp>
    </p:spTree>
    <p:extLst>
      <p:ext uri="{BB962C8B-B14F-4D97-AF65-F5344CB8AC3E}">
        <p14:creationId xmlns:p14="http://schemas.microsoft.com/office/powerpoint/2010/main" val="4207298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5"/>
          <p:cNvSpPr/>
          <p:nvPr/>
        </p:nvSpPr>
        <p:spPr>
          <a:xfrm>
            <a:off x="2951048" y="4560656"/>
            <a:ext cx="3603132" cy="564921"/>
          </a:xfrm>
          <a:prstGeom prst="roundRect">
            <a:avLst>
              <a:gd name="adj" fmla="val 0"/>
            </a:avLst>
          </a:prstGeom>
          <a:solidFill>
            <a:srgbClr val="DCEDF8"/>
          </a:solidFill>
          <a:ln w="28575">
            <a:solidFill>
              <a:srgbClr val="4256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solidFill>
                <a:srgbClr val="C00000"/>
              </a:solidFill>
              <a:latin typeface="微软雅黑" panose="020B0503020204020204" charset="-122"/>
              <a:ea typeface="微软雅黑" panose="020B0503020204020204" charset="-122"/>
            </a:endParaRPr>
          </a:p>
        </p:txBody>
      </p:sp>
      <p:sp>
        <p:nvSpPr>
          <p:cNvPr id="2" name="标题 1"/>
          <p:cNvSpPr txBox="1"/>
          <p:nvPr/>
        </p:nvSpPr>
        <p:spPr>
          <a:xfrm>
            <a:off x="848421" y="128605"/>
            <a:ext cx="4746462" cy="586998"/>
          </a:xfrm>
          <a:prstGeom prst="rect">
            <a:avLst/>
          </a:prstGeom>
          <a:effectLst/>
        </p:spPr>
        <p:txBody>
          <a:bodyPr vert="horz" lIns="91440" tIns="45720" rIns="91440" bIns="45720" rtlCol="0" anchor="ctr">
            <a:normAutofit/>
          </a:bodyPr>
          <a:lstStyle>
            <a:lvl1pPr algn="l" defTabSz="457200" rtl="0" eaLnBrk="1" fontAlgn="base" hangingPunct="1">
              <a:spcBef>
                <a:spcPct val="0"/>
              </a:spcBef>
              <a:spcAft>
                <a:spcPct val="0"/>
              </a:spcAft>
              <a:defRPr sz="2800" b="1" kern="1200">
                <a:solidFill>
                  <a:srgbClr val="435786"/>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cs typeface="黑体" panose="02010609060101010101" pitchFamily="49" charset="-122"/>
              </a:defRPr>
            </a:lvl1pPr>
            <a:lvl2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2pPr>
            <a:lvl3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3pPr>
            <a:lvl4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4pPr>
            <a:lvl5pPr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5pPr>
            <a:lvl6pPr marL="4572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6pPr>
            <a:lvl7pPr marL="9144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7pPr>
            <a:lvl8pPr marL="13716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8pPr>
            <a:lvl9pPr marL="1828800" algn="ctr" defTabSz="457200" rtl="0" eaLnBrk="1" fontAlgn="base" hangingPunct="1">
              <a:spcBef>
                <a:spcPct val="0"/>
              </a:spcBef>
              <a:spcAft>
                <a:spcPct val="0"/>
              </a:spcAft>
              <a:defRPr sz="4400" b="1">
                <a:solidFill>
                  <a:srgbClr val="FF0000"/>
                </a:solidFill>
                <a:latin typeface="华文细黑" panose="02010600040101010101" charset="-122"/>
                <a:ea typeface="华文细黑" panose="02010600040101010101" charset="-122"/>
                <a:cs typeface="华文细黑" panose="02010600040101010101" charset="-122"/>
              </a:defRPr>
            </a:lvl9pPr>
          </a:lstStyle>
          <a:p>
            <a:r>
              <a:rPr lang="zh-CN" altLang="en-US">
                <a:effectLst/>
                <a:latin typeface="微软雅黑" panose="020B0503020204020204" charset="-122"/>
                <a:ea typeface="微软雅黑" panose="020B0503020204020204" charset="-122"/>
                <a:cs typeface="黑体" panose="02010609060101010101" pitchFamily="49" charset="-122"/>
              </a:rPr>
              <a:t>报告提纲</a:t>
            </a:r>
          </a:p>
        </p:txBody>
      </p:sp>
      <p:sp>
        <p:nvSpPr>
          <p:cNvPr id="33" name="内容占位符 2"/>
          <p:cNvSpPr txBox="1"/>
          <p:nvPr/>
        </p:nvSpPr>
        <p:spPr>
          <a:xfrm>
            <a:off x="3149411" y="2959229"/>
            <a:ext cx="3144643" cy="401159"/>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rPr>
              <a:t>研究内容</a:t>
            </a:r>
            <a:endParaRPr lang="en-US" altLang="zh-CN" sz="2400" dirty="0">
              <a:solidFill>
                <a:srgbClr val="425686"/>
              </a:solidFill>
              <a:effectLst/>
              <a:latin typeface="微软雅黑" panose="020B0503020204020204" charset="-122"/>
              <a:ea typeface="微软雅黑" panose="020B0503020204020204" charset="-122"/>
            </a:endParaRPr>
          </a:p>
        </p:txBody>
      </p:sp>
      <p:sp>
        <p:nvSpPr>
          <p:cNvPr id="34" name="圆角矩形 9"/>
          <p:cNvSpPr/>
          <p:nvPr/>
        </p:nvSpPr>
        <p:spPr>
          <a:xfrm>
            <a:off x="2951048" y="2028368"/>
            <a:ext cx="3603132" cy="564921"/>
          </a:xfrm>
          <a:prstGeom prst="roundRect">
            <a:avLst>
              <a:gd name="adj" fmla="val 0"/>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dirty="0">
              <a:latin typeface="微软雅黑" panose="020B0503020204020204" charset="-122"/>
              <a:ea typeface="微软雅黑" panose="020B0503020204020204" charset="-122"/>
            </a:endParaRPr>
          </a:p>
        </p:txBody>
      </p:sp>
      <p:sp>
        <p:nvSpPr>
          <p:cNvPr id="35" name="椭圆 34"/>
          <p:cNvSpPr/>
          <p:nvPr/>
        </p:nvSpPr>
        <p:spPr>
          <a:xfrm>
            <a:off x="2121466" y="2028368"/>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一</a:t>
            </a:r>
          </a:p>
        </p:txBody>
      </p:sp>
      <p:sp>
        <p:nvSpPr>
          <p:cNvPr id="37" name="圆角矩形 12"/>
          <p:cNvSpPr/>
          <p:nvPr/>
        </p:nvSpPr>
        <p:spPr>
          <a:xfrm>
            <a:off x="2951048" y="2879395"/>
            <a:ext cx="3603132" cy="564921"/>
          </a:xfrm>
          <a:prstGeom prst="roundRect">
            <a:avLst>
              <a:gd name="adj" fmla="val 651"/>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38" name="椭圆 37"/>
          <p:cNvSpPr/>
          <p:nvPr/>
        </p:nvSpPr>
        <p:spPr>
          <a:xfrm>
            <a:off x="2121466" y="2879395"/>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二</a:t>
            </a:r>
          </a:p>
        </p:txBody>
      </p:sp>
      <p:sp>
        <p:nvSpPr>
          <p:cNvPr id="50" name="内容占位符 2"/>
          <p:cNvSpPr txBox="1"/>
          <p:nvPr/>
        </p:nvSpPr>
        <p:spPr>
          <a:xfrm>
            <a:off x="3149412" y="2106430"/>
            <a:ext cx="3144643" cy="392237"/>
          </a:xfrm>
          <a:prstGeom prst="rect">
            <a:avLst/>
          </a:prstGeom>
          <a:noFill/>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rPr>
              <a:t>项目背景</a:t>
            </a:r>
            <a:endParaRPr lang="en-US" altLang="zh-CN" sz="2400" dirty="0">
              <a:solidFill>
                <a:srgbClr val="425686"/>
              </a:solidFill>
              <a:effectLst/>
              <a:latin typeface="微软雅黑" panose="020B0503020204020204" charset="-122"/>
              <a:ea typeface="微软雅黑" panose="020B0503020204020204" charset="-122"/>
            </a:endParaRPr>
          </a:p>
        </p:txBody>
      </p:sp>
      <p:sp>
        <p:nvSpPr>
          <p:cNvPr id="19" name="内容占位符 2"/>
          <p:cNvSpPr txBox="1"/>
          <p:nvPr/>
        </p:nvSpPr>
        <p:spPr>
          <a:xfrm>
            <a:off x="3180292" y="4639248"/>
            <a:ext cx="3144643" cy="400443"/>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C00000"/>
                </a:solidFill>
                <a:effectLst/>
                <a:latin typeface="微软雅黑" panose="020B0503020204020204" charset="-122"/>
                <a:ea typeface="微软雅黑" panose="020B0503020204020204" charset="-122"/>
              </a:rPr>
              <a:t>应用前景与未来规划</a:t>
            </a:r>
          </a:p>
        </p:txBody>
      </p:sp>
      <p:sp>
        <p:nvSpPr>
          <p:cNvPr id="21" name="椭圆 20"/>
          <p:cNvSpPr/>
          <p:nvPr/>
        </p:nvSpPr>
        <p:spPr>
          <a:xfrm>
            <a:off x="2121467" y="4554744"/>
            <a:ext cx="569453" cy="569453"/>
          </a:xfrm>
          <a:prstGeom prst="ellipse">
            <a:avLst/>
          </a:prstGeom>
          <a:solidFill>
            <a:srgbClr val="DCEDF8"/>
          </a:solidFill>
          <a:ln w="25400">
            <a:solidFill>
              <a:srgbClr val="43578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C00000"/>
                </a:solidFill>
                <a:latin typeface="微软雅黑" panose="020B0503020204020204" charset="-122"/>
                <a:ea typeface="微软雅黑" panose="020B0503020204020204" charset="-122"/>
              </a:rPr>
              <a:t>四</a:t>
            </a:r>
          </a:p>
        </p:txBody>
      </p:sp>
      <p:sp>
        <p:nvSpPr>
          <p:cNvPr id="15" name="内容占位符 2"/>
          <p:cNvSpPr txBox="1"/>
          <p:nvPr/>
        </p:nvSpPr>
        <p:spPr>
          <a:xfrm>
            <a:off x="3149412" y="3782656"/>
            <a:ext cx="3144643" cy="423298"/>
          </a:xfrm>
          <a:prstGeom prst="rect">
            <a:avLst/>
          </a:prstGeom>
          <a:ln>
            <a:noFill/>
          </a:ln>
          <a:effectLst/>
        </p:spPr>
        <p:txBody>
          <a:bodyPr vert="horz" lIns="91440" tIns="45720" rIns="91440" bIns="45720" rtlCol="0" anchor="ctr">
            <a:noAutofit/>
          </a:bodyPr>
          <a:lstStyle>
            <a:lvl1pPr marL="342900" indent="-342900" algn="l" defTabSz="457200" rtl="0" eaLnBrk="1" fontAlgn="base" hangingPunct="1">
              <a:spcBef>
                <a:spcPct val="20000"/>
              </a:spcBef>
              <a:spcAft>
                <a:spcPct val="0"/>
              </a:spcAft>
              <a:buFont typeface="Arial" panose="020B0604020202020204" pitchFamily="34" charset="0"/>
              <a:buChar char="•"/>
              <a:defRPr sz="3200" b="1" kern="1200" baseline="0">
                <a:solidFill>
                  <a:schemeClr val="tx2">
                    <a:lumMod val="60000"/>
                    <a:lumOff val="40000"/>
                  </a:schemeClr>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1pPr>
            <a:lvl2pPr marL="742950" indent="-285750" algn="l" defTabSz="457200" rtl="0" eaLnBrk="1" fontAlgn="base" hangingPunct="1">
              <a:spcBef>
                <a:spcPct val="20000"/>
              </a:spcBef>
              <a:spcAft>
                <a:spcPct val="0"/>
              </a:spcAft>
              <a:buFont typeface="Arial" panose="020B0604020202020204" pitchFamily="34" charset="0"/>
              <a:buChar char="–"/>
              <a:defRPr sz="28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2pPr>
            <a:lvl3pPr marL="1143000" indent="-228600" algn="l" defTabSz="457200" rtl="0" eaLnBrk="1" fontAlgn="base" hangingPunct="1">
              <a:spcBef>
                <a:spcPct val="20000"/>
              </a:spcBef>
              <a:spcAft>
                <a:spcPct val="0"/>
              </a:spcAft>
              <a:buFont typeface="Arial" panose="020B0604020202020204" pitchFamily="34" charset="0"/>
              <a:buChar char="•"/>
              <a:defRPr sz="24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3pPr>
            <a:lvl4pPr marL="16002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4pPr>
            <a:lvl5pPr marL="2057400" indent="-228600" algn="l" defTabSz="457200" rtl="0" eaLnBrk="1" fontAlgn="base" hangingPunct="1">
              <a:spcBef>
                <a:spcPct val="20000"/>
              </a:spcBef>
              <a:spcAft>
                <a:spcPct val="0"/>
              </a:spcAft>
              <a:buFont typeface="Arial" panose="020B0604020202020204" pitchFamily="34" charset="0"/>
              <a:buChar char="»"/>
              <a:defRPr sz="2000" b="1" kern="1200" baseline="0">
                <a:solidFill>
                  <a:schemeClr val="tx1"/>
                </a:solidFill>
                <a:effectLst>
                  <a:outerShdw blurRad="50800" dist="38100" dir="2700000" algn="tl" rotWithShape="0">
                    <a:prstClr val="black">
                      <a:alpha val="40000"/>
                    </a:prstClr>
                  </a:outerShdw>
                </a:effectLst>
                <a:latin typeface="Calibri" panose="020F0502020204030204" pitchFamily="34" charset="0"/>
                <a:ea typeface="华文细黑" panose="02010600040101010101" charset="-122"/>
                <a:cs typeface="华文细黑" panose="02010600040101010101"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2400" dirty="0">
                <a:solidFill>
                  <a:srgbClr val="425686"/>
                </a:solidFill>
                <a:effectLst/>
                <a:latin typeface="微软雅黑" panose="020B0503020204020204" charset="-122"/>
                <a:ea typeface="微软雅黑" panose="020B0503020204020204" charset="-122"/>
                <a:cs typeface="黑体" panose="02010609060101010101" pitchFamily="49" charset="-122"/>
              </a:rPr>
              <a:t>项目团队和研究成果</a:t>
            </a:r>
          </a:p>
        </p:txBody>
      </p:sp>
      <p:sp>
        <p:nvSpPr>
          <p:cNvPr id="22" name="圆角矩形 12"/>
          <p:cNvSpPr/>
          <p:nvPr/>
        </p:nvSpPr>
        <p:spPr>
          <a:xfrm>
            <a:off x="2951048" y="3709629"/>
            <a:ext cx="3603132" cy="564921"/>
          </a:xfrm>
          <a:prstGeom prst="roundRect">
            <a:avLst>
              <a:gd name="adj" fmla="val 651"/>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b="1">
              <a:latin typeface="微软雅黑" panose="020B0503020204020204" charset="-122"/>
              <a:ea typeface="微软雅黑" panose="020B0503020204020204" charset="-122"/>
            </a:endParaRPr>
          </a:p>
        </p:txBody>
      </p:sp>
      <p:sp>
        <p:nvSpPr>
          <p:cNvPr id="23" name="椭圆 22"/>
          <p:cNvSpPr/>
          <p:nvPr/>
        </p:nvSpPr>
        <p:spPr>
          <a:xfrm>
            <a:off x="2121466" y="3705097"/>
            <a:ext cx="569453" cy="569453"/>
          </a:xfrm>
          <a:prstGeom prst="ellipse">
            <a:avLst/>
          </a:prstGeom>
          <a:noFill/>
          <a:ln w="28575">
            <a:solidFill>
              <a:srgbClr val="4256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b="1" dirty="0">
                <a:solidFill>
                  <a:srgbClr val="425686"/>
                </a:solidFill>
                <a:latin typeface="微软雅黑" panose="020B0503020204020204" charset="-122"/>
                <a:ea typeface="微软雅黑" panose="020B0503020204020204" charset="-122"/>
              </a:rPr>
              <a:t>三</a:t>
            </a:r>
          </a:p>
        </p:txBody>
      </p:sp>
    </p:spTree>
    <p:extLst>
      <p:ext uri="{BB962C8B-B14F-4D97-AF65-F5344CB8AC3E}">
        <p14:creationId xmlns:p14="http://schemas.microsoft.com/office/powerpoint/2010/main" val="295762951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1"/>
          <p:cNvSpPr>
            <a:spLocks noGrp="1"/>
          </p:cNvSpPr>
          <p:nvPr>
            <p:ph type="title"/>
          </p:nvPr>
        </p:nvSpPr>
        <p:spPr>
          <a:xfrm>
            <a:off x="848421" y="202089"/>
            <a:ext cx="4572000" cy="464296"/>
          </a:xfrm>
        </p:spPr>
        <p:txBody>
          <a:bodyPr>
            <a:normAutofit fontScale="90000"/>
          </a:bodyPr>
          <a:lstStyle/>
          <a:p>
            <a:r>
              <a:rPr lang="zh-CN" altLang="en-US" dirty="0">
                <a:latin typeface="微软雅黑" panose="020B0503020204020204" charset="-122"/>
                <a:ea typeface="微软雅黑" panose="020B0503020204020204" charset="-122"/>
              </a:rPr>
              <a:t>应用前景与未来规划</a:t>
            </a:r>
          </a:p>
        </p:txBody>
      </p:sp>
      <p:sp>
        <p:nvSpPr>
          <p:cNvPr id="17" name="文本框 4"/>
          <p:cNvSpPr txBox="1"/>
          <p:nvPr/>
        </p:nvSpPr>
        <p:spPr>
          <a:xfrm>
            <a:off x="419100" y="1009650"/>
            <a:ext cx="8534400"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sym typeface="+mn-ea"/>
              </a:rPr>
              <a:t>目前达到合作共识情况：</a:t>
            </a:r>
          </a:p>
        </p:txBody>
      </p:sp>
      <p:graphicFrame>
        <p:nvGraphicFramePr>
          <p:cNvPr id="4" name="表格 3"/>
          <p:cNvGraphicFramePr>
            <a:graphicFrameLocks noGrp="1"/>
          </p:cNvGraphicFramePr>
          <p:nvPr>
            <p:extLst>
              <p:ext uri="{D42A27DB-BD31-4B8C-83A1-F6EECF244321}">
                <p14:modId xmlns:p14="http://schemas.microsoft.com/office/powerpoint/2010/main" val="3790404888"/>
              </p:ext>
            </p:extLst>
          </p:nvPr>
        </p:nvGraphicFramePr>
        <p:xfrm>
          <a:off x="559399" y="1579872"/>
          <a:ext cx="8073962" cy="4156841"/>
        </p:xfrm>
        <a:graphic>
          <a:graphicData uri="http://schemas.openxmlformats.org/drawingml/2006/table">
            <a:tbl>
              <a:tblPr>
                <a:tableStyleId>{E8B1032C-EA38-4F05-BA0D-38AFFFC7BED3}</a:tableStyleId>
              </a:tblPr>
              <a:tblGrid>
                <a:gridCol w="2350056">
                  <a:extLst>
                    <a:ext uri="{9D8B030D-6E8A-4147-A177-3AD203B41FA5}">
                      <a16:colId xmlns:a16="http://schemas.microsoft.com/office/drawing/2014/main" val="20000"/>
                    </a:ext>
                  </a:extLst>
                </a:gridCol>
                <a:gridCol w="2945080">
                  <a:extLst>
                    <a:ext uri="{9D8B030D-6E8A-4147-A177-3AD203B41FA5}">
                      <a16:colId xmlns:a16="http://schemas.microsoft.com/office/drawing/2014/main" val="20001"/>
                    </a:ext>
                  </a:extLst>
                </a:gridCol>
                <a:gridCol w="2778826">
                  <a:extLst>
                    <a:ext uri="{9D8B030D-6E8A-4147-A177-3AD203B41FA5}">
                      <a16:colId xmlns:a16="http://schemas.microsoft.com/office/drawing/2014/main" val="20002"/>
                    </a:ext>
                  </a:extLst>
                </a:gridCol>
              </a:tblGrid>
              <a:tr h="213360">
                <a:tc>
                  <a:txBody>
                    <a:bodyPr/>
                    <a:lstStyle/>
                    <a:p>
                      <a:pPr algn="ctr" fontAlgn="ctr">
                        <a:lnSpc>
                          <a:spcPct val="150000"/>
                        </a:lnSpc>
                      </a:pPr>
                      <a:r>
                        <a:rPr lang="zh-CN" altLang="en-US" sz="1800" u="none" strike="noStrike" dirty="0">
                          <a:effectLst/>
                        </a:rPr>
                        <a:t>合作方​</a:t>
                      </a:r>
                      <a:endParaRPr lang="zh-CN" altLang="en-US" sz="1800" b="1" i="0" u="none" strike="noStrike" dirty="0">
                        <a:solidFill>
                          <a:srgbClr val="000000"/>
                        </a:solidFill>
                        <a:effectLst/>
                        <a:latin typeface="Segoe UI"/>
                      </a:endParaRPr>
                    </a:p>
                  </a:txBody>
                  <a:tcPr marL="7620" marR="7620" marT="7620" marB="0" anchor="ctr"/>
                </a:tc>
                <a:tc>
                  <a:txBody>
                    <a:bodyPr/>
                    <a:lstStyle/>
                    <a:p>
                      <a:pPr algn="ctr" fontAlgn="ctr">
                        <a:lnSpc>
                          <a:spcPct val="150000"/>
                        </a:lnSpc>
                      </a:pPr>
                      <a:r>
                        <a:rPr lang="zh-CN" altLang="en-US" sz="1800" u="none" strike="noStrike" dirty="0">
                          <a:effectLst/>
                        </a:rPr>
                        <a:t>​具体进展​</a:t>
                      </a:r>
                      <a:endParaRPr lang="zh-CN" altLang="en-US" sz="1800" b="1" i="0" u="none" strike="noStrike" dirty="0">
                        <a:solidFill>
                          <a:srgbClr val="000000"/>
                        </a:solidFill>
                        <a:effectLst/>
                        <a:latin typeface="Segoe UI"/>
                      </a:endParaRPr>
                    </a:p>
                  </a:txBody>
                  <a:tcPr marL="7620" marR="7620" marT="7620" marB="0" anchor="ctr"/>
                </a:tc>
                <a:tc>
                  <a:txBody>
                    <a:bodyPr/>
                    <a:lstStyle/>
                    <a:p>
                      <a:pPr algn="ctr" fontAlgn="ctr">
                        <a:lnSpc>
                          <a:spcPct val="150000"/>
                        </a:lnSpc>
                      </a:pPr>
                      <a:r>
                        <a:rPr lang="zh-CN" altLang="en-US" sz="1800" u="none" strike="noStrike" dirty="0">
                          <a:effectLst/>
                        </a:rPr>
                        <a:t>​下一步计划​</a:t>
                      </a:r>
                      <a:endParaRPr lang="zh-CN" altLang="en-US" sz="1800" b="1" i="0" u="none" strike="noStrike" dirty="0">
                        <a:solidFill>
                          <a:srgbClr val="000000"/>
                        </a:solidFill>
                        <a:effectLst/>
                        <a:latin typeface="Segoe UI"/>
                      </a:endParaRPr>
                    </a:p>
                  </a:txBody>
                  <a:tcPr marL="7620" marR="7620" marT="7620" marB="0" anchor="ctr"/>
                </a:tc>
                <a:extLst>
                  <a:ext uri="{0D108BD9-81ED-4DB2-BD59-A6C34878D82A}">
                    <a16:rowId xmlns:a16="http://schemas.microsoft.com/office/drawing/2014/main" val="10000"/>
                  </a:ext>
                </a:extLst>
              </a:tr>
              <a:tr h="1005485">
                <a:tc>
                  <a:txBody>
                    <a:bodyPr/>
                    <a:lstStyle/>
                    <a:p>
                      <a:pPr algn="ctr" fontAlgn="ctr">
                        <a:lnSpc>
                          <a:spcPct val="150000"/>
                        </a:lnSpc>
                      </a:pPr>
                      <a:r>
                        <a:rPr lang="en-US" altLang="zh-CN" sz="1800" u="none" strike="noStrike" dirty="0">
                          <a:effectLst/>
                        </a:rPr>
                        <a:t>******</a:t>
                      </a:r>
                      <a:r>
                        <a:rPr lang="zh-CN" altLang="en-US" sz="1800" u="none" strike="noStrike" dirty="0">
                          <a:effectLst/>
                        </a:rPr>
                        <a:t>心理中心</a:t>
                      </a:r>
                      <a:endParaRPr lang="zh-CN" altLang="en-US" sz="1800" b="0" i="0" u="none" strike="noStrike" dirty="0">
                        <a:solidFill>
                          <a:srgbClr val="000000"/>
                        </a:solidFill>
                        <a:effectLst/>
                        <a:latin typeface="宋体"/>
                      </a:endParaRPr>
                    </a:p>
                  </a:txBody>
                  <a:tcPr marL="7620" marR="7620" marT="7620" marB="0" anchor="ctr"/>
                </a:tc>
                <a:tc>
                  <a:txBody>
                    <a:bodyPr/>
                    <a:lstStyle/>
                    <a:p>
                      <a:pPr algn="ctr" fontAlgn="ctr">
                        <a:lnSpc>
                          <a:spcPct val="150000"/>
                        </a:lnSpc>
                      </a:pPr>
                      <a:r>
                        <a:rPr lang="zh-CN" altLang="en-US" sz="1800" u="none" strike="noStrike" dirty="0">
                          <a:effectLst/>
                        </a:rPr>
                        <a:t>授权使用近</a:t>
                      </a:r>
                      <a:r>
                        <a:rPr lang="en-US" altLang="zh-CN" sz="1800" u="none" strike="noStrike" dirty="0">
                          <a:effectLst/>
                        </a:rPr>
                        <a:t>3</a:t>
                      </a:r>
                      <a:r>
                        <a:rPr lang="zh-CN" altLang="en-US" sz="1800" u="none" strike="noStrike" dirty="0">
                          <a:effectLst/>
                        </a:rPr>
                        <a:t>年脱敏咨询记录</a:t>
                      </a:r>
                      <a:endParaRPr lang="zh-CN" altLang="en-US" sz="1800" b="0" i="0" u="none" strike="noStrike" dirty="0">
                        <a:solidFill>
                          <a:srgbClr val="000000"/>
                        </a:solidFill>
                        <a:effectLst/>
                        <a:latin typeface="Segoe UI"/>
                      </a:endParaRPr>
                    </a:p>
                  </a:txBody>
                  <a:tcPr marL="7620" marR="7620" marT="7620" marB="0" anchor="ctr"/>
                </a:tc>
                <a:tc>
                  <a:txBody>
                    <a:bodyPr/>
                    <a:lstStyle/>
                    <a:p>
                      <a:pPr algn="ctr" fontAlgn="ctr">
                        <a:lnSpc>
                          <a:spcPct val="150000"/>
                        </a:lnSpc>
                      </a:pPr>
                      <a:r>
                        <a:rPr lang="zh-CN" altLang="en-US" sz="1800" u="none" strike="noStrike">
                          <a:effectLst/>
                        </a:rPr>
                        <a:t>部署</a:t>
                      </a:r>
                      <a:r>
                        <a:rPr lang="en-US" altLang="zh-CN" sz="1800" u="none" strike="noStrike">
                          <a:effectLst/>
                        </a:rPr>
                        <a:t>AI</a:t>
                      </a:r>
                      <a:r>
                        <a:rPr lang="zh-CN" altLang="en-US" sz="1800" u="none" strike="noStrike">
                          <a:effectLst/>
                        </a:rPr>
                        <a:t>情绪预警试点</a:t>
                      </a:r>
                      <a:endParaRPr lang="zh-CN" altLang="en-US" sz="1800" b="0" i="0" u="none" strike="noStrike">
                        <a:solidFill>
                          <a:srgbClr val="000000"/>
                        </a:solidFill>
                        <a:effectLst/>
                        <a:latin typeface="Segoe UI"/>
                      </a:endParaRPr>
                    </a:p>
                  </a:txBody>
                  <a:tcPr marL="7620" marR="7620" marT="7620" marB="0" anchor="ctr"/>
                </a:tc>
                <a:extLst>
                  <a:ext uri="{0D108BD9-81ED-4DB2-BD59-A6C34878D82A}">
                    <a16:rowId xmlns:a16="http://schemas.microsoft.com/office/drawing/2014/main" val="10001"/>
                  </a:ext>
                </a:extLst>
              </a:tr>
              <a:tr h="335280">
                <a:tc>
                  <a:txBody>
                    <a:bodyPr/>
                    <a:lstStyle/>
                    <a:p>
                      <a:pPr algn="ctr" fontAlgn="ctr">
                        <a:lnSpc>
                          <a:spcPct val="150000"/>
                        </a:lnSpc>
                      </a:pPr>
                      <a:r>
                        <a:rPr lang="en-US" altLang="zh-CN" sz="1800" u="none" strike="noStrike" dirty="0">
                          <a:effectLst/>
                        </a:rPr>
                        <a:t>******</a:t>
                      </a:r>
                      <a:r>
                        <a:rPr lang="zh-CN" altLang="en-US" sz="1800" u="none" strike="noStrike" dirty="0">
                          <a:effectLst/>
                        </a:rPr>
                        <a:t>医院</a:t>
                      </a:r>
                      <a:endParaRPr lang="en-US" altLang="zh-CN" sz="1800" u="none" strike="noStrike" dirty="0">
                        <a:effectLst/>
                      </a:endParaRPr>
                    </a:p>
                    <a:p>
                      <a:pPr algn="ctr" fontAlgn="ctr">
                        <a:lnSpc>
                          <a:spcPct val="150000"/>
                        </a:lnSpc>
                      </a:pPr>
                      <a:r>
                        <a:rPr lang="zh-CN" altLang="en-US" sz="1800" u="none" strike="noStrike" dirty="0">
                          <a:effectLst/>
                        </a:rPr>
                        <a:t>精神科</a:t>
                      </a:r>
                      <a:endParaRPr lang="zh-CN" altLang="en-US" sz="1800" b="0" i="0" u="none" strike="noStrike" dirty="0">
                        <a:solidFill>
                          <a:srgbClr val="000000"/>
                        </a:solidFill>
                        <a:effectLst/>
                        <a:latin typeface="宋体"/>
                      </a:endParaRPr>
                    </a:p>
                  </a:txBody>
                  <a:tcPr marL="7620" marR="7620" marT="7620" marB="0" anchor="ctr"/>
                </a:tc>
                <a:tc>
                  <a:txBody>
                    <a:bodyPr/>
                    <a:lstStyle/>
                    <a:p>
                      <a:pPr algn="ctr" fontAlgn="ctr">
                        <a:lnSpc>
                          <a:spcPct val="150000"/>
                        </a:lnSpc>
                      </a:pPr>
                      <a:r>
                        <a:rPr lang="zh-CN" altLang="en-US" sz="1800" u="none" strike="noStrike" dirty="0">
                          <a:effectLst/>
                        </a:rPr>
                        <a:t>开放</a:t>
                      </a:r>
                      <a:r>
                        <a:rPr lang="en-US" altLang="zh-CN" sz="1800" u="none" strike="noStrike" dirty="0">
                          <a:effectLst/>
                        </a:rPr>
                        <a:t>1000+</a:t>
                      </a:r>
                      <a:r>
                        <a:rPr lang="zh-CN" altLang="en-US" sz="1800" u="none" strike="noStrike" dirty="0">
                          <a:effectLst/>
                        </a:rPr>
                        <a:t>脱敏诊断数据集</a:t>
                      </a:r>
                      <a:endParaRPr lang="zh-CN" altLang="en-US" sz="1800" b="0" i="0" u="none" strike="noStrike" dirty="0">
                        <a:solidFill>
                          <a:srgbClr val="000000"/>
                        </a:solidFill>
                        <a:effectLst/>
                        <a:latin typeface="Segoe UI"/>
                      </a:endParaRPr>
                    </a:p>
                  </a:txBody>
                  <a:tcPr marL="7620" marR="7620" marT="7620" marB="0" anchor="ctr"/>
                </a:tc>
                <a:tc>
                  <a:txBody>
                    <a:bodyPr/>
                    <a:lstStyle/>
                    <a:p>
                      <a:pPr algn="ctr" fontAlgn="ctr">
                        <a:lnSpc>
                          <a:spcPct val="150000"/>
                        </a:lnSpc>
                      </a:pPr>
                      <a:r>
                        <a:rPr lang="zh-CN" altLang="en-US" sz="1800" u="none" strike="noStrike" dirty="0">
                          <a:effectLst/>
                        </a:rPr>
                        <a:t>建立联邦学习节点和区块链加密通道</a:t>
                      </a:r>
                      <a:endParaRPr lang="zh-CN" altLang="en-US" sz="1800" b="0" i="0" u="none" strike="noStrike" dirty="0">
                        <a:solidFill>
                          <a:srgbClr val="000000"/>
                        </a:solidFill>
                        <a:effectLst/>
                        <a:latin typeface="宋体"/>
                      </a:endParaRPr>
                    </a:p>
                  </a:txBody>
                  <a:tcPr marL="7620" marR="7620" marT="7620" marB="0" anchor="ctr"/>
                </a:tc>
                <a:extLst>
                  <a:ext uri="{0D108BD9-81ED-4DB2-BD59-A6C34878D82A}">
                    <a16:rowId xmlns:a16="http://schemas.microsoft.com/office/drawing/2014/main" val="10002"/>
                  </a:ext>
                </a:extLst>
              </a:tr>
              <a:tr h="365760">
                <a:tc>
                  <a:txBody>
                    <a:bodyPr/>
                    <a:lstStyle/>
                    <a:p>
                      <a:pPr algn="ctr" fontAlgn="ctr">
                        <a:lnSpc>
                          <a:spcPct val="150000"/>
                        </a:lnSpc>
                      </a:pPr>
                      <a:r>
                        <a:rPr lang="en-US" altLang="zh-CN" sz="1800" u="none" strike="noStrike" dirty="0">
                          <a:effectLst/>
                        </a:rPr>
                        <a:t>******</a:t>
                      </a:r>
                      <a:r>
                        <a:rPr lang="zh-CN" altLang="en-US" sz="1800" u="none" strike="noStrike" dirty="0">
                          <a:effectLst/>
                        </a:rPr>
                        <a:t>医院</a:t>
                      </a:r>
                      <a:endParaRPr lang="zh-CN" altLang="en-US" sz="1800" b="0" i="0" u="none" strike="noStrike" dirty="0">
                        <a:solidFill>
                          <a:srgbClr val="000000"/>
                        </a:solidFill>
                        <a:effectLst/>
                        <a:latin typeface="宋体"/>
                      </a:endParaRPr>
                    </a:p>
                  </a:txBody>
                  <a:tcPr marL="7620" marR="7620" marT="7620" marB="0" anchor="ctr"/>
                </a:tc>
                <a:tc>
                  <a:txBody>
                    <a:bodyPr/>
                    <a:lstStyle/>
                    <a:p>
                      <a:pPr algn="ctr" fontAlgn="ctr">
                        <a:lnSpc>
                          <a:spcPct val="150000"/>
                        </a:lnSpc>
                      </a:pPr>
                      <a:r>
                        <a:rPr lang="zh-CN" altLang="en-US" sz="1800" u="none" strike="noStrike">
                          <a:effectLst/>
                        </a:rPr>
                        <a:t>愿提供脱敏临床数据，但要求严格审计数据流向</a:t>
                      </a:r>
                      <a:endParaRPr lang="zh-CN" altLang="en-US" sz="1800" b="0" i="0" u="none" strike="noStrike">
                        <a:solidFill>
                          <a:srgbClr val="000000"/>
                        </a:solidFill>
                        <a:effectLst/>
                        <a:latin typeface="宋体"/>
                      </a:endParaRPr>
                    </a:p>
                  </a:txBody>
                  <a:tcPr marL="7620" marR="7620" marT="7620" marB="0" anchor="ctr"/>
                </a:tc>
                <a:tc>
                  <a:txBody>
                    <a:bodyPr/>
                    <a:lstStyle/>
                    <a:p>
                      <a:pPr algn="ctr" fontAlgn="ctr">
                        <a:lnSpc>
                          <a:spcPct val="150000"/>
                        </a:lnSpc>
                      </a:pPr>
                      <a:r>
                        <a:rPr lang="zh-CN" altLang="en-US" sz="1800" u="none" strike="noStrike" dirty="0">
                          <a:effectLst/>
                        </a:rPr>
                        <a:t>将学生校外就诊记录安全同步至校方，避免治疗断档</a:t>
                      </a:r>
                      <a:endParaRPr lang="zh-CN" altLang="en-US" sz="1800" b="0" i="0" u="none" strike="noStrike" dirty="0">
                        <a:solidFill>
                          <a:srgbClr val="000000"/>
                        </a:solidFill>
                        <a:effectLst/>
                        <a:latin typeface="宋体"/>
                      </a:endParaRPr>
                    </a:p>
                  </a:txBody>
                  <a:tcPr marL="7620" marR="7620" marT="7620" marB="0" anchor="ctr"/>
                </a:tc>
                <a:extLst>
                  <a:ext uri="{0D108BD9-81ED-4DB2-BD59-A6C34878D82A}">
                    <a16:rowId xmlns:a16="http://schemas.microsoft.com/office/drawing/2014/main" val="10003"/>
                  </a:ext>
                </a:extLst>
              </a:tr>
              <a:tr h="1071096">
                <a:tc>
                  <a:txBody>
                    <a:bodyPr/>
                    <a:lstStyle/>
                    <a:p>
                      <a:pPr algn="ctr" fontAlgn="b">
                        <a:lnSpc>
                          <a:spcPct val="150000"/>
                        </a:lnSpc>
                      </a:pPr>
                      <a:r>
                        <a:rPr lang="en-US" altLang="zh-CN" sz="1800" u="none" strike="noStrike" dirty="0">
                          <a:effectLst/>
                        </a:rPr>
                        <a:t>******</a:t>
                      </a:r>
                      <a:r>
                        <a:rPr lang="zh-CN" altLang="en-US" sz="1800" u="none" strike="noStrike" dirty="0">
                          <a:effectLst/>
                        </a:rPr>
                        <a:t>大学</a:t>
                      </a:r>
                      <a:endParaRPr lang="zh-CN" altLang="en-US" sz="1800" b="0" i="0" u="none" strike="noStrike" dirty="0">
                        <a:solidFill>
                          <a:srgbClr val="000000"/>
                        </a:solidFill>
                        <a:effectLst/>
                        <a:latin typeface="宋体"/>
                      </a:endParaRPr>
                    </a:p>
                  </a:txBody>
                  <a:tcPr marL="7620" marR="7620" marT="7620" marB="0" anchor="ctr"/>
                </a:tc>
                <a:tc>
                  <a:txBody>
                    <a:bodyPr/>
                    <a:lstStyle/>
                    <a:p>
                      <a:pPr algn="ctr" fontAlgn="ctr">
                        <a:lnSpc>
                          <a:spcPct val="150000"/>
                        </a:lnSpc>
                      </a:pPr>
                      <a:r>
                        <a:rPr lang="zh-CN" altLang="en-US" sz="1800" u="none" strike="noStrike">
                          <a:effectLst/>
                        </a:rPr>
                        <a:t>愿提供脱敏咨询记录，但要求严格审计数据流向</a:t>
                      </a:r>
                      <a:endParaRPr lang="zh-CN" altLang="en-US" sz="1800" b="0" i="0" u="none" strike="noStrike">
                        <a:solidFill>
                          <a:srgbClr val="000000"/>
                        </a:solidFill>
                        <a:effectLst/>
                        <a:latin typeface="宋体"/>
                      </a:endParaRPr>
                    </a:p>
                  </a:txBody>
                  <a:tcPr marL="7620" marR="7620" marT="7620" marB="0" anchor="ctr"/>
                </a:tc>
                <a:tc>
                  <a:txBody>
                    <a:bodyPr/>
                    <a:lstStyle/>
                    <a:p>
                      <a:pPr algn="ctr" fontAlgn="ctr">
                        <a:lnSpc>
                          <a:spcPct val="150000"/>
                        </a:lnSpc>
                      </a:pPr>
                      <a:r>
                        <a:rPr lang="zh-CN" altLang="en-US" sz="1800" u="none" strike="noStrike" dirty="0">
                          <a:effectLst/>
                        </a:rPr>
                        <a:t>建立联邦学习节点和区块链加密通道</a:t>
                      </a:r>
                      <a:endParaRPr lang="zh-CN" altLang="en-US" sz="1800" b="0" i="0" u="none" strike="noStrike" dirty="0">
                        <a:solidFill>
                          <a:srgbClr val="000000"/>
                        </a:solidFill>
                        <a:effectLst/>
                        <a:latin typeface="宋体"/>
                      </a:endParaRPr>
                    </a:p>
                  </a:txBody>
                  <a:tcPr marL="7620" marR="7620" marT="762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53013672"/>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46819" y="1027260"/>
            <a:ext cx="8800928" cy="400110"/>
          </a:xfrm>
          <a:prstGeom prst="rect">
            <a:avLst/>
          </a:prstGeom>
        </p:spPr>
        <p:txBody>
          <a:bodyPr wrap="square">
            <a:spAutoFit/>
          </a:bodyPr>
          <a:lstStyle/>
          <a:p>
            <a:pPr>
              <a:spcBef>
                <a:spcPct val="20000"/>
              </a:spcBef>
              <a:buClr>
                <a:srgbClr val="FF3300"/>
              </a:buClr>
              <a:buSzPct val="70000"/>
              <a:defRPr/>
            </a:pP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rPr>
              <a:t>区块链</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rPr>
              <a:t>联邦学习</a:t>
            </a:r>
            <a:r>
              <a:rPr lang="en-US" altLang="zh-CN" sz="2000" b="1" dirty="0">
                <a:solidFill>
                  <a:srgbClr val="FF0000"/>
                </a:solidFill>
                <a:latin typeface="微软雅黑" panose="020B0503020204020204" charset="-122"/>
                <a:ea typeface="微软雅黑" panose="020B0503020204020204" charset="-122"/>
                <a:cs typeface="Times New Roman" panose="02020603050405020304" pitchFamily="18" charset="0"/>
              </a:rPr>
              <a:t>+</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rPr>
              <a:t>人工智能技术应用于大学生心理问题的可行性：</a:t>
            </a:r>
          </a:p>
        </p:txBody>
      </p:sp>
      <p:sp>
        <p:nvSpPr>
          <p:cNvPr id="14" name="矩形 13"/>
          <p:cNvSpPr/>
          <p:nvPr/>
        </p:nvSpPr>
        <p:spPr>
          <a:xfrm>
            <a:off x="401319" y="1623352"/>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实现多校多院协同</a:t>
            </a:r>
          </a:p>
        </p:txBody>
      </p:sp>
      <p:sp>
        <p:nvSpPr>
          <p:cNvPr id="15" name="矩形 14"/>
          <p:cNvSpPr/>
          <p:nvPr/>
        </p:nvSpPr>
        <p:spPr>
          <a:xfrm>
            <a:off x="401319" y="2603240"/>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实现隐私保护</a:t>
            </a:r>
          </a:p>
        </p:txBody>
      </p:sp>
      <p:sp>
        <p:nvSpPr>
          <p:cNvPr id="16" name="矩形 15"/>
          <p:cNvSpPr/>
          <p:nvPr/>
        </p:nvSpPr>
        <p:spPr>
          <a:xfrm>
            <a:off x="390525" y="3599767"/>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实现可信性</a:t>
            </a:r>
          </a:p>
        </p:txBody>
      </p:sp>
      <p:sp>
        <p:nvSpPr>
          <p:cNvPr id="18" name="文本框 13"/>
          <p:cNvSpPr txBox="1"/>
          <p:nvPr/>
        </p:nvSpPr>
        <p:spPr>
          <a:xfrm>
            <a:off x="2732406" y="1633348"/>
            <a:ext cx="6315341" cy="707886"/>
          </a:xfrm>
          <a:prstGeom prst="rect">
            <a:avLst/>
          </a:prstGeom>
          <a:noFill/>
        </p:spPr>
        <p:txBody>
          <a:bodyPr wrap="square">
            <a:spAutoFit/>
          </a:bodyPr>
          <a:lstStyle/>
          <a:p>
            <a:pPr lvl="0">
              <a:lnSpc>
                <a:spcPct val="100000"/>
              </a:lnSpc>
              <a:spcBef>
                <a:spcPct val="0"/>
              </a:spcBef>
              <a:spcAft>
                <a:spcPct val="20000"/>
              </a:spcAft>
            </a:pPr>
            <a:r>
              <a:rPr lang="zh-CN" altLang="en-US" sz="2000" dirty="0"/>
              <a:t>可以实现多家学校和医院在不共享数据情况下共同训练模型</a:t>
            </a:r>
          </a:p>
        </p:txBody>
      </p:sp>
      <p:sp>
        <p:nvSpPr>
          <p:cNvPr id="19" name="文本框 15"/>
          <p:cNvSpPr txBox="1"/>
          <p:nvPr/>
        </p:nvSpPr>
        <p:spPr>
          <a:xfrm>
            <a:off x="2725737" y="2748625"/>
            <a:ext cx="6418263" cy="369332"/>
          </a:xfrm>
          <a:prstGeom prst="rect">
            <a:avLst/>
          </a:prstGeom>
          <a:noFill/>
        </p:spPr>
        <p:txBody>
          <a:bodyPr wrap="square">
            <a:spAutoFit/>
          </a:bodyPr>
          <a:lstStyle/>
          <a:p>
            <a:pPr lvl="0">
              <a:lnSpc>
                <a:spcPct val="100000"/>
              </a:lnSpc>
              <a:spcBef>
                <a:spcPct val="0"/>
              </a:spcBef>
              <a:spcAft>
                <a:spcPct val="20000"/>
              </a:spcAft>
            </a:pPr>
            <a:r>
              <a:rPr lang="zh-CN" altLang="en-US" dirty="0"/>
              <a:t>数据在本地处理，只有模型参数或更新信息在网络中传输</a:t>
            </a:r>
            <a:endParaRPr lang="zh-CN" altLang="en-US" sz="2000" dirty="0"/>
          </a:p>
        </p:txBody>
      </p:sp>
      <p:sp>
        <p:nvSpPr>
          <p:cNvPr id="20" name="矩形 19"/>
          <p:cNvSpPr/>
          <p:nvPr/>
        </p:nvSpPr>
        <p:spPr>
          <a:xfrm>
            <a:off x="390524" y="4572544"/>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提高可持续性</a:t>
            </a:r>
          </a:p>
        </p:txBody>
      </p:sp>
      <p:sp>
        <p:nvSpPr>
          <p:cNvPr id="21" name="文本框 15"/>
          <p:cNvSpPr txBox="1"/>
          <p:nvPr/>
        </p:nvSpPr>
        <p:spPr>
          <a:xfrm>
            <a:off x="2743201" y="3626402"/>
            <a:ext cx="6418263" cy="646331"/>
          </a:xfrm>
          <a:prstGeom prst="rect">
            <a:avLst/>
          </a:prstGeom>
          <a:noFill/>
        </p:spPr>
        <p:txBody>
          <a:bodyPr wrap="square">
            <a:spAutoFit/>
          </a:bodyPr>
          <a:lstStyle/>
          <a:p>
            <a:pPr lvl="0">
              <a:lnSpc>
                <a:spcPct val="100000"/>
              </a:lnSpc>
              <a:spcBef>
                <a:spcPct val="0"/>
              </a:spcBef>
              <a:spcAft>
                <a:spcPct val="20000"/>
              </a:spcAft>
            </a:pPr>
            <a:r>
              <a:rPr lang="zh-CN" altLang="en-US" dirty="0"/>
              <a:t>区块链的不可篡改性和透明性为医疗数据和模型的可信性提供了保障</a:t>
            </a:r>
            <a:endParaRPr lang="zh-CN" altLang="en-US" sz="2000" dirty="0"/>
          </a:p>
        </p:txBody>
      </p:sp>
      <p:sp>
        <p:nvSpPr>
          <p:cNvPr id="22" name="矩形 21"/>
          <p:cNvSpPr/>
          <p:nvPr/>
        </p:nvSpPr>
        <p:spPr>
          <a:xfrm>
            <a:off x="401319" y="5645395"/>
            <a:ext cx="2341881" cy="690880"/>
          </a:xfrm>
          <a:prstGeom prst="rect">
            <a:avLst/>
          </a:prstGeom>
          <a:solidFill>
            <a:schemeClr val="accent6">
              <a:lumMod val="20000"/>
              <a:lumOff val="80000"/>
            </a:schemeClr>
          </a:solidFill>
          <a:ln>
            <a:noFill/>
          </a:ln>
          <a:effectLst/>
        </p:spPr>
        <p:style>
          <a:lnRef idx="3">
            <a:schemeClr val="lt1"/>
          </a:lnRef>
          <a:fillRef idx="1">
            <a:schemeClr val="accent4"/>
          </a:fillRef>
          <a:effectRef idx="1">
            <a:schemeClr val="accent4"/>
          </a:effectRef>
          <a:fontRef idx="minor">
            <a:schemeClr val="lt1"/>
          </a:fontRef>
        </p:style>
        <p:txBody>
          <a:bodyPr anchor="ctr"/>
          <a:lstStyle/>
          <a:p>
            <a:pPr algn="ctr">
              <a:spcBef>
                <a:spcPts val="300"/>
              </a:spcBef>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提高治疗效果</a:t>
            </a:r>
          </a:p>
        </p:txBody>
      </p:sp>
      <p:sp>
        <p:nvSpPr>
          <p:cNvPr id="23" name="文本框 15"/>
          <p:cNvSpPr txBox="1"/>
          <p:nvPr/>
        </p:nvSpPr>
        <p:spPr>
          <a:xfrm>
            <a:off x="2743201" y="4597447"/>
            <a:ext cx="6418263" cy="646331"/>
          </a:xfrm>
          <a:prstGeom prst="rect">
            <a:avLst/>
          </a:prstGeom>
          <a:noFill/>
        </p:spPr>
        <p:txBody>
          <a:bodyPr wrap="square">
            <a:spAutoFit/>
          </a:bodyPr>
          <a:lstStyle/>
          <a:p>
            <a:pPr lvl="0">
              <a:lnSpc>
                <a:spcPct val="100000"/>
              </a:lnSpc>
              <a:spcBef>
                <a:spcPct val="0"/>
              </a:spcBef>
              <a:spcAft>
                <a:spcPct val="20000"/>
              </a:spcAft>
            </a:pPr>
            <a:r>
              <a:rPr lang="zh-CN" altLang="en-US" dirty="0"/>
              <a:t>通过区块链的激励机制，如使用代币奖励参与联邦学习的医院和学校，可以鼓励机构持续的参与</a:t>
            </a:r>
            <a:endParaRPr lang="zh-CN" altLang="en-US" sz="2000" dirty="0"/>
          </a:p>
        </p:txBody>
      </p:sp>
      <p:sp>
        <p:nvSpPr>
          <p:cNvPr id="24" name="文本框 15"/>
          <p:cNvSpPr txBox="1"/>
          <p:nvPr/>
        </p:nvSpPr>
        <p:spPr>
          <a:xfrm>
            <a:off x="2743201" y="5632044"/>
            <a:ext cx="6418263" cy="646331"/>
          </a:xfrm>
          <a:prstGeom prst="rect">
            <a:avLst/>
          </a:prstGeom>
          <a:noFill/>
        </p:spPr>
        <p:txBody>
          <a:bodyPr wrap="square">
            <a:spAutoFit/>
          </a:bodyPr>
          <a:lstStyle/>
          <a:p>
            <a:pPr lvl="0">
              <a:lnSpc>
                <a:spcPct val="100000"/>
              </a:lnSpc>
              <a:spcBef>
                <a:spcPct val="0"/>
              </a:spcBef>
              <a:spcAft>
                <a:spcPct val="20000"/>
              </a:spcAft>
            </a:pPr>
            <a:r>
              <a:rPr lang="zh-CN" altLang="en-US" dirty="0"/>
              <a:t>通过分析多模态行为数据，实现大学生心理问题的精准早期诊断，并基于历史干预数据生成个性化治疗方案</a:t>
            </a:r>
            <a:endParaRPr lang="zh-CN" altLang="en-US" sz="2000" dirty="0"/>
          </a:p>
        </p:txBody>
      </p:sp>
      <p:sp>
        <p:nvSpPr>
          <p:cNvPr id="25" name="标题 1"/>
          <p:cNvSpPr>
            <a:spLocks noGrp="1"/>
          </p:cNvSpPr>
          <p:nvPr>
            <p:ph type="title"/>
          </p:nvPr>
        </p:nvSpPr>
        <p:spPr>
          <a:xfrm>
            <a:off x="848421" y="202089"/>
            <a:ext cx="4572000" cy="464296"/>
          </a:xfrm>
        </p:spPr>
        <p:txBody>
          <a:bodyPr>
            <a:normAutofit fontScale="90000"/>
          </a:bodyPr>
          <a:lstStyle/>
          <a:p>
            <a:r>
              <a:rPr lang="zh-CN" altLang="en-US" dirty="0">
                <a:latin typeface="微软雅黑" panose="020B0503020204020204" charset="-122"/>
                <a:ea typeface="微软雅黑" panose="020B0503020204020204" charset="-122"/>
              </a:rPr>
              <a:t>应用前景与未来规划</a:t>
            </a:r>
          </a:p>
        </p:txBody>
      </p:sp>
    </p:spTree>
    <p:extLst>
      <p:ext uri="{BB962C8B-B14F-4D97-AF65-F5344CB8AC3E}">
        <p14:creationId xmlns:p14="http://schemas.microsoft.com/office/powerpoint/2010/main" val="13467047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par>
                          <p:cTn id="14" fill="hold">
                            <p:stCondLst>
                              <p:cond delay="1500"/>
                            </p:stCondLst>
                            <p:childTnLst>
                              <p:par>
                                <p:cTn id="15" presetID="16" presetClass="entr" presetSubtype="2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par>
                          <p:cTn id="18" fill="hold">
                            <p:stCondLst>
                              <p:cond delay="2000"/>
                            </p:stCondLst>
                            <p:childTnLst>
                              <p:par>
                                <p:cTn id="19" presetID="16" presetClass="entr" presetSubtype="21"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childTnLst>
                          </p:cTn>
                        </p:par>
                        <p:par>
                          <p:cTn id="22" fill="hold">
                            <p:stCondLst>
                              <p:cond delay="2500"/>
                            </p:stCondLst>
                            <p:childTnLst>
                              <p:par>
                                <p:cTn id="23" presetID="16" presetClass="entr" presetSubtype="21"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arn(inVertical)">
                                      <p:cBhvr>
                                        <p:cTn id="25" dur="500"/>
                                        <p:tgtEl>
                                          <p:spTgt spid="19"/>
                                        </p:tgtEl>
                                      </p:cBhvr>
                                    </p:animEffect>
                                  </p:childTnLst>
                                </p:cTn>
                              </p:par>
                            </p:childTnLst>
                          </p:cTn>
                        </p:par>
                        <p:par>
                          <p:cTn id="26" fill="hold">
                            <p:stCondLst>
                              <p:cond delay="3000"/>
                            </p:stCondLst>
                            <p:childTnLst>
                              <p:par>
                                <p:cTn id="27" presetID="16" presetClass="entr" presetSubtype="21"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childTnLst>
                          </p:cTn>
                        </p:par>
                        <p:par>
                          <p:cTn id="30" fill="hold">
                            <p:stCondLst>
                              <p:cond delay="3500"/>
                            </p:stCondLst>
                            <p:childTnLst>
                              <p:par>
                                <p:cTn id="31" presetID="16" presetClass="entr" presetSubtype="21"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arn(inVertical)">
                                      <p:cBhvr>
                                        <p:cTn id="33" dur="500"/>
                                        <p:tgtEl>
                                          <p:spTgt spid="21"/>
                                        </p:tgtEl>
                                      </p:cBhvr>
                                    </p:animEffect>
                                  </p:childTnLst>
                                </p:cTn>
                              </p:par>
                            </p:childTnLst>
                          </p:cTn>
                        </p:par>
                        <p:par>
                          <p:cTn id="34" fill="hold">
                            <p:stCondLst>
                              <p:cond delay="4000"/>
                            </p:stCondLst>
                            <p:childTnLst>
                              <p:par>
                                <p:cTn id="35" presetID="16" presetClass="entr" presetSubtype="21"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inVertical)">
                                      <p:cBhvr>
                                        <p:cTn id="37" dur="500"/>
                                        <p:tgtEl>
                                          <p:spTgt spid="20"/>
                                        </p:tgtEl>
                                      </p:cBhvr>
                                    </p:animEffect>
                                  </p:childTnLst>
                                </p:cTn>
                              </p:par>
                            </p:childTnLst>
                          </p:cTn>
                        </p:par>
                        <p:par>
                          <p:cTn id="38" fill="hold">
                            <p:stCondLst>
                              <p:cond delay="4500"/>
                            </p:stCondLst>
                            <p:childTnLst>
                              <p:par>
                                <p:cTn id="39" presetID="16" presetClass="entr" presetSubtype="21" fill="hold" grpId="0" nodeType="after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barn(inVertical)">
                                      <p:cBhvr>
                                        <p:cTn id="41" dur="500"/>
                                        <p:tgtEl>
                                          <p:spTgt spid="23"/>
                                        </p:tgtEl>
                                      </p:cBhvr>
                                    </p:animEffect>
                                  </p:childTnLst>
                                </p:cTn>
                              </p:par>
                            </p:childTnLst>
                          </p:cTn>
                        </p:par>
                        <p:par>
                          <p:cTn id="42" fill="hold">
                            <p:stCondLst>
                              <p:cond delay="5000"/>
                            </p:stCondLst>
                            <p:childTnLst>
                              <p:par>
                                <p:cTn id="43" presetID="16" presetClass="entr" presetSubtype="21"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barn(inVertical)">
                                      <p:cBhvr>
                                        <p:cTn id="45" dur="500"/>
                                        <p:tgtEl>
                                          <p:spTgt spid="22"/>
                                        </p:tgtEl>
                                      </p:cBhvr>
                                    </p:animEffect>
                                  </p:childTnLst>
                                </p:cTn>
                              </p:par>
                            </p:childTnLst>
                          </p:cTn>
                        </p:par>
                        <p:par>
                          <p:cTn id="46" fill="hold">
                            <p:stCondLst>
                              <p:cond delay="5500"/>
                            </p:stCondLst>
                            <p:childTnLst>
                              <p:par>
                                <p:cTn id="47" presetID="16" presetClass="entr" presetSubtype="21" fill="hold" grpId="0"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barn(inVertical)">
                                      <p:cBhvr>
                                        <p:cTn id="4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animBg="1"/>
      <p:bldP spid="18" grpId="0"/>
      <p:bldP spid="19" grpId="0"/>
      <p:bldP spid="20" grpId="0" animBg="1"/>
      <p:bldP spid="21" grpId="0"/>
      <p:bldP spid="22" grpId="0" animBg="1"/>
      <p:bldP spid="23" grpId="0"/>
      <p:bldP spid="2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微软雅黑" panose="020B0503020204020204" charset="-122"/>
                <a:ea typeface="微软雅黑" panose="020B0503020204020204" charset="-122"/>
              </a:rPr>
              <a:t>应用前景与未来规划</a:t>
            </a:r>
          </a:p>
        </p:txBody>
      </p:sp>
      <p:sp>
        <p:nvSpPr>
          <p:cNvPr id="4" name="标题 1"/>
          <p:cNvSpPr txBox="1"/>
          <p:nvPr/>
        </p:nvSpPr>
        <p:spPr>
          <a:xfrm>
            <a:off x="848421" y="951726"/>
            <a:ext cx="5004725" cy="45027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latin typeface="微软雅黑" panose="020B0503020204020204" charset="-122"/>
                <a:ea typeface="微软雅黑" panose="020B0503020204020204" charset="-122"/>
                <a:cs typeface="+mn-ea"/>
                <a:sym typeface="+mn-lt"/>
              </a:rPr>
              <a:t>应用前景</a:t>
            </a:r>
          </a:p>
        </p:txBody>
      </p:sp>
      <p:sp>
        <p:nvSpPr>
          <p:cNvPr id="6" name="矩形 5"/>
          <p:cNvSpPr/>
          <p:nvPr/>
        </p:nvSpPr>
        <p:spPr>
          <a:xfrm>
            <a:off x="318530" y="2295445"/>
            <a:ext cx="2722245" cy="2276556"/>
          </a:xfrm>
          <a:prstGeom prst="rect">
            <a:avLst/>
          </a:prstGeom>
          <a:solidFill>
            <a:schemeClr val="bg1">
              <a:lumMod val="95000"/>
            </a:scheme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solidFill>
                <a:srgbClr val="0070C0"/>
              </a:solidFill>
              <a:latin typeface="微软雅黑" panose="020B0503020204020204" charset="-122"/>
              <a:ea typeface="微软雅黑" panose="020B0503020204020204" charset="-122"/>
            </a:endParaRPr>
          </a:p>
        </p:txBody>
      </p:sp>
      <p:sp>
        <p:nvSpPr>
          <p:cNvPr id="8" name="文本框 7"/>
          <p:cNvSpPr txBox="1"/>
          <p:nvPr/>
        </p:nvSpPr>
        <p:spPr>
          <a:xfrm>
            <a:off x="489823" y="2467808"/>
            <a:ext cx="2416016" cy="1996700"/>
          </a:xfrm>
          <a:prstGeom prst="rect">
            <a:avLst/>
          </a:prstGeom>
          <a:noFill/>
        </p:spPr>
        <p:txBody>
          <a:bodyPr wrap="square" rtlCol="0" anchor="t">
            <a:spAutoFit/>
          </a:bodyPr>
          <a:lstStyle/>
          <a:p>
            <a:pPr marL="0" lvl="1" indent="342900">
              <a:lnSpc>
                <a:spcPct val="150000"/>
              </a:lnSpc>
              <a:buClr>
                <a:schemeClr val="accent2">
                  <a:lumMod val="50000"/>
                </a:schemeClr>
              </a:buClr>
            </a:pPr>
            <a:r>
              <a:rPr lang="zh-CN" altLang="en-US" sz="1650" dirty="0">
                <a:latin typeface="微软雅黑" panose="020B0503020204020204" charset="-122"/>
                <a:ea typeface="微软雅黑" panose="020B0503020204020204" charset="-122"/>
                <a:sym typeface="+mn-ea"/>
              </a:rPr>
              <a:t>结合学生在校行为数据（如考勤、成绩、社交活动）和联邦学习的多源模型，</a:t>
            </a:r>
            <a:r>
              <a:rPr lang="en-US" altLang="zh-CN" sz="1650" dirty="0">
                <a:latin typeface="微软雅黑" panose="020B0503020204020204" charset="-122"/>
                <a:ea typeface="微软雅黑" panose="020B0503020204020204" charset="-122"/>
                <a:sym typeface="+mn-ea"/>
              </a:rPr>
              <a:t>AI</a:t>
            </a:r>
            <a:r>
              <a:rPr lang="zh-CN" altLang="en-US" sz="1650" dirty="0">
                <a:latin typeface="微软雅黑" panose="020B0503020204020204" charset="-122"/>
                <a:ea typeface="微软雅黑" panose="020B0503020204020204" charset="-122"/>
                <a:sym typeface="+mn-ea"/>
              </a:rPr>
              <a:t>可识别潜在心理问题并提前预警。</a:t>
            </a:r>
          </a:p>
        </p:txBody>
      </p:sp>
      <p:sp>
        <p:nvSpPr>
          <p:cNvPr id="9" name="矩形 8"/>
          <p:cNvSpPr/>
          <p:nvPr/>
        </p:nvSpPr>
        <p:spPr>
          <a:xfrm>
            <a:off x="3210877" y="2295446"/>
            <a:ext cx="2722245" cy="2276556"/>
          </a:xfrm>
          <a:prstGeom prst="rect">
            <a:avLst/>
          </a:prstGeom>
          <a:solidFill>
            <a:schemeClr val="bg1">
              <a:lumMod val="95000"/>
            </a:scheme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solidFill>
                <a:srgbClr val="0070C0"/>
              </a:solidFill>
              <a:latin typeface="微软雅黑" panose="020B0503020204020204" charset="-122"/>
              <a:ea typeface="微软雅黑" panose="020B0503020204020204" charset="-122"/>
            </a:endParaRPr>
          </a:p>
        </p:txBody>
      </p:sp>
      <p:sp>
        <p:nvSpPr>
          <p:cNvPr id="11" name="矩形 10"/>
          <p:cNvSpPr/>
          <p:nvPr/>
        </p:nvSpPr>
        <p:spPr>
          <a:xfrm>
            <a:off x="6085284" y="2295445"/>
            <a:ext cx="2722245" cy="2276557"/>
          </a:xfrm>
          <a:prstGeom prst="rect">
            <a:avLst/>
          </a:prstGeom>
          <a:solidFill>
            <a:schemeClr val="bg1">
              <a:lumMod val="95000"/>
            </a:scheme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solidFill>
                <a:srgbClr val="0070C0"/>
              </a:solidFill>
              <a:latin typeface="微软雅黑" panose="020B0503020204020204" charset="-122"/>
              <a:ea typeface="微软雅黑" panose="020B0503020204020204" charset="-122"/>
            </a:endParaRPr>
          </a:p>
        </p:txBody>
      </p:sp>
      <p:sp>
        <p:nvSpPr>
          <p:cNvPr id="12" name="文本框 11"/>
          <p:cNvSpPr txBox="1"/>
          <p:nvPr/>
        </p:nvSpPr>
        <p:spPr>
          <a:xfrm>
            <a:off x="3363991" y="2458907"/>
            <a:ext cx="2416016" cy="1951816"/>
          </a:xfrm>
          <a:prstGeom prst="rect">
            <a:avLst/>
          </a:prstGeom>
          <a:noFill/>
        </p:spPr>
        <p:txBody>
          <a:bodyPr wrap="square" rtlCol="0" anchor="t">
            <a:spAutoFit/>
          </a:bodyPr>
          <a:lstStyle/>
          <a:p>
            <a:pPr marL="0" lvl="1" indent="342900">
              <a:lnSpc>
                <a:spcPct val="150000"/>
              </a:lnSpc>
              <a:buClr>
                <a:schemeClr val="accent2">
                  <a:lumMod val="50000"/>
                </a:schemeClr>
              </a:buClr>
            </a:pPr>
            <a:r>
              <a:rPr lang="zh-CN" altLang="en-US" sz="1650" dirty="0">
                <a:latin typeface="微软雅黑" panose="020B0503020204020204" charset="-122"/>
                <a:ea typeface="微软雅黑" panose="020B0503020204020204" charset="-122"/>
                <a:sym typeface="+mn-ea"/>
              </a:rPr>
              <a:t>高校、医院与研究机构通过联邦学习共享心理干预模型的训练成果，加速算法优化，同时保护数据主权。</a:t>
            </a:r>
          </a:p>
        </p:txBody>
      </p:sp>
      <p:sp>
        <p:nvSpPr>
          <p:cNvPr id="13" name="文本框 12"/>
          <p:cNvSpPr txBox="1"/>
          <p:nvPr/>
        </p:nvSpPr>
        <p:spPr>
          <a:xfrm>
            <a:off x="6256814" y="2377175"/>
            <a:ext cx="2416016" cy="1951816"/>
          </a:xfrm>
          <a:prstGeom prst="rect">
            <a:avLst/>
          </a:prstGeom>
          <a:noFill/>
        </p:spPr>
        <p:txBody>
          <a:bodyPr wrap="square" rtlCol="0" anchor="t">
            <a:spAutoFit/>
          </a:bodyPr>
          <a:lstStyle/>
          <a:p>
            <a:pPr marL="0" lvl="1" indent="342900">
              <a:lnSpc>
                <a:spcPct val="150000"/>
              </a:lnSpc>
              <a:buClr>
                <a:schemeClr val="accent2">
                  <a:lumMod val="50000"/>
                </a:schemeClr>
              </a:buClr>
            </a:pPr>
            <a:r>
              <a:rPr lang="zh-CN" altLang="en-US" sz="1650" dirty="0">
                <a:latin typeface="微软雅黑" panose="020B0503020204020204" charset="-122"/>
                <a:ea typeface="微软雅黑" panose="020B0503020204020204" charset="-122"/>
                <a:sym typeface="+mn-ea"/>
              </a:rPr>
              <a:t>学生的心理咨询记录、药物治疗史等通过区块链加密存储，授权后可被不同医疗机构安全调阅。</a:t>
            </a:r>
          </a:p>
        </p:txBody>
      </p:sp>
      <p:sp>
        <p:nvSpPr>
          <p:cNvPr id="14" name="矩形 13"/>
          <p:cNvSpPr/>
          <p:nvPr/>
        </p:nvSpPr>
        <p:spPr>
          <a:xfrm>
            <a:off x="567370" y="1755782"/>
            <a:ext cx="2224564" cy="564356"/>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b="1" dirty="0">
                <a:latin typeface="微软雅黑" panose="020B0503020204020204" charset="-122"/>
                <a:ea typeface="微软雅黑" panose="020B0503020204020204" charset="-122"/>
                <a:sym typeface="+mn-ea"/>
              </a:rPr>
              <a:t>早期预警系统</a:t>
            </a:r>
          </a:p>
        </p:txBody>
      </p:sp>
      <p:sp>
        <p:nvSpPr>
          <p:cNvPr id="15" name="矩形 14"/>
          <p:cNvSpPr/>
          <p:nvPr/>
        </p:nvSpPr>
        <p:spPr>
          <a:xfrm>
            <a:off x="3459955" y="1735851"/>
            <a:ext cx="2224564" cy="564356"/>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b="1" dirty="0">
                <a:latin typeface="微软雅黑" panose="020B0503020204020204" charset="-122"/>
                <a:ea typeface="微软雅黑" panose="020B0503020204020204" charset="-122"/>
                <a:sym typeface="+mn-ea"/>
              </a:rPr>
              <a:t>跨机构研究协作</a:t>
            </a:r>
          </a:p>
        </p:txBody>
      </p:sp>
      <p:sp>
        <p:nvSpPr>
          <p:cNvPr id="16" name="矩形 15"/>
          <p:cNvSpPr/>
          <p:nvPr/>
        </p:nvSpPr>
        <p:spPr>
          <a:xfrm>
            <a:off x="6352540" y="1708175"/>
            <a:ext cx="2224564" cy="564356"/>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b="1" dirty="0">
                <a:latin typeface="微软雅黑" panose="020B0503020204020204" charset="-122"/>
                <a:ea typeface="微软雅黑" panose="020B0503020204020204" charset="-122"/>
                <a:sym typeface="+mn-ea"/>
              </a:rPr>
              <a:t>心理健康档案管理</a:t>
            </a:r>
          </a:p>
        </p:txBody>
      </p:sp>
      <p:sp>
        <p:nvSpPr>
          <p:cNvPr id="19" name="矩形: 圆角 18"/>
          <p:cNvSpPr/>
          <p:nvPr/>
        </p:nvSpPr>
        <p:spPr>
          <a:xfrm>
            <a:off x="382445" y="4720650"/>
            <a:ext cx="8425083" cy="1383267"/>
          </a:xfrm>
          <a:prstGeom prst="round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总体来说，联邦学习</a:t>
            </a:r>
            <a:r>
              <a:rPr lang="en-US" altLang="zh-CN" dirty="0">
                <a:solidFill>
                  <a:schemeClr val="tx1"/>
                </a:solidFill>
                <a:latin typeface="微软雅黑" panose="020B0503020204020204" charset="-122"/>
                <a:ea typeface="微软雅黑" panose="020B0503020204020204" charset="-122"/>
              </a:rPr>
              <a:t>+</a:t>
            </a:r>
            <a:r>
              <a:rPr lang="zh-CN" altLang="en-US" dirty="0">
                <a:solidFill>
                  <a:schemeClr val="tx1"/>
                </a:solidFill>
                <a:latin typeface="微软雅黑" panose="020B0503020204020204" charset="-122"/>
                <a:ea typeface="微软雅黑" panose="020B0503020204020204" charset="-122"/>
              </a:rPr>
              <a:t>区块链</a:t>
            </a:r>
            <a:r>
              <a:rPr lang="en-US" altLang="zh-CN" dirty="0">
                <a:solidFill>
                  <a:schemeClr val="tx1"/>
                </a:solidFill>
                <a:latin typeface="微软雅黑" panose="020B0503020204020204" charset="-122"/>
                <a:ea typeface="微软雅黑" panose="020B0503020204020204" charset="-122"/>
              </a:rPr>
              <a:t>+</a:t>
            </a:r>
            <a:r>
              <a:rPr lang="zh-CN" altLang="en-US" dirty="0">
                <a:solidFill>
                  <a:schemeClr val="tx1"/>
                </a:solidFill>
                <a:latin typeface="微软雅黑" panose="020B0503020204020204" charset="-122"/>
                <a:ea typeface="微软雅黑" panose="020B0503020204020204" charset="-122"/>
              </a:rPr>
              <a:t>人工智能技术将为大学生心理健康系统带来更高的数据安全性、透明性和效率性，并有望推动心理咨询和治疗服务向更智能化、个性化的方向发展。</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par>
                          <p:cTn id="18" fill="hold">
                            <p:stCondLst>
                              <p:cond delay="1000"/>
                            </p:stCondLst>
                            <p:childTnLst>
                              <p:par>
                                <p:cTn id="19" presetID="16" presetClass="entr" presetSubtype="21"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par>
                          <p:cTn id="28" fill="hold">
                            <p:stCondLst>
                              <p:cond delay="1500"/>
                            </p:stCondLst>
                            <p:childTnLst>
                              <p:par>
                                <p:cTn id="29" presetID="16" presetClass="entr" presetSubtype="21"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barn(inVertical)">
                                      <p:cBhvr>
                                        <p:cTn id="31" dur="500"/>
                                        <p:tgtEl>
                                          <p:spTgt spid="16"/>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par>
                          <p:cTn id="38" fill="hold">
                            <p:stCondLst>
                              <p:cond delay="2000"/>
                            </p:stCondLst>
                            <p:childTnLst>
                              <p:par>
                                <p:cTn id="39" presetID="42" presetClass="entr" presetSubtype="0" fill="hold" grpId="0"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8" grpId="0"/>
      <p:bldP spid="9" grpId="0" animBg="1"/>
      <p:bldP spid="11" grpId="0" animBg="1"/>
      <p:bldP spid="12" grpId="0"/>
      <p:bldP spid="13" grpId="0"/>
      <p:bldP spid="14" grpId="0" animBg="1"/>
      <p:bldP spid="15" grpId="0" animBg="1"/>
      <p:bldP spid="16" grpId="0" animBg="1"/>
      <p:bldP spid="1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432129" y="1385179"/>
            <a:ext cx="7619035" cy="553998"/>
          </a:xfrm>
          <a:prstGeom prst="rect">
            <a:avLst/>
          </a:prstGeom>
          <a:noFill/>
        </p:spPr>
        <p:txBody>
          <a:bodyPr wrap="square">
            <a:spAutoFit/>
          </a:bodyPr>
          <a:lstStyle/>
          <a:p>
            <a:pPr marL="257175" indent="-257175">
              <a:lnSpc>
                <a:spcPct val="150000"/>
              </a:lnSpc>
              <a:spcBef>
                <a:spcPts val="450"/>
              </a:spcBef>
              <a:buClr>
                <a:schemeClr val="accent2">
                  <a:lumMod val="50000"/>
                </a:schemeClr>
              </a:buClr>
              <a:buFont typeface="Wingdings" panose="05000000000000000000" pitchFamily="2" charset="2"/>
              <a:buChar char="n"/>
              <a:defRPr/>
            </a:pPr>
            <a:r>
              <a:rPr lang="zh-CN" altLang="en-US" sz="2000" dirty="0">
                <a:solidFill>
                  <a:prstClr val="black"/>
                </a:solidFill>
                <a:latin typeface="微软雅黑" panose="020B0503020204020204" charset="-122"/>
                <a:ea typeface="微软雅黑" panose="020B0503020204020204" charset="-122"/>
              </a:rPr>
              <a:t>开发心理问题专用大模型对话系统</a:t>
            </a:r>
            <a:endParaRPr lang="zh-CN" altLang="en-US" sz="2000" dirty="0">
              <a:solidFill>
                <a:srgbClr val="FF0000"/>
              </a:solidFill>
              <a:latin typeface="微软雅黑" panose="020B0503020204020204" charset="-122"/>
              <a:ea typeface="微软雅黑" panose="020B0503020204020204" charset="-122"/>
            </a:endParaRPr>
          </a:p>
        </p:txBody>
      </p:sp>
      <p:sp>
        <p:nvSpPr>
          <p:cNvPr id="13" name="标题 1"/>
          <p:cNvSpPr>
            <a:spLocks noGrp="1"/>
          </p:cNvSpPr>
          <p:nvPr>
            <p:ph type="title"/>
          </p:nvPr>
        </p:nvSpPr>
        <p:spPr>
          <a:xfrm>
            <a:off x="848421" y="202089"/>
            <a:ext cx="4572000" cy="464296"/>
          </a:xfrm>
        </p:spPr>
        <p:txBody>
          <a:bodyPr>
            <a:normAutofit fontScale="90000"/>
          </a:bodyPr>
          <a:lstStyle/>
          <a:p>
            <a:r>
              <a:rPr lang="zh-CN" altLang="en-US" dirty="0">
                <a:latin typeface="微软雅黑" panose="020B0503020204020204" charset="-122"/>
                <a:ea typeface="微软雅黑" panose="020B0503020204020204" charset="-122"/>
              </a:rPr>
              <a:t>应用前景与未来规划</a:t>
            </a:r>
          </a:p>
        </p:txBody>
      </p:sp>
      <p:sp>
        <p:nvSpPr>
          <p:cNvPr id="4" name="矩形 3"/>
          <p:cNvSpPr/>
          <p:nvPr/>
        </p:nvSpPr>
        <p:spPr>
          <a:xfrm>
            <a:off x="706581" y="1832212"/>
            <a:ext cx="7570519" cy="1338828"/>
          </a:xfrm>
          <a:prstGeom prst="rect">
            <a:avLst/>
          </a:prstGeom>
        </p:spPr>
        <p:txBody>
          <a:bodyPr wrap="square">
            <a:spAutoFit/>
          </a:bodyPr>
          <a:lstStyle/>
          <a:p>
            <a:pPr>
              <a:lnSpc>
                <a:spcPct val="150000"/>
              </a:lnSpc>
            </a:pPr>
            <a:r>
              <a:rPr lang="zh-CN" altLang="en-US" dirty="0"/>
              <a:t>构建基于大语言模型（</a:t>
            </a:r>
            <a:r>
              <a:rPr lang="en-US" altLang="zh-CN" dirty="0"/>
              <a:t>LLM</a:t>
            </a:r>
            <a:r>
              <a:rPr lang="zh-CN" altLang="en-US" dirty="0"/>
              <a:t>）的智能心理对话助手，提供</a:t>
            </a:r>
            <a:r>
              <a:rPr lang="en-US" altLang="zh-CN" dirty="0"/>
              <a:t>24/7</a:t>
            </a:r>
            <a:r>
              <a:rPr lang="zh-CN" altLang="en-US" dirty="0"/>
              <a:t>匿名支持，缓解高校心理咨询资源不足问题，同时结合情感计算技术动态优化对话策略，确保回应既符合临床心理学规范，又能适应不同学生的个性化需求。</a:t>
            </a:r>
          </a:p>
        </p:txBody>
      </p:sp>
      <p:sp>
        <p:nvSpPr>
          <p:cNvPr id="15" name="文本框 34"/>
          <p:cNvSpPr txBox="1"/>
          <p:nvPr/>
        </p:nvSpPr>
        <p:spPr>
          <a:xfrm>
            <a:off x="423221" y="3255515"/>
            <a:ext cx="7619035" cy="553998"/>
          </a:xfrm>
          <a:prstGeom prst="rect">
            <a:avLst/>
          </a:prstGeom>
          <a:noFill/>
        </p:spPr>
        <p:txBody>
          <a:bodyPr wrap="square">
            <a:spAutoFit/>
          </a:bodyPr>
          <a:lstStyle/>
          <a:p>
            <a:pPr marL="257175" indent="-257175">
              <a:lnSpc>
                <a:spcPct val="150000"/>
              </a:lnSpc>
              <a:spcBef>
                <a:spcPts val="450"/>
              </a:spcBef>
              <a:buClr>
                <a:schemeClr val="accent2">
                  <a:lumMod val="50000"/>
                </a:schemeClr>
              </a:buClr>
              <a:buFont typeface="Wingdings" panose="05000000000000000000" pitchFamily="2" charset="2"/>
              <a:buChar char="n"/>
              <a:defRPr/>
            </a:pPr>
            <a:r>
              <a:rPr lang="zh-CN" altLang="en-US" sz="2000" dirty="0">
                <a:solidFill>
                  <a:prstClr val="black"/>
                </a:solidFill>
                <a:latin typeface="微软雅黑" panose="020B0503020204020204" charset="-122"/>
                <a:ea typeface="微软雅黑" panose="020B0503020204020204" charset="-122"/>
              </a:rPr>
              <a:t>设计联邦学习的激励机制</a:t>
            </a:r>
            <a:endParaRPr lang="zh-CN" altLang="en-US" sz="2000" dirty="0">
              <a:solidFill>
                <a:srgbClr val="FF0000"/>
              </a:solidFill>
              <a:latin typeface="微软雅黑" panose="020B0503020204020204" charset="-122"/>
              <a:ea typeface="微软雅黑" panose="020B0503020204020204" charset="-122"/>
            </a:endParaRPr>
          </a:p>
        </p:txBody>
      </p:sp>
      <p:sp>
        <p:nvSpPr>
          <p:cNvPr id="16" name="矩形 15"/>
          <p:cNvSpPr/>
          <p:nvPr/>
        </p:nvSpPr>
        <p:spPr>
          <a:xfrm>
            <a:off x="697674" y="3678798"/>
            <a:ext cx="7451766" cy="1754326"/>
          </a:xfrm>
          <a:prstGeom prst="rect">
            <a:avLst/>
          </a:prstGeom>
        </p:spPr>
        <p:txBody>
          <a:bodyPr wrap="square">
            <a:spAutoFit/>
          </a:bodyPr>
          <a:lstStyle/>
          <a:p>
            <a:pPr>
              <a:lnSpc>
                <a:spcPct val="150000"/>
              </a:lnSpc>
            </a:pPr>
            <a:r>
              <a:rPr lang="zh-CN" altLang="en-US" dirty="0"/>
              <a:t>高校</a:t>
            </a:r>
            <a:r>
              <a:rPr lang="en-US" altLang="zh-CN" dirty="0"/>
              <a:t>/</a:t>
            </a:r>
            <a:r>
              <a:rPr lang="zh-CN" altLang="en-US" dirty="0"/>
              <a:t>医院因数据隐私顾虑参与意愿低，需解决“数据贡献者无回报”问题。参与联邦学习的机构（如高校、医院）贡献数据或算力后，获得区块链发行的通证（</a:t>
            </a:r>
            <a:r>
              <a:rPr lang="en-US" altLang="zh-CN" dirty="0"/>
              <a:t>Token</a:t>
            </a:r>
            <a:r>
              <a:rPr lang="zh-CN" altLang="en-US" dirty="0"/>
              <a:t>），可用于兑换心理健康服务资源（如使用</a:t>
            </a:r>
            <a:r>
              <a:rPr lang="en-US" altLang="zh-CN" dirty="0"/>
              <a:t>AI</a:t>
            </a:r>
            <a:r>
              <a:rPr lang="zh-CN" altLang="en-US" dirty="0"/>
              <a:t>诊断工具）。</a:t>
            </a:r>
          </a:p>
        </p:txBody>
      </p:sp>
      <p:sp>
        <p:nvSpPr>
          <p:cNvPr id="19" name="矩形: 圆角 18"/>
          <p:cNvSpPr/>
          <p:nvPr/>
        </p:nvSpPr>
        <p:spPr>
          <a:xfrm>
            <a:off x="605636" y="5540792"/>
            <a:ext cx="7635841" cy="848120"/>
          </a:xfrm>
          <a:prstGeom prst="round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lnSpc>
                <a:spcPct val="150000"/>
              </a:lnSpc>
            </a:pPr>
            <a:r>
              <a:rPr lang="zh-CN" altLang="en-US" dirty="0">
                <a:solidFill>
                  <a:schemeClr val="tx1"/>
                </a:solidFill>
                <a:latin typeface="微软雅黑" panose="020B0503020204020204" charset="-122"/>
                <a:ea typeface="微软雅黑" panose="020B0503020204020204" charset="-122"/>
              </a:rPr>
              <a:t>通过以上改进措施，创建多方共赢的协作生态，推动心理健康服务从</a:t>
            </a:r>
            <a:r>
              <a:rPr lang="en-US" altLang="zh-CN" dirty="0">
                <a:solidFill>
                  <a:schemeClr val="tx1"/>
                </a:solidFill>
                <a:latin typeface="微软雅黑" panose="020B0503020204020204" charset="-122"/>
                <a:ea typeface="微软雅黑" panose="020B0503020204020204" charset="-122"/>
              </a:rPr>
              <a:t>"</a:t>
            </a:r>
            <a:r>
              <a:rPr lang="zh-CN" altLang="en-US" dirty="0">
                <a:solidFill>
                  <a:schemeClr val="tx1"/>
                </a:solidFill>
                <a:latin typeface="微软雅黑" panose="020B0503020204020204" charset="-122"/>
                <a:ea typeface="微软雅黑" panose="020B0503020204020204" charset="-122"/>
              </a:rPr>
              <a:t>孤立干预</a:t>
            </a:r>
            <a:r>
              <a:rPr lang="en-US" altLang="zh-CN" dirty="0">
                <a:solidFill>
                  <a:schemeClr val="tx1"/>
                </a:solidFill>
                <a:latin typeface="微软雅黑" panose="020B0503020204020204" charset="-122"/>
                <a:ea typeface="微软雅黑" panose="020B0503020204020204" charset="-122"/>
              </a:rPr>
              <a:t>"</a:t>
            </a:r>
            <a:r>
              <a:rPr lang="zh-CN" altLang="en-US" dirty="0">
                <a:solidFill>
                  <a:schemeClr val="tx1"/>
                </a:solidFill>
                <a:latin typeface="微软雅黑" panose="020B0503020204020204" charset="-122"/>
                <a:ea typeface="微软雅黑" panose="020B0503020204020204" charset="-122"/>
              </a:rPr>
              <a:t>迈向</a:t>
            </a:r>
            <a:r>
              <a:rPr lang="en-US" altLang="zh-CN" dirty="0">
                <a:solidFill>
                  <a:schemeClr val="tx1"/>
                </a:solidFill>
                <a:latin typeface="微软雅黑" panose="020B0503020204020204" charset="-122"/>
                <a:ea typeface="微软雅黑" panose="020B0503020204020204" charset="-122"/>
              </a:rPr>
              <a:t>"</a:t>
            </a:r>
            <a:r>
              <a:rPr lang="zh-CN" altLang="en-US" dirty="0">
                <a:solidFill>
                  <a:schemeClr val="tx1"/>
                </a:solidFill>
                <a:latin typeface="微软雅黑" panose="020B0503020204020204" charset="-122"/>
                <a:ea typeface="微软雅黑" panose="020B0503020204020204" charset="-122"/>
              </a:rPr>
              <a:t>智能预防</a:t>
            </a:r>
            <a:r>
              <a:rPr lang="en-US" altLang="zh-CN" dirty="0">
                <a:solidFill>
                  <a:schemeClr val="tx1"/>
                </a:solidFill>
                <a:latin typeface="微软雅黑" panose="020B0503020204020204" charset="-122"/>
                <a:ea typeface="微软雅黑" panose="020B0503020204020204" charset="-122"/>
              </a:rPr>
              <a:t>"</a:t>
            </a:r>
            <a:r>
              <a:rPr lang="zh-CN" altLang="en-US" dirty="0">
                <a:solidFill>
                  <a:schemeClr val="tx1"/>
                </a:solidFill>
                <a:latin typeface="微软雅黑" panose="020B0503020204020204" charset="-122"/>
                <a:ea typeface="微软雅黑" panose="020B0503020204020204" charset="-122"/>
              </a:rPr>
              <a:t>的新范式。</a:t>
            </a:r>
          </a:p>
        </p:txBody>
      </p:sp>
      <p:sp>
        <p:nvSpPr>
          <p:cNvPr id="20" name="标题 1"/>
          <p:cNvSpPr txBox="1"/>
          <p:nvPr/>
        </p:nvSpPr>
        <p:spPr>
          <a:xfrm>
            <a:off x="848421" y="951726"/>
            <a:ext cx="5004725" cy="45027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latin typeface="微软雅黑" panose="020B0503020204020204" charset="-122"/>
                <a:ea typeface="微软雅黑" panose="020B0503020204020204" charset="-122"/>
                <a:cs typeface="+mn-ea"/>
                <a:sym typeface="+mn-lt"/>
              </a:rPr>
              <a:t>未来规划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screen"/>
          <a:stretch>
            <a:fillRect/>
          </a:stretch>
        </p:blipFill>
        <p:spPr>
          <a:xfrm>
            <a:off x="0" y="980065"/>
            <a:ext cx="9144000" cy="5021815"/>
          </a:xfrm>
          <a:prstGeom prst="rect">
            <a:avLst/>
          </a:prstGeom>
        </p:spPr>
      </p:pic>
      <p:sp>
        <p:nvSpPr>
          <p:cNvPr id="3" name="Rectangle 12"/>
          <p:cNvSpPr>
            <a:spLocks noChangeArrowheads="1"/>
          </p:cNvSpPr>
          <p:nvPr/>
        </p:nvSpPr>
        <p:spPr bwMode="auto">
          <a:xfrm>
            <a:off x="1223956" y="2148181"/>
            <a:ext cx="6696088" cy="898521"/>
          </a:xfrm>
          <a:prstGeom prst="rect">
            <a:avLst/>
          </a:prstGeom>
          <a:noFill/>
          <a:ln w="0">
            <a:noFill/>
            <a:miter lim="800000"/>
          </a:ln>
        </p:spPr>
        <p:txBody>
          <a:bodyPr lIns="0" tIns="0" rIns="0" bIns="0"/>
          <a:lstStyle/>
          <a:p>
            <a:pPr algn="ctr" fontAlgn="auto">
              <a:spcBef>
                <a:spcPts val="0"/>
              </a:spcBef>
              <a:spcAft>
                <a:spcPts val="0"/>
              </a:spcAft>
              <a:defRPr/>
            </a:pPr>
            <a:r>
              <a:rPr lang="zh-CN" altLang="en-US" sz="5400" b="1" spc="50" dirty="0">
                <a:ln w="11430"/>
                <a:solidFill>
                  <a:schemeClr val="bg1"/>
                </a:solidFill>
                <a:latin typeface="微软雅黑" panose="020B0503020204020204" charset="-122"/>
                <a:ea typeface="微软雅黑" panose="020B0503020204020204" charset="-122"/>
                <a:cs typeface="+mn-ea"/>
                <a:sym typeface="+mn-lt"/>
              </a:rPr>
              <a:t>感谢评委老师</a:t>
            </a:r>
            <a:endParaRPr lang="en-US" altLang="zh-CN" sz="5400" b="1" spc="50" dirty="0">
              <a:ln w="11430"/>
              <a:solidFill>
                <a:schemeClr val="bg1"/>
              </a:solidFill>
              <a:latin typeface="微软雅黑" panose="020B0503020204020204" charset="-122"/>
              <a:ea typeface="微软雅黑" panose="020B0503020204020204" charset="-122"/>
              <a:cs typeface="+mn-ea"/>
              <a:sym typeface="+mn-lt"/>
            </a:endParaRPr>
          </a:p>
          <a:p>
            <a:pPr fontAlgn="auto">
              <a:spcBef>
                <a:spcPts val="0"/>
              </a:spcBef>
              <a:spcAft>
                <a:spcPts val="0"/>
              </a:spcAft>
              <a:defRPr/>
            </a:pPr>
            <a:endParaRPr lang="en-US" altLang="zh-CN" sz="5400" b="1" spc="50" dirty="0">
              <a:ln w="11430"/>
              <a:solidFill>
                <a:schemeClr val="bg1"/>
              </a:solidFill>
              <a:latin typeface="微软雅黑" panose="020B0503020204020204" charset="-122"/>
              <a:ea typeface="微软雅黑" panose="020B0503020204020204" charset="-122"/>
              <a:cs typeface="+mn-ea"/>
              <a:sym typeface="+mn-lt"/>
            </a:endParaRPr>
          </a:p>
        </p:txBody>
      </p:sp>
      <p:sp>
        <p:nvSpPr>
          <p:cNvPr id="4" name="Rectangle 13"/>
          <p:cNvSpPr>
            <a:spLocks noChangeArrowheads="1"/>
          </p:cNvSpPr>
          <p:nvPr/>
        </p:nvSpPr>
        <p:spPr bwMode="auto">
          <a:xfrm>
            <a:off x="2928926" y="4214818"/>
            <a:ext cx="3786214" cy="1857388"/>
          </a:xfrm>
          <a:prstGeom prst="rect">
            <a:avLst/>
          </a:prstGeom>
          <a:noFill/>
          <a:ln w="0">
            <a:noFill/>
            <a:miter lim="800000"/>
          </a:ln>
        </p:spPr>
        <p:txBody>
          <a:bodyPr lIns="0" tIns="0" rIns="0" bIns="0"/>
          <a:lstStyle/>
          <a:p>
            <a:pPr algn="ctr" fontAlgn="auto">
              <a:lnSpc>
                <a:spcPct val="150000"/>
              </a:lnSpc>
              <a:spcBef>
                <a:spcPts val="0"/>
              </a:spcBef>
              <a:spcAft>
                <a:spcPts val="0"/>
              </a:spcAft>
              <a:buSzPct val="100000"/>
              <a:defRPr/>
            </a:pPr>
            <a:endParaRPr lang="en-US" altLang="zh-CN" sz="2400" b="1" dirty="0">
              <a:solidFill>
                <a:srgbClr val="0033CC"/>
              </a:solidFill>
              <a:latin typeface="微软雅黑" panose="020B0503020204020204" charset="-122"/>
              <a:ea typeface="微软雅黑" panose="020B0503020204020204" charset="-122"/>
              <a:cs typeface="+mn-ea"/>
              <a:sym typeface="+mn-lt"/>
            </a:endParaRPr>
          </a:p>
        </p:txBody>
      </p:sp>
    </p:spTree>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ae9777f9-143f-4186-8261-c633a40abf09"/>
  <p:tag name="COMMONDATA" val="eyJoZGlkIjoiZTQ1NGYxNDZlYmJmZjVjNGM3Mzc1ZGQzMzY3YzRmYzI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332*344"/>
  <p:tag name="TABLE_ENDDRAG_RECT" val="27*138*332*344"/>
</p:tagLst>
</file>

<file path=ppt/tags/tag3.xml><?xml version="1.0" encoding="utf-8"?>
<p:tagLst xmlns:a="http://schemas.openxmlformats.org/drawingml/2006/main" xmlns:r="http://schemas.openxmlformats.org/officeDocument/2006/relationships" xmlns:p="http://schemas.openxmlformats.org/presentationml/2006/main">
  <p:tag name="PA" val="v5.2.11"/>
  <p:tag name="PAMAINTYPE" val="4"/>
  <p:tag name="PATYPE" val="176"/>
  <p:tag name="PASUBTYPE" val="181"/>
  <p:tag name="RESOURCELIBID_SHAPE" val="279773"/>
  <p:tag name="RESOURCELIB_SHAPETYPE" val="4"/>
</p:tagLst>
</file>

<file path=ppt/tags/tag4.xml><?xml version="1.0" encoding="utf-8"?>
<p:tagLst xmlns:a="http://schemas.openxmlformats.org/drawingml/2006/main" xmlns:r="http://schemas.openxmlformats.org/officeDocument/2006/relationships" xmlns:p="http://schemas.openxmlformats.org/presentationml/2006/main">
  <p:tag name="PA" val="v5.2.11"/>
  <p:tag name="PAMAINTYPE" val="4"/>
  <p:tag name="PATYPE" val="176"/>
  <p:tag name="PASUBTYPE" val="181"/>
  <p:tag name="RESOURCELIBID_SHAPE" val="279773"/>
  <p:tag name="RESOURCELIB_SHAPETYPE" val="4"/>
</p:tagLst>
</file>

<file path=ppt/tags/tag5.xml><?xml version="1.0" encoding="utf-8"?>
<p:tagLst xmlns:a="http://schemas.openxmlformats.org/drawingml/2006/main" xmlns:r="http://schemas.openxmlformats.org/officeDocument/2006/relationships" xmlns:p="http://schemas.openxmlformats.org/presentationml/2006/main">
  <p:tag name="PA" val="v5.2.11"/>
  <p:tag name="PAMAINTYPE" val="4"/>
  <p:tag name="PATYPE" val="176"/>
  <p:tag name="PASUBTYPE" val="181"/>
  <p:tag name="RESOURCELIBID_SHAPE" val="279773"/>
  <p:tag name="RESOURCELIB_SHAPETYPE" val="4"/>
</p:tagLst>
</file>

<file path=ppt/tags/tag6.xml><?xml version="1.0" encoding="utf-8"?>
<p:tagLst xmlns:a="http://schemas.openxmlformats.org/drawingml/2006/main" xmlns:r="http://schemas.openxmlformats.org/officeDocument/2006/relationships" xmlns:p="http://schemas.openxmlformats.org/presentationml/2006/main">
  <p:tag name="PA" val="v5.2.11"/>
  <p:tag name="PAMAINTYPE" val="4"/>
  <p:tag name="PATYPE" val="176"/>
  <p:tag name="PASUBTYPE" val="181"/>
  <p:tag name="RESOURCELIBID_SHAPE" val="279773"/>
  <p:tag name="RESOURCELIB_SHAPETYPE" val="4"/>
</p:tagLst>
</file>

<file path=ppt/tags/tag7.xml><?xml version="1.0" encoding="utf-8"?>
<p:tagLst xmlns:a="http://schemas.openxmlformats.org/drawingml/2006/main" xmlns:r="http://schemas.openxmlformats.org/officeDocument/2006/relationships" xmlns:p="http://schemas.openxmlformats.org/presentationml/2006/main">
  <p:tag name="PA" val="v5.2.11"/>
  <p:tag name="PAMAINTYPE" val="4"/>
  <p:tag name="PATYPE" val="176"/>
  <p:tag name="PASUBTYPE" val="181"/>
  <p:tag name="RESOURCELIBID_SHAPE" val="279773"/>
  <p:tag name="RESOURCELIB_SHAPETYPE" val="4"/>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11"/>
</p:tagLst>
</file>

<file path=ppt/tags/tag15.xml><?xml version="1.0" encoding="utf-8"?>
<p:tagLst xmlns:a="http://schemas.openxmlformats.org/drawingml/2006/main" xmlns:r="http://schemas.openxmlformats.org/officeDocument/2006/relationships" xmlns:p="http://schemas.openxmlformats.org/presentationml/2006/main">
  <p:tag name="PA" val="v5.2.11"/>
</p:tagLst>
</file>

<file path=ppt/tags/tag16.xml><?xml version="1.0" encoding="utf-8"?>
<p:tagLst xmlns:a="http://schemas.openxmlformats.org/drawingml/2006/main" xmlns:r="http://schemas.openxmlformats.org/officeDocument/2006/relationships" xmlns:p="http://schemas.openxmlformats.org/presentationml/2006/main">
  <p:tag name="PA" val="v5.2.11"/>
</p:tagLst>
</file>

<file path=ppt/tags/tag17.xml><?xml version="1.0" encoding="utf-8"?>
<p:tagLst xmlns:a="http://schemas.openxmlformats.org/drawingml/2006/main" xmlns:r="http://schemas.openxmlformats.org/officeDocument/2006/relationships" xmlns:p="http://schemas.openxmlformats.org/presentationml/2006/main">
  <p:tag name="PA" val="v5.2.11"/>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PA" val="v5.2.11"/>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PA" val="v5.2.11"/>
</p:tagLst>
</file>

<file path=ppt/tags/tag23.xml><?xml version="1.0" encoding="utf-8"?>
<p:tagLst xmlns:a="http://schemas.openxmlformats.org/drawingml/2006/main" xmlns:r="http://schemas.openxmlformats.org/officeDocument/2006/relationships" xmlns:p="http://schemas.openxmlformats.org/presentationml/2006/main">
  <p:tag name="PA" val="v5.2.11"/>
</p:tagLst>
</file>

<file path=ppt/tags/tag24.xml><?xml version="1.0" encoding="utf-8"?>
<p:tagLst xmlns:a="http://schemas.openxmlformats.org/drawingml/2006/main" xmlns:r="http://schemas.openxmlformats.org/officeDocument/2006/relationships" xmlns:p="http://schemas.openxmlformats.org/presentationml/2006/main">
  <p:tag name="PA" val="v5.2.11"/>
</p:tagLst>
</file>

<file path=ppt/tags/tag25.xml><?xml version="1.0" encoding="utf-8"?>
<p:tagLst xmlns:a="http://schemas.openxmlformats.org/drawingml/2006/main" xmlns:r="http://schemas.openxmlformats.org/officeDocument/2006/relationships" xmlns:p="http://schemas.openxmlformats.org/presentationml/2006/main">
  <p:tag name="PA" val="v5.2.11"/>
</p:tagLst>
</file>

<file path=ppt/tags/tag26.xml><?xml version="1.0" encoding="utf-8"?>
<p:tagLst xmlns:a="http://schemas.openxmlformats.org/drawingml/2006/main" xmlns:r="http://schemas.openxmlformats.org/officeDocument/2006/relationships" xmlns:p="http://schemas.openxmlformats.org/presentationml/2006/main">
  <p:tag name="PA" val="v5.2.11"/>
</p:tagLst>
</file>

<file path=ppt/tags/tag27.xml><?xml version="1.0" encoding="utf-8"?>
<p:tagLst xmlns:a="http://schemas.openxmlformats.org/drawingml/2006/main" xmlns:r="http://schemas.openxmlformats.org/officeDocument/2006/relationships" xmlns:p="http://schemas.openxmlformats.org/presentationml/2006/main">
  <p:tag name="PA" val="v5.2.11"/>
</p:tagLst>
</file>

<file path=ppt/tags/tag28.xml><?xml version="1.0" encoding="utf-8"?>
<p:tagLst xmlns:a="http://schemas.openxmlformats.org/drawingml/2006/main" xmlns:r="http://schemas.openxmlformats.org/officeDocument/2006/relationships" xmlns:p="http://schemas.openxmlformats.org/presentationml/2006/main">
  <p:tag name="PA" val="v5.2.11"/>
</p:tagLst>
</file>

<file path=ppt/tags/tag29.xml><?xml version="1.0" encoding="utf-8"?>
<p:tagLst xmlns:a="http://schemas.openxmlformats.org/drawingml/2006/main" xmlns:r="http://schemas.openxmlformats.org/officeDocument/2006/relationships" xmlns:p="http://schemas.openxmlformats.org/presentationml/2006/main">
  <p:tag name="PA" val="v5.2.11"/>
</p:tagLst>
</file>

<file path=ppt/tags/tag30.xml><?xml version="1.0" encoding="utf-8"?>
<p:tagLst xmlns:a="http://schemas.openxmlformats.org/drawingml/2006/main" xmlns:r="http://schemas.openxmlformats.org/officeDocument/2006/relationships" xmlns:p="http://schemas.openxmlformats.org/presentationml/2006/main">
  <p:tag name="PA" val="v5.2.11"/>
</p:tagLst>
</file>

<file path=ppt/tags/tag31.xml><?xml version="1.0" encoding="utf-8"?>
<p:tagLst xmlns:a="http://schemas.openxmlformats.org/drawingml/2006/main" xmlns:r="http://schemas.openxmlformats.org/officeDocument/2006/relationships" xmlns:p="http://schemas.openxmlformats.org/presentationml/2006/main">
  <p:tag name="PA" val="v5.2.11"/>
</p:tagLst>
</file>

<file path=ppt/tags/tag32.xml><?xml version="1.0" encoding="utf-8"?>
<p:tagLst xmlns:a="http://schemas.openxmlformats.org/drawingml/2006/main" xmlns:r="http://schemas.openxmlformats.org/officeDocument/2006/relationships" xmlns:p="http://schemas.openxmlformats.org/presentationml/2006/main">
  <p:tag name="PA" val="v5.2.11"/>
</p:tagLst>
</file>

<file path=ppt/tags/tag33.xml><?xml version="1.0" encoding="utf-8"?>
<p:tagLst xmlns:a="http://schemas.openxmlformats.org/drawingml/2006/main" xmlns:r="http://schemas.openxmlformats.org/officeDocument/2006/relationships" xmlns:p="http://schemas.openxmlformats.org/presentationml/2006/main">
  <p:tag name="PA" val="v5.2.11"/>
</p:tagLst>
</file>

<file path=ppt/tags/tag34.xml><?xml version="1.0" encoding="utf-8"?>
<p:tagLst xmlns:a="http://schemas.openxmlformats.org/drawingml/2006/main" xmlns:r="http://schemas.openxmlformats.org/officeDocument/2006/relationships" xmlns:p="http://schemas.openxmlformats.org/presentationml/2006/main">
  <p:tag name="PA" val="v5.2.11"/>
</p:tagLst>
</file>

<file path=ppt/tags/tag35.xml><?xml version="1.0" encoding="utf-8"?>
<p:tagLst xmlns:a="http://schemas.openxmlformats.org/drawingml/2006/main" xmlns:r="http://schemas.openxmlformats.org/officeDocument/2006/relationships" xmlns:p="http://schemas.openxmlformats.org/presentationml/2006/main">
  <p:tag name="PA" val="v5.2.11"/>
</p:tagLst>
</file>

<file path=ppt/tags/tag36.xml><?xml version="1.0" encoding="utf-8"?>
<p:tagLst xmlns:a="http://schemas.openxmlformats.org/drawingml/2006/main" xmlns:r="http://schemas.openxmlformats.org/officeDocument/2006/relationships" xmlns:p="http://schemas.openxmlformats.org/presentationml/2006/main">
  <p:tag name="PA" val="v5.2.11"/>
</p:tagLst>
</file>

<file path=ppt/tags/tag37.xml><?xml version="1.0" encoding="utf-8"?>
<p:tagLst xmlns:a="http://schemas.openxmlformats.org/drawingml/2006/main" xmlns:r="http://schemas.openxmlformats.org/officeDocument/2006/relationships" xmlns:p="http://schemas.openxmlformats.org/presentationml/2006/main">
  <p:tag name="PA" val="v5.2.11"/>
</p:tagLst>
</file>

<file path=ppt/tags/tag38.xml><?xml version="1.0" encoding="utf-8"?>
<p:tagLst xmlns:a="http://schemas.openxmlformats.org/drawingml/2006/main" xmlns:r="http://schemas.openxmlformats.org/officeDocument/2006/relationships" xmlns:p="http://schemas.openxmlformats.org/presentationml/2006/main">
  <p:tag name="PA" val="v5.2.11"/>
</p:tagLst>
</file>

<file path=ppt/tags/tag39.xml><?xml version="1.0" encoding="utf-8"?>
<p:tagLst xmlns:a="http://schemas.openxmlformats.org/drawingml/2006/main" xmlns:r="http://schemas.openxmlformats.org/officeDocument/2006/relationships" xmlns:p="http://schemas.openxmlformats.org/presentationml/2006/main">
  <p:tag name="PA" val="v5.2.11"/>
</p:tagLst>
</file>

<file path=ppt/tags/tag40.xml><?xml version="1.0" encoding="utf-8"?>
<p:tagLst xmlns:a="http://schemas.openxmlformats.org/drawingml/2006/main" xmlns:r="http://schemas.openxmlformats.org/officeDocument/2006/relationships" xmlns:p="http://schemas.openxmlformats.org/presentationml/2006/main">
  <p:tag name="PA" val="v5.2.11"/>
</p:tagLst>
</file>

<file path=ppt/tags/tag41.xml><?xml version="1.0" encoding="utf-8"?>
<p:tagLst xmlns:a="http://schemas.openxmlformats.org/drawingml/2006/main" xmlns:r="http://schemas.openxmlformats.org/officeDocument/2006/relationships" xmlns:p="http://schemas.openxmlformats.org/presentationml/2006/main">
  <p:tag name="PA" val="v5.2.11"/>
</p:tagLst>
</file>

<file path=ppt/tags/tag42.xml><?xml version="1.0" encoding="utf-8"?>
<p:tagLst xmlns:a="http://schemas.openxmlformats.org/drawingml/2006/main" xmlns:r="http://schemas.openxmlformats.org/officeDocument/2006/relationships" xmlns:p="http://schemas.openxmlformats.org/presentationml/2006/main">
  <p:tag name="PA" val="v5.2.11"/>
</p:tagLst>
</file>

<file path=ppt/tags/tag43.xml><?xml version="1.0" encoding="utf-8"?>
<p:tagLst xmlns:a="http://schemas.openxmlformats.org/drawingml/2006/main" xmlns:r="http://schemas.openxmlformats.org/officeDocument/2006/relationships" xmlns:p="http://schemas.openxmlformats.org/presentationml/2006/main">
  <p:tag name="PA" val="v5.2.11"/>
</p:tagLst>
</file>

<file path=ppt/tags/tag44.xml><?xml version="1.0" encoding="utf-8"?>
<p:tagLst xmlns:a="http://schemas.openxmlformats.org/drawingml/2006/main" xmlns:r="http://schemas.openxmlformats.org/officeDocument/2006/relationships" xmlns:p="http://schemas.openxmlformats.org/presentationml/2006/main">
  <p:tag name="PA" val="v5.2.11"/>
</p:tagLst>
</file>

<file path=ppt/tags/tag45.xml><?xml version="1.0" encoding="utf-8"?>
<p:tagLst xmlns:a="http://schemas.openxmlformats.org/drawingml/2006/main" xmlns:r="http://schemas.openxmlformats.org/officeDocument/2006/relationships" xmlns:p="http://schemas.openxmlformats.org/presentationml/2006/main">
  <p:tag name="PA" val="v5.2.11"/>
</p:tagLst>
</file>

<file path=ppt/tags/tag46.xml><?xml version="1.0" encoding="utf-8"?>
<p:tagLst xmlns:a="http://schemas.openxmlformats.org/drawingml/2006/main" xmlns:r="http://schemas.openxmlformats.org/officeDocument/2006/relationships" xmlns:p="http://schemas.openxmlformats.org/presentationml/2006/main">
  <p:tag name="PA" val="v5.2.11"/>
</p:tagLst>
</file>

<file path=ppt/tags/tag47.xml><?xml version="1.0" encoding="utf-8"?>
<p:tagLst xmlns:a="http://schemas.openxmlformats.org/drawingml/2006/main" xmlns:r="http://schemas.openxmlformats.org/officeDocument/2006/relationships" xmlns:p="http://schemas.openxmlformats.org/presentationml/2006/main">
  <p:tag name="PA" val="v5.2.11"/>
</p:tagLst>
</file>

<file path=ppt/tags/tag48.xml><?xml version="1.0" encoding="utf-8"?>
<p:tagLst xmlns:a="http://schemas.openxmlformats.org/drawingml/2006/main" xmlns:r="http://schemas.openxmlformats.org/officeDocument/2006/relationships" xmlns:p="http://schemas.openxmlformats.org/presentationml/2006/main">
  <p:tag name="PA" val="v5.2.11"/>
</p:tagLst>
</file>

<file path=ppt/tags/tag49.xml><?xml version="1.0" encoding="utf-8"?>
<p:tagLst xmlns:a="http://schemas.openxmlformats.org/drawingml/2006/main" xmlns:r="http://schemas.openxmlformats.org/officeDocument/2006/relationships" xmlns:p="http://schemas.openxmlformats.org/presentationml/2006/main">
  <p:tag name="PA" val="v5.2.11"/>
</p:tagLst>
</file>

<file path=ppt/tags/tag50.xml><?xml version="1.0" encoding="utf-8"?>
<p:tagLst xmlns:a="http://schemas.openxmlformats.org/drawingml/2006/main" xmlns:r="http://schemas.openxmlformats.org/officeDocument/2006/relationships" xmlns:p="http://schemas.openxmlformats.org/presentationml/2006/main">
  <p:tag name="PA" val="v5.2.11"/>
</p:tagLst>
</file>

<file path=ppt/tags/tag51.xml><?xml version="1.0" encoding="utf-8"?>
<p:tagLst xmlns:a="http://schemas.openxmlformats.org/drawingml/2006/main" xmlns:r="http://schemas.openxmlformats.org/officeDocument/2006/relationships" xmlns:p="http://schemas.openxmlformats.org/presentationml/2006/main">
  <p:tag name="PA" val="v5.2.11"/>
</p:tagLst>
</file>

<file path=ppt/tags/tag52.xml><?xml version="1.0" encoding="utf-8"?>
<p:tagLst xmlns:a="http://schemas.openxmlformats.org/drawingml/2006/main" xmlns:r="http://schemas.openxmlformats.org/officeDocument/2006/relationships" xmlns:p="http://schemas.openxmlformats.org/presentationml/2006/main">
  <p:tag name="PA" val="v5.2.11"/>
</p:tagLst>
</file>

<file path=ppt/tags/tag53.xml><?xml version="1.0" encoding="utf-8"?>
<p:tagLst xmlns:a="http://schemas.openxmlformats.org/drawingml/2006/main" xmlns:r="http://schemas.openxmlformats.org/officeDocument/2006/relationships" xmlns:p="http://schemas.openxmlformats.org/presentationml/2006/main">
  <p:tag name="PA" val="v5.2.11"/>
</p:tagLst>
</file>

<file path=ppt/tags/tag54.xml><?xml version="1.0" encoding="utf-8"?>
<p:tagLst xmlns:a="http://schemas.openxmlformats.org/drawingml/2006/main" xmlns:r="http://schemas.openxmlformats.org/officeDocument/2006/relationships" xmlns:p="http://schemas.openxmlformats.org/presentationml/2006/main">
  <p:tag name="PA" val="v5.2.11"/>
</p:tagLst>
</file>

<file path=ppt/tags/tag55.xml><?xml version="1.0" encoding="utf-8"?>
<p:tagLst xmlns:a="http://schemas.openxmlformats.org/drawingml/2006/main" xmlns:r="http://schemas.openxmlformats.org/officeDocument/2006/relationships" xmlns:p="http://schemas.openxmlformats.org/presentationml/2006/main">
  <p:tag name="PA" val="v5.2.11"/>
</p:tagLst>
</file>

<file path=ppt/tags/tag56.xml><?xml version="1.0" encoding="utf-8"?>
<p:tagLst xmlns:a="http://schemas.openxmlformats.org/drawingml/2006/main" xmlns:r="http://schemas.openxmlformats.org/officeDocument/2006/relationships" xmlns:p="http://schemas.openxmlformats.org/presentationml/2006/main">
  <p:tag name="PA" val="v5.2.11"/>
</p:tagLst>
</file>

<file path=ppt/tags/tag57.xml><?xml version="1.0" encoding="utf-8"?>
<p:tagLst xmlns:a="http://schemas.openxmlformats.org/drawingml/2006/main" xmlns:r="http://schemas.openxmlformats.org/officeDocument/2006/relationships" xmlns:p="http://schemas.openxmlformats.org/presentationml/2006/main">
  <p:tag name="PA" val="v5.2.11"/>
</p:tagLst>
</file>

<file path=ppt/tags/tag58.xml><?xml version="1.0" encoding="utf-8"?>
<p:tagLst xmlns:a="http://schemas.openxmlformats.org/drawingml/2006/main" xmlns:r="http://schemas.openxmlformats.org/officeDocument/2006/relationships" xmlns:p="http://schemas.openxmlformats.org/presentationml/2006/main">
  <p:tag name="PA" val="v5.2.11"/>
</p:tagLst>
</file>

<file path=ppt/tags/tag59.xml><?xml version="1.0" encoding="utf-8"?>
<p:tagLst xmlns:a="http://schemas.openxmlformats.org/drawingml/2006/main" xmlns:r="http://schemas.openxmlformats.org/officeDocument/2006/relationships" xmlns:p="http://schemas.openxmlformats.org/presentationml/2006/main">
  <p:tag name="PA" val="v5.2.11"/>
</p:tagLst>
</file>

<file path=ppt/tags/tag60.xml><?xml version="1.0" encoding="utf-8"?>
<p:tagLst xmlns:a="http://schemas.openxmlformats.org/drawingml/2006/main" xmlns:r="http://schemas.openxmlformats.org/officeDocument/2006/relationships" xmlns:p="http://schemas.openxmlformats.org/presentationml/2006/main">
  <p:tag name="PA" val="v5.2.11"/>
</p:tagLst>
</file>

<file path=ppt/tags/tag61.xml><?xml version="1.0" encoding="utf-8"?>
<p:tagLst xmlns:a="http://schemas.openxmlformats.org/drawingml/2006/main" xmlns:r="http://schemas.openxmlformats.org/officeDocument/2006/relationships" xmlns:p="http://schemas.openxmlformats.org/presentationml/2006/main">
  <p:tag name="PA" val="v5.2.11"/>
</p:tagLst>
</file>

<file path=ppt/tags/tag62.xml><?xml version="1.0" encoding="utf-8"?>
<p:tagLst xmlns:a="http://schemas.openxmlformats.org/drawingml/2006/main" xmlns:r="http://schemas.openxmlformats.org/officeDocument/2006/relationships" xmlns:p="http://schemas.openxmlformats.org/presentationml/2006/main">
  <p:tag name="PA" val="v5.2.11"/>
</p:tagLst>
</file>

<file path=ppt/tags/tag63.xml><?xml version="1.0" encoding="utf-8"?>
<p:tagLst xmlns:a="http://schemas.openxmlformats.org/drawingml/2006/main" xmlns:r="http://schemas.openxmlformats.org/officeDocument/2006/relationships" xmlns:p="http://schemas.openxmlformats.org/presentationml/2006/main">
  <p:tag name="TABLE_ENDDRAG_ORIGIN_RECT" val="274*136"/>
  <p:tag name="TABLE_ENDDRAG_RECT" val="22*118*274*136"/>
</p:tagLst>
</file>

<file path=ppt/tags/tag64.xml><?xml version="1.0" encoding="utf-8"?>
<p:tagLst xmlns:a="http://schemas.openxmlformats.org/drawingml/2006/main" xmlns:r="http://schemas.openxmlformats.org/officeDocument/2006/relationships" xmlns:p="http://schemas.openxmlformats.org/presentationml/2006/main">
  <p:tag name="TABLE_ENDDRAG_ORIGIN_RECT" val="274*136"/>
  <p:tag name="TABLE_ENDDRAG_RECT" val="22*118*274*136"/>
</p:tagLst>
</file>

<file path=ppt/theme/theme1.xml><?xml version="1.0" encoding="utf-8"?>
<a:theme xmlns:a="http://schemas.openxmlformats.org/drawingml/2006/main" name="3_评优报告 2011 模板">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4781</TotalTime>
  <Words>4434</Words>
  <Application>Microsoft Office PowerPoint</Application>
  <PresentationFormat>全屏显示(4:3)</PresentationFormat>
  <Paragraphs>590</Paragraphs>
  <Slides>72</Slides>
  <Notes>69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72</vt:i4>
      </vt:variant>
    </vt:vector>
  </HeadingPairs>
  <TitlesOfParts>
    <vt:vector size="85" baseType="lpstr">
      <vt:lpstr>Helvetica Neue Medium</vt:lpstr>
      <vt:lpstr>Segoe WPC</vt:lpstr>
      <vt:lpstr>等线</vt:lpstr>
      <vt:lpstr>黑体</vt:lpstr>
      <vt:lpstr>华文细黑</vt:lpstr>
      <vt:lpstr>宋体</vt:lpstr>
      <vt:lpstr>微软雅黑</vt:lpstr>
      <vt:lpstr>Arial</vt:lpstr>
      <vt:lpstr>Calibri</vt:lpstr>
      <vt:lpstr>Cambria Math</vt:lpstr>
      <vt:lpstr>Segoe UI</vt:lpstr>
      <vt:lpstr>Wingdings</vt:lpstr>
      <vt:lpstr>3_评优报告 2011 模板</vt:lpstr>
      <vt:lpstr> </vt:lpstr>
      <vt:lpstr>报告提纲</vt:lpstr>
      <vt:lpstr>项目背景</vt:lpstr>
      <vt:lpstr>项目背景</vt:lpstr>
      <vt:lpstr>项目背景</vt:lpstr>
      <vt:lpstr>报告提纲</vt:lpstr>
      <vt:lpstr>研究内容</vt:lpstr>
      <vt:lpstr>研究内容一：基于双层循环的高效个性化联邦学习技术</vt:lpstr>
      <vt:lpstr>研究内容一：基于双层循环的高效个性化联邦学习技术</vt:lpstr>
      <vt:lpstr>研究内容一：基于双层循环的高效个性化联邦学习技术</vt:lpstr>
      <vt:lpstr>研究内容一：基于双层循环的高效个性化联邦学习技术</vt:lpstr>
      <vt:lpstr>研究内容一：基于双层循环的高效个性化联邦学习技术</vt:lpstr>
      <vt:lpstr>研究内容二：基于可信存证与可靠存储的分布式存证系统</vt:lpstr>
      <vt:lpstr>研究内容二：基于可信存证与可靠存储的分布式存证系统</vt:lpstr>
      <vt:lpstr>研究内容二：基于可信存证与可靠存储的分布式存证系统</vt:lpstr>
      <vt:lpstr>研究内容二：基于可信存证与可靠存储的分布式存证系统</vt:lpstr>
      <vt:lpstr>研究内容二：基于可信存证与可靠存储的分布式存证系统</vt:lpstr>
      <vt:lpstr>研究内容二：基于可信存证与可靠存储的分布式存证系统</vt:lpstr>
      <vt:lpstr>研究内容三：基于多模态数据的学生全面心理画像</vt:lpstr>
      <vt:lpstr>研究内容四：多模型融合的精准诊断技术</vt:lpstr>
      <vt:lpstr>研究内容四：多模型融合的精准诊断技术</vt:lpstr>
      <vt:lpstr>研究内容四：多模型融合的精准诊断技术</vt:lpstr>
      <vt:lpstr>研究内容五：个性化治疗技术</vt:lpstr>
      <vt:lpstr>研究内容五：个性化治疗技术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团队研究成果</vt:lpstr>
      <vt:lpstr>团队研究成果</vt:lpstr>
      <vt:lpstr>PowerPoint 演示文稿</vt:lpstr>
      <vt:lpstr>应用前景与未来规划</vt:lpstr>
      <vt:lpstr>应用前景与未来规划</vt:lpstr>
      <vt:lpstr>应用前景与未来规划</vt:lpstr>
      <vt:lpstr>应用前景与未来规划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金融风险的计量理论与方法</dc:title>
  <dc:creator>梁行健</dc:creator>
  <cp:lastModifiedBy>慧慧 秦</cp:lastModifiedBy>
  <cp:revision>1013</cp:revision>
  <dcterms:created xsi:type="dcterms:W3CDTF">2014-12-10T11:07:00Z</dcterms:created>
  <dcterms:modified xsi:type="dcterms:W3CDTF">2026-04-15T05:21:11Z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9B4D3464EE8A401B8063E03AEE41137E_12</vt:lpwstr>
  </property>
</Properties>
</file>