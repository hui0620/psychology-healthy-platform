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0"/>
  </p:notesMasterIdLst>
  <p:sldIdLst>
    <p:sldId id="323" r:id="rId2"/>
    <p:sldId id="621" r:id="rId3"/>
    <p:sldId id="606" r:id="rId4"/>
    <p:sldId id="607" r:id="rId5"/>
    <p:sldId id="608" r:id="rId6"/>
    <p:sldId id="611" r:id="rId7"/>
    <p:sldId id="609" r:id="rId8"/>
    <p:sldId id="610" r:id="rId9"/>
    <p:sldId id="612" r:id="rId10"/>
    <p:sldId id="626" r:id="rId11"/>
    <p:sldId id="624" r:id="rId12"/>
    <p:sldId id="627" r:id="rId13"/>
    <p:sldId id="628" r:id="rId14"/>
    <p:sldId id="629" r:id="rId15"/>
    <p:sldId id="630" r:id="rId16"/>
    <p:sldId id="631" r:id="rId17"/>
    <p:sldId id="632" r:id="rId18"/>
    <p:sldId id="633" r:id="rId19"/>
    <p:sldId id="634" r:id="rId20"/>
    <p:sldId id="635" r:id="rId21"/>
    <p:sldId id="636" r:id="rId22"/>
    <p:sldId id="637" r:id="rId23"/>
    <p:sldId id="638" r:id="rId24"/>
    <p:sldId id="639" r:id="rId25"/>
    <p:sldId id="640" r:id="rId26"/>
    <p:sldId id="641" r:id="rId27"/>
    <p:sldId id="614" r:id="rId28"/>
    <p:sldId id="625" r:id="rId29"/>
    <p:sldId id="616" r:id="rId30"/>
    <p:sldId id="617" r:id="rId31"/>
    <p:sldId id="618" r:id="rId32"/>
    <p:sldId id="619" r:id="rId33"/>
    <p:sldId id="620" r:id="rId34"/>
    <p:sldId id="642" r:id="rId35"/>
    <p:sldId id="613" r:id="rId36"/>
    <p:sldId id="622" r:id="rId37"/>
    <p:sldId id="615" r:id="rId38"/>
    <p:sldId id="623" r:id="rId39"/>
  </p:sldIdLst>
  <p:sldSz cx="9144000" cy="6858000" type="screen4x3"/>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xmlns="">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71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81920" autoAdjust="0"/>
  </p:normalViewPr>
  <p:slideViewPr>
    <p:cSldViewPr snapToGrid="0" showGuides="1">
      <p:cViewPr varScale="1">
        <p:scale>
          <a:sx n="70" d="100"/>
          <a:sy n="70" d="100"/>
        </p:scale>
        <p:origin x="-1699" y="-67"/>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96" d="100"/>
          <a:sy n="96" d="100"/>
        </p:scale>
        <p:origin x="-1596" y="-96"/>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zh-CN" altLang="en-US"/>
          </a:p>
        </p:txBody>
      </p:sp>
      <p:sp>
        <p:nvSpPr>
          <p:cNvPr id="3" name="日期占位符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7BA6A6D8-A047-4A30-9DAD-B589E52CC8BD}" type="datetimeFigureOut">
              <a:rPr lang="zh-CN" altLang="en-US" smtClean="0"/>
              <a:pPr/>
              <a:t>2025/6/27</a:t>
            </a:fld>
            <a:endParaRPr lang="zh-CN" altLang="en-US"/>
          </a:p>
        </p:txBody>
      </p:sp>
      <p:sp>
        <p:nvSpPr>
          <p:cNvPr id="4" name="幻灯片图像占位符 3"/>
          <p:cNvSpPr>
            <a:spLocks noGrp="1" noRot="1" noChangeAspect="1"/>
          </p:cNvSpPr>
          <p:nvPr>
            <p:ph type="sldImg" idx="2"/>
          </p:nvPr>
        </p:nvSpPr>
        <p:spPr>
          <a:xfrm>
            <a:off x="1249363" y="1279525"/>
            <a:ext cx="4605337" cy="3454400"/>
          </a:xfrm>
          <a:prstGeom prst="rect">
            <a:avLst/>
          </a:prstGeom>
          <a:noFill/>
          <a:ln w="12700">
            <a:solidFill>
              <a:prstClr val="black"/>
            </a:solidFill>
          </a:ln>
        </p:spPr>
        <p:txBody>
          <a:bodyPr vert="horz" lIns="99075" tIns="49538" rIns="99075" bIns="49538" rtlCol="0" anchor="ctr"/>
          <a:lstStyle/>
          <a:p>
            <a:endParaRPr lang="zh-CN" altLang="en-US"/>
          </a:p>
        </p:txBody>
      </p:sp>
      <p:sp>
        <p:nvSpPr>
          <p:cNvPr id="5" name="备注占位符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964C083B-3359-4272-80A3-FFF9ECA3CA08}" type="slidenum">
              <a:rPr lang="zh-CN" altLang="en-US" smtClean="0"/>
              <a:pPr/>
              <a:t>‹#›</a:t>
            </a:fld>
            <a:endParaRPr lang="zh-CN" altLang="en-US"/>
          </a:p>
        </p:txBody>
      </p:sp>
    </p:spTree>
    <p:extLst>
      <p:ext uri="{BB962C8B-B14F-4D97-AF65-F5344CB8AC3E}">
        <p14:creationId xmlns:p14="http://schemas.microsoft.com/office/powerpoint/2010/main" val="2467717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474640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4149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755658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64552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83085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7712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404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227106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14943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80447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3688" y="152400"/>
            <a:ext cx="2085975" cy="6172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152400"/>
            <a:ext cx="6110288" cy="6172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77814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82804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411163" y="1143000"/>
            <a:ext cx="83185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11163" y="3810000"/>
            <a:ext cx="83185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90585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82804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411163" y="1143000"/>
            <a:ext cx="4083050"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6613" y="1143000"/>
            <a:ext cx="408305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6613" y="3810000"/>
            <a:ext cx="408305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056593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8280400" cy="533400"/>
          </a:xfrm>
        </p:spPr>
        <p:txBody>
          <a:bodyPr/>
          <a:lstStyle/>
          <a:p>
            <a:r>
              <a:rPr lang="zh-CN" altLang="en-US"/>
              <a:t>单击此处编辑母版标题样式</a:t>
            </a:r>
          </a:p>
        </p:txBody>
      </p:sp>
      <p:sp>
        <p:nvSpPr>
          <p:cNvPr id="3" name="表格占位符 2"/>
          <p:cNvSpPr>
            <a:spLocks noGrp="1"/>
          </p:cNvSpPr>
          <p:nvPr>
            <p:ph type="tbl" idx="1"/>
          </p:nvPr>
        </p:nvSpPr>
        <p:spPr>
          <a:xfrm>
            <a:off x="411163" y="1143000"/>
            <a:ext cx="8318500" cy="5181600"/>
          </a:xfrm>
        </p:spPr>
        <p:txBody>
          <a:bodyPr/>
          <a:lstStyle/>
          <a:p>
            <a:pPr lvl="0"/>
            <a:endParaRPr lang="zh-CN" altLang="en-US" noProof="0"/>
          </a:p>
        </p:txBody>
      </p:sp>
    </p:spTree>
    <p:extLst>
      <p:ext uri="{BB962C8B-B14F-4D97-AF65-F5344CB8AC3E}">
        <p14:creationId xmlns:p14="http://schemas.microsoft.com/office/powerpoint/2010/main" val="2377159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正文">
    <p:bg>
      <p:bgPr>
        <a:solidFill>
          <a:schemeClr val="bg1"/>
        </a:solidFill>
        <a:effectLst/>
      </p:bgPr>
    </p:bg>
    <p:spTree>
      <p:nvGrpSpPr>
        <p:cNvPr id="1" name=""/>
        <p:cNvGrpSpPr/>
        <p:nvPr/>
      </p:nvGrpSpPr>
      <p:grpSpPr>
        <a:xfrm>
          <a:off x="0" y="0"/>
          <a:ext cx="0" cy="0"/>
          <a:chOff x="0" y="0"/>
          <a:chExt cx="0" cy="0"/>
        </a:xfrm>
      </p:grpSpPr>
      <p:sp>
        <p:nvSpPr>
          <p:cNvPr id="8" name="文本占位符 2"/>
          <p:cNvSpPr>
            <a:spLocks noGrp="1"/>
          </p:cNvSpPr>
          <p:nvPr>
            <p:ph idx="1"/>
          </p:nvPr>
        </p:nvSpPr>
        <p:spPr>
          <a:xfrm>
            <a:off x="628650" y="1224076"/>
            <a:ext cx="7886700" cy="5110521"/>
          </a:xfrm>
          <a:prstGeom prst="rect">
            <a:avLst/>
          </a:prstGeom>
        </p:spPr>
        <p:txBody>
          <a:bodyPr vert="horz" lIns="91440" tIns="45720" rIns="91440" bIns="45720" rtlCol="0">
            <a:normAutofit/>
          </a:bodyPr>
          <a:lstStyle>
            <a:lvl1pPr>
              <a:defRPr>
                <a:latin typeface="微软雅黑" pitchFamily="34" charset="-122"/>
                <a:ea typeface="微软雅黑" pitchFamily="34" charset="-122"/>
              </a:defRPr>
            </a:lvl1pPr>
            <a:lvl2pPr>
              <a:defRPr>
                <a:latin typeface="微软雅黑" pitchFamily="34" charset="-122"/>
                <a:ea typeface="微软雅黑" pitchFamily="34" charset="-122"/>
              </a:defRPr>
            </a:lvl2pPr>
            <a:lvl3pPr>
              <a:defRPr>
                <a:latin typeface="微软雅黑" pitchFamily="34" charset="-122"/>
                <a:ea typeface="微软雅黑" pitchFamily="34" charset="-122"/>
              </a:defRPr>
            </a:lvl3pPr>
            <a:lvl4pPr>
              <a:defRPr>
                <a:latin typeface="微软雅黑" pitchFamily="34" charset="-122"/>
                <a:ea typeface="微软雅黑" pitchFamily="34" charset="-122"/>
              </a:defRPr>
            </a:lvl4pPr>
            <a:lvl5pPr>
              <a:defRPr>
                <a:latin typeface="微软雅黑" pitchFamily="34" charset="-122"/>
                <a:ea typeface="微软雅黑"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标题占位符 1"/>
          <p:cNvSpPr>
            <a:spLocks noGrp="1"/>
          </p:cNvSpPr>
          <p:nvPr>
            <p:ph type="title"/>
          </p:nvPr>
        </p:nvSpPr>
        <p:spPr>
          <a:xfrm>
            <a:off x="204097" y="250835"/>
            <a:ext cx="7886700" cy="854073"/>
          </a:xfrm>
          <a:prstGeom prst="rect">
            <a:avLst/>
          </a:prstGeom>
        </p:spPr>
        <p:txBody>
          <a:bodyPr vert="horz" lIns="91440" tIns="45720" rIns="91440" bIns="45720" rtlCol="0" anchor="ctr">
            <a:normAutofit/>
          </a:bodyPr>
          <a:lstStyle>
            <a:lvl1pPr>
              <a:defRPr b="1">
                <a:latin typeface="微软雅黑" pitchFamily="34" charset="-122"/>
                <a:ea typeface="微软雅黑"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2241519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zh-CN"/>
              <a:t>Click to edit Master title style</a:t>
            </a:r>
          </a:p>
        </p:txBody>
      </p:sp>
      <p:sp>
        <p:nvSpPr>
          <p:cNvPr id="1027" name="Rectangle 3"/>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 Third Level</a:t>
            </a:r>
          </a:p>
        </p:txBody>
      </p:sp>
      <p:cxnSp>
        <p:nvCxnSpPr>
          <p:cNvPr id="10" name="直接连接符 9"/>
          <p:cNvCxnSpPr/>
          <p:nvPr/>
        </p:nvCxnSpPr>
        <p:spPr>
          <a:xfrm>
            <a:off x="0" y="928688"/>
            <a:ext cx="9144000" cy="0"/>
          </a:xfrm>
          <a:prstGeom prst="line">
            <a:avLst/>
          </a:prstGeom>
          <a:ln w="38100">
            <a:solidFill>
              <a:srgbClr val="3F7141"/>
            </a:solidFill>
          </a:ln>
        </p:spPr>
        <p:style>
          <a:lnRef idx="1">
            <a:schemeClr val="accent1"/>
          </a:lnRef>
          <a:fillRef idx="0">
            <a:schemeClr val="accent1"/>
          </a:fillRef>
          <a:effectRef idx="0">
            <a:schemeClr val="accent1"/>
          </a:effectRef>
          <a:fontRef idx="minor">
            <a:schemeClr val="tx1"/>
          </a:fontRef>
        </p:style>
      </p:cxnSp>
      <p:sp>
        <p:nvSpPr>
          <p:cNvPr id="9" name="Rectangle 21"/>
          <p:cNvSpPr>
            <a:spLocks noChangeArrowheads="1"/>
          </p:cNvSpPr>
          <p:nvPr/>
        </p:nvSpPr>
        <p:spPr bwMode="auto">
          <a:xfrm>
            <a:off x="381000" y="6397625"/>
            <a:ext cx="8364538"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lnSpc>
                <a:spcPts val="2000"/>
              </a:lnSpc>
            </a:pPr>
            <a:r>
              <a:rPr lang="en-US" altLang="zh-CN" sz="1200" b="0" dirty="0">
                <a:solidFill>
                  <a:srgbClr val="000000"/>
                </a:solidFill>
                <a:ea typeface="宋体" charset="-122"/>
              </a:rPr>
              <a:t>								                   </a:t>
            </a:r>
            <a:fld id="{22B54924-A7E0-4231-A067-C7DF1FEEF9D5}" type="slidenum">
              <a:rPr lang="en-US" altLang="zh-CN" sz="1200" b="0" smtClean="0">
                <a:solidFill>
                  <a:srgbClr val="000000"/>
                </a:solidFill>
                <a:ea typeface="宋体" charset="-122"/>
              </a:rPr>
              <a:pPr>
                <a:lnSpc>
                  <a:spcPts val="2000"/>
                </a:lnSpc>
              </a:pPr>
              <a:t>‹#›</a:t>
            </a:fld>
            <a:r>
              <a:rPr lang="en-US" altLang="zh-CN" sz="1200" b="0" dirty="0">
                <a:solidFill>
                  <a:srgbClr val="000000"/>
                </a:solidFill>
                <a:ea typeface="宋体" charset="-122"/>
              </a:rPr>
              <a:t> </a:t>
            </a:r>
          </a:p>
        </p:txBody>
      </p:sp>
    </p:spTree>
    <p:extLst>
      <p:ext uri="{BB962C8B-B14F-4D97-AF65-F5344CB8AC3E}">
        <p14:creationId xmlns:p14="http://schemas.microsoft.com/office/powerpoint/2010/main" val="14171608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Lst>
  <p:hf hdr="0" ftr="0" dt="0"/>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hyperlink" Target="https://fisco-bcos-documentation.readthedocs.io/zh-cn/latest/docs/installation.html" TargetMode="Externa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5.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WeBankBlockchain/SmartDev-Contract/blob/master/docs/tutorials/Solidity-advance.md" TargetMode="External"/><Relationship Id="rId2" Type="http://schemas.openxmlformats.org/officeDocument/2006/relationships/hyperlink" Target="https://github.com/WeBankBlockchain/SmartDev-Contract/blob/master/docs/tutorials/Solidity-basic.md" TargetMode="External"/><Relationship Id="rId1" Type="http://schemas.openxmlformats.org/officeDocument/2006/relationships/slideLayout" Target="../slideLayouts/slideLayout15.xml"/><Relationship Id="rId4" Type="http://schemas.openxmlformats.org/officeDocument/2006/relationships/hyperlink" Target="https://solidity-cn.readthedocs.io/zh/develop/solidity-by-example.html"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fisco-bcos-documentation.readthedocs.io/zh-cn/latest/docs/change_log/index.html" TargetMode="Externa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hyperlink" Target="https://fisco-bcos-documentation.readthedocs.io/zh-cn/latest/docs/tutorial/sdk_application.html" TargetMode="Externa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标题 1"/>
          <p:cNvSpPr>
            <a:spLocks noGrp="1"/>
          </p:cNvSpPr>
          <p:nvPr>
            <p:ph type="ctrTitle"/>
          </p:nvPr>
        </p:nvSpPr>
        <p:spPr>
          <a:xfrm>
            <a:off x="0" y="1727373"/>
            <a:ext cx="9144000" cy="888683"/>
          </a:xfrm>
        </p:spPr>
        <p:txBody>
          <a:bodyPr>
            <a:noAutofit/>
          </a:bodyPr>
          <a:lstStyle/>
          <a:p>
            <a:pPr algn="ctr">
              <a:lnSpc>
                <a:spcPct val="150000"/>
              </a:lnSpc>
            </a:pPr>
            <a:r>
              <a:rPr lang="zh-CN" altLang="en-US" sz="4800" dirty="0">
                <a:solidFill>
                  <a:srgbClr val="C00000"/>
                </a:solidFill>
                <a:latin typeface="微软雅黑" panose="020B0503020204020204" pitchFamily="34" charset="-122"/>
                <a:ea typeface="微软雅黑" panose="020B0503020204020204" pitchFamily="34" charset="-122"/>
              </a:rPr>
              <a:t>区</a:t>
            </a:r>
            <a:r>
              <a:rPr lang="zh-CN" altLang="en-US" sz="4800" dirty="0" smtClean="0">
                <a:solidFill>
                  <a:srgbClr val="C00000"/>
                </a:solidFill>
                <a:latin typeface="微软雅黑" panose="020B0503020204020204" pitchFamily="34" charset="-122"/>
                <a:ea typeface="微软雅黑" panose="020B0503020204020204" pitchFamily="34" charset="-122"/>
              </a:rPr>
              <a:t>块链操作</a:t>
            </a:r>
            <a:endParaRPr lang="zh-CN" altLang="en-US" sz="4000" b="0" dirty="0">
              <a:solidFill>
                <a:srgbClr val="C00000"/>
              </a:solidFill>
              <a:latin typeface="微软雅黑" pitchFamily="34" charset="-122"/>
              <a:ea typeface="微软雅黑" pitchFamily="34" charset="-122"/>
            </a:endParaRPr>
          </a:p>
        </p:txBody>
      </p:sp>
      <p:sp>
        <p:nvSpPr>
          <p:cNvPr id="5" name="副标题 2"/>
          <p:cNvSpPr txBox="1">
            <a:spLocks/>
          </p:cNvSpPr>
          <p:nvPr/>
        </p:nvSpPr>
        <p:spPr bwMode="auto">
          <a:xfrm>
            <a:off x="0" y="3566376"/>
            <a:ext cx="9144000" cy="1829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normAutofit/>
          </a:bodyPr>
          <a:lstStyle>
            <a:lvl1pPr marL="0" indent="0" algn="ctr" rtl="0" eaLnBrk="0" fontAlgn="base" hangingPunct="0">
              <a:spcBef>
                <a:spcPct val="10000"/>
              </a:spcBef>
              <a:spcAft>
                <a:spcPts val="400"/>
              </a:spcAft>
              <a:buClr>
                <a:srgbClr val="0C7B9C"/>
              </a:buClr>
              <a:buSzPct val="75000"/>
              <a:buFont typeface="Monotype Sorts" pitchFamily="2" charset="2"/>
              <a:buNone/>
              <a:defRPr sz="2800">
                <a:solidFill>
                  <a:schemeClr val="tx1"/>
                </a:solidFill>
                <a:latin typeface="+mn-lt"/>
                <a:ea typeface="+mn-ea"/>
                <a:cs typeface="+mn-cs"/>
              </a:defRPr>
            </a:lvl1pPr>
            <a:lvl2pPr marL="457200" indent="0" algn="ctr" rtl="0" eaLnBrk="0" fontAlgn="base" hangingPunct="0">
              <a:spcBef>
                <a:spcPct val="10000"/>
              </a:spcBef>
              <a:spcAft>
                <a:spcPts val="400"/>
              </a:spcAft>
              <a:buClr>
                <a:srgbClr val="0C7B9C"/>
              </a:buClr>
              <a:buSzPct val="100000"/>
              <a:buFont typeface="Arial" charset="0"/>
              <a:buNone/>
              <a:defRPr sz="2800">
                <a:solidFill>
                  <a:schemeClr val="tx1"/>
                </a:solidFill>
                <a:latin typeface="+mn-lt"/>
              </a:defRPr>
            </a:lvl2pPr>
            <a:lvl3pPr marL="914400" indent="0" algn="ctr" rtl="0" eaLnBrk="0" fontAlgn="base" hangingPunct="0">
              <a:spcBef>
                <a:spcPct val="10000"/>
              </a:spcBef>
              <a:spcAft>
                <a:spcPts val="400"/>
              </a:spcAft>
              <a:buClr>
                <a:srgbClr val="0C7B9C"/>
              </a:buClr>
              <a:buSzPct val="70000"/>
              <a:buFont typeface="Wingdings" pitchFamily="2" charset="2"/>
              <a:buNone/>
              <a:defRPr sz="2400">
                <a:solidFill>
                  <a:schemeClr val="tx1"/>
                </a:solidFill>
                <a:latin typeface="+mn-lt"/>
              </a:defRPr>
            </a:lvl3pPr>
            <a:lvl4pPr marL="1371600" indent="0" algn="ctr" rtl="0" eaLnBrk="0" fontAlgn="base" hangingPunct="0">
              <a:spcBef>
                <a:spcPct val="20000"/>
              </a:spcBef>
              <a:spcAft>
                <a:spcPct val="0"/>
              </a:spcAft>
              <a:buSzPct val="100000"/>
              <a:buNone/>
              <a:defRPr sz="2000">
                <a:solidFill>
                  <a:schemeClr val="tx1"/>
                </a:solidFill>
                <a:latin typeface="Times New Roman" pitchFamily="18" charset="0"/>
              </a:defRPr>
            </a:lvl4pPr>
            <a:lvl5pPr marL="1828800" indent="0" algn="ctr" rtl="0" eaLnBrk="0" fontAlgn="base" hangingPunct="0">
              <a:spcBef>
                <a:spcPct val="20000"/>
              </a:spcBef>
              <a:spcAft>
                <a:spcPct val="0"/>
              </a:spcAft>
              <a:buSzPct val="100000"/>
              <a:buNone/>
              <a:defRPr sz="2000">
                <a:solidFill>
                  <a:schemeClr val="tx1"/>
                </a:solidFill>
                <a:latin typeface="Times New Roman" pitchFamily="18" charset="0"/>
              </a:defRPr>
            </a:lvl5pPr>
            <a:lvl6pPr marL="2286000" indent="0" algn="ctr" rtl="0" eaLnBrk="0" fontAlgn="base" hangingPunct="0">
              <a:spcBef>
                <a:spcPct val="20000"/>
              </a:spcBef>
              <a:spcAft>
                <a:spcPct val="0"/>
              </a:spcAft>
              <a:buSzPct val="100000"/>
              <a:buNone/>
              <a:defRPr sz="2000">
                <a:solidFill>
                  <a:schemeClr val="tx1"/>
                </a:solidFill>
                <a:latin typeface="Times New Roman" pitchFamily="18" charset="0"/>
              </a:defRPr>
            </a:lvl6pPr>
            <a:lvl7pPr marL="2743200" indent="0" algn="ctr" rtl="0" eaLnBrk="0" fontAlgn="base" hangingPunct="0">
              <a:spcBef>
                <a:spcPct val="20000"/>
              </a:spcBef>
              <a:spcAft>
                <a:spcPct val="0"/>
              </a:spcAft>
              <a:buSzPct val="100000"/>
              <a:buNone/>
              <a:defRPr sz="2000">
                <a:solidFill>
                  <a:schemeClr val="tx1"/>
                </a:solidFill>
                <a:latin typeface="Times New Roman" pitchFamily="18" charset="0"/>
              </a:defRPr>
            </a:lvl7pPr>
            <a:lvl8pPr marL="3200400" indent="0" algn="ctr" rtl="0" eaLnBrk="0" fontAlgn="base" hangingPunct="0">
              <a:spcBef>
                <a:spcPct val="20000"/>
              </a:spcBef>
              <a:spcAft>
                <a:spcPct val="0"/>
              </a:spcAft>
              <a:buSzPct val="100000"/>
              <a:buNone/>
              <a:defRPr sz="2000">
                <a:solidFill>
                  <a:schemeClr val="tx1"/>
                </a:solidFill>
                <a:latin typeface="Times New Roman" pitchFamily="18" charset="0"/>
              </a:defRPr>
            </a:lvl8pPr>
            <a:lvl9pPr marL="3657600" indent="0" algn="ctr" rtl="0" eaLnBrk="0" fontAlgn="base" hangingPunct="0">
              <a:spcBef>
                <a:spcPct val="20000"/>
              </a:spcBef>
              <a:spcAft>
                <a:spcPct val="0"/>
              </a:spcAft>
              <a:buSzPct val="100000"/>
              <a:buNone/>
              <a:defRPr sz="2000">
                <a:solidFill>
                  <a:schemeClr val="tx1"/>
                </a:solidFill>
                <a:latin typeface="Times New Roman" pitchFamily="18" charset="0"/>
              </a:defRPr>
            </a:lvl9pPr>
          </a:lstStyle>
          <a:p>
            <a:pPr>
              <a:spcBef>
                <a:spcPts val="1800"/>
              </a:spcBef>
            </a:pPr>
            <a:r>
              <a:rPr lang="zh-CN" altLang="en-US" dirty="0" smtClean="0">
                <a:latin typeface="微软雅黑" panose="020B0503020204020204" pitchFamily="34" charset="-122"/>
                <a:ea typeface="微软雅黑" panose="020B0503020204020204" pitchFamily="34" charset="-122"/>
              </a:rPr>
              <a:t>教师：李晓丽，</a:t>
            </a:r>
            <a:r>
              <a:rPr lang="en-US" altLang="zh-CN" dirty="0" smtClean="0">
                <a:latin typeface="微软雅黑" panose="020B0503020204020204" pitchFamily="34" charset="-122"/>
                <a:ea typeface="微软雅黑" panose="020B0503020204020204" pitchFamily="34" charset="-122"/>
              </a:rPr>
              <a:t>414317496</a:t>
            </a:r>
            <a:endParaRPr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34059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内容占位符 3"/>
          <p:cNvSpPr>
            <a:spLocks noGrp="1"/>
          </p:cNvSpPr>
          <p:nvPr>
            <p:ph idx="1"/>
          </p:nvPr>
        </p:nvSpPr>
        <p:spPr>
          <a:xfrm>
            <a:off x="345848" y="2002972"/>
            <a:ext cx="8318500" cy="5181600"/>
          </a:xfrm>
        </p:spPr>
        <p:txBody>
          <a:bodyPr/>
          <a:lstStyle/>
          <a:p>
            <a:pPr algn="ctr">
              <a:lnSpc>
                <a:spcPct val="150000"/>
              </a:lnSpc>
            </a:pPr>
            <a:r>
              <a:rPr lang="zh-CN" altLang="en-US" sz="3600" b="1" dirty="0" smtClean="0">
                <a:solidFill>
                  <a:srgbClr val="FF0000"/>
                </a:solidFill>
              </a:rPr>
              <a:t>区块链安装</a:t>
            </a:r>
            <a:endParaRPr lang="en-US" altLang="zh-CN" sz="3600" b="1" dirty="0" smtClean="0">
              <a:solidFill>
                <a:srgbClr val="FF0000"/>
              </a:solidFill>
            </a:endParaRPr>
          </a:p>
          <a:p>
            <a:pPr algn="ctr">
              <a:lnSpc>
                <a:spcPct val="150000"/>
              </a:lnSpc>
            </a:pPr>
            <a:r>
              <a:rPr lang="zh-CN" altLang="en-US" sz="3600" b="1" dirty="0" smtClean="0">
                <a:solidFill>
                  <a:srgbClr val="FF0000"/>
                </a:solidFill>
              </a:rPr>
              <a:t>区块链开发</a:t>
            </a:r>
            <a:endParaRPr lang="en-US" altLang="zh-CN" sz="3600" b="1" dirty="0" smtClean="0">
              <a:solidFill>
                <a:srgbClr val="FF0000"/>
              </a:solidFill>
            </a:endParaRPr>
          </a:p>
          <a:p>
            <a:pPr algn="ctr">
              <a:lnSpc>
                <a:spcPct val="150000"/>
              </a:lnSpc>
            </a:pPr>
            <a:r>
              <a:rPr lang="zh-CN" altLang="en-US" sz="3600" b="1" dirty="0" smtClean="0">
                <a:solidFill>
                  <a:srgbClr val="FF0000"/>
                </a:solidFill>
              </a:rPr>
              <a:t>区块链应用</a:t>
            </a:r>
            <a:endParaRPr lang="zh-CN" altLang="en-US" sz="3600" b="1" dirty="0">
              <a:solidFill>
                <a:srgbClr val="FF0000"/>
              </a:solidFill>
            </a:endParaRPr>
          </a:p>
        </p:txBody>
      </p:sp>
    </p:spTree>
    <p:extLst>
      <p:ext uri="{BB962C8B-B14F-4D97-AF65-F5344CB8AC3E}">
        <p14:creationId xmlns:p14="http://schemas.microsoft.com/office/powerpoint/2010/main" val="1755107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a:t>
            </a:r>
            <a:r>
              <a:rPr lang="zh-CN" altLang="en-US" kern="0" dirty="0">
                <a:latin typeface="微软雅黑" panose="020B0503020204020204" pitchFamily="34" charset="-122"/>
                <a:ea typeface="微软雅黑" panose="020B0503020204020204" pitchFamily="34" charset="-122"/>
              </a:rPr>
              <a:t>安装</a:t>
            </a: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3710849" cy="461665"/>
          </a:xfrm>
          <a:prstGeom prst="rect">
            <a:avLst/>
          </a:prstGeom>
          <a:noFill/>
        </p:spPr>
        <p:txBody>
          <a:bodyPr wrap="square" rtlCol="0">
            <a:spAutoFit/>
          </a:bodyPr>
          <a:lstStyle/>
          <a:p>
            <a:pPr indent="-285750">
              <a:buFont typeface="Wingdings" panose="05000000000000000000" pitchFamily="2" charset="2"/>
              <a:buChar char="n"/>
            </a:pPr>
            <a:r>
              <a:rPr lang="en-US" altLang="zh-CN" sz="2400" b="1" dirty="0">
                <a:latin typeface="微软雅黑" panose="020B0503020204020204" pitchFamily="34" charset="-122"/>
                <a:ea typeface="微软雅黑" panose="020B0503020204020204" pitchFamily="34" charset="-122"/>
              </a:rPr>
              <a:t>FISCO BCOS </a:t>
            </a:r>
            <a:r>
              <a:rPr lang="zh-CN" altLang="en-US" sz="2400" b="1" dirty="0">
                <a:latin typeface="微软雅黑" panose="020B0503020204020204" pitchFamily="34" charset="-122"/>
                <a:ea typeface="微软雅黑" panose="020B0503020204020204" pitchFamily="34" charset="-122"/>
              </a:rPr>
              <a:t>介绍</a:t>
            </a:r>
          </a:p>
        </p:txBody>
      </p:sp>
      <p:sp>
        <p:nvSpPr>
          <p:cNvPr id="11" name="文本框 6">
            <a:extLst>
              <a:ext uri="{FF2B5EF4-FFF2-40B4-BE49-F238E27FC236}">
                <a16:creationId xmlns:a16="http://schemas.microsoft.com/office/drawing/2014/main" xmlns="" id="{1B426D01-EEFA-4C45-8877-B16F7C61AA1C}"/>
              </a:ext>
            </a:extLst>
          </p:cNvPr>
          <p:cNvSpPr txBox="1"/>
          <p:nvPr/>
        </p:nvSpPr>
        <p:spPr>
          <a:xfrm>
            <a:off x="133528" y="1425220"/>
            <a:ext cx="8738329" cy="923330"/>
          </a:xfrm>
          <a:prstGeom prst="rect">
            <a:avLst/>
          </a:prstGeom>
          <a:noFill/>
        </p:spPr>
        <p:txBody>
          <a:bodyPr wrap="square" rtlCol="0">
            <a:spAutoFit/>
          </a:bodyPr>
          <a:lstStyle/>
          <a:p>
            <a:pPr>
              <a:lnSpc>
                <a:spcPct val="150000"/>
              </a:lnSpc>
              <a:spcAft>
                <a:spcPts val="500"/>
              </a:spcAft>
            </a:pPr>
            <a:r>
              <a:rPr lang="en-US" altLang="zh-CN" dirty="0">
                <a:latin typeface="微软雅黑" panose="020B0503020204020204" pitchFamily="34" charset="-122"/>
                <a:ea typeface="微软雅黑" panose="020B0503020204020204" pitchFamily="34" charset="-122"/>
              </a:rPr>
              <a:t>FISCO BCOS </a:t>
            </a:r>
            <a:r>
              <a:rPr lang="zh-CN" altLang="en-US" dirty="0">
                <a:latin typeface="微软雅黑" panose="020B0503020204020204" pitchFamily="34" charset="-122"/>
                <a:ea typeface="微软雅黑" panose="020B0503020204020204" pitchFamily="34" charset="-122"/>
              </a:rPr>
              <a:t>是由国内企业自主研发、对外开源、安全可控的企业级金融</a:t>
            </a:r>
            <a:r>
              <a:rPr lang="zh-CN" altLang="en-US" b="1" dirty="0">
                <a:latin typeface="微软雅黑" panose="020B0503020204020204" pitchFamily="34" charset="-122"/>
                <a:ea typeface="微软雅黑" panose="020B0503020204020204" pitchFamily="34" charset="-122"/>
              </a:rPr>
              <a:t>联盟链底层平台</a:t>
            </a:r>
            <a:r>
              <a:rPr lang="zh-CN" altLang="en-US" dirty="0">
                <a:latin typeface="微软雅黑" panose="020B0503020204020204" pitchFamily="34" charset="-122"/>
                <a:ea typeface="微软雅黑" panose="020B0503020204020204" pitchFamily="34" charset="-122"/>
              </a:rPr>
              <a:t>，由金链盟开源工作组协作打造，并于</a:t>
            </a:r>
            <a:r>
              <a:rPr lang="en-US" altLang="zh-CN" dirty="0">
                <a:latin typeface="微软雅黑" panose="020B0503020204020204" pitchFamily="34" charset="-122"/>
                <a:ea typeface="微软雅黑" panose="020B0503020204020204" pitchFamily="34" charset="-122"/>
              </a:rPr>
              <a:t>2017</a:t>
            </a:r>
            <a:r>
              <a:rPr lang="zh-CN" altLang="en-US" dirty="0">
                <a:latin typeface="微软雅黑" panose="020B0503020204020204" pitchFamily="34" charset="-122"/>
                <a:ea typeface="微软雅黑" panose="020B0503020204020204" pitchFamily="34" charset="-122"/>
              </a:rPr>
              <a:t>年正式对外开源。</a:t>
            </a:r>
            <a:endParaRPr lang="en-US" altLang="zh-CN" dirty="0">
              <a:latin typeface="微软雅黑" panose="020B0503020204020204" pitchFamily="34" charset="-122"/>
              <a:ea typeface="微软雅黑" panose="020B0503020204020204" pitchFamily="34" charset="-122"/>
            </a:endParaRPr>
          </a:p>
        </p:txBody>
      </p:sp>
      <p:sp>
        <p:nvSpPr>
          <p:cNvPr id="2" name="矩形 1"/>
          <p:cNvSpPr/>
          <p:nvPr/>
        </p:nvSpPr>
        <p:spPr>
          <a:xfrm>
            <a:off x="816428" y="2496235"/>
            <a:ext cx="6858000" cy="369332"/>
          </a:xfrm>
          <a:prstGeom prst="rect">
            <a:avLst/>
          </a:prstGeom>
        </p:spPr>
        <p:txBody>
          <a:bodyPr wrap="square">
            <a:spAutoFit/>
          </a:bodyPr>
          <a:lstStyle/>
          <a:p>
            <a:r>
              <a:rPr lang="en-US" altLang="zh-CN" dirty="0"/>
              <a:t>https://fisco-bcos-documentation.readthedocs.io/zh-cn/latest/</a:t>
            </a:r>
            <a:endParaRPr lang="zh-CN" altLang="en-US" dirty="0"/>
          </a:p>
        </p:txBody>
      </p:sp>
    </p:spTree>
    <p:extLst>
      <p:ext uri="{BB962C8B-B14F-4D97-AF65-F5344CB8AC3E}">
        <p14:creationId xmlns:p14="http://schemas.microsoft.com/office/powerpoint/2010/main" val="626210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a:t>
            </a:r>
            <a:r>
              <a:rPr lang="zh-CN" altLang="en-US" kern="0" dirty="0">
                <a:latin typeface="微软雅黑" panose="020B0503020204020204" pitchFamily="34" charset="-122"/>
                <a:ea typeface="微软雅黑" panose="020B0503020204020204" pitchFamily="34" charset="-122"/>
              </a:rPr>
              <a:t>安装</a:t>
            </a: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3710849" cy="461665"/>
          </a:xfrm>
          <a:prstGeom prst="rect">
            <a:avLst/>
          </a:prstGeom>
          <a:noFill/>
        </p:spPr>
        <p:txBody>
          <a:bodyPr wrap="square" rtlCol="0">
            <a:spAutoFit/>
          </a:bodyPr>
          <a:lstStyle/>
          <a:p>
            <a:pPr indent="-285750">
              <a:buFont typeface="Wingdings" panose="05000000000000000000" pitchFamily="2" charset="2"/>
              <a:buChar char="n"/>
            </a:pPr>
            <a:r>
              <a:rPr lang="zh-CN" altLang="en-US" sz="2400" b="1" dirty="0">
                <a:latin typeface="微软雅黑" panose="020B0503020204020204" pitchFamily="34" charset="-122"/>
                <a:ea typeface="微软雅黑" panose="020B0503020204020204" pitchFamily="34" charset="-122"/>
              </a:rPr>
              <a:t>搭建第一个区块链网络</a:t>
            </a:r>
          </a:p>
        </p:txBody>
      </p:sp>
      <p:sp>
        <p:nvSpPr>
          <p:cNvPr id="3" name="TextBox 2"/>
          <p:cNvSpPr txBox="1"/>
          <p:nvPr/>
        </p:nvSpPr>
        <p:spPr>
          <a:xfrm>
            <a:off x="254647" y="1644525"/>
            <a:ext cx="8533105" cy="923330"/>
          </a:xfrm>
          <a:prstGeom prst="rect">
            <a:avLst/>
          </a:prstGeom>
          <a:noFill/>
        </p:spPr>
        <p:txBody>
          <a:bodyPr wrap="none" rtlCol="0">
            <a:spAutoFit/>
          </a:bodyPr>
          <a:lstStyle/>
          <a:p>
            <a:r>
              <a:rPr lang="en-US" altLang="zh-CN" dirty="0">
                <a:hlinkClick r:id="rId2"/>
              </a:rPr>
              <a:t>https://</a:t>
            </a:r>
            <a:r>
              <a:rPr lang="en-US" altLang="zh-CN" dirty="0" smtClean="0">
                <a:hlinkClick r:id="rId2"/>
              </a:rPr>
              <a:t>fisco-bcos-documentation.readthedocs.io/zh-cn/latest/docs/installation.html</a:t>
            </a:r>
            <a:endParaRPr lang="en-US" altLang="zh-CN" dirty="0" smtClean="0"/>
          </a:p>
          <a:p>
            <a:endParaRPr lang="en-US" altLang="zh-CN" dirty="0"/>
          </a:p>
          <a:p>
            <a:endParaRPr lang="zh-CN" altLang="en-US" dirty="0"/>
          </a:p>
        </p:txBody>
      </p:sp>
      <p:sp>
        <p:nvSpPr>
          <p:cNvPr id="4" name="TextBox 3"/>
          <p:cNvSpPr txBox="1"/>
          <p:nvPr/>
        </p:nvSpPr>
        <p:spPr>
          <a:xfrm>
            <a:off x="381000" y="2383189"/>
            <a:ext cx="2361544" cy="369332"/>
          </a:xfrm>
          <a:prstGeom prst="rect">
            <a:avLst/>
          </a:prstGeom>
          <a:noFill/>
        </p:spPr>
        <p:txBody>
          <a:bodyPr wrap="none" rtlCol="0">
            <a:spAutoFit/>
          </a:bodyPr>
          <a:lstStyle/>
          <a:p>
            <a:r>
              <a:rPr lang="zh-CN" altLang="en-US" b="1" dirty="0"/>
              <a:t>安装</a:t>
            </a:r>
            <a:r>
              <a:rPr lang="en-US" altLang="zh-CN" b="1" dirty="0" err="1" smtClean="0"/>
              <a:t>ubuntu</a:t>
            </a:r>
            <a:r>
              <a:rPr lang="zh-CN" altLang="en-US" b="1" dirty="0" smtClean="0"/>
              <a:t>操作系统</a:t>
            </a:r>
            <a:endParaRPr lang="zh-CN" altLang="en-US" dirty="0"/>
          </a:p>
        </p:txBody>
      </p:sp>
    </p:spTree>
    <p:extLst>
      <p:ext uri="{BB962C8B-B14F-4D97-AF65-F5344CB8AC3E}">
        <p14:creationId xmlns:p14="http://schemas.microsoft.com/office/powerpoint/2010/main" val="3985437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a:t>
            </a:r>
            <a:r>
              <a:rPr lang="zh-CN" altLang="en-US" kern="0" dirty="0">
                <a:latin typeface="微软雅黑" panose="020B0503020204020204" pitchFamily="34" charset="-122"/>
                <a:ea typeface="微软雅黑" panose="020B0503020204020204" pitchFamily="34" charset="-122"/>
              </a:rPr>
              <a:t>安装</a:t>
            </a: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3710849" cy="461665"/>
          </a:xfrm>
          <a:prstGeom prst="rect">
            <a:avLst/>
          </a:prstGeom>
          <a:noFill/>
        </p:spPr>
        <p:txBody>
          <a:bodyPr wrap="square" rtlCol="0">
            <a:spAutoFit/>
          </a:bodyPr>
          <a:lstStyle/>
          <a:p>
            <a:pPr indent="-285750">
              <a:buFont typeface="Wingdings" panose="05000000000000000000" pitchFamily="2" charset="2"/>
              <a:buChar char="n"/>
            </a:pPr>
            <a:r>
              <a:rPr lang="en-US" altLang="zh-CN" sz="2400" b="1" dirty="0" err="1" smtClean="0">
                <a:latin typeface="微软雅黑" panose="020B0503020204020204" pitchFamily="34" charset="-122"/>
                <a:ea typeface="微软雅黑" panose="020B0503020204020204" pitchFamily="34" charset="-122"/>
              </a:rPr>
              <a:t>Webase</a:t>
            </a:r>
            <a:endParaRPr lang="zh-CN" altLang="en-US" sz="2400" b="1" dirty="0">
              <a:latin typeface="微软雅黑" panose="020B0503020204020204" pitchFamily="34" charset="-122"/>
              <a:ea typeface="微软雅黑" panose="020B0503020204020204" pitchFamily="34" charset="-122"/>
            </a:endParaRPr>
          </a:p>
        </p:txBody>
      </p:sp>
      <p:sp>
        <p:nvSpPr>
          <p:cNvPr id="2" name="矩形 1"/>
          <p:cNvSpPr/>
          <p:nvPr/>
        </p:nvSpPr>
        <p:spPr>
          <a:xfrm>
            <a:off x="457200" y="1381633"/>
            <a:ext cx="8128000" cy="369332"/>
          </a:xfrm>
          <a:prstGeom prst="rect">
            <a:avLst/>
          </a:prstGeom>
        </p:spPr>
        <p:txBody>
          <a:bodyPr wrap="square">
            <a:spAutoFit/>
          </a:bodyPr>
          <a:lstStyle/>
          <a:p>
            <a:r>
              <a:rPr lang="en-US" altLang="zh-CN" dirty="0"/>
              <a:t>https://webasedoc.readthedocs.io/zh-cn/latest/docs/WeBASE/install.html</a:t>
            </a:r>
            <a:endParaRPr lang="zh-CN" altLang="en-US" dirty="0"/>
          </a:p>
        </p:txBody>
      </p:sp>
      <p:pic>
        <p:nvPicPr>
          <p:cNvPr id="4098" name="Picture 2" descr="../../_images/webase-we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1" y="1750965"/>
            <a:ext cx="8938260" cy="4715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0546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a:t>
            </a:r>
            <a:r>
              <a:rPr lang="zh-CN" altLang="en-US" kern="0" dirty="0">
                <a:latin typeface="微软雅黑" panose="020B0503020204020204" pitchFamily="34" charset="-122"/>
                <a:ea typeface="微软雅黑" panose="020B0503020204020204" pitchFamily="34" charset="-122"/>
              </a:rPr>
              <a:t>安装</a:t>
            </a: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3710849" cy="461665"/>
          </a:xfrm>
          <a:prstGeom prst="rect">
            <a:avLst/>
          </a:prstGeom>
          <a:noFill/>
        </p:spPr>
        <p:txBody>
          <a:bodyPr wrap="square" rtlCol="0">
            <a:spAutoFit/>
          </a:bodyPr>
          <a:lstStyle/>
          <a:p>
            <a:pPr indent="-285750">
              <a:buFont typeface="Wingdings" panose="05000000000000000000" pitchFamily="2" charset="2"/>
              <a:buChar char="n"/>
            </a:pPr>
            <a:r>
              <a:rPr lang="en-US" altLang="zh-CN" sz="2400" b="1" dirty="0" err="1" smtClean="0">
                <a:latin typeface="微软雅黑" panose="020B0503020204020204" pitchFamily="34" charset="-122"/>
                <a:ea typeface="微软雅黑" panose="020B0503020204020204" pitchFamily="34" charset="-122"/>
              </a:rPr>
              <a:t>Docker</a:t>
            </a:r>
            <a:r>
              <a:rPr lang="zh-CN" altLang="en-US" sz="2400" b="1" dirty="0" smtClean="0">
                <a:latin typeface="微软雅黑" panose="020B0503020204020204" pitchFamily="34" charset="-122"/>
                <a:ea typeface="微软雅黑" panose="020B0503020204020204" pitchFamily="34" charset="-122"/>
              </a:rPr>
              <a:t>快速搭建</a:t>
            </a:r>
            <a:endParaRPr lang="zh-CN" altLang="en-US" sz="2400" b="1" dirty="0">
              <a:latin typeface="微软雅黑" panose="020B0503020204020204" pitchFamily="34" charset="-122"/>
              <a:ea typeface="微软雅黑" panose="020B0503020204020204" pitchFamily="34" charset="-122"/>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714" y="2026557"/>
            <a:ext cx="8719457"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217714" y="1499578"/>
            <a:ext cx="8603566" cy="369332"/>
          </a:xfrm>
          <a:prstGeom prst="rect">
            <a:avLst/>
          </a:prstGeom>
        </p:spPr>
        <p:txBody>
          <a:bodyPr wrap="square">
            <a:spAutoFit/>
          </a:bodyPr>
          <a:lstStyle/>
          <a:p>
            <a:r>
              <a:rPr lang="zh-CN" altLang="en-US" dirty="0"/>
              <a:t>使用</a:t>
            </a:r>
            <a:r>
              <a:rPr lang="en-US" altLang="zh-CN" b="1" dirty="0" err="1"/>
              <a:t>docker</a:t>
            </a:r>
            <a:r>
              <a:rPr lang="zh-CN" altLang="en-US" dirty="0"/>
              <a:t>模式搭建 ，供有丰富</a:t>
            </a:r>
            <a:r>
              <a:rPr lang="en-US" altLang="zh-CN" b="1" dirty="0" err="1"/>
              <a:t>docker</a:t>
            </a:r>
            <a:r>
              <a:rPr lang="zh-CN" altLang="en-US" dirty="0"/>
              <a:t>经验和容器化部署需求的用户参考</a:t>
            </a:r>
          </a:p>
        </p:txBody>
      </p:sp>
    </p:spTree>
    <p:extLst>
      <p:ext uri="{BB962C8B-B14F-4D97-AF65-F5344CB8AC3E}">
        <p14:creationId xmlns:p14="http://schemas.microsoft.com/office/powerpoint/2010/main" val="1791353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块链开发</a:t>
            </a:r>
            <a:endParaRPr lang="zh-CN" altLang="en-US" kern="0" dirty="0">
              <a:latin typeface="微软雅黑" panose="020B0503020204020204" pitchFamily="34" charset="-122"/>
              <a:ea typeface="微软雅黑" panose="020B0503020204020204" pitchFamily="34" charset="-122"/>
            </a:endParaRP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3710849" cy="461665"/>
          </a:xfrm>
          <a:prstGeom prst="rect">
            <a:avLst/>
          </a:prstGeom>
          <a:noFill/>
        </p:spPr>
        <p:txBody>
          <a:bodyPr wrap="square" rtlCol="0">
            <a:spAutoFit/>
          </a:bodyPr>
          <a:lstStyle/>
          <a:p>
            <a:pPr indent="-285750">
              <a:buFont typeface="Wingdings" panose="05000000000000000000" pitchFamily="2" charset="2"/>
              <a:buChar char="n"/>
            </a:pPr>
            <a:r>
              <a:rPr lang="zh-CN" altLang="en-US" sz="2400" b="1" dirty="0" smtClean="0">
                <a:latin typeface="微软雅黑" panose="020B0503020204020204" pitchFamily="34" charset="-122"/>
                <a:ea typeface="微软雅黑" panose="020B0503020204020204" pitchFamily="34" charset="-122"/>
              </a:rPr>
              <a:t>智能合约</a:t>
            </a:r>
            <a:r>
              <a:rPr lang="en-US" altLang="zh-CN" sz="2400" b="1" dirty="0" smtClean="0">
                <a:latin typeface="微软雅黑" panose="020B0503020204020204" pitchFamily="34" charset="-122"/>
                <a:ea typeface="微软雅黑" panose="020B0503020204020204" pitchFamily="34" charset="-122"/>
              </a:rPr>
              <a:t>---Solidity</a:t>
            </a:r>
            <a:endParaRPr lang="zh-CN" altLang="en-US" sz="2400" b="1" dirty="0">
              <a:latin typeface="微软雅黑" panose="020B0503020204020204" pitchFamily="34" charset="-122"/>
              <a:ea typeface="微软雅黑" panose="020B0503020204020204" pitchFamily="34" charset="-122"/>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182" y="1630816"/>
            <a:ext cx="6623504" cy="93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153" y="2569028"/>
            <a:ext cx="4119789" cy="1064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182" y="3753304"/>
            <a:ext cx="7369175" cy="159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12377" y="5482727"/>
            <a:ext cx="8661400" cy="646331"/>
          </a:xfrm>
          <a:prstGeom prst="rect">
            <a:avLst/>
          </a:prstGeom>
          <a:noFill/>
        </p:spPr>
        <p:txBody>
          <a:bodyPr wrap="square" rtlCol="0">
            <a:spAutoFit/>
          </a:bodyPr>
          <a:lstStyle/>
          <a:p>
            <a:r>
              <a:rPr lang="en-US" altLang="zh-CN" dirty="0"/>
              <a:t>https://fisco-bcos-documentation.readthedocs.io/zh-cn/latest/docs/manual/smart_contract.html?highlight=KVTable#solidity</a:t>
            </a:r>
            <a:endParaRPr lang="zh-CN" altLang="en-US" dirty="0"/>
          </a:p>
        </p:txBody>
      </p:sp>
    </p:spTree>
    <p:extLst>
      <p:ext uri="{BB962C8B-B14F-4D97-AF65-F5344CB8AC3E}">
        <p14:creationId xmlns:p14="http://schemas.microsoft.com/office/powerpoint/2010/main" val="1281876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块链开发</a:t>
            </a:r>
            <a:endParaRPr lang="zh-CN" altLang="en-US" kern="0" dirty="0">
              <a:latin typeface="微软雅黑" panose="020B0503020204020204" pitchFamily="34" charset="-122"/>
              <a:ea typeface="微软雅黑" panose="020B0503020204020204" pitchFamily="34" charset="-122"/>
            </a:endParaRP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3710849" cy="461665"/>
          </a:xfrm>
          <a:prstGeom prst="rect">
            <a:avLst/>
          </a:prstGeom>
          <a:noFill/>
        </p:spPr>
        <p:txBody>
          <a:bodyPr wrap="square" rtlCol="0">
            <a:spAutoFit/>
          </a:bodyPr>
          <a:lstStyle/>
          <a:p>
            <a:pPr indent="-285750">
              <a:buFont typeface="Wingdings" panose="05000000000000000000" pitchFamily="2" charset="2"/>
              <a:buChar char="n"/>
            </a:pPr>
            <a:r>
              <a:rPr lang="zh-CN" altLang="en-US" sz="2400" b="1" dirty="0" smtClean="0">
                <a:latin typeface="微软雅黑" panose="020B0503020204020204" pitchFamily="34" charset="-122"/>
                <a:ea typeface="微软雅黑" panose="020B0503020204020204" pitchFamily="34" charset="-122"/>
              </a:rPr>
              <a:t>智能合约</a:t>
            </a:r>
            <a:r>
              <a:rPr lang="en-US" altLang="zh-CN" sz="2400" b="1" dirty="0" smtClean="0">
                <a:latin typeface="微软雅黑" panose="020B0503020204020204" pitchFamily="34" charset="-122"/>
                <a:ea typeface="微软雅黑" panose="020B0503020204020204" pitchFamily="34" charset="-122"/>
              </a:rPr>
              <a:t>---Solidity</a:t>
            </a:r>
            <a:endParaRPr lang="zh-CN" altLang="en-US" sz="2400" b="1" dirty="0">
              <a:latin typeface="微软雅黑" panose="020B0503020204020204" pitchFamily="34" charset="-122"/>
              <a:ea typeface="微软雅黑" panose="020B0503020204020204" pitchFamily="34"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10620"/>
            <a:ext cx="8247252" cy="4128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1886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块链开发</a:t>
            </a:r>
            <a:endParaRPr lang="zh-CN" altLang="en-US" kern="0" dirty="0">
              <a:latin typeface="微软雅黑" panose="020B0503020204020204" pitchFamily="34" charset="-122"/>
              <a:ea typeface="微软雅黑" panose="020B0503020204020204" pitchFamily="34" charset="-122"/>
            </a:endParaRP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3710849" cy="461665"/>
          </a:xfrm>
          <a:prstGeom prst="rect">
            <a:avLst/>
          </a:prstGeom>
          <a:noFill/>
        </p:spPr>
        <p:txBody>
          <a:bodyPr wrap="square" rtlCol="0">
            <a:spAutoFit/>
          </a:bodyPr>
          <a:lstStyle/>
          <a:p>
            <a:pPr indent="-285750">
              <a:buFont typeface="Wingdings" panose="05000000000000000000" pitchFamily="2" charset="2"/>
              <a:buChar char="n"/>
            </a:pPr>
            <a:r>
              <a:rPr lang="zh-CN" altLang="en-US" sz="2400" b="1" dirty="0" smtClean="0">
                <a:latin typeface="微软雅黑" panose="020B0503020204020204" pitchFamily="34" charset="-122"/>
                <a:ea typeface="微软雅黑" panose="020B0503020204020204" pitchFamily="34" charset="-122"/>
              </a:rPr>
              <a:t>智能合约</a:t>
            </a:r>
            <a:r>
              <a:rPr lang="en-US" altLang="zh-CN" sz="2400" b="1" dirty="0" smtClean="0">
                <a:latin typeface="微软雅黑" panose="020B0503020204020204" pitchFamily="34" charset="-122"/>
                <a:ea typeface="微软雅黑" panose="020B0503020204020204" pitchFamily="34" charset="-122"/>
              </a:rPr>
              <a:t>---Solidity</a:t>
            </a:r>
            <a:endParaRPr lang="zh-CN" altLang="en-US" sz="2400" b="1" dirty="0">
              <a:latin typeface="微软雅黑" panose="020B0503020204020204" pitchFamily="34" charset="-122"/>
              <a:ea typeface="微软雅黑" panose="020B0503020204020204" pitchFamily="34" charset="-122"/>
            </a:endParaRPr>
          </a:p>
        </p:txBody>
      </p:sp>
      <p:sp>
        <p:nvSpPr>
          <p:cNvPr id="2" name="矩形 1"/>
          <p:cNvSpPr/>
          <p:nvPr/>
        </p:nvSpPr>
        <p:spPr>
          <a:xfrm>
            <a:off x="576943" y="1381633"/>
            <a:ext cx="7859486" cy="369332"/>
          </a:xfrm>
          <a:prstGeom prst="rect">
            <a:avLst/>
          </a:prstGeom>
        </p:spPr>
        <p:txBody>
          <a:bodyPr wrap="square">
            <a:spAutoFit/>
          </a:bodyPr>
          <a:lstStyle/>
          <a:p>
            <a:r>
              <a:rPr lang="zh-CN" altLang="en-US" dirty="0"/>
              <a:t>通过智能合约</a:t>
            </a:r>
            <a:r>
              <a:rPr lang="en-US" altLang="zh-CN" dirty="0"/>
              <a:t>IDE</a:t>
            </a:r>
            <a:r>
              <a:rPr lang="zh-CN" altLang="en-US" dirty="0"/>
              <a:t>部署合约</a:t>
            </a:r>
            <a:r>
              <a:rPr lang="en-US" altLang="zh-CN" dirty="0"/>
              <a:t>,</a:t>
            </a:r>
            <a:r>
              <a:rPr lang="zh-CN" altLang="en-US" dirty="0"/>
              <a:t>并获取合约地址等</a:t>
            </a:r>
            <a:r>
              <a:rPr lang="zh-CN" altLang="en-US" dirty="0" smtClean="0"/>
              <a:t>信息</a:t>
            </a:r>
            <a:endParaRPr lang="zh-CN" altLang="en-US" dirty="0"/>
          </a:p>
        </p:txBody>
      </p:sp>
      <p:pic>
        <p:nvPicPr>
          <p:cNvPr id="5122" name="Picture 2" descr="../../_images/contrac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630" y="1828800"/>
            <a:ext cx="8316141" cy="4595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556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3" name="TextBox 2"/>
          <p:cNvSpPr txBox="1"/>
          <p:nvPr/>
        </p:nvSpPr>
        <p:spPr>
          <a:xfrm>
            <a:off x="1" y="1856915"/>
            <a:ext cx="9144000" cy="1600438"/>
          </a:xfrm>
          <a:prstGeom prst="rect">
            <a:avLst/>
          </a:prstGeom>
          <a:noFill/>
        </p:spPr>
        <p:txBody>
          <a:bodyPr wrap="square" rtlCol="0">
            <a:spAutoFit/>
          </a:bodyPr>
          <a:lstStyle/>
          <a:p>
            <a:r>
              <a:rPr lang="zh-CN" altLang="en-US" sz="1400" dirty="0" smtClean="0">
                <a:hlinkClick r:id="rId2"/>
              </a:rPr>
              <a:t>基础：</a:t>
            </a:r>
            <a:r>
              <a:rPr lang="en-US" altLang="zh-CN" sz="1400" dirty="0" smtClean="0">
                <a:hlinkClick r:id="rId2"/>
              </a:rPr>
              <a:t>https</a:t>
            </a:r>
            <a:r>
              <a:rPr lang="en-US" altLang="zh-CN" sz="1400" dirty="0">
                <a:hlinkClick r:id="rId2"/>
              </a:rPr>
              <a:t>://</a:t>
            </a:r>
            <a:r>
              <a:rPr lang="en-US" altLang="zh-CN" sz="1400" dirty="0" smtClean="0">
                <a:hlinkClick r:id="rId2"/>
              </a:rPr>
              <a:t>github.com/WeBankBlockchain/SmartDev-Contract/blob/master/docs/tutorials/Solidity-basic.md</a:t>
            </a:r>
            <a:endParaRPr lang="en-US" altLang="zh-CN" sz="1400" dirty="0" smtClean="0"/>
          </a:p>
          <a:p>
            <a:r>
              <a:rPr lang="zh-CN" altLang="en-US" sz="1400" dirty="0" smtClean="0"/>
              <a:t>进阶：</a:t>
            </a:r>
            <a:r>
              <a:rPr lang="en-US" altLang="zh-CN" sz="1400" dirty="0" smtClean="0">
                <a:hlinkClick r:id="rId3"/>
              </a:rPr>
              <a:t>https</a:t>
            </a:r>
            <a:r>
              <a:rPr lang="en-US" altLang="zh-CN" sz="1400" dirty="0">
                <a:hlinkClick r:id="rId3"/>
              </a:rPr>
              <a:t>://</a:t>
            </a:r>
            <a:r>
              <a:rPr lang="en-US" altLang="zh-CN" sz="1400" dirty="0" smtClean="0">
                <a:hlinkClick r:id="rId3"/>
              </a:rPr>
              <a:t>github.com/WeBankBlockchain/SmartDev-Contract/blob/master/docs/tutorials/Solidity-advance.md</a:t>
            </a:r>
            <a:endParaRPr lang="en-US" altLang="zh-CN" sz="1400" dirty="0" smtClean="0"/>
          </a:p>
          <a:p>
            <a:r>
              <a:rPr lang="zh-CN" altLang="en-US" sz="1400" dirty="0" smtClean="0"/>
              <a:t>例子：</a:t>
            </a:r>
            <a:r>
              <a:rPr lang="en-US" altLang="zh-CN" sz="1400" dirty="0">
                <a:hlinkClick r:id="rId4"/>
              </a:rPr>
              <a:t>https://</a:t>
            </a:r>
            <a:r>
              <a:rPr lang="en-US" altLang="zh-CN" sz="1400" dirty="0" smtClean="0">
                <a:hlinkClick r:id="rId4"/>
              </a:rPr>
              <a:t>solidity-cn.readthedocs.io/zh/develop/solidity-by-example.html</a:t>
            </a:r>
            <a:endParaRPr lang="en-US" altLang="zh-CN" sz="1400" dirty="0" smtClean="0"/>
          </a:p>
          <a:p>
            <a:endParaRPr lang="en-US" altLang="zh-CN" sz="1400" dirty="0"/>
          </a:p>
          <a:p>
            <a:r>
              <a:rPr lang="zh-CN" altLang="en-US" sz="1400" dirty="0"/>
              <a:t>如果单纯学习</a:t>
            </a:r>
            <a:r>
              <a:rPr lang="en-US" altLang="zh-CN" sz="1400" dirty="0"/>
              <a:t>Solidity</a:t>
            </a:r>
            <a:r>
              <a:rPr lang="zh-CN" altLang="en-US" sz="1400" dirty="0"/>
              <a:t>开发，可能使用</a:t>
            </a:r>
            <a:r>
              <a:rPr lang="en-US" altLang="zh-CN" sz="1400" dirty="0"/>
              <a:t>Remix</a:t>
            </a:r>
            <a:r>
              <a:rPr lang="zh-CN" altLang="en-US" sz="1400" dirty="0"/>
              <a:t>也就够了</a:t>
            </a:r>
            <a:r>
              <a:rPr lang="zh-CN" altLang="en-US" sz="1400" dirty="0" smtClean="0"/>
              <a:t>，</a:t>
            </a:r>
            <a:endParaRPr lang="en-US" altLang="zh-CN" sz="1400" dirty="0" smtClean="0"/>
          </a:p>
          <a:p>
            <a:r>
              <a:rPr lang="zh-CN" altLang="en-US" sz="1400" dirty="0" smtClean="0"/>
              <a:t>因为</a:t>
            </a:r>
            <a:r>
              <a:rPr lang="zh-CN" altLang="en-US" sz="1400" dirty="0"/>
              <a:t>它内部也内嵌了</a:t>
            </a:r>
            <a:r>
              <a:rPr lang="en-US" altLang="zh-CN" sz="1400" dirty="0"/>
              <a:t>EVM</a:t>
            </a:r>
            <a:r>
              <a:rPr lang="zh-CN" altLang="en-US" sz="1400" dirty="0"/>
              <a:t>虚拟机，可以模拟智能合约的运行</a:t>
            </a:r>
            <a:r>
              <a:rPr lang="zh-CN" altLang="en-US" sz="1400" dirty="0" smtClean="0"/>
              <a:t>。</a:t>
            </a:r>
            <a:endParaRPr lang="en-US" altLang="zh-CN" sz="1400" dirty="0" smtClean="0"/>
          </a:p>
          <a:p>
            <a:r>
              <a:rPr lang="en-US" altLang="zh-CN" sz="1400" dirty="0"/>
              <a:t>https://remix.ethereum.org/</a:t>
            </a:r>
            <a:endParaRPr lang="zh-CN" altLang="en-US" sz="1400" dirty="0"/>
          </a:p>
        </p:txBody>
      </p:sp>
    </p:spTree>
    <p:extLst>
      <p:ext uri="{BB962C8B-B14F-4D97-AF65-F5344CB8AC3E}">
        <p14:creationId xmlns:p14="http://schemas.microsoft.com/office/powerpoint/2010/main" val="2219315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4" name="矩形 3"/>
          <p:cNvSpPr/>
          <p:nvPr/>
        </p:nvSpPr>
        <p:spPr>
          <a:xfrm>
            <a:off x="141515" y="1117939"/>
            <a:ext cx="7685314" cy="1200329"/>
          </a:xfrm>
          <a:prstGeom prst="rect">
            <a:avLst/>
          </a:prstGeom>
        </p:spPr>
        <p:txBody>
          <a:bodyPr wrap="square">
            <a:spAutoFit/>
          </a:bodyPr>
          <a:lstStyle/>
          <a:p>
            <a:r>
              <a:rPr lang="en-US" altLang="zh-CN" dirty="0"/>
              <a:t>Solidity </a:t>
            </a:r>
            <a:r>
              <a:rPr lang="zh-CN" altLang="en-US" dirty="0"/>
              <a:t>是一门面向对象的、为实现智能合约而创建的高级编程语言。这门语言受到了 </a:t>
            </a:r>
            <a:r>
              <a:rPr lang="en-US" altLang="zh-CN" dirty="0"/>
              <a:t>C++</a:t>
            </a:r>
            <a:r>
              <a:rPr lang="zh-CN" altLang="en-US" dirty="0"/>
              <a:t>，</a:t>
            </a:r>
            <a:r>
              <a:rPr lang="en-US" altLang="zh-CN" dirty="0"/>
              <a:t>Python </a:t>
            </a:r>
            <a:r>
              <a:rPr lang="zh-CN" altLang="en-US" dirty="0"/>
              <a:t>和 </a:t>
            </a:r>
            <a:r>
              <a:rPr lang="en-US" altLang="zh-CN" dirty="0" err="1"/>
              <a:t>Javascript</a:t>
            </a:r>
            <a:r>
              <a:rPr lang="en-US" altLang="zh-CN" dirty="0"/>
              <a:t> </a:t>
            </a:r>
            <a:r>
              <a:rPr lang="zh-CN" altLang="en-US" dirty="0"/>
              <a:t>等语言的影响，设计的目的是能在以太坊虚拟机（</a:t>
            </a:r>
            <a:r>
              <a:rPr lang="en-US" altLang="zh-CN" dirty="0"/>
              <a:t>EVM</a:t>
            </a:r>
            <a:r>
              <a:rPr lang="zh-CN" altLang="en-US" dirty="0"/>
              <a:t>）上运行。还需要明确的是，</a:t>
            </a:r>
            <a:r>
              <a:rPr lang="en-US" altLang="zh-CN" dirty="0"/>
              <a:t>Solidity </a:t>
            </a:r>
            <a:r>
              <a:rPr lang="zh-CN" altLang="en-US" dirty="0"/>
              <a:t>是静态类型语言，支持继承、库和复杂的用户定义类型等特性。</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514209"/>
            <a:ext cx="3518415" cy="2732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3984172" y="2752361"/>
            <a:ext cx="4572000" cy="1754326"/>
          </a:xfrm>
          <a:prstGeom prst="rect">
            <a:avLst/>
          </a:prstGeom>
        </p:spPr>
        <p:txBody>
          <a:bodyPr>
            <a:spAutoFit/>
          </a:bodyPr>
          <a:lstStyle/>
          <a:p>
            <a:r>
              <a:rPr lang="en-US" altLang="zh-CN" dirty="0"/>
              <a:t>contract</a:t>
            </a:r>
            <a:r>
              <a:rPr lang="zh-CN" altLang="en-US" dirty="0"/>
              <a:t>是一个关键字，用来定义合约名字，它很像是某些语言里的定义了一个类（</a:t>
            </a:r>
            <a:r>
              <a:rPr lang="en-US" altLang="zh-CN" dirty="0"/>
              <a:t>class</a:t>
            </a:r>
            <a:r>
              <a:rPr lang="zh-CN" altLang="en-US" dirty="0"/>
              <a:t>）。</a:t>
            </a:r>
            <a:r>
              <a:rPr lang="en-US" altLang="zh-CN" dirty="0"/>
              <a:t>hello</a:t>
            </a:r>
            <a:r>
              <a:rPr lang="zh-CN" altLang="en-US" dirty="0"/>
              <a:t>是本合约的名字，这个合约的主要功能是向区块链系统中存储一个</a:t>
            </a:r>
            <a:r>
              <a:rPr lang="en-US" altLang="zh-CN" dirty="0" err="1"/>
              <a:t>Msg</a:t>
            </a:r>
            <a:r>
              <a:rPr lang="zh-CN" altLang="en-US" dirty="0"/>
              <a:t>字符串。</a:t>
            </a:r>
            <a:r>
              <a:rPr lang="en-US" altLang="zh-CN" dirty="0"/>
              <a:t>constructor</a:t>
            </a:r>
            <a:r>
              <a:rPr lang="zh-CN" altLang="en-US" dirty="0"/>
              <a:t>是该合约的构造函数，它必须是</a:t>
            </a:r>
            <a:r>
              <a:rPr lang="en-US" altLang="zh-CN" dirty="0"/>
              <a:t>public</a:t>
            </a:r>
            <a:r>
              <a:rPr lang="zh-CN" altLang="en-US" dirty="0" smtClean="0"/>
              <a:t>的。</a:t>
            </a:r>
            <a:endParaRPr lang="zh-CN" altLang="en-US" dirty="0"/>
          </a:p>
        </p:txBody>
      </p:sp>
    </p:spTree>
    <p:extLst>
      <p:ext uri="{BB962C8B-B14F-4D97-AF65-F5344CB8AC3E}">
        <p14:creationId xmlns:p14="http://schemas.microsoft.com/office/powerpoint/2010/main" val="3537814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1018268"/>
            <a:ext cx="9029700" cy="5077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2028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113564" y="1001877"/>
            <a:ext cx="2276585" cy="369332"/>
          </a:xfrm>
          <a:prstGeom prst="rect">
            <a:avLst/>
          </a:prstGeom>
        </p:spPr>
        <p:txBody>
          <a:bodyPr wrap="none">
            <a:spAutoFit/>
          </a:bodyPr>
          <a:lstStyle/>
          <a:p>
            <a:r>
              <a:rPr lang="zh-CN" altLang="en-US" b="1" dirty="0"/>
              <a:t>状态变量与临时变量</a:t>
            </a:r>
          </a:p>
        </p:txBody>
      </p:sp>
      <p:sp>
        <p:nvSpPr>
          <p:cNvPr id="3" name="TextBox 2"/>
          <p:cNvSpPr txBox="1"/>
          <p:nvPr/>
        </p:nvSpPr>
        <p:spPr>
          <a:xfrm>
            <a:off x="115570" y="1371209"/>
            <a:ext cx="8545830" cy="1200329"/>
          </a:xfrm>
          <a:prstGeom prst="rect">
            <a:avLst/>
          </a:prstGeom>
          <a:noFill/>
        </p:spPr>
        <p:txBody>
          <a:bodyPr wrap="square" rtlCol="0">
            <a:spAutoFit/>
          </a:bodyPr>
          <a:lstStyle/>
          <a:p>
            <a:r>
              <a:rPr lang="en-US" altLang="zh-CN" dirty="0"/>
              <a:t>contract</a:t>
            </a:r>
            <a:r>
              <a:rPr lang="zh-CN" altLang="en-US" dirty="0"/>
              <a:t>定义的方式很像某些语言中的</a:t>
            </a:r>
            <a:r>
              <a:rPr lang="en-US" altLang="zh-CN" dirty="0"/>
              <a:t>class</a:t>
            </a:r>
            <a:r>
              <a:rPr lang="zh-CN" altLang="en-US" dirty="0"/>
              <a:t>，我们同样也可以在</a:t>
            </a:r>
            <a:r>
              <a:rPr lang="en-US" altLang="zh-CN" dirty="0"/>
              <a:t>contract</a:t>
            </a:r>
            <a:r>
              <a:rPr lang="zh-CN" altLang="en-US" dirty="0"/>
              <a:t>中定义类似于</a:t>
            </a:r>
            <a:r>
              <a:rPr lang="en-US" altLang="zh-CN" dirty="0"/>
              <a:t>class</a:t>
            </a:r>
            <a:r>
              <a:rPr lang="zh-CN" altLang="en-US" dirty="0"/>
              <a:t>中的成员变量，只不过在智能合约中，我们把它称其为状态变量。一旦被定义为状态变量，它也将被永久的存储在区块链上。除了状态变量，</a:t>
            </a:r>
            <a:r>
              <a:rPr lang="en-US" altLang="zh-CN" dirty="0"/>
              <a:t>Solidity</a:t>
            </a:r>
            <a:r>
              <a:rPr lang="zh-CN" altLang="en-US" dirty="0"/>
              <a:t>当中也可以在函数中使用临时变量，临时变量不会被存储在区块链中。</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570" y="2543250"/>
            <a:ext cx="3559629" cy="1517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98664" y="3951515"/>
            <a:ext cx="8488679" cy="1200329"/>
          </a:xfrm>
          <a:prstGeom prst="rect">
            <a:avLst/>
          </a:prstGeom>
          <a:noFill/>
        </p:spPr>
        <p:txBody>
          <a:bodyPr wrap="square" rtlCol="0">
            <a:spAutoFit/>
          </a:bodyPr>
          <a:lstStyle/>
          <a:p>
            <a:r>
              <a:rPr lang="en-US" altLang="zh-CN" dirty="0"/>
              <a:t>Type</a:t>
            </a:r>
            <a:r>
              <a:rPr lang="zh-CN" altLang="en-US" dirty="0"/>
              <a:t>为数据类型，</a:t>
            </a:r>
            <a:r>
              <a:rPr lang="en-US" altLang="zh-CN" dirty="0"/>
              <a:t>identifier</a:t>
            </a:r>
            <a:r>
              <a:rPr lang="zh-CN" altLang="en-US" dirty="0"/>
              <a:t>为变量名称，</a:t>
            </a:r>
            <a:r>
              <a:rPr lang="en-US" altLang="zh-CN" dirty="0"/>
              <a:t>[modifier]</a:t>
            </a:r>
            <a:r>
              <a:rPr lang="zh-CN" altLang="en-US" dirty="0"/>
              <a:t>是修饰符，可以使用</a:t>
            </a:r>
            <a:r>
              <a:rPr lang="en-US" altLang="zh-CN" dirty="0"/>
              <a:t>public</a:t>
            </a:r>
            <a:r>
              <a:rPr lang="zh-CN" altLang="en-US" dirty="0"/>
              <a:t>、</a:t>
            </a:r>
            <a:r>
              <a:rPr lang="en-US" altLang="zh-CN" dirty="0"/>
              <a:t>private</a:t>
            </a:r>
            <a:r>
              <a:rPr lang="zh-CN" altLang="en-US" dirty="0"/>
              <a:t>等来修饰该状态变量，代表该状态变量的访问权限，</a:t>
            </a:r>
            <a:r>
              <a:rPr lang="en-US" altLang="zh-CN" dirty="0"/>
              <a:t>public</a:t>
            </a:r>
            <a:r>
              <a:rPr lang="zh-CN" altLang="en-US" dirty="0"/>
              <a:t>类型的变量系统会直接为其提供同名的查询函数。此外，修饰符位置如果使用</a:t>
            </a:r>
            <a:r>
              <a:rPr lang="en-US" altLang="zh-CN" dirty="0"/>
              <a:t>constant</a:t>
            </a:r>
            <a:r>
              <a:rPr lang="zh-CN" altLang="en-US" dirty="0"/>
              <a:t>，则代表定义的是一个常量，在合约整个生命周期内不会发生变化。</a:t>
            </a:r>
          </a:p>
        </p:txBody>
      </p:sp>
      <p:sp>
        <p:nvSpPr>
          <p:cNvPr id="5" name="矩形 4"/>
          <p:cNvSpPr/>
          <p:nvPr/>
        </p:nvSpPr>
        <p:spPr>
          <a:xfrm>
            <a:off x="198664" y="5299893"/>
            <a:ext cx="8055429" cy="646331"/>
          </a:xfrm>
          <a:prstGeom prst="rect">
            <a:avLst/>
          </a:prstGeom>
        </p:spPr>
        <p:txBody>
          <a:bodyPr wrap="square">
            <a:spAutoFit/>
          </a:bodyPr>
          <a:lstStyle/>
          <a:p>
            <a:r>
              <a:rPr lang="zh-CN" altLang="en-US" dirty="0"/>
              <a:t>临时变量的定义方式与状态变量类似，二者主要的区别是临时变量出现在函数内部，可以没有修饰符，也可以使用</a:t>
            </a:r>
            <a:r>
              <a:rPr lang="en-US" altLang="zh-CN" dirty="0"/>
              <a:t>memory</a:t>
            </a:r>
            <a:r>
              <a:rPr lang="zh-CN" altLang="en-US" dirty="0"/>
              <a:t>或</a:t>
            </a:r>
            <a:r>
              <a:rPr lang="en-US" altLang="zh-CN" dirty="0"/>
              <a:t>storage</a:t>
            </a:r>
            <a:endParaRPr lang="zh-CN" altLang="en-US" dirty="0"/>
          </a:p>
        </p:txBody>
      </p:sp>
    </p:spTree>
    <p:extLst>
      <p:ext uri="{BB962C8B-B14F-4D97-AF65-F5344CB8AC3E}">
        <p14:creationId xmlns:p14="http://schemas.microsoft.com/office/powerpoint/2010/main" val="2130439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113564" y="1001877"/>
            <a:ext cx="2276585" cy="369332"/>
          </a:xfrm>
          <a:prstGeom prst="rect">
            <a:avLst/>
          </a:prstGeom>
        </p:spPr>
        <p:txBody>
          <a:bodyPr wrap="none">
            <a:spAutoFit/>
          </a:bodyPr>
          <a:lstStyle/>
          <a:p>
            <a:r>
              <a:rPr lang="zh-CN" altLang="en-US" b="1" dirty="0"/>
              <a:t>状态变量与临时变量</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1856" y="1526949"/>
            <a:ext cx="5506950" cy="4569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6326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113564" y="1001877"/>
            <a:ext cx="2044149" cy="369332"/>
          </a:xfrm>
          <a:prstGeom prst="rect">
            <a:avLst/>
          </a:prstGeom>
        </p:spPr>
        <p:txBody>
          <a:bodyPr wrap="none">
            <a:spAutoFit/>
          </a:bodyPr>
          <a:lstStyle/>
          <a:p>
            <a:r>
              <a:rPr lang="zh-CN" altLang="en-US" b="1" dirty="0"/>
              <a:t>函数和函数修饰符</a:t>
            </a:r>
          </a:p>
        </p:txBody>
      </p:sp>
      <p:sp>
        <p:nvSpPr>
          <p:cNvPr id="3" name="TextBox 2"/>
          <p:cNvSpPr txBox="1"/>
          <p:nvPr/>
        </p:nvSpPr>
        <p:spPr>
          <a:xfrm>
            <a:off x="161290" y="1406588"/>
            <a:ext cx="8500110" cy="1200329"/>
          </a:xfrm>
          <a:prstGeom prst="rect">
            <a:avLst/>
          </a:prstGeom>
          <a:noFill/>
        </p:spPr>
        <p:txBody>
          <a:bodyPr wrap="square" rtlCol="0">
            <a:spAutoFit/>
          </a:bodyPr>
          <a:lstStyle/>
          <a:p>
            <a:r>
              <a:rPr lang="zh-CN" altLang="en-US" dirty="0"/>
              <a:t>我们在智能合约开发时，实际上也是先将业务拆分，形成一个又一个的独立功能，之后将功能与函数相对应。与我们传统编程不同的是，在智能合约开发时没有主函数入口这样的从上到下的流程逻辑。如果把智能合约理解为一个进程的话，我们开发的函数是为了提供与该进程交互的接口。</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606917"/>
            <a:ext cx="7484194" cy="639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206" y="3246119"/>
            <a:ext cx="6571489" cy="219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4491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113564" y="1001877"/>
            <a:ext cx="2044149" cy="369332"/>
          </a:xfrm>
          <a:prstGeom prst="rect">
            <a:avLst/>
          </a:prstGeom>
        </p:spPr>
        <p:txBody>
          <a:bodyPr wrap="none">
            <a:spAutoFit/>
          </a:bodyPr>
          <a:lstStyle/>
          <a:p>
            <a:r>
              <a:rPr lang="zh-CN" altLang="en-US" b="1" dirty="0"/>
              <a:t>函数和函数修饰符</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8785" y="1001877"/>
            <a:ext cx="4806043" cy="5278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8541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113564" y="1001877"/>
            <a:ext cx="2044149" cy="369332"/>
          </a:xfrm>
          <a:prstGeom prst="rect">
            <a:avLst/>
          </a:prstGeom>
        </p:spPr>
        <p:txBody>
          <a:bodyPr wrap="none">
            <a:spAutoFit/>
          </a:bodyPr>
          <a:lstStyle/>
          <a:p>
            <a:r>
              <a:rPr lang="zh-CN" altLang="en-US" b="1" dirty="0"/>
              <a:t>函数和函数修饰符</a:t>
            </a:r>
          </a:p>
        </p:txBody>
      </p:sp>
      <p:sp>
        <p:nvSpPr>
          <p:cNvPr id="3" name="TextBox 2"/>
          <p:cNvSpPr txBox="1"/>
          <p:nvPr/>
        </p:nvSpPr>
        <p:spPr>
          <a:xfrm>
            <a:off x="113564" y="1371209"/>
            <a:ext cx="8648700" cy="923330"/>
          </a:xfrm>
          <a:prstGeom prst="rect">
            <a:avLst/>
          </a:prstGeom>
          <a:noFill/>
        </p:spPr>
        <p:txBody>
          <a:bodyPr wrap="square" rtlCol="0">
            <a:spAutoFit/>
          </a:bodyPr>
          <a:lstStyle/>
          <a:p>
            <a:r>
              <a:rPr lang="zh-CN" altLang="en-US" dirty="0"/>
              <a:t>相信大家对</a:t>
            </a:r>
            <a:r>
              <a:rPr lang="en-US" altLang="zh-CN" dirty="0"/>
              <a:t>Solidity</a:t>
            </a:r>
            <a:r>
              <a:rPr lang="zh-CN" altLang="en-US" dirty="0"/>
              <a:t>语言已经有一定的感觉了，但是对于一点仍然还有很大的困惑，那就是函数的修饰符有时候会加</a:t>
            </a:r>
            <a:r>
              <a:rPr lang="en-US" altLang="zh-CN" dirty="0"/>
              <a:t>view</a:t>
            </a:r>
            <a:r>
              <a:rPr lang="zh-CN" altLang="en-US" dirty="0"/>
              <a:t>，有时又不加，部署后有的函数颜色是红色，有的颜色又是蓝色。现在，我们来解惑，着重介绍函数修饰符。</a:t>
            </a:r>
          </a:p>
        </p:txBody>
      </p:sp>
      <p:sp>
        <p:nvSpPr>
          <p:cNvPr id="4" name="TextBox 3"/>
          <p:cNvSpPr txBox="1"/>
          <p:nvPr/>
        </p:nvSpPr>
        <p:spPr>
          <a:xfrm>
            <a:off x="0" y="2294539"/>
            <a:ext cx="8983980" cy="3416320"/>
          </a:xfrm>
          <a:prstGeom prst="rect">
            <a:avLst/>
          </a:prstGeom>
          <a:noFill/>
        </p:spPr>
        <p:txBody>
          <a:bodyPr wrap="square" rtlCol="0">
            <a:spAutoFit/>
          </a:bodyPr>
          <a:lstStyle/>
          <a:p>
            <a:r>
              <a:rPr lang="zh-CN" altLang="en-US" dirty="0"/>
              <a:t>在</a:t>
            </a:r>
            <a:r>
              <a:rPr lang="en-US" altLang="zh-CN" dirty="0"/>
              <a:t>Solidity</a:t>
            </a:r>
            <a:r>
              <a:rPr lang="zh-CN" altLang="en-US" dirty="0"/>
              <a:t>代码中，针对权限访问的有如下修饰符：</a:t>
            </a:r>
          </a:p>
          <a:p>
            <a:pPr marL="285750" indent="-285750">
              <a:buFont typeface="Wingdings" pitchFamily="2" charset="2"/>
              <a:buChar char="Ø"/>
            </a:pPr>
            <a:r>
              <a:rPr lang="en-US" altLang="zh-CN" dirty="0" smtClean="0"/>
              <a:t>public </a:t>
            </a:r>
            <a:r>
              <a:rPr lang="zh-CN" altLang="en-US" dirty="0"/>
              <a:t>最大的访问权限，子类可以继承、可以访问，当前类能访问</a:t>
            </a:r>
          </a:p>
          <a:p>
            <a:pPr marL="285750" indent="-285750">
              <a:buFont typeface="Wingdings" pitchFamily="2" charset="2"/>
              <a:buChar char="Ø"/>
            </a:pPr>
            <a:r>
              <a:rPr lang="en-US" altLang="zh-CN" dirty="0"/>
              <a:t>private </a:t>
            </a:r>
            <a:r>
              <a:rPr lang="zh-CN" altLang="en-US" dirty="0"/>
              <a:t>仅限内部访问，子类不能继承、不能访问</a:t>
            </a:r>
          </a:p>
          <a:p>
            <a:pPr marL="285750" indent="-285750">
              <a:buFont typeface="Wingdings" pitchFamily="2" charset="2"/>
              <a:buChar char="Ø"/>
            </a:pPr>
            <a:r>
              <a:rPr lang="en-US" altLang="zh-CN" dirty="0"/>
              <a:t>internal </a:t>
            </a:r>
            <a:r>
              <a:rPr lang="zh-CN" altLang="en-US" dirty="0"/>
              <a:t>子类可以继承、可以访问，当前类可以访问</a:t>
            </a:r>
          </a:p>
          <a:p>
            <a:pPr marL="285750" indent="-285750">
              <a:buFont typeface="Wingdings" pitchFamily="2" charset="2"/>
              <a:buChar char="Ø"/>
            </a:pPr>
            <a:r>
              <a:rPr lang="en-US" altLang="zh-CN" dirty="0"/>
              <a:t>external </a:t>
            </a:r>
            <a:r>
              <a:rPr lang="zh-CN" altLang="en-US" dirty="0"/>
              <a:t>子类可以继承、可以访问，当前类不能访问</a:t>
            </a:r>
          </a:p>
          <a:p>
            <a:endParaRPr lang="en-US" altLang="zh-CN" dirty="0" smtClean="0"/>
          </a:p>
          <a:p>
            <a:r>
              <a:rPr lang="zh-CN" altLang="en-US" dirty="0" smtClean="0"/>
              <a:t>针对</a:t>
            </a:r>
            <a:r>
              <a:rPr lang="zh-CN" altLang="en-US" dirty="0"/>
              <a:t>状态变量的访问，也存在两类权限（资产转移类联盟链不存在），不同颜色的函数代表着不同的访问权限</a:t>
            </a:r>
            <a:r>
              <a:rPr lang="zh-CN" altLang="en-US" dirty="0" smtClean="0"/>
              <a:t>：</a:t>
            </a:r>
            <a:endParaRPr lang="zh-CN" altLang="en-US" dirty="0"/>
          </a:p>
          <a:p>
            <a:pPr marL="285750" indent="-285750">
              <a:buFont typeface="Wingdings" pitchFamily="2" charset="2"/>
              <a:buChar char="Ø"/>
            </a:pPr>
            <a:r>
              <a:rPr lang="en-US" altLang="zh-CN" dirty="0"/>
              <a:t>view </a:t>
            </a:r>
            <a:r>
              <a:rPr lang="zh-CN" altLang="en-US" dirty="0"/>
              <a:t>对状态变量只读，这里的状态变量还包含区块链的内建对象数据、时间戳等</a:t>
            </a:r>
          </a:p>
          <a:p>
            <a:pPr marL="285750" indent="-285750">
              <a:buFont typeface="Wingdings" pitchFamily="2" charset="2"/>
              <a:buChar char="Ø"/>
            </a:pPr>
            <a:r>
              <a:rPr lang="en-US" altLang="zh-CN" dirty="0"/>
              <a:t>pure </a:t>
            </a:r>
            <a:r>
              <a:rPr lang="zh-CN" altLang="en-US" dirty="0"/>
              <a:t>既不修改，也不读取状态变量的值</a:t>
            </a:r>
          </a:p>
          <a:p>
            <a:r>
              <a:rPr lang="zh-CN" altLang="en-US" dirty="0"/>
              <a:t>如果函数不加</a:t>
            </a:r>
            <a:r>
              <a:rPr lang="en-US" altLang="zh-CN" dirty="0"/>
              <a:t>pure</a:t>
            </a:r>
            <a:r>
              <a:rPr lang="zh-CN" altLang="en-US" dirty="0"/>
              <a:t>或</a:t>
            </a:r>
            <a:r>
              <a:rPr lang="en-US" altLang="zh-CN" dirty="0"/>
              <a:t>view</a:t>
            </a:r>
            <a:r>
              <a:rPr lang="zh-CN" altLang="en-US" dirty="0"/>
              <a:t>，则代表会修改状态变量的值，此时在</a:t>
            </a:r>
            <a:r>
              <a:rPr lang="en-US" altLang="zh-CN" dirty="0"/>
              <a:t>Remix</a:t>
            </a:r>
            <a:r>
              <a:rPr lang="zh-CN" altLang="en-US" dirty="0"/>
              <a:t>环境看到该函数的颜色为橘黄色，加了</a:t>
            </a:r>
            <a:r>
              <a:rPr lang="en-US" altLang="zh-CN" dirty="0"/>
              <a:t>pure</a:t>
            </a:r>
            <a:r>
              <a:rPr lang="zh-CN" altLang="en-US" dirty="0"/>
              <a:t>或</a:t>
            </a:r>
            <a:r>
              <a:rPr lang="en-US" altLang="zh-CN" dirty="0"/>
              <a:t>view</a:t>
            </a:r>
            <a:r>
              <a:rPr lang="zh-CN" altLang="en-US" dirty="0"/>
              <a:t>的</a:t>
            </a:r>
            <a:r>
              <a:rPr lang="zh-CN" altLang="en-US" dirty="0" smtClean="0"/>
              <a:t>函数颜色</a:t>
            </a:r>
            <a:r>
              <a:rPr lang="zh-CN" altLang="en-US" dirty="0"/>
              <a:t>为蓝色。</a:t>
            </a:r>
          </a:p>
        </p:txBody>
      </p:sp>
    </p:spTree>
    <p:extLst>
      <p:ext uri="{BB962C8B-B14F-4D97-AF65-F5344CB8AC3E}">
        <p14:creationId xmlns:p14="http://schemas.microsoft.com/office/powerpoint/2010/main" val="3494104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113564" y="1001877"/>
            <a:ext cx="2044149" cy="369332"/>
          </a:xfrm>
          <a:prstGeom prst="rect">
            <a:avLst/>
          </a:prstGeom>
        </p:spPr>
        <p:txBody>
          <a:bodyPr wrap="none">
            <a:spAutoFit/>
          </a:bodyPr>
          <a:lstStyle/>
          <a:p>
            <a:r>
              <a:rPr lang="zh-CN" altLang="en-US" b="1" dirty="0"/>
              <a:t>函数和函数修饰符</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0332" y="1660071"/>
            <a:ext cx="5861736" cy="377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4722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113564" y="1001877"/>
            <a:ext cx="649537" cy="369332"/>
          </a:xfrm>
          <a:prstGeom prst="rect">
            <a:avLst/>
          </a:prstGeom>
        </p:spPr>
        <p:txBody>
          <a:bodyPr wrap="none">
            <a:spAutoFit/>
          </a:bodyPr>
          <a:lstStyle/>
          <a:p>
            <a:r>
              <a:rPr lang="zh-CN" altLang="en-US" b="1" dirty="0"/>
              <a:t>数组</a:t>
            </a:r>
          </a:p>
        </p:txBody>
      </p:sp>
      <p:sp>
        <p:nvSpPr>
          <p:cNvPr id="3" name="矩形 2"/>
          <p:cNvSpPr/>
          <p:nvPr/>
        </p:nvSpPr>
        <p:spPr>
          <a:xfrm>
            <a:off x="113564" y="1416156"/>
            <a:ext cx="8878036" cy="1200329"/>
          </a:xfrm>
          <a:prstGeom prst="rect">
            <a:avLst/>
          </a:prstGeom>
        </p:spPr>
        <p:txBody>
          <a:bodyPr wrap="square">
            <a:spAutoFit/>
          </a:bodyPr>
          <a:lstStyle/>
          <a:p>
            <a:r>
              <a:rPr lang="zh-CN" altLang="en-US" dirty="0"/>
              <a:t>智能合约可以使用动态数组或定长数组，不管是哪类数组都有一个</a:t>
            </a:r>
            <a:r>
              <a:rPr lang="en-US" altLang="zh-CN" dirty="0"/>
              <a:t>length</a:t>
            </a:r>
            <a:r>
              <a:rPr lang="zh-CN" altLang="en-US" dirty="0"/>
              <a:t>元素返回数组的长度，对于定长数组返回定义时的长度，动态数组返回填充元素最大下标</a:t>
            </a:r>
            <a:r>
              <a:rPr lang="en-US" altLang="zh-CN" dirty="0"/>
              <a:t>+1</a:t>
            </a:r>
            <a:r>
              <a:rPr lang="zh-CN" altLang="en-US" dirty="0"/>
              <a:t>，有了这个长度可以对数组进行遍历。对于动态数组可以使用</a:t>
            </a:r>
            <a:r>
              <a:rPr lang="en-US" altLang="zh-CN" dirty="0"/>
              <a:t>push</a:t>
            </a:r>
            <a:r>
              <a:rPr lang="zh-CN" altLang="en-US" dirty="0"/>
              <a:t>存入元素，定长数组是不允许的。下面的代码是一个动态数组使用的示例。</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268" y="2812427"/>
            <a:ext cx="5393418" cy="3566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889319" y="2995749"/>
            <a:ext cx="3772081" cy="1477328"/>
          </a:xfrm>
          <a:prstGeom prst="rect">
            <a:avLst/>
          </a:prstGeom>
          <a:noFill/>
        </p:spPr>
        <p:txBody>
          <a:bodyPr wrap="square" rtlCol="0">
            <a:spAutoFit/>
          </a:bodyPr>
          <a:lstStyle/>
          <a:p>
            <a:r>
              <a:rPr lang="zh-CN" altLang="en-US" dirty="0"/>
              <a:t>数组的访问可以通过从</a:t>
            </a:r>
            <a:r>
              <a:rPr lang="en-US" altLang="zh-CN" dirty="0"/>
              <a:t>0</a:t>
            </a:r>
            <a:r>
              <a:rPr lang="zh-CN" altLang="en-US" dirty="0"/>
              <a:t>开始的下标进行。</a:t>
            </a:r>
          </a:p>
          <a:p>
            <a:r>
              <a:rPr lang="zh-CN" altLang="en-US" dirty="0"/>
              <a:t>针对动态数组，我们也可以使用</a:t>
            </a:r>
            <a:r>
              <a:rPr lang="en-US" altLang="zh-CN" dirty="0"/>
              <a:t>pop</a:t>
            </a:r>
            <a:r>
              <a:rPr lang="zh-CN" altLang="en-US" dirty="0"/>
              <a:t>方法删除其最后一个元素。</a:t>
            </a:r>
          </a:p>
          <a:p>
            <a:endParaRPr lang="zh-CN" altLang="en-US" dirty="0"/>
          </a:p>
        </p:txBody>
      </p:sp>
    </p:spTree>
    <p:extLst>
      <p:ext uri="{BB962C8B-B14F-4D97-AF65-F5344CB8AC3E}">
        <p14:creationId xmlns:p14="http://schemas.microsoft.com/office/powerpoint/2010/main" val="3457742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113564" y="1001877"/>
            <a:ext cx="1346844" cy="369332"/>
          </a:xfrm>
          <a:prstGeom prst="rect">
            <a:avLst/>
          </a:prstGeom>
        </p:spPr>
        <p:txBody>
          <a:bodyPr wrap="none">
            <a:spAutoFit/>
          </a:bodyPr>
          <a:lstStyle/>
          <a:p>
            <a:r>
              <a:rPr lang="zh-CN" altLang="en-US" b="1" dirty="0"/>
              <a:t>自定义结构</a:t>
            </a:r>
          </a:p>
        </p:txBody>
      </p:sp>
      <p:sp>
        <p:nvSpPr>
          <p:cNvPr id="3" name="矩形 2"/>
          <p:cNvSpPr/>
          <p:nvPr/>
        </p:nvSpPr>
        <p:spPr>
          <a:xfrm>
            <a:off x="113564" y="1416156"/>
            <a:ext cx="8878036" cy="1200329"/>
          </a:xfrm>
          <a:prstGeom prst="rect">
            <a:avLst/>
          </a:prstGeom>
        </p:spPr>
        <p:txBody>
          <a:bodyPr wrap="square">
            <a:spAutoFit/>
          </a:bodyPr>
          <a:lstStyle/>
          <a:p>
            <a:r>
              <a:rPr lang="zh-CN" altLang="en-US" dirty="0"/>
              <a:t>单纯的原生数据类型并不能很好的支持一个复杂事物的定义，例如描述一个人，可能要包含姓名，年龄，性别等信息，单纯用</a:t>
            </a:r>
            <a:r>
              <a:rPr lang="en-US" altLang="zh-CN" dirty="0"/>
              <a:t>string</a:t>
            </a:r>
            <a:r>
              <a:rPr lang="zh-CN" altLang="en-US" dirty="0"/>
              <a:t>或</a:t>
            </a:r>
            <a:r>
              <a:rPr lang="en-US" altLang="zh-CN" dirty="0" err="1"/>
              <a:t>uint</a:t>
            </a:r>
            <a:r>
              <a:rPr lang="zh-CN" altLang="en-US" dirty="0"/>
              <a:t>这样的数据类型是不足够的。编程语言往往会为开发者提供自定义结构的方式来解决该类问题，</a:t>
            </a:r>
            <a:r>
              <a:rPr lang="en-US" altLang="zh-CN" dirty="0"/>
              <a:t>Solidity</a:t>
            </a:r>
            <a:r>
              <a:rPr lang="zh-CN" altLang="en-US" dirty="0"/>
              <a:t>也是如此。例如我们想定义一个</a:t>
            </a:r>
            <a:r>
              <a:rPr lang="en-US" altLang="zh-CN" dirty="0"/>
              <a:t>User</a:t>
            </a:r>
            <a:r>
              <a:rPr lang="zh-CN" altLang="en-US" dirty="0"/>
              <a:t>结构，它的定义方式如下。</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059" y="2616485"/>
            <a:ext cx="1864178" cy="1460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13680"/>
          <a:stretch/>
        </p:blipFill>
        <p:spPr bwMode="auto">
          <a:xfrm>
            <a:off x="2106294" y="2616485"/>
            <a:ext cx="5725885" cy="3848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627296" y="2797629"/>
            <a:ext cx="3647152" cy="369332"/>
          </a:xfrm>
          <a:prstGeom prst="rect">
            <a:avLst/>
          </a:prstGeom>
          <a:noFill/>
        </p:spPr>
        <p:txBody>
          <a:bodyPr wrap="none" rtlCol="0">
            <a:spAutoFit/>
          </a:bodyPr>
          <a:lstStyle/>
          <a:p>
            <a:r>
              <a:rPr lang="en-US" altLang="zh-CN" dirty="0" err="1"/>
              <a:t>struct</a:t>
            </a:r>
            <a:r>
              <a:rPr lang="zh-CN" altLang="en-US" dirty="0"/>
              <a:t>结构可以在</a:t>
            </a:r>
            <a:r>
              <a:rPr lang="en-US" altLang="zh-CN" dirty="0"/>
              <a:t>contract</a:t>
            </a:r>
            <a:r>
              <a:rPr lang="zh-CN" altLang="en-US" dirty="0"/>
              <a:t>之外定义</a:t>
            </a:r>
          </a:p>
        </p:txBody>
      </p:sp>
    </p:spTree>
    <p:extLst>
      <p:ext uri="{BB962C8B-B14F-4D97-AF65-F5344CB8AC3E}">
        <p14:creationId xmlns:p14="http://schemas.microsoft.com/office/powerpoint/2010/main" val="2592919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113564" y="1001877"/>
            <a:ext cx="2276585" cy="369332"/>
          </a:xfrm>
          <a:prstGeom prst="rect">
            <a:avLst/>
          </a:prstGeom>
        </p:spPr>
        <p:txBody>
          <a:bodyPr wrap="none">
            <a:spAutoFit/>
          </a:bodyPr>
          <a:lstStyle/>
          <a:p>
            <a:r>
              <a:rPr lang="zh-CN" altLang="en-US" b="1" dirty="0"/>
              <a:t>事务控制与异常处理</a:t>
            </a:r>
          </a:p>
        </p:txBody>
      </p:sp>
      <p:sp>
        <p:nvSpPr>
          <p:cNvPr id="3" name="矩形 2"/>
          <p:cNvSpPr/>
          <p:nvPr/>
        </p:nvSpPr>
        <p:spPr>
          <a:xfrm>
            <a:off x="113564" y="1416156"/>
            <a:ext cx="8878036" cy="923330"/>
          </a:xfrm>
          <a:prstGeom prst="rect">
            <a:avLst/>
          </a:prstGeom>
        </p:spPr>
        <p:txBody>
          <a:bodyPr wrap="square">
            <a:spAutoFit/>
          </a:bodyPr>
          <a:lstStyle/>
          <a:p>
            <a:r>
              <a:rPr lang="zh-CN" altLang="en-US" dirty="0"/>
              <a:t>在编写程序时都要面对处理异常的情况</a:t>
            </a:r>
            <a:r>
              <a:rPr lang="zh-CN" altLang="en-US" dirty="0" smtClean="0"/>
              <a:t>，关键</a:t>
            </a:r>
            <a:r>
              <a:rPr lang="zh-CN" altLang="en-US" dirty="0"/>
              <a:t>是涉及到了状态变量值的变化。试想，我们在做银行转账业务时，账户</a:t>
            </a:r>
            <a:r>
              <a:rPr lang="en-US" altLang="zh-CN" dirty="0"/>
              <a:t>A</a:t>
            </a:r>
            <a:r>
              <a:rPr lang="zh-CN" altLang="en-US" dirty="0"/>
              <a:t>向账户</a:t>
            </a:r>
            <a:r>
              <a:rPr lang="en-US" altLang="zh-CN" dirty="0"/>
              <a:t>B</a:t>
            </a:r>
            <a:r>
              <a:rPr lang="zh-CN" altLang="en-US" dirty="0"/>
              <a:t>转账</a:t>
            </a:r>
            <a:r>
              <a:rPr lang="en-US" altLang="zh-CN" dirty="0"/>
              <a:t>100</a:t>
            </a:r>
            <a:r>
              <a:rPr lang="zh-CN" altLang="en-US" dirty="0"/>
              <a:t>元，银行在做交易时，需要执行两个动作：</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246" y="2034686"/>
            <a:ext cx="2452662" cy="7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10929" y="2830284"/>
            <a:ext cx="8991600" cy="2031325"/>
          </a:xfrm>
          <a:prstGeom prst="rect">
            <a:avLst/>
          </a:prstGeom>
          <a:noFill/>
        </p:spPr>
        <p:txBody>
          <a:bodyPr wrap="square" rtlCol="0">
            <a:spAutoFit/>
          </a:bodyPr>
          <a:lstStyle/>
          <a:p>
            <a:r>
              <a:rPr lang="zh-CN" altLang="en-US" dirty="0"/>
              <a:t>如果第一个动作执行成功，第二个动作执行失败，就会出现很尴尬的事情。对于这类业务，传统的解决方案都是加入事务控制。也就是说，利用事务的特性，两个操作要么一起成功，要么一起失败。</a:t>
            </a:r>
          </a:p>
          <a:p>
            <a:r>
              <a:rPr lang="zh-CN" altLang="en-US" dirty="0"/>
              <a:t>在</a:t>
            </a:r>
            <a:r>
              <a:rPr lang="en-US" altLang="zh-CN" dirty="0"/>
              <a:t>Solidity</a:t>
            </a:r>
            <a:r>
              <a:rPr lang="zh-CN" altLang="en-US" dirty="0"/>
              <a:t>中也存在类似的机制，我们可以在执行过程中判断某个条件是否成立，如果不成立，则通过</a:t>
            </a:r>
            <a:r>
              <a:rPr lang="en-US" altLang="zh-CN" dirty="0"/>
              <a:t>revert()</a:t>
            </a:r>
            <a:r>
              <a:rPr lang="zh-CN" altLang="en-US" dirty="0"/>
              <a:t>函数退回到合约执行之前的状态，相当于还原现场。</a:t>
            </a:r>
          </a:p>
          <a:p>
            <a:r>
              <a:rPr lang="en-US" altLang="zh-CN" dirty="0"/>
              <a:t>Solidity</a:t>
            </a:r>
            <a:r>
              <a:rPr lang="zh-CN" altLang="en-US" dirty="0"/>
              <a:t>中，也直接为开发者提供了</a:t>
            </a:r>
            <a:r>
              <a:rPr lang="en-US" altLang="zh-CN" dirty="0"/>
              <a:t>require</a:t>
            </a:r>
            <a:r>
              <a:rPr lang="zh-CN" altLang="en-US" dirty="0"/>
              <a:t>和</a:t>
            </a:r>
            <a:r>
              <a:rPr lang="en-US" altLang="zh-CN" dirty="0"/>
              <a:t>assert</a:t>
            </a:r>
            <a:r>
              <a:rPr lang="zh-CN" altLang="en-US" dirty="0"/>
              <a:t>函数。</a:t>
            </a:r>
          </a:p>
          <a:p>
            <a:endParaRPr lang="zh-CN" altLang="en-US" dirty="0"/>
          </a:p>
        </p:txBody>
      </p:sp>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564" y="4518708"/>
            <a:ext cx="4286256" cy="685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3653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113564" y="1001877"/>
            <a:ext cx="2276585" cy="369332"/>
          </a:xfrm>
          <a:prstGeom prst="rect">
            <a:avLst/>
          </a:prstGeom>
        </p:spPr>
        <p:txBody>
          <a:bodyPr wrap="none">
            <a:spAutoFit/>
          </a:bodyPr>
          <a:lstStyle/>
          <a:p>
            <a:r>
              <a:rPr lang="zh-CN" altLang="en-US" b="1" dirty="0"/>
              <a:t>事务控制与异常处理</a:t>
            </a:r>
          </a:p>
        </p:txBody>
      </p:sp>
      <p:pic>
        <p:nvPicPr>
          <p:cNvPr id="112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225" y="2227957"/>
            <a:ext cx="5847444" cy="2823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9"/>
          <p:cNvSpPr/>
          <p:nvPr/>
        </p:nvSpPr>
        <p:spPr>
          <a:xfrm>
            <a:off x="217712" y="1644881"/>
            <a:ext cx="6955971" cy="369332"/>
          </a:xfrm>
          <a:prstGeom prst="rect">
            <a:avLst/>
          </a:prstGeom>
        </p:spPr>
        <p:txBody>
          <a:bodyPr wrap="square">
            <a:spAutoFit/>
          </a:bodyPr>
          <a:lstStyle/>
          <a:p>
            <a:r>
              <a:rPr lang="en-US" altLang="zh-CN" dirty="0"/>
              <a:t>require</a:t>
            </a:r>
            <a:r>
              <a:rPr lang="zh-CN" altLang="en-US" dirty="0"/>
              <a:t>和</a:t>
            </a:r>
            <a:r>
              <a:rPr lang="en-US" altLang="zh-CN" dirty="0"/>
              <a:t>assert</a:t>
            </a:r>
            <a:r>
              <a:rPr lang="zh-CN" altLang="en-US" dirty="0"/>
              <a:t>在内部调用了</a:t>
            </a:r>
            <a:r>
              <a:rPr lang="en-US" altLang="zh-CN" dirty="0"/>
              <a:t>revert</a:t>
            </a:r>
            <a:r>
              <a:rPr lang="zh-CN" altLang="en-US" dirty="0"/>
              <a:t>函数，例如下面的语句是等价的。</a:t>
            </a:r>
          </a:p>
        </p:txBody>
      </p:sp>
    </p:spTree>
    <p:extLst>
      <p:ext uri="{BB962C8B-B14F-4D97-AF65-F5344CB8AC3E}">
        <p14:creationId xmlns:p14="http://schemas.microsoft.com/office/powerpoint/2010/main" val="1566226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113564" y="1001877"/>
            <a:ext cx="1579278" cy="369332"/>
          </a:xfrm>
          <a:prstGeom prst="rect">
            <a:avLst/>
          </a:prstGeom>
        </p:spPr>
        <p:txBody>
          <a:bodyPr wrap="none">
            <a:spAutoFit/>
          </a:bodyPr>
          <a:lstStyle/>
          <a:p>
            <a:r>
              <a:rPr lang="zh-CN" altLang="en-US" b="1" dirty="0"/>
              <a:t>自定义修饰符</a:t>
            </a:r>
          </a:p>
        </p:txBody>
      </p:sp>
      <p:sp>
        <p:nvSpPr>
          <p:cNvPr id="10" name="矩形 9"/>
          <p:cNvSpPr/>
          <p:nvPr/>
        </p:nvSpPr>
        <p:spPr>
          <a:xfrm>
            <a:off x="113564" y="1394119"/>
            <a:ext cx="8736522" cy="1477328"/>
          </a:xfrm>
          <a:prstGeom prst="rect">
            <a:avLst/>
          </a:prstGeom>
        </p:spPr>
        <p:txBody>
          <a:bodyPr wrap="square">
            <a:spAutoFit/>
          </a:bodyPr>
          <a:lstStyle/>
          <a:p>
            <a:r>
              <a:rPr lang="zh-CN" altLang="en-US" dirty="0"/>
              <a:t>在了解了</a:t>
            </a:r>
            <a:r>
              <a:rPr lang="en-US" altLang="zh-CN" dirty="0"/>
              <a:t>require</a:t>
            </a:r>
            <a:r>
              <a:rPr lang="zh-CN" altLang="en-US" dirty="0"/>
              <a:t>和</a:t>
            </a:r>
            <a:r>
              <a:rPr lang="en-US" altLang="zh-CN" dirty="0"/>
              <a:t>assert</a:t>
            </a:r>
            <a:r>
              <a:rPr lang="zh-CN" altLang="en-US" dirty="0"/>
              <a:t>的能力后，相信大家脑海中会想象在智能合约的函数中编写各种条件断言的情形，有的时候我们会在多个函数内书写相同的判断逻辑。这虽然没什么，但重复工作量较多，也会影响代码可读性。</a:t>
            </a:r>
          </a:p>
          <a:p>
            <a:r>
              <a:rPr lang="en-US" altLang="zh-CN" dirty="0"/>
              <a:t>Solidity</a:t>
            </a:r>
            <a:r>
              <a:rPr lang="zh-CN" altLang="en-US" dirty="0"/>
              <a:t>为开发者提供了自定义修饰符的方法，开发者可以自定义函数修饰符，并把断言判断放在自定义修饰符中。下面是一个自定义修饰符的例子。</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629" y="2871447"/>
            <a:ext cx="6120654" cy="138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217714" y="4256201"/>
            <a:ext cx="8443685" cy="1477328"/>
          </a:xfrm>
          <a:prstGeom prst="rect">
            <a:avLst/>
          </a:prstGeom>
        </p:spPr>
        <p:txBody>
          <a:bodyPr wrap="square">
            <a:spAutoFit/>
          </a:bodyPr>
          <a:lstStyle/>
          <a:p>
            <a:r>
              <a:rPr lang="en-US" altLang="zh-CN" dirty="0"/>
              <a:t>modifier</a:t>
            </a:r>
            <a:r>
              <a:rPr lang="zh-CN" altLang="en-US" dirty="0"/>
              <a:t>是自定义修饰符的关键字，</a:t>
            </a:r>
            <a:r>
              <a:rPr lang="en-US" altLang="zh-CN" dirty="0" err="1"/>
              <a:t>onlyadmin</a:t>
            </a:r>
            <a:r>
              <a:rPr lang="zh-CN" altLang="en-US" dirty="0"/>
              <a:t>是自定义修饰符的名称，可以设有参数，也可以没有参数。在其内部可以编写想要检测的逻辑条件。</a:t>
            </a:r>
            <a:r>
              <a:rPr lang="en-US" altLang="zh-CN" dirty="0"/>
              <a:t>"_;"</a:t>
            </a:r>
            <a:r>
              <a:rPr lang="zh-CN" altLang="en-US" dirty="0"/>
              <a:t>千万不能省略，它是一个占位符号，标志着自定义修饰符的结束。</a:t>
            </a:r>
          </a:p>
          <a:p>
            <a:r>
              <a:rPr lang="zh-CN" altLang="en-US" dirty="0"/>
              <a:t>一旦某个函数使用了</a:t>
            </a:r>
            <a:r>
              <a:rPr lang="en-US" altLang="zh-CN" dirty="0" err="1"/>
              <a:t>onlyadmin</a:t>
            </a:r>
            <a:r>
              <a:rPr lang="zh-CN" altLang="en-US" dirty="0"/>
              <a:t>这个自定义修饰符，它就会把</a:t>
            </a:r>
            <a:r>
              <a:rPr lang="en-US" altLang="zh-CN" dirty="0" err="1"/>
              <a:t>onlyadmin</a:t>
            </a:r>
            <a:r>
              <a:rPr lang="zh-CN" altLang="en-US" dirty="0"/>
              <a:t>中所有的检测条件都先执行一遍</a:t>
            </a:r>
            <a:r>
              <a:rPr lang="zh-CN" altLang="en-US" dirty="0" smtClean="0"/>
              <a:t>。</a:t>
            </a:r>
            <a:endParaRPr lang="zh-CN" altLang="en-US" dirty="0"/>
          </a:p>
        </p:txBody>
      </p:sp>
    </p:spTree>
    <p:extLst>
      <p:ext uri="{BB962C8B-B14F-4D97-AF65-F5344CB8AC3E}">
        <p14:creationId xmlns:p14="http://schemas.microsoft.com/office/powerpoint/2010/main" val="4072677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113564" y="1001877"/>
            <a:ext cx="1579278" cy="369332"/>
          </a:xfrm>
          <a:prstGeom prst="rect">
            <a:avLst/>
          </a:prstGeom>
        </p:spPr>
        <p:txBody>
          <a:bodyPr wrap="none">
            <a:spAutoFit/>
          </a:bodyPr>
          <a:lstStyle/>
          <a:p>
            <a:r>
              <a:rPr lang="zh-CN" altLang="en-US" b="1" dirty="0"/>
              <a:t>自定义修饰符</a:t>
            </a:r>
          </a:p>
        </p:txBody>
      </p:sp>
      <p:sp>
        <p:nvSpPr>
          <p:cNvPr id="4" name="矩形 3"/>
          <p:cNvSpPr/>
          <p:nvPr/>
        </p:nvSpPr>
        <p:spPr>
          <a:xfrm>
            <a:off x="381000" y="1371209"/>
            <a:ext cx="8153400" cy="646331"/>
          </a:xfrm>
          <a:prstGeom prst="rect">
            <a:avLst/>
          </a:prstGeom>
        </p:spPr>
        <p:txBody>
          <a:bodyPr wrap="square">
            <a:spAutoFit/>
          </a:bodyPr>
          <a:lstStyle/>
          <a:p>
            <a:r>
              <a:rPr lang="zh-CN" altLang="en-US" dirty="0"/>
              <a:t>下面是一个自定义修饰符使用的示例合约。在</a:t>
            </a:r>
            <a:r>
              <a:rPr lang="en-US" altLang="zh-CN" dirty="0" err="1"/>
              <a:t>setCount</a:t>
            </a:r>
            <a:r>
              <a:rPr lang="zh-CN" altLang="en-US" dirty="0"/>
              <a:t>函数里使用了</a:t>
            </a:r>
            <a:r>
              <a:rPr lang="en-US" altLang="zh-CN" dirty="0" err="1"/>
              <a:t>onlyadmin</a:t>
            </a:r>
            <a:r>
              <a:rPr lang="zh-CN" altLang="en-US" dirty="0"/>
              <a:t>，它会检测两个条件通过后再执行其内部的逻辑。</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4985" y="2017540"/>
            <a:ext cx="5056187" cy="4404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767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113564" y="1001877"/>
            <a:ext cx="2148345" cy="369332"/>
          </a:xfrm>
          <a:prstGeom prst="rect">
            <a:avLst/>
          </a:prstGeom>
        </p:spPr>
        <p:txBody>
          <a:bodyPr wrap="none">
            <a:spAutoFit/>
          </a:bodyPr>
          <a:lstStyle/>
          <a:p>
            <a:r>
              <a:rPr lang="en-US" altLang="zh-CN" b="1" dirty="0"/>
              <a:t>storage</a:t>
            </a:r>
            <a:r>
              <a:rPr lang="zh-CN" altLang="en-US" b="1" dirty="0"/>
              <a:t>与</a:t>
            </a:r>
            <a:r>
              <a:rPr lang="en-US" altLang="zh-CN" b="1" dirty="0"/>
              <a:t>memory</a:t>
            </a:r>
            <a:endParaRPr lang="zh-CN" altLang="en-US" b="1" dirty="0"/>
          </a:p>
        </p:txBody>
      </p:sp>
      <p:sp>
        <p:nvSpPr>
          <p:cNvPr id="3" name="矩形 2"/>
          <p:cNvSpPr/>
          <p:nvPr/>
        </p:nvSpPr>
        <p:spPr>
          <a:xfrm>
            <a:off x="261257" y="1362395"/>
            <a:ext cx="8610599" cy="2031325"/>
          </a:xfrm>
          <a:prstGeom prst="rect">
            <a:avLst/>
          </a:prstGeom>
        </p:spPr>
        <p:txBody>
          <a:bodyPr wrap="square">
            <a:spAutoFit/>
          </a:bodyPr>
          <a:lstStyle/>
          <a:p>
            <a:r>
              <a:rPr lang="zh-CN" altLang="en-US" dirty="0"/>
              <a:t>相信大家在写函数的时候，编译器经常会提示有些变量要加</a:t>
            </a:r>
            <a:r>
              <a:rPr lang="en-US" altLang="zh-CN" dirty="0"/>
              <a:t>memory</a:t>
            </a:r>
            <a:r>
              <a:rPr lang="zh-CN" altLang="en-US" dirty="0"/>
              <a:t>或</a:t>
            </a:r>
            <a:r>
              <a:rPr lang="en-US" altLang="zh-CN" dirty="0" err="1"/>
              <a:t>calldata</a:t>
            </a:r>
            <a:r>
              <a:rPr lang="zh-CN" altLang="en-US" dirty="0"/>
              <a:t>，有时候临时变量又会提示要加</a:t>
            </a:r>
            <a:r>
              <a:rPr lang="en-US" altLang="zh-CN" dirty="0"/>
              <a:t>memory</a:t>
            </a:r>
            <a:r>
              <a:rPr lang="zh-CN" altLang="en-US" dirty="0"/>
              <a:t>或</a:t>
            </a:r>
            <a:r>
              <a:rPr lang="en-US" altLang="zh-CN" dirty="0" smtClean="0"/>
              <a:t>storage</a:t>
            </a:r>
            <a:r>
              <a:rPr lang="zh-CN" altLang="en-US" dirty="0" smtClean="0"/>
              <a:t>。</a:t>
            </a:r>
            <a:endParaRPr lang="en-US" altLang="zh-CN" dirty="0" smtClean="0"/>
          </a:p>
          <a:p>
            <a:endParaRPr lang="zh-CN" altLang="en-US" dirty="0"/>
          </a:p>
          <a:p>
            <a:r>
              <a:rPr lang="zh-CN" altLang="en-US" dirty="0"/>
              <a:t>在函数参数或返回值声明时，如果返回数据的类型是变长的，那么需要加</a:t>
            </a:r>
            <a:r>
              <a:rPr lang="en-US" altLang="zh-CN" dirty="0"/>
              <a:t>memory</a:t>
            </a:r>
            <a:r>
              <a:rPr lang="zh-CN" altLang="en-US" dirty="0"/>
              <a:t>修饰，例如</a:t>
            </a:r>
            <a:r>
              <a:rPr lang="en-US" altLang="zh-CN" dirty="0"/>
              <a:t>string</a:t>
            </a:r>
            <a:r>
              <a:rPr lang="zh-CN" altLang="en-US" dirty="0"/>
              <a:t>、</a:t>
            </a:r>
            <a:r>
              <a:rPr lang="en-US" altLang="zh-CN" dirty="0"/>
              <a:t>bytes</a:t>
            </a:r>
            <a:r>
              <a:rPr lang="zh-CN" altLang="en-US" dirty="0"/>
              <a:t>、数组、自定义结构等类型都需要使用</a:t>
            </a:r>
            <a:r>
              <a:rPr lang="en-US" altLang="zh-CN" dirty="0"/>
              <a:t>memory</a:t>
            </a:r>
            <a:r>
              <a:rPr lang="zh-CN" altLang="en-US" dirty="0" smtClean="0"/>
              <a:t>。</a:t>
            </a:r>
            <a:endParaRPr lang="en-US" altLang="zh-CN" dirty="0" smtClean="0"/>
          </a:p>
          <a:p>
            <a:endParaRPr lang="en-US" altLang="zh-CN" dirty="0"/>
          </a:p>
          <a:p>
            <a:endParaRPr lang="en-US" altLang="zh-CN" dirty="0" smtClean="0"/>
          </a:p>
        </p:txBody>
      </p:sp>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64" y="2950028"/>
            <a:ext cx="8381038"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53171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dirty="0">
                <a:latin typeface="微软雅黑" panose="020B0503020204020204" pitchFamily="34" charset="-122"/>
                <a:ea typeface="微软雅黑" panose="020B0503020204020204" pitchFamily="34" charset="-122"/>
              </a:rPr>
              <a:t>Solidity</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113564" y="1001877"/>
            <a:ext cx="2148345" cy="369332"/>
          </a:xfrm>
          <a:prstGeom prst="rect">
            <a:avLst/>
          </a:prstGeom>
        </p:spPr>
        <p:txBody>
          <a:bodyPr wrap="none">
            <a:spAutoFit/>
          </a:bodyPr>
          <a:lstStyle/>
          <a:p>
            <a:r>
              <a:rPr lang="en-US" altLang="zh-CN" b="1" dirty="0"/>
              <a:t>storage</a:t>
            </a:r>
            <a:r>
              <a:rPr lang="zh-CN" altLang="en-US" b="1" dirty="0"/>
              <a:t>与</a:t>
            </a:r>
            <a:r>
              <a:rPr lang="en-US" altLang="zh-CN" b="1" dirty="0"/>
              <a:t>memory</a:t>
            </a:r>
            <a:endParaRPr lang="zh-CN" altLang="en-US" b="1" dirty="0"/>
          </a:p>
        </p:txBody>
      </p:sp>
      <p:sp>
        <p:nvSpPr>
          <p:cNvPr id="3" name="矩形 2"/>
          <p:cNvSpPr/>
          <p:nvPr/>
        </p:nvSpPr>
        <p:spPr>
          <a:xfrm>
            <a:off x="261257" y="1362395"/>
            <a:ext cx="8610599" cy="1477328"/>
          </a:xfrm>
          <a:prstGeom prst="rect">
            <a:avLst/>
          </a:prstGeom>
        </p:spPr>
        <p:txBody>
          <a:bodyPr wrap="square">
            <a:spAutoFit/>
          </a:bodyPr>
          <a:lstStyle/>
          <a:p>
            <a:r>
              <a:rPr lang="zh-CN" altLang="en-US" dirty="0" smtClean="0"/>
              <a:t>在</a:t>
            </a:r>
            <a:r>
              <a:rPr lang="zh-CN" altLang="en-US" dirty="0"/>
              <a:t>临时变量声明时，对于变长的数据类型也要在</a:t>
            </a:r>
            <a:r>
              <a:rPr lang="en-US" altLang="zh-CN" dirty="0"/>
              <a:t>storage</a:t>
            </a:r>
            <a:r>
              <a:rPr lang="zh-CN" altLang="en-US" dirty="0"/>
              <a:t>或</a:t>
            </a:r>
            <a:r>
              <a:rPr lang="en-US" altLang="zh-CN" dirty="0"/>
              <a:t>memory</a:t>
            </a:r>
            <a:r>
              <a:rPr lang="zh-CN" altLang="en-US" dirty="0"/>
              <a:t>之间二选一。</a:t>
            </a:r>
            <a:r>
              <a:rPr lang="en-US" altLang="zh-CN" dirty="0"/>
              <a:t>storage</a:t>
            </a:r>
            <a:r>
              <a:rPr lang="zh-CN" altLang="en-US" dirty="0"/>
              <a:t>的作用类似于</a:t>
            </a:r>
            <a:r>
              <a:rPr lang="en-US" altLang="zh-CN" dirty="0"/>
              <a:t>C++</a:t>
            </a:r>
            <a:r>
              <a:rPr lang="zh-CN" altLang="en-US" dirty="0"/>
              <a:t>中的引用传递，用</a:t>
            </a:r>
            <a:r>
              <a:rPr lang="en-US" altLang="zh-CN" dirty="0"/>
              <a:t>storage</a:t>
            </a:r>
            <a:r>
              <a:rPr lang="zh-CN" altLang="en-US" dirty="0"/>
              <a:t>修饰的变量等同于右值的一个分身，对其进行修改也会影响到本尊。</a:t>
            </a:r>
            <a:r>
              <a:rPr lang="en-US" altLang="zh-CN" dirty="0"/>
              <a:t>memory</a:t>
            </a:r>
            <a:r>
              <a:rPr lang="zh-CN" altLang="en-US" dirty="0"/>
              <a:t>修饰的临时变量相当于右值的一个拷贝，对其进行的修改不会影响到本尊</a:t>
            </a:r>
            <a:r>
              <a:rPr lang="zh-CN" altLang="en-US" dirty="0" smtClean="0"/>
              <a:t>。</a:t>
            </a:r>
            <a:endParaRPr lang="en-US" altLang="zh-CN" dirty="0" smtClean="0"/>
          </a:p>
          <a:p>
            <a:r>
              <a:rPr lang="zh-CN" altLang="en-US" dirty="0" smtClean="0"/>
              <a:t>例如</a:t>
            </a:r>
            <a:r>
              <a:rPr lang="zh-CN" altLang="en-US" dirty="0"/>
              <a:t>下面合约提供了两个修改年龄的函数</a:t>
            </a:r>
            <a:r>
              <a:rPr lang="en-US" altLang="zh-CN" dirty="0"/>
              <a:t>setAge1</a:t>
            </a:r>
            <a:r>
              <a:rPr lang="zh-CN" altLang="en-US" dirty="0"/>
              <a:t>和</a:t>
            </a:r>
            <a:r>
              <a:rPr lang="en-US" altLang="zh-CN" dirty="0"/>
              <a:t>setAge2</a:t>
            </a:r>
            <a:r>
              <a:rPr lang="zh-CN" altLang="en-US" dirty="0"/>
              <a:t>。</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437" y="2968003"/>
            <a:ext cx="5367762" cy="325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4504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块链开发</a:t>
            </a:r>
            <a:endParaRPr lang="zh-CN" altLang="en-US" kern="0" dirty="0">
              <a:latin typeface="微软雅黑" panose="020B0503020204020204" pitchFamily="34" charset="-122"/>
              <a:ea typeface="微软雅黑" panose="020B0503020204020204" pitchFamily="34" charset="-122"/>
            </a:endParaRP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175874" y="1017939"/>
            <a:ext cx="8690651" cy="1569660"/>
          </a:xfrm>
          <a:prstGeom prst="rect">
            <a:avLst/>
          </a:prstGeom>
          <a:noFill/>
        </p:spPr>
        <p:txBody>
          <a:bodyPr wrap="square" rtlCol="0">
            <a:spAutoFit/>
          </a:bodyPr>
          <a:lstStyle/>
          <a:p>
            <a:pPr indent="-285750">
              <a:buFont typeface="Wingdings" panose="05000000000000000000" pitchFamily="2" charset="2"/>
              <a:buChar char="n"/>
            </a:pPr>
            <a:r>
              <a:rPr lang="zh-CN" altLang="en-US" sz="2400" b="1" dirty="0" smtClean="0">
                <a:latin typeface="微软雅黑" panose="020B0503020204020204" pitchFamily="34" charset="-122"/>
                <a:ea typeface="微软雅黑" panose="020B0503020204020204" pitchFamily="34" charset="-122"/>
              </a:rPr>
              <a:t>智能合约</a:t>
            </a:r>
            <a:r>
              <a:rPr lang="en-US" altLang="zh-CN" sz="2400" b="1" dirty="0" smtClean="0">
                <a:latin typeface="微软雅黑" panose="020B0503020204020204" pitchFamily="34" charset="-122"/>
                <a:ea typeface="微软雅黑" panose="020B0503020204020204" pitchFamily="34" charset="-122"/>
              </a:rPr>
              <a:t>---Table</a:t>
            </a:r>
          </a:p>
          <a:p>
            <a:r>
              <a:rPr lang="zh-CN" altLang="en-US" sz="2400" dirty="0" smtClean="0">
                <a:latin typeface="微软雅黑" panose="020B0503020204020204" pitchFamily="34" charset="-122"/>
                <a:ea typeface="微软雅黑" panose="020B0503020204020204" pitchFamily="34" charset="-122"/>
              </a:rPr>
              <a:t>   如果</a:t>
            </a:r>
            <a:r>
              <a:rPr lang="zh-CN" altLang="en-US" sz="2400" dirty="0">
                <a:latin typeface="微软雅黑" panose="020B0503020204020204" pitchFamily="34" charset="-122"/>
                <a:ea typeface="微软雅黑" panose="020B0503020204020204" pitchFamily="34" charset="-122"/>
              </a:rPr>
              <a:t>把区块链比作数据库的话，智能合约类似于运行在数据库上的</a:t>
            </a:r>
            <a:r>
              <a:rPr lang="en-US" altLang="zh-CN" sz="2400" dirty="0">
                <a:latin typeface="微软雅黑" panose="020B0503020204020204" pitchFamily="34" charset="-122"/>
                <a:ea typeface="微软雅黑" panose="020B0503020204020204" pitchFamily="34" charset="-122"/>
              </a:rPr>
              <a:t>SQL</a:t>
            </a:r>
            <a:r>
              <a:rPr lang="zh-CN" altLang="en-US" sz="2400" dirty="0">
                <a:latin typeface="微软雅黑" panose="020B0503020204020204" pitchFamily="34" charset="-122"/>
                <a:ea typeface="微软雅黑" panose="020B0503020204020204" pitchFamily="34" charset="-122"/>
              </a:rPr>
              <a:t>语句，因此也可以把</a:t>
            </a:r>
            <a:r>
              <a:rPr lang="en-US" altLang="zh-CN" sz="2400" dirty="0">
                <a:latin typeface="微软雅黑" panose="020B0503020204020204" pitchFamily="34" charset="-122"/>
                <a:ea typeface="微软雅黑" panose="020B0503020204020204" pitchFamily="34" charset="-122"/>
              </a:rPr>
              <a:t>Solidity</a:t>
            </a:r>
            <a:r>
              <a:rPr lang="zh-CN" altLang="en-US" sz="2400" dirty="0">
                <a:latin typeface="微软雅黑" panose="020B0503020204020204" pitchFamily="34" charset="-122"/>
                <a:ea typeface="微软雅黑" panose="020B0503020204020204" pitchFamily="34" charset="-122"/>
              </a:rPr>
              <a:t>当作一种类似于与区块链交互的编程语言。</a:t>
            </a:r>
          </a:p>
        </p:txBody>
      </p:sp>
      <p:sp>
        <p:nvSpPr>
          <p:cNvPr id="3" name="矩形 2"/>
          <p:cNvSpPr/>
          <p:nvPr/>
        </p:nvSpPr>
        <p:spPr>
          <a:xfrm>
            <a:off x="283029" y="2848003"/>
            <a:ext cx="8860971" cy="369332"/>
          </a:xfrm>
          <a:prstGeom prst="rect">
            <a:avLst/>
          </a:prstGeom>
        </p:spPr>
        <p:txBody>
          <a:bodyPr wrap="square">
            <a:spAutoFit/>
          </a:bodyPr>
          <a:lstStyle/>
          <a:p>
            <a:r>
              <a:rPr lang="en-US" altLang="zh-CN" dirty="0" smtClean="0"/>
              <a:t>https</a:t>
            </a:r>
            <a:r>
              <a:rPr lang="en-US" altLang="zh-CN" dirty="0"/>
              <a:t>://blog.csdn.net/u013288190/article/details/108824439</a:t>
            </a:r>
            <a:endParaRPr lang="en-US" altLang="zh-CN" dirty="0" smtClean="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29" y="3449136"/>
            <a:ext cx="6822301" cy="1271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9009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块链开发</a:t>
            </a:r>
            <a:endParaRPr lang="zh-CN" altLang="en-US" kern="0" dirty="0">
              <a:latin typeface="微软雅黑" panose="020B0503020204020204" pitchFamily="34" charset="-122"/>
              <a:ea typeface="微软雅黑" panose="020B0503020204020204" pitchFamily="34" charset="-122"/>
            </a:endParaRPr>
          </a:p>
        </p:txBody>
      </p:sp>
      <p:pic>
        <p:nvPicPr>
          <p:cNvPr id="7172" name="Picture 4" descr="../../../../_images/IMG_492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75" y="3057997"/>
            <a:ext cx="8429625" cy="174511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56572" y="1639953"/>
            <a:ext cx="8729255" cy="1200329"/>
          </a:xfrm>
          <a:prstGeom prst="rect">
            <a:avLst/>
          </a:prstGeom>
          <a:noFill/>
        </p:spPr>
        <p:txBody>
          <a:bodyPr wrap="square" rtlCol="0">
            <a:spAutoFit/>
          </a:bodyPr>
          <a:lstStyle/>
          <a:p>
            <a:r>
              <a:rPr lang="zh-CN" altLang="en-US" dirty="0"/>
              <a:t>通过</a:t>
            </a:r>
            <a:r>
              <a:rPr lang="en-US" altLang="zh-CN" dirty="0" err="1"/>
              <a:t>TableFactory</a:t>
            </a:r>
            <a:r>
              <a:rPr lang="zh-CN" altLang="en-US" dirty="0"/>
              <a:t>对象提供的方法对表进行创建</a:t>
            </a:r>
            <a:r>
              <a:rPr lang="en-US" altLang="zh-CN" dirty="0"/>
              <a:t>(</a:t>
            </a:r>
            <a:r>
              <a:rPr lang="en-US" altLang="zh-CN" dirty="0" err="1"/>
              <a:t>createTable</a:t>
            </a:r>
            <a:r>
              <a:rPr lang="en-US" altLang="zh-CN" dirty="0"/>
              <a:t>)</a:t>
            </a:r>
            <a:r>
              <a:rPr lang="zh-CN" altLang="en-US" dirty="0"/>
              <a:t>和打开</a:t>
            </a:r>
            <a:r>
              <a:rPr lang="en-US" altLang="zh-CN" dirty="0"/>
              <a:t>(</a:t>
            </a:r>
            <a:r>
              <a:rPr lang="en-US" altLang="zh-CN" dirty="0" err="1"/>
              <a:t>openTable</a:t>
            </a:r>
            <a:r>
              <a:rPr lang="en-US" altLang="zh-CN" dirty="0"/>
              <a:t>)</a:t>
            </a:r>
            <a:r>
              <a:rPr lang="zh-CN" altLang="en-US" dirty="0"/>
              <a:t>，如下所示。 </a:t>
            </a:r>
            <a:r>
              <a:rPr lang="en-US" altLang="zh-CN" dirty="0" err="1"/>
              <a:t>createTable</a:t>
            </a:r>
            <a:r>
              <a:rPr lang="zh-CN" altLang="en-US" dirty="0"/>
              <a:t>接口返回值为</a:t>
            </a:r>
            <a:r>
              <a:rPr lang="en-US" altLang="zh-CN" dirty="0"/>
              <a:t>0</a:t>
            </a:r>
            <a:r>
              <a:rPr lang="zh-CN" altLang="en-US" dirty="0"/>
              <a:t>时，说明创建成功。需要注意的是，为了让创建的表可被多个合约共享访问，表名必须是群组内全局可见且唯一的，无法在同一条链上的同一个群组中，创建多个名称相同的表。</a:t>
            </a:r>
          </a:p>
        </p:txBody>
      </p:sp>
    </p:spTree>
    <p:extLst>
      <p:ext uri="{BB962C8B-B14F-4D97-AF65-F5344CB8AC3E}">
        <p14:creationId xmlns:p14="http://schemas.microsoft.com/office/powerpoint/2010/main" val="38420027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块链开发</a:t>
            </a:r>
            <a:endParaRPr lang="zh-CN" altLang="en-US" kern="0" dirty="0">
              <a:latin typeface="微软雅黑" panose="020B0503020204020204" pitchFamily="34" charset="-122"/>
              <a:ea typeface="微软雅黑" panose="020B0503020204020204" pitchFamily="34" charset="-122"/>
            </a:endParaRP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3710849" cy="461665"/>
          </a:xfrm>
          <a:prstGeom prst="rect">
            <a:avLst/>
          </a:prstGeom>
          <a:noFill/>
        </p:spPr>
        <p:txBody>
          <a:bodyPr wrap="square" rtlCol="0">
            <a:spAutoFit/>
          </a:bodyPr>
          <a:lstStyle/>
          <a:p>
            <a:pPr indent="-285750">
              <a:buFont typeface="Wingdings" panose="05000000000000000000" pitchFamily="2" charset="2"/>
              <a:buChar char="n"/>
            </a:pPr>
            <a:r>
              <a:rPr lang="zh-CN" altLang="en-US" sz="2400" b="1" dirty="0" smtClean="0">
                <a:latin typeface="微软雅黑" panose="020B0503020204020204" pitchFamily="34" charset="-122"/>
                <a:ea typeface="微软雅黑" panose="020B0503020204020204" pitchFamily="34" charset="-122"/>
              </a:rPr>
              <a:t>智能合约</a:t>
            </a:r>
            <a:r>
              <a:rPr lang="en-US" altLang="zh-CN" sz="2400" b="1" dirty="0" smtClean="0">
                <a:latin typeface="微软雅黑" panose="020B0503020204020204" pitchFamily="34" charset="-122"/>
                <a:ea typeface="微软雅黑" panose="020B0503020204020204" pitchFamily="34" charset="-122"/>
              </a:rPr>
              <a:t>---Table</a:t>
            </a:r>
            <a:endParaRPr lang="zh-CN" altLang="en-US" sz="2400" b="1" dirty="0">
              <a:latin typeface="微软雅黑" panose="020B0503020204020204" pitchFamily="34" charset="-122"/>
              <a:ea typeface="微软雅黑" panose="020B0503020204020204" pitchFamily="34" charset="-122"/>
            </a:endParaRPr>
          </a:p>
        </p:txBody>
      </p:sp>
      <p:sp>
        <p:nvSpPr>
          <p:cNvPr id="2" name="Rectangle 1"/>
          <p:cNvSpPr>
            <a:spLocks noChangeArrowheads="1"/>
          </p:cNvSpPr>
          <p:nvPr/>
        </p:nvSpPr>
        <p:spPr bwMode="auto">
          <a:xfrm>
            <a:off x="500063" y="1630173"/>
            <a:ext cx="7543119" cy="143116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b="1" i="0" u="none" strike="noStrike" cap="none" normalizeH="0" baseline="0" dirty="0" smtClean="0">
                <a:ln>
                  <a:noFill/>
                </a:ln>
                <a:solidFill>
                  <a:srgbClr val="404040"/>
                </a:solidFill>
                <a:effectLst/>
                <a:latin typeface="Arial" pitchFamily="34" charset="0"/>
                <a:ea typeface="Roboto Slab"/>
                <a:cs typeface="宋体" pitchFamily="2" charset="-122"/>
              </a:rPr>
              <a:t>新增成绩函数</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对表进行操作时，首先需要通过</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TableFactory</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打开对应的表，获得表对象，然后通过表对象的</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insert</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方法进行数据插入。在插入数据前，首先需要构建一个</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Entry</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对象实例，代码如下所示。</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  </a:t>
            </a:r>
          </a:p>
        </p:txBody>
      </p:sp>
      <p:pic>
        <p:nvPicPr>
          <p:cNvPr id="9218" name="Picture 2" descr="../../../../_images/IMG_492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3061334"/>
            <a:ext cx="8362950"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86498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块链开发</a:t>
            </a:r>
            <a:endParaRPr lang="zh-CN" altLang="en-US" kern="0" dirty="0">
              <a:latin typeface="微软雅黑" panose="020B0503020204020204" pitchFamily="34" charset="-122"/>
              <a:ea typeface="微软雅黑" panose="020B0503020204020204" pitchFamily="34" charset="-122"/>
            </a:endParaRP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3710849" cy="461665"/>
          </a:xfrm>
          <a:prstGeom prst="rect">
            <a:avLst/>
          </a:prstGeom>
          <a:noFill/>
        </p:spPr>
        <p:txBody>
          <a:bodyPr wrap="square" rtlCol="0">
            <a:spAutoFit/>
          </a:bodyPr>
          <a:lstStyle/>
          <a:p>
            <a:pPr indent="-285750">
              <a:buFont typeface="Wingdings" panose="05000000000000000000" pitchFamily="2" charset="2"/>
              <a:buChar char="n"/>
            </a:pPr>
            <a:r>
              <a:rPr lang="zh-CN" altLang="en-US" sz="2400" b="1" dirty="0" smtClean="0">
                <a:latin typeface="微软雅黑" panose="020B0503020204020204" pitchFamily="34" charset="-122"/>
                <a:ea typeface="微软雅黑" panose="020B0503020204020204" pitchFamily="34" charset="-122"/>
              </a:rPr>
              <a:t>智能合约</a:t>
            </a:r>
            <a:r>
              <a:rPr lang="en-US" altLang="zh-CN" sz="2400" b="1" dirty="0" smtClean="0">
                <a:latin typeface="微软雅黑" panose="020B0503020204020204" pitchFamily="34" charset="-122"/>
                <a:ea typeface="微软雅黑" panose="020B0503020204020204" pitchFamily="34" charset="-122"/>
              </a:rPr>
              <a:t>---Table</a:t>
            </a:r>
            <a:endParaRPr lang="zh-CN" altLang="en-US" sz="2400" b="1" dirty="0">
              <a:latin typeface="微软雅黑" panose="020B0503020204020204" pitchFamily="34" charset="-122"/>
              <a:ea typeface="微软雅黑" panose="020B0503020204020204" pitchFamily="34" charset="-122"/>
            </a:endParaRPr>
          </a:p>
        </p:txBody>
      </p:sp>
      <p:sp>
        <p:nvSpPr>
          <p:cNvPr id="3" name="Rectangle 1"/>
          <p:cNvSpPr>
            <a:spLocks noChangeArrowheads="1"/>
          </p:cNvSpPr>
          <p:nvPr/>
        </p:nvSpPr>
        <p:spPr bwMode="auto">
          <a:xfrm>
            <a:off x="325437" y="1405958"/>
            <a:ext cx="848518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需要注意的是，</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Table</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接口合约的</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insert</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remove</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update</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和</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select</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函数返回值类似数据库，均为受影响的记录行数，且接口中</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key</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的类型为</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string</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 而在当前场景中，学生的</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studentId</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为</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address</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类型，所以需要在函数内部将</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address</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类型转化为</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string</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类型，代码如下。</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  </a:t>
            </a:r>
          </a:p>
        </p:txBody>
      </p:sp>
      <p:pic>
        <p:nvPicPr>
          <p:cNvPr id="10242" name="Picture 2" descr="../../../../_images/IMG_492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7" y="2705099"/>
            <a:ext cx="8391525"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27356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块链开发</a:t>
            </a:r>
            <a:endParaRPr lang="zh-CN" altLang="en-US" kern="0" dirty="0">
              <a:latin typeface="微软雅黑" panose="020B0503020204020204" pitchFamily="34" charset="-122"/>
              <a:ea typeface="微软雅黑" panose="020B0503020204020204" pitchFamily="34" charset="-122"/>
            </a:endParaRP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3710849" cy="461665"/>
          </a:xfrm>
          <a:prstGeom prst="rect">
            <a:avLst/>
          </a:prstGeom>
          <a:noFill/>
        </p:spPr>
        <p:txBody>
          <a:bodyPr wrap="square" rtlCol="0">
            <a:spAutoFit/>
          </a:bodyPr>
          <a:lstStyle/>
          <a:p>
            <a:pPr indent="-285750">
              <a:buFont typeface="Wingdings" panose="05000000000000000000" pitchFamily="2" charset="2"/>
              <a:buChar char="n"/>
            </a:pPr>
            <a:r>
              <a:rPr lang="zh-CN" altLang="en-US" sz="2400" b="1" dirty="0" smtClean="0">
                <a:latin typeface="微软雅黑" panose="020B0503020204020204" pitchFamily="34" charset="-122"/>
                <a:ea typeface="微软雅黑" panose="020B0503020204020204" pitchFamily="34" charset="-122"/>
              </a:rPr>
              <a:t>智能合约</a:t>
            </a:r>
            <a:r>
              <a:rPr lang="en-US" altLang="zh-CN" sz="2400" b="1" dirty="0" smtClean="0">
                <a:latin typeface="微软雅黑" panose="020B0503020204020204" pitchFamily="34" charset="-122"/>
                <a:ea typeface="微软雅黑" panose="020B0503020204020204" pitchFamily="34" charset="-122"/>
              </a:rPr>
              <a:t>---Table</a:t>
            </a:r>
            <a:endParaRPr lang="zh-CN" altLang="en-US" sz="2400" b="1" dirty="0">
              <a:latin typeface="微软雅黑" panose="020B0503020204020204" pitchFamily="34" charset="-122"/>
              <a:ea typeface="微软雅黑" panose="020B0503020204020204" pitchFamily="34" charset="-122"/>
            </a:endParaRPr>
          </a:p>
        </p:txBody>
      </p:sp>
      <p:sp>
        <p:nvSpPr>
          <p:cNvPr id="2" name="Rectangle 1"/>
          <p:cNvSpPr>
            <a:spLocks noChangeArrowheads="1"/>
          </p:cNvSpPr>
          <p:nvPr/>
        </p:nvSpPr>
        <p:spPr bwMode="auto">
          <a:xfrm>
            <a:off x="116522" y="1381633"/>
            <a:ext cx="8544878" cy="17081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b="1" i="0" u="none" strike="noStrike" cap="none" normalizeH="0" baseline="0" dirty="0" smtClean="0">
                <a:ln>
                  <a:noFill/>
                </a:ln>
                <a:solidFill>
                  <a:srgbClr val="404040"/>
                </a:solidFill>
                <a:effectLst/>
                <a:latin typeface="Arial" pitchFamily="34" charset="0"/>
                <a:ea typeface="Roboto Slab"/>
                <a:cs typeface="宋体" pitchFamily="2" charset="-122"/>
              </a:rPr>
              <a:t>更新成绩函数</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更新成绩操作步骤包括：通过</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TableFactory</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对象打开表，然后，像数据库一样构造筛选条件。 在</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CRUD</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合约接口中，提供了</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Condition</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对象，该对象提供了诸如大于、等于、小于等一系列条件方法。构造完成条件对象后，可以调用</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table</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对象的</a:t>
            </a:r>
            <a:r>
              <a:rPr kumimoji="0" lang="zh-CN" altLang="zh-CN" b="0" i="0" u="none" strike="noStrike" cap="none" normalizeH="0" baseline="0" dirty="0" smtClean="0">
                <a:ln>
                  <a:noFill/>
                </a:ln>
                <a:solidFill>
                  <a:srgbClr val="404040"/>
                </a:solidFill>
                <a:effectLst/>
                <a:latin typeface="Arial" pitchFamily="34" charset="0"/>
                <a:ea typeface="Lato"/>
                <a:cs typeface="宋体" pitchFamily="2" charset="-122"/>
              </a:rPr>
              <a:t>udpdate</a:t>
            </a: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接口，完成更新操作，代码如下。</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b="0" i="0" u="none" strike="noStrike" cap="none" normalizeH="0" baseline="0" dirty="0" smtClean="0">
                <a:ln>
                  <a:noFill/>
                </a:ln>
                <a:solidFill>
                  <a:srgbClr val="404040"/>
                </a:solidFill>
                <a:effectLst/>
                <a:latin typeface="Arial" pitchFamily="34" charset="0"/>
                <a:ea typeface="Lato"/>
                <a:cs typeface="宋体" pitchFamily="2" charset="-122"/>
              </a:rPr>
              <a:t>  </a:t>
            </a:r>
          </a:p>
        </p:txBody>
      </p:sp>
      <p:pic>
        <p:nvPicPr>
          <p:cNvPr id="11266" name="Picture 2" descr="../../../../_images/IMG_492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452" y="3089793"/>
            <a:ext cx="8353425"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25190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块链开发</a:t>
            </a:r>
            <a:endParaRPr lang="zh-CN" altLang="en-US" kern="0" dirty="0">
              <a:latin typeface="微软雅黑" panose="020B0503020204020204" pitchFamily="34" charset="-122"/>
              <a:ea typeface="微软雅黑" panose="020B0503020204020204" pitchFamily="34" charset="-122"/>
            </a:endParaRP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3710849" cy="461665"/>
          </a:xfrm>
          <a:prstGeom prst="rect">
            <a:avLst/>
          </a:prstGeom>
          <a:noFill/>
        </p:spPr>
        <p:txBody>
          <a:bodyPr wrap="square" rtlCol="0">
            <a:spAutoFit/>
          </a:bodyPr>
          <a:lstStyle/>
          <a:p>
            <a:pPr indent="-285750">
              <a:buFont typeface="Wingdings" panose="05000000000000000000" pitchFamily="2" charset="2"/>
              <a:buChar char="n"/>
            </a:pPr>
            <a:r>
              <a:rPr lang="zh-CN" altLang="en-US" sz="2400" b="1" dirty="0" smtClean="0">
                <a:latin typeface="微软雅黑" panose="020B0503020204020204" pitchFamily="34" charset="-122"/>
                <a:ea typeface="微软雅黑" panose="020B0503020204020204" pitchFamily="34" charset="-122"/>
              </a:rPr>
              <a:t>智能合约</a:t>
            </a:r>
            <a:r>
              <a:rPr lang="en-US" altLang="zh-CN" sz="2400" b="1" dirty="0" smtClean="0">
                <a:latin typeface="微软雅黑" panose="020B0503020204020204" pitchFamily="34" charset="-122"/>
                <a:ea typeface="微软雅黑" panose="020B0503020204020204" pitchFamily="34" charset="-122"/>
              </a:rPr>
              <a:t>---Table</a:t>
            </a:r>
            <a:endParaRPr lang="zh-CN" altLang="en-US" sz="2400" b="1" dirty="0">
              <a:latin typeface="微软雅黑" panose="020B0503020204020204" pitchFamily="34" charset="-122"/>
              <a:ea typeface="微软雅黑" panose="020B0503020204020204" pitchFamily="34" charset="-122"/>
            </a:endParaRPr>
          </a:p>
        </p:txBody>
      </p:sp>
      <p:sp>
        <p:nvSpPr>
          <p:cNvPr id="2" name="Rectangle 1"/>
          <p:cNvSpPr>
            <a:spLocks noChangeArrowheads="1"/>
          </p:cNvSpPr>
          <p:nvPr/>
        </p:nvSpPr>
        <p:spPr bwMode="auto">
          <a:xfrm>
            <a:off x="248761" y="1553532"/>
            <a:ext cx="8544878" cy="127727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r>
              <a:rPr lang="zh-CN" altLang="en-US" sz="2000" b="1" dirty="0"/>
              <a:t>删除成绩操作</a:t>
            </a:r>
          </a:p>
          <a:p>
            <a:r>
              <a:rPr lang="zh-CN" altLang="en-US" sz="2000" dirty="0"/>
              <a:t>删除操作和更新操作类似，需要调用</a:t>
            </a:r>
            <a:r>
              <a:rPr lang="en-US" altLang="zh-CN" sz="2000" dirty="0" err="1"/>
              <a:t>table.remove</a:t>
            </a:r>
            <a:r>
              <a:rPr lang="zh-CN" altLang="en-US" sz="2000" dirty="0"/>
              <a:t>接口完成，不再赘述，代码如下。</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000" b="0" i="0" u="none" strike="noStrike" cap="none" normalizeH="0" baseline="0" dirty="0" smtClean="0">
                <a:ln>
                  <a:noFill/>
                </a:ln>
                <a:solidFill>
                  <a:srgbClr val="404040"/>
                </a:solidFill>
                <a:effectLst/>
                <a:latin typeface="Arial" pitchFamily="34" charset="0"/>
                <a:ea typeface="Lato"/>
                <a:cs typeface="宋体" pitchFamily="2" charset="-122"/>
              </a:rPr>
              <a:t>  </a:t>
            </a:r>
          </a:p>
        </p:txBody>
      </p:sp>
      <p:pic>
        <p:nvPicPr>
          <p:cNvPr id="12290" name="Picture 2" descr="../../../../_images/IMG_492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75" y="2701698"/>
            <a:ext cx="9319607" cy="2643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823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块链开发</a:t>
            </a:r>
            <a:endParaRPr lang="zh-CN" altLang="en-US" kern="0" dirty="0">
              <a:latin typeface="微软雅黑" panose="020B0503020204020204" pitchFamily="34" charset="-122"/>
              <a:ea typeface="微软雅黑" panose="020B0503020204020204" pitchFamily="34" charset="-122"/>
            </a:endParaRP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3710849" cy="461665"/>
          </a:xfrm>
          <a:prstGeom prst="rect">
            <a:avLst/>
          </a:prstGeom>
          <a:noFill/>
        </p:spPr>
        <p:txBody>
          <a:bodyPr wrap="square" rtlCol="0">
            <a:spAutoFit/>
          </a:bodyPr>
          <a:lstStyle/>
          <a:p>
            <a:pPr indent="-285750">
              <a:buFont typeface="Wingdings" panose="05000000000000000000" pitchFamily="2" charset="2"/>
              <a:buChar char="n"/>
            </a:pPr>
            <a:r>
              <a:rPr lang="zh-CN" altLang="en-US" sz="2400" b="1" dirty="0" smtClean="0">
                <a:latin typeface="微软雅黑" panose="020B0503020204020204" pitchFamily="34" charset="-122"/>
                <a:ea typeface="微软雅黑" panose="020B0503020204020204" pitchFamily="34" charset="-122"/>
              </a:rPr>
              <a:t>智能合约</a:t>
            </a:r>
            <a:r>
              <a:rPr lang="en-US" altLang="zh-CN" sz="2400" b="1" dirty="0" smtClean="0">
                <a:latin typeface="微软雅黑" panose="020B0503020204020204" pitchFamily="34" charset="-122"/>
                <a:ea typeface="微软雅黑" panose="020B0503020204020204" pitchFamily="34" charset="-122"/>
              </a:rPr>
              <a:t>---Table</a:t>
            </a:r>
            <a:endParaRPr lang="zh-CN" altLang="en-US" sz="2400" b="1" dirty="0">
              <a:latin typeface="微软雅黑" panose="020B0503020204020204" pitchFamily="34" charset="-122"/>
              <a:ea typeface="微软雅黑" panose="020B0503020204020204" pitchFamily="34" charset="-122"/>
            </a:endParaRPr>
          </a:p>
        </p:txBody>
      </p:sp>
      <p:sp>
        <p:nvSpPr>
          <p:cNvPr id="2" name="Rectangle 1"/>
          <p:cNvSpPr>
            <a:spLocks noChangeArrowheads="1"/>
          </p:cNvSpPr>
          <p:nvPr/>
        </p:nvSpPr>
        <p:spPr bwMode="auto">
          <a:xfrm>
            <a:off x="248761" y="1530448"/>
            <a:ext cx="8544878" cy="6617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r>
              <a:rPr lang="zh-CN" altLang="en-US" sz="2000" b="1" dirty="0"/>
              <a:t>查询成绩操作</a:t>
            </a:r>
          </a:p>
          <a:p>
            <a:r>
              <a:rPr lang="zh-CN" altLang="en-US" sz="2000" dirty="0"/>
              <a:t>查询成绩操作很简单，需要调用</a:t>
            </a:r>
            <a:r>
              <a:rPr lang="en-US" altLang="zh-CN" sz="2000" dirty="0" err="1"/>
              <a:t>table.select</a:t>
            </a:r>
            <a:r>
              <a:rPr lang="zh-CN" altLang="en-US" sz="2000" dirty="0"/>
              <a:t>接口完成，代码如下。</a:t>
            </a:r>
          </a:p>
        </p:txBody>
      </p:sp>
      <p:pic>
        <p:nvPicPr>
          <p:cNvPr id="13314" name="Picture 2" descr="../../../../_images/IMG_492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760" y="2451328"/>
            <a:ext cx="8666639" cy="2937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81503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块链开发</a:t>
            </a:r>
            <a:endParaRPr lang="zh-CN" altLang="en-US" kern="0" dirty="0">
              <a:latin typeface="微软雅黑" panose="020B0503020204020204" pitchFamily="34" charset="-122"/>
              <a:ea typeface="微软雅黑" panose="020B0503020204020204" pitchFamily="34" charset="-122"/>
            </a:endParaRP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3710849" cy="461665"/>
          </a:xfrm>
          <a:prstGeom prst="rect">
            <a:avLst/>
          </a:prstGeom>
          <a:noFill/>
        </p:spPr>
        <p:txBody>
          <a:bodyPr wrap="square" rtlCol="0">
            <a:spAutoFit/>
          </a:bodyPr>
          <a:lstStyle/>
          <a:p>
            <a:pPr indent="-285750">
              <a:buFont typeface="Wingdings" panose="05000000000000000000" pitchFamily="2" charset="2"/>
              <a:buChar char="n"/>
            </a:pPr>
            <a:r>
              <a:rPr lang="zh-CN" altLang="en-US" sz="2400" b="1" dirty="0" smtClean="0">
                <a:latin typeface="微软雅黑" panose="020B0503020204020204" pitchFamily="34" charset="-122"/>
                <a:ea typeface="微软雅黑" panose="020B0503020204020204" pitchFamily="34" charset="-122"/>
              </a:rPr>
              <a:t>智能合约</a:t>
            </a:r>
            <a:endParaRPr lang="zh-CN" altLang="en-US" sz="2400" b="1" dirty="0">
              <a:latin typeface="微软雅黑" panose="020B0503020204020204" pitchFamily="34" charset="-122"/>
              <a:ea typeface="微软雅黑" panose="020B0503020204020204" pitchFamily="34" charset="-122"/>
            </a:endParaRPr>
          </a:p>
        </p:txBody>
      </p:sp>
      <p:sp>
        <p:nvSpPr>
          <p:cNvPr id="3" name="矩形 2"/>
          <p:cNvSpPr/>
          <p:nvPr/>
        </p:nvSpPr>
        <p:spPr>
          <a:xfrm>
            <a:off x="544285" y="2869365"/>
            <a:ext cx="7434943" cy="369332"/>
          </a:xfrm>
          <a:prstGeom prst="rect">
            <a:avLst/>
          </a:prstGeom>
        </p:spPr>
        <p:txBody>
          <a:bodyPr wrap="square">
            <a:spAutoFit/>
          </a:bodyPr>
          <a:lstStyle/>
          <a:p>
            <a:r>
              <a:rPr lang="en-US" altLang="zh-CN" dirty="0"/>
              <a:t>https://solidity-cn.readthedocs.io/zh/develop/solidity-by-example.html</a:t>
            </a:r>
            <a:endParaRPr lang="zh-CN" altLang="en-US" dirty="0"/>
          </a:p>
        </p:txBody>
      </p:sp>
      <p:sp>
        <p:nvSpPr>
          <p:cNvPr id="4" name="TextBox 3"/>
          <p:cNvSpPr txBox="1"/>
          <p:nvPr/>
        </p:nvSpPr>
        <p:spPr>
          <a:xfrm>
            <a:off x="544286" y="1556658"/>
            <a:ext cx="2412840" cy="369332"/>
          </a:xfrm>
          <a:prstGeom prst="rect">
            <a:avLst/>
          </a:prstGeom>
          <a:noFill/>
        </p:spPr>
        <p:txBody>
          <a:bodyPr wrap="none" rtlCol="0">
            <a:spAutoFit/>
          </a:bodyPr>
          <a:lstStyle/>
          <a:p>
            <a:r>
              <a:rPr lang="zh-CN" altLang="en-US" b="1" dirty="0"/>
              <a:t>根据例子学习</a:t>
            </a:r>
            <a:r>
              <a:rPr lang="en-US" altLang="zh-CN" b="1" dirty="0" smtClean="0"/>
              <a:t>Solidity</a:t>
            </a:r>
            <a:endParaRPr lang="en-US" altLang="zh-CN" b="1" dirty="0"/>
          </a:p>
        </p:txBody>
      </p:sp>
      <p:sp>
        <p:nvSpPr>
          <p:cNvPr id="8" name="矩形 7"/>
          <p:cNvSpPr/>
          <p:nvPr/>
        </p:nvSpPr>
        <p:spPr>
          <a:xfrm>
            <a:off x="544285" y="2216631"/>
            <a:ext cx="8860971" cy="369332"/>
          </a:xfrm>
          <a:prstGeom prst="rect">
            <a:avLst/>
          </a:prstGeom>
        </p:spPr>
        <p:txBody>
          <a:bodyPr wrap="square">
            <a:spAutoFit/>
          </a:bodyPr>
          <a:lstStyle/>
          <a:p>
            <a:r>
              <a:rPr lang="en-US" altLang="zh-CN" dirty="0" smtClean="0"/>
              <a:t>https</a:t>
            </a:r>
            <a:r>
              <a:rPr lang="en-US" altLang="zh-CN" dirty="0"/>
              <a:t>://blog.csdn.net/u013288190/article/details/108824439</a:t>
            </a:r>
            <a:endParaRPr lang="en-US" altLang="zh-CN" dirty="0" smtClean="0"/>
          </a:p>
        </p:txBody>
      </p:sp>
    </p:spTree>
    <p:extLst>
      <p:ext uri="{BB962C8B-B14F-4D97-AF65-F5344CB8AC3E}">
        <p14:creationId xmlns:p14="http://schemas.microsoft.com/office/powerpoint/2010/main" val="23423947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a:t>
            </a:r>
            <a:r>
              <a:rPr lang="zh-CN" altLang="en-US" kern="0" dirty="0">
                <a:latin typeface="微软雅黑" panose="020B0503020204020204" pitchFamily="34" charset="-122"/>
                <a:ea typeface="微软雅黑" panose="020B0503020204020204" pitchFamily="34" charset="-122"/>
              </a:rPr>
              <a:t>应用</a:t>
            </a: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3710849" cy="461665"/>
          </a:xfrm>
          <a:prstGeom prst="rect">
            <a:avLst/>
          </a:prstGeom>
          <a:noFill/>
        </p:spPr>
        <p:txBody>
          <a:bodyPr wrap="square" rtlCol="0">
            <a:spAutoFit/>
          </a:bodyPr>
          <a:lstStyle/>
          <a:p>
            <a:r>
              <a:rPr lang="zh-CN" altLang="en-US" sz="2400" b="1" dirty="0"/>
              <a:t>多种语言</a:t>
            </a:r>
            <a:r>
              <a:rPr lang="en-US" altLang="zh-CN" sz="2400" b="1" dirty="0"/>
              <a:t>SDK</a:t>
            </a:r>
          </a:p>
        </p:txBody>
      </p:sp>
      <p:sp>
        <p:nvSpPr>
          <p:cNvPr id="2" name="TextBox 1"/>
          <p:cNvSpPr txBox="1"/>
          <p:nvPr/>
        </p:nvSpPr>
        <p:spPr>
          <a:xfrm>
            <a:off x="171450" y="1411024"/>
            <a:ext cx="8801100" cy="2585323"/>
          </a:xfrm>
          <a:prstGeom prst="rect">
            <a:avLst/>
          </a:prstGeom>
          <a:noFill/>
        </p:spPr>
        <p:txBody>
          <a:bodyPr wrap="square" rtlCol="0">
            <a:spAutoFit/>
          </a:bodyPr>
          <a:lstStyle/>
          <a:p>
            <a:r>
              <a:rPr lang="en-US" altLang="zh-CN" dirty="0"/>
              <a:t>FISCO BCOS</a:t>
            </a:r>
            <a:r>
              <a:rPr lang="zh-CN" altLang="en-US" dirty="0"/>
              <a:t>区块链向外部暴露了接口，外部业务程序能够通过</a:t>
            </a:r>
            <a:r>
              <a:rPr lang="en-US" altLang="zh-CN" dirty="0"/>
              <a:t>FISCO BCOS</a:t>
            </a:r>
            <a:r>
              <a:rPr lang="zh-CN" altLang="en-US" dirty="0"/>
              <a:t>提供的</a:t>
            </a:r>
            <a:r>
              <a:rPr lang="en-US" altLang="zh-CN" dirty="0"/>
              <a:t>SDK</a:t>
            </a:r>
            <a:r>
              <a:rPr lang="zh-CN" altLang="en-US" dirty="0"/>
              <a:t>来调用这些接口。开发者只需要根据自身业务程序的要求，选择相应语言的</a:t>
            </a:r>
            <a:r>
              <a:rPr lang="en-US" altLang="zh-CN" dirty="0"/>
              <a:t>SDK</a:t>
            </a:r>
            <a:r>
              <a:rPr lang="zh-CN" altLang="en-US" dirty="0"/>
              <a:t>，用</a:t>
            </a:r>
            <a:r>
              <a:rPr lang="en-US" altLang="zh-CN" dirty="0"/>
              <a:t>SDK</a:t>
            </a:r>
            <a:r>
              <a:rPr lang="zh-CN" altLang="en-US" dirty="0"/>
              <a:t>提供的</a:t>
            </a:r>
            <a:r>
              <a:rPr lang="en-US" altLang="zh-CN" dirty="0"/>
              <a:t>API</a:t>
            </a:r>
            <a:r>
              <a:rPr lang="zh-CN" altLang="en-US" dirty="0"/>
              <a:t>进行编程，即可实现对区块链的操作。</a:t>
            </a:r>
          </a:p>
          <a:p>
            <a:r>
              <a:rPr lang="zh-CN" altLang="en-US" b="1" dirty="0" smtClean="0"/>
              <a:t>内置</a:t>
            </a:r>
            <a:r>
              <a:rPr lang="zh-CN" altLang="en-US" b="1" dirty="0"/>
              <a:t>控制台</a:t>
            </a:r>
            <a:endParaRPr lang="zh-CN" altLang="en-US" dirty="0"/>
          </a:p>
          <a:p>
            <a:r>
              <a:rPr lang="zh-CN" altLang="en-US" dirty="0"/>
              <a:t>为了方便开发者，部分</a:t>
            </a:r>
            <a:r>
              <a:rPr lang="en-US" altLang="zh-CN" dirty="0"/>
              <a:t>SDK</a:t>
            </a:r>
            <a:r>
              <a:rPr lang="zh-CN" altLang="en-US" dirty="0"/>
              <a:t>内置了控制台的功能。开发者可直接通过用命令行进行上述功能的操作。如编译合约、部署合约、发送交易、查询交易、链管理等等。</a:t>
            </a:r>
          </a:p>
          <a:p>
            <a:r>
              <a:rPr lang="zh-CN" altLang="en-US" b="1" dirty="0"/>
              <a:t>多种语言</a:t>
            </a:r>
            <a:r>
              <a:rPr lang="en-US" altLang="zh-CN" b="1" dirty="0"/>
              <a:t>SDK</a:t>
            </a:r>
            <a:endParaRPr lang="zh-CN" altLang="en-US" dirty="0"/>
          </a:p>
          <a:p>
            <a:r>
              <a:rPr lang="zh-CN" altLang="en-US" dirty="0"/>
              <a:t>目前，</a:t>
            </a:r>
            <a:r>
              <a:rPr lang="en-US" altLang="zh-CN" dirty="0"/>
              <a:t>FISCO BCOS</a:t>
            </a:r>
            <a:r>
              <a:rPr lang="zh-CN" altLang="en-US" dirty="0"/>
              <a:t>提供的</a:t>
            </a:r>
            <a:r>
              <a:rPr lang="en-US" altLang="zh-CN" dirty="0"/>
              <a:t>SDK</a:t>
            </a:r>
            <a:r>
              <a:rPr lang="zh-CN" altLang="en-US" dirty="0"/>
              <a:t>包括：</a:t>
            </a:r>
          </a:p>
          <a:p>
            <a:endParaRPr lang="zh-CN" altLang="en-US" dirty="0"/>
          </a:p>
        </p:txBody>
      </p:sp>
      <p:pic>
        <p:nvPicPr>
          <p:cNvPr id="614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605" y="3739696"/>
            <a:ext cx="6846818" cy="2399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94336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a:t>
            </a:r>
            <a:r>
              <a:rPr lang="zh-CN" altLang="en-US" kern="0" dirty="0">
                <a:latin typeface="微软雅黑" panose="020B0503020204020204" pitchFamily="34" charset="-122"/>
                <a:ea typeface="微软雅黑" panose="020B0503020204020204" pitchFamily="34" charset="-122"/>
              </a:rPr>
              <a:t>应用</a:t>
            </a:r>
          </a:p>
        </p:txBody>
      </p:sp>
      <p:sp>
        <p:nvSpPr>
          <p:cNvPr id="3" name="矩形 2"/>
          <p:cNvSpPr/>
          <p:nvPr/>
        </p:nvSpPr>
        <p:spPr>
          <a:xfrm>
            <a:off x="511628" y="1063900"/>
            <a:ext cx="8149771" cy="923330"/>
          </a:xfrm>
          <a:prstGeom prst="rect">
            <a:avLst/>
          </a:prstGeom>
        </p:spPr>
        <p:txBody>
          <a:bodyPr wrap="square">
            <a:spAutoFit/>
          </a:bodyPr>
          <a:lstStyle/>
          <a:p>
            <a:r>
              <a:rPr lang="en-US" altLang="zh-CN" dirty="0"/>
              <a:t>Java SDK </a:t>
            </a:r>
            <a:r>
              <a:rPr lang="zh-CN" altLang="en-US" dirty="0"/>
              <a:t>提供了访问 </a:t>
            </a:r>
            <a:r>
              <a:rPr lang="en-US" altLang="zh-CN" dirty="0"/>
              <a:t>FISCO BCOS </a:t>
            </a:r>
            <a:r>
              <a:rPr lang="zh-CN" altLang="en-US" dirty="0"/>
              <a:t>节点的</a:t>
            </a:r>
            <a:r>
              <a:rPr lang="en-US" altLang="zh-CN" dirty="0"/>
              <a:t>Java API</a:t>
            </a:r>
            <a:r>
              <a:rPr lang="zh-CN" altLang="en-US" dirty="0"/>
              <a:t>，支持节点状态查询、部署和调用合约等功能，基于</a:t>
            </a:r>
            <a:r>
              <a:rPr lang="en-US" altLang="zh-CN" dirty="0"/>
              <a:t>Java SDK</a:t>
            </a:r>
            <a:r>
              <a:rPr lang="zh-CN" altLang="en-US" dirty="0"/>
              <a:t>可开发区块链应用，目前支持</a:t>
            </a:r>
            <a:r>
              <a:rPr lang="en-US" altLang="zh-CN" dirty="0">
                <a:hlinkClick r:id="rId2"/>
              </a:rPr>
              <a:t>FISCO BCOS 2.0+</a:t>
            </a:r>
            <a:r>
              <a:rPr lang="zh-CN" altLang="en-US" dirty="0"/>
              <a:t>。</a:t>
            </a: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2" y="2329996"/>
            <a:ext cx="7673975" cy="300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3168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a:t>
            </a:r>
            <a:r>
              <a:rPr lang="zh-CN" altLang="en-US" kern="0" dirty="0">
                <a:latin typeface="微软雅黑" panose="020B0503020204020204" pitchFamily="34" charset="-122"/>
                <a:ea typeface="微软雅黑" panose="020B0503020204020204" pitchFamily="34" charset="-122"/>
              </a:rPr>
              <a:t>应用</a:t>
            </a: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8625338" cy="2677656"/>
          </a:xfrm>
          <a:prstGeom prst="rect">
            <a:avLst/>
          </a:prstGeom>
          <a:noFill/>
        </p:spPr>
        <p:txBody>
          <a:bodyPr wrap="square" rtlCol="0">
            <a:spAutoFit/>
          </a:bodyPr>
          <a:lstStyle/>
          <a:p>
            <a:endParaRPr lang="en-US" altLang="zh-CN" sz="2400" b="1" dirty="0"/>
          </a:p>
          <a:p>
            <a:r>
              <a:rPr lang="zh-CN" altLang="en-US" sz="2400" b="1" dirty="0" smtClean="0"/>
              <a:t>开发第一个区块链应用：</a:t>
            </a:r>
            <a:endParaRPr lang="en-US" altLang="zh-CN" sz="2400" b="1" dirty="0" smtClean="0"/>
          </a:p>
          <a:p>
            <a:r>
              <a:rPr lang="en-US" altLang="zh-CN" sz="2400" b="1" dirty="0" smtClean="0">
                <a:hlinkClick r:id="rId2"/>
              </a:rPr>
              <a:t>https</a:t>
            </a:r>
            <a:r>
              <a:rPr lang="en-US" altLang="zh-CN" sz="2400" b="1" dirty="0">
                <a:hlinkClick r:id="rId2"/>
              </a:rPr>
              <a:t>://</a:t>
            </a:r>
            <a:r>
              <a:rPr lang="en-US" altLang="zh-CN" sz="2400" b="1" dirty="0" smtClean="0">
                <a:hlinkClick r:id="rId2"/>
              </a:rPr>
              <a:t>fisco-bcos-documentation.readthedocs.io/zh-cn/latest/docs/tutorial/sdk_application.html</a:t>
            </a:r>
            <a:endParaRPr lang="en-US" altLang="zh-CN" sz="2400" b="1" dirty="0" smtClean="0"/>
          </a:p>
          <a:p>
            <a:endParaRPr lang="en-US" altLang="zh-CN" sz="2400" b="1" dirty="0"/>
          </a:p>
          <a:p>
            <a:endParaRPr lang="en-US" altLang="zh-CN" sz="2400" b="1" dirty="0" smtClean="0"/>
          </a:p>
          <a:p>
            <a:r>
              <a:rPr lang="zh-CN" altLang="en-US" sz="2400" b="1" dirty="0" smtClean="0"/>
              <a:t>更多高级功能，比如多群组，预编译合约等，可在官网学习</a:t>
            </a:r>
            <a:endParaRPr lang="zh-CN" altLang="en-US" sz="2400" b="1" dirty="0"/>
          </a:p>
        </p:txBody>
      </p:sp>
    </p:spTree>
    <p:extLst>
      <p:ext uri="{BB962C8B-B14F-4D97-AF65-F5344CB8AC3E}">
        <p14:creationId xmlns:p14="http://schemas.microsoft.com/office/powerpoint/2010/main" val="37029205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a:t>
            </a:r>
            <a:r>
              <a:rPr lang="zh-CN" altLang="en-US" kern="0" dirty="0" smtClean="0">
                <a:latin typeface="微软雅黑" panose="020B0503020204020204" pitchFamily="34" charset="-122"/>
                <a:ea typeface="微软雅黑" panose="020B0503020204020204" pitchFamily="34" charset="-122"/>
              </a:rPr>
              <a:t>块链</a:t>
            </a:r>
            <a:r>
              <a:rPr lang="zh-CN" altLang="en-US" kern="0" dirty="0">
                <a:latin typeface="微软雅黑" panose="020B0503020204020204" pitchFamily="34" charset="-122"/>
                <a:ea typeface="微软雅黑" panose="020B0503020204020204" pitchFamily="34" charset="-122"/>
              </a:rPr>
              <a:t>应用</a:t>
            </a:r>
          </a:p>
        </p:txBody>
      </p:sp>
      <p:sp>
        <p:nvSpPr>
          <p:cNvPr id="7" name="文本框 3">
            <a:extLst>
              <a:ext uri="{FF2B5EF4-FFF2-40B4-BE49-F238E27FC236}">
                <a16:creationId xmlns:a16="http://schemas.microsoft.com/office/drawing/2014/main" xmlns="" id="{310A53CE-957F-4F22-8931-18F0E09915FD}"/>
              </a:ext>
            </a:extLst>
          </p:cNvPr>
          <p:cNvSpPr txBox="1"/>
          <p:nvPr/>
        </p:nvSpPr>
        <p:spPr>
          <a:xfrm>
            <a:off x="333605" y="919968"/>
            <a:ext cx="8625338" cy="4893647"/>
          </a:xfrm>
          <a:prstGeom prst="rect">
            <a:avLst/>
          </a:prstGeom>
          <a:noFill/>
        </p:spPr>
        <p:txBody>
          <a:bodyPr wrap="square" rtlCol="0">
            <a:spAutoFit/>
          </a:bodyPr>
          <a:lstStyle/>
          <a:p>
            <a:r>
              <a:rPr lang="zh-CN" altLang="en-US" sz="2400" b="1" dirty="0" smtClean="0"/>
              <a:t>实</a:t>
            </a:r>
            <a:r>
              <a:rPr lang="zh-CN" altLang="en-US" sz="2400" b="1" dirty="0"/>
              <a:t>训课程</a:t>
            </a:r>
            <a:r>
              <a:rPr lang="zh-CN" altLang="en-US" sz="2400" b="1" dirty="0" smtClean="0"/>
              <a:t>案例，不限于以下题目：</a:t>
            </a:r>
            <a:endParaRPr lang="en-US" altLang="zh-CN" sz="2400" b="1" dirty="0"/>
          </a:p>
          <a:p>
            <a:endParaRPr lang="en-US" altLang="zh-CN" sz="2400" b="1" dirty="0" smtClean="0"/>
          </a:p>
          <a:p>
            <a:r>
              <a:rPr lang="zh-CN" altLang="en-US" sz="2400" b="1" dirty="0" smtClean="0"/>
              <a:t>一、商品溯源</a:t>
            </a:r>
            <a:endParaRPr lang="en-US" altLang="zh-CN" sz="2400" b="1" dirty="0" smtClean="0"/>
          </a:p>
          <a:p>
            <a:r>
              <a:rPr lang="zh-CN" altLang="en-US" sz="2400" b="1" dirty="0" smtClean="0"/>
              <a:t>二、数字存证</a:t>
            </a:r>
            <a:endParaRPr lang="en-US" altLang="zh-CN" sz="2400" b="1" dirty="0" smtClean="0"/>
          </a:p>
          <a:p>
            <a:r>
              <a:rPr lang="zh-CN" altLang="en-US" sz="2400" b="1" dirty="0" smtClean="0"/>
              <a:t>三、捐赠平台</a:t>
            </a:r>
            <a:endParaRPr lang="en-US" altLang="zh-CN" sz="2400" b="1" dirty="0" smtClean="0"/>
          </a:p>
          <a:p>
            <a:r>
              <a:rPr lang="zh-CN" altLang="en-US" sz="2400" b="1" dirty="0" smtClean="0"/>
              <a:t>四、竞价平台</a:t>
            </a:r>
            <a:endParaRPr lang="en-US" altLang="zh-CN" sz="2400" b="1" dirty="0" smtClean="0"/>
          </a:p>
          <a:p>
            <a:r>
              <a:rPr lang="zh-CN" altLang="en-US" sz="2400" b="1" dirty="0" smtClean="0"/>
              <a:t>五、交易平台</a:t>
            </a:r>
            <a:endParaRPr lang="en-US" altLang="zh-CN" sz="2400" b="1" dirty="0" smtClean="0"/>
          </a:p>
          <a:p>
            <a:endParaRPr lang="en-US" altLang="zh-CN" sz="2400" b="1" dirty="0"/>
          </a:p>
          <a:p>
            <a:r>
              <a:rPr lang="zh-CN" altLang="zh-CN" sz="2000" dirty="0">
                <a:solidFill>
                  <a:srgbClr val="FF0000"/>
                </a:solidFill>
              </a:rPr>
              <a:t>全国大学生电子商务“创新、创意及创业”</a:t>
            </a:r>
            <a:r>
              <a:rPr lang="zh-CN" altLang="zh-CN" sz="2000" dirty="0" smtClean="0">
                <a:solidFill>
                  <a:srgbClr val="FF0000"/>
                </a:solidFill>
              </a:rPr>
              <a:t>挑战赛</a:t>
            </a:r>
            <a:r>
              <a:rPr lang="en-US" altLang="zh-CN" sz="2000" dirty="0" smtClean="0">
                <a:solidFill>
                  <a:srgbClr val="FF0000"/>
                </a:solidFill>
              </a:rPr>
              <a:t>---9</a:t>
            </a:r>
            <a:r>
              <a:rPr lang="zh-CN" altLang="en-US" sz="2000" dirty="0" smtClean="0">
                <a:solidFill>
                  <a:srgbClr val="FF0000"/>
                </a:solidFill>
              </a:rPr>
              <a:t>月报名，</a:t>
            </a:r>
            <a:r>
              <a:rPr lang="en-US" altLang="zh-CN" sz="2000" dirty="0" smtClean="0">
                <a:solidFill>
                  <a:srgbClr val="FF0000"/>
                </a:solidFill>
              </a:rPr>
              <a:t>3</a:t>
            </a:r>
            <a:r>
              <a:rPr lang="zh-CN" altLang="en-US" sz="2000" dirty="0" smtClean="0">
                <a:solidFill>
                  <a:srgbClr val="FF0000"/>
                </a:solidFill>
              </a:rPr>
              <a:t>月比赛</a:t>
            </a:r>
            <a:endParaRPr lang="en-US" altLang="zh-CN" sz="2000" dirty="0" smtClean="0">
              <a:solidFill>
                <a:srgbClr val="FF0000"/>
              </a:solidFill>
            </a:endParaRPr>
          </a:p>
          <a:p>
            <a:r>
              <a:rPr lang="zh-CN" altLang="zh-CN" sz="2000" dirty="0">
                <a:solidFill>
                  <a:srgbClr val="FF0000"/>
                </a:solidFill>
              </a:rPr>
              <a:t>全国大学生信息安全</a:t>
            </a:r>
            <a:r>
              <a:rPr lang="zh-CN" altLang="zh-CN" sz="2000" dirty="0" smtClean="0">
                <a:solidFill>
                  <a:srgbClr val="FF0000"/>
                </a:solidFill>
              </a:rPr>
              <a:t>竞赛</a:t>
            </a:r>
            <a:r>
              <a:rPr lang="en-US" altLang="zh-CN" sz="2000" dirty="0" smtClean="0">
                <a:solidFill>
                  <a:srgbClr val="FF0000"/>
                </a:solidFill>
              </a:rPr>
              <a:t>---6</a:t>
            </a:r>
            <a:r>
              <a:rPr lang="zh-CN" altLang="en-US" sz="2000" dirty="0" smtClean="0">
                <a:solidFill>
                  <a:srgbClr val="FF0000"/>
                </a:solidFill>
              </a:rPr>
              <a:t>月</a:t>
            </a:r>
            <a:r>
              <a:rPr lang="en-US" altLang="zh-CN" sz="2000" dirty="0" smtClean="0">
                <a:solidFill>
                  <a:srgbClr val="FF0000"/>
                </a:solidFill>
              </a:rPr>
              <a:t>10</a:t>
            </a:r>
            <a:r>
              <a:rPr lang="zh-CN" altLang="en-US" sz="2000" dirty="0" smtClean="0">
                <a:solidFill>
                  <a:srgbClr val="FF0000"/>
                </a:solidFill>
              </a:rPr>
              <a:t>号截止</a:t>
            </a:r>
            <a:endParaRPr lang="en-US" altLang="zh-CN" sz="2000" dirty="0" smtClean="0">
              <a:solidFill>
                <a:srgbClr val="FF0000"/>
              </a:solidFill>
            </a:endParaRPr>
          </a:p>
          <a:p>
            <a:r>
              <a:rPr lang="zh-CN" altLang="zh-CN" sz="2000" dirty="0"/>
              <a:t>中国大学生服务外包创新创业</a:t>
            </a:r>
            <a:r>
              <a:rPr lang="zh-CN" altLang="zh-CN" sz="2000" dirty="0" smtClean="0"/>
              <a:t>大赛</a:t>
            </a:r>
            <a:r>
              <a:rPr lang="en-US" altLang="zh-CN" sz="2000" dirty="0" smtClean="0"/>
              <a:t>—3</a:t>
            </a:r>
            <a:r>
              <a:rPr lang="zh-CN" altLang="en-US" sz="2000" dirty="0" smtClean="0"/>
              <a:t>月报名，</a:t>
            </a:r>
            <a:r>
              <a:rPr lang="en-US" altLang="zh-CN" sz="2000" dirty="0" smtClean="0"/>
              <a:t>4</a:t>
            </a:r>
            <a:r>
              <a:rPr lang="zh-CN" altLang="en-US" sz="2000" dirty="0" smtClean="0"/>
              <a:t>月比赛</a:t>
            </a:r>
            <a:endParaRPr lang="en-US" altLang="zh-CN" sz="2000" dirty="0" smtClean="0"/>
          </a:p>
          <a:p>
            <a:r>
              <a:rPr lang="zh-CN" altLang="zh-CN" sz="2000" dirty="0"/>
              <a:t>中国大学生计算机设计</a:t>
            </a:r>
            <a:r>
              <a:rPr lang="zh-CN" altLang="zh-CN" sz="2000" dirty="0" smtClean="0"/>
              <a:t>大赛</a:t>
            </a:r>
            <a:r>
              <a:rPr lang="en-US" altLang="zh-CN" sz="2000" dirty="0"/>
              <a:t>—3</a:t>
            </a:r>
            <a:r>
              <a:rPr lang="zh-CN" altLang="en-US" sz="2000" dirty="0"/>
              <a:t>月报名，</a:t>
            </a:r>
            <a:r>
              <a:rPr lang="en-US" altLang="zh-CN" sz="2000" dirty="0"/>
              <a:t>4</a:t>
            </a:r>
            <a:r>
              <a:rPr lang="zh-CN" altLang="en-US" sz="2000" dirty="0"/>
              <a:t>月比赛</a:t>
            </a:r>
            <a:endParaRPr lang="en-US" altLang="zh-CN" sz="2000" dirty="0"/>
          </a:p>
          <a:p>
            <a:r>
              <a:rPr lang="zh-CN" altLang="zh-CN" sz="2000" dirty="0"/>
              <a:t>中国高校计算机</a:t>
            </a:r>
            <a:r>
              <a:rPr lang="zh-CN" altLang="zh-CN" sz="2000" dirty="0" smtClean="0"/>
              <a:t>大赛</a:t>
            </a:r>
            <a:r>
              <a:rPr lang="en-US" altLang="zh-CN" sz="2000" dirty="0" smtClean="0"/>
              <a:t>—</a:t>
            </a:r>
            <a:r>
              <a:rPr lang="zh-CN" altLang="en-US" sz="2000" dirty="0" smtClean="0"/>
              <a:t>网络技术赛</a:t>
            </a:r>
            <a:r>
              <a:rPr lang="en-US" altLang="zh-CN" sz="2000" dirty="0" smtClean="0"/>
              <a:t>--</a:t>
            </a:r>
            <a:r>
              <a:rPr lang="en-US" altLang="zh-CN" sz="2000" dirty="0"/>
              <a:t>—3</a:t>
            </a:r>
            <a:r>
              <a:rPr lang="zh-CN" altLang="en-US" sz="2000" dirty="0"/>
              <a:t>月报名，</a:t>
            </a:r>
            <a:r>
              <a:rPr lang="en-US" altLang="zh-CN" sz="2000" dirty="0"/>
              <a:t>4</a:t>
            </a:r>
            <a:r>
              <a:rPr lang="zh-CN" altLang="en-US" sz="2000" dirty="0"/>
              <a:t>月比赛</a:t>
            </a:r>
            <a:endParaRPr lang="en-US" altLang="zh-CN" sz="2000" dirty="0"/>
          </a:p>
          <a:p>
            <a:pPr fontAlgn="ctr"/>
            <a:r>
              <a:rPr lang="zh-CN" altLang="zh-CN" sz="2000" dirty="0">
                <a:solidFill>
                  <a:srgbClr val="FF0000"/>
                </a:solidFill>
              </a:rPr>
              <a:t>“工行杯”全国大学生金融科技</a:t>
            </a:r>
            <a:r>
              <a:rPr lang="zh-CN" altLang="zh-CN" sz="2000" dirty="0" smtClean="0">
                <a:solidFill>
                  <a:srgbClr val="FF0000"/>
                </a:solidFill>
              </a:rPr>
              <a:t>创新大赛</a:t>
            </a:r>
            <a:r>
              <a:rPr lang="en-US" altLang="zh-CN" sz="2000" dirty="0">
                <a:solidFill>
                  <a:srgbClr val="FF0000"/>
                </a:solidFill>
              </a:rPr>
              <a:t>---9</a:t>
            </a:r>
            <a:r>
              <a:rPr lang="zh-CN" altLang="en-US" sz="2000" dirty="0">
                <a:solidFill>
                  <a:srgbClr val="FF0000"/>
                </a:solidFill>
              </a:rPr>
              <a:t>月报名</a:t>
            </a:r>
            <a:r>
              <a:rPr lang="zh-CN" altLang="en-US" sz="2000" dirty="0" smtClean="0">
                <a:solidFill>
                  <a:srgbClr val="FF0000"/>
                </a:solidFill>
              </a:rPr>
              <a:t>，</a:t>
            </a:r>
            <a:r>
              <a:rPr lang="en-US" altLang="zh-CN" sz="2000" dirty="0" smtClean="0">
                <a:solidFill>
                  <a:srgbClr val="FF0000"/>
                </a:solidFill>
              </a:rPr>
              <a:t>10</a:t>
            </a:r>
            <a:r>
              <a:rPr lang="zh-CN" altLang="en-US" sz="2000" dirty="0" smtClean="0">
                <a:solidFill>
                  <a:srgbClr val="FF0000"/>
                </a:solidFill>
              </a:rPr>
              <a:t>月比赛</a:t>
            </a:r>
            <a:endParaRPr lang="en-US" altLang="zh-CN" sz="2000" dirty="0">
              <a:solidFill>
                <a:srgbClr val="FF0000"/>
              </a:solidFill>
            </a:endParaRPr>
          </a:p>
        </p:txBody>
      </p:sp>
    </p:spTree>
    <p:extLst>
      <p:ext uri="{BB962C8B-B14F-4D97-AF65-F5344CB8AC3E}">
        <p14:creationId xmlns:p14="http://schemas.microsoft.com/office/powerpoint/2010/main" val="1761732166"/>
      </p:ext>
    </p:extLst>
  </p:cSld>
  <p:clrMapOvr>
    <a:masterClrMapping/>
  </p:clrMapOvr>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10115</TotalTime>
  <Words>2417</Words>
  <Application>Microsoft Office PowerPoint</Application>
  <PresentationFormat>全屏显示(4:3)</PresentationFormat>
  <Paragraphs>167</Paragraphs>
  <Slides>38</Slides>
  <Notes>0</Notes>
  <HiddenSlides>0</HiddenSlides>
  <MMClips>0</MMClips>
  <ScaleCrop>false</ScaleCrop>
  <HeadingPairs>
    <vt:vector size="4" baseType="variant">
      <vt:variant>
        <vt:lpstr>主题</vt:lpstr>
      </vt:variant>
      <vt:variant>
        <vt:i4>1</vt:i4>
      </vt:variant>
      <vt:variant>
        <vt:lpstr>幻灯片标题</vt:lpstr>
      </vt:variant>
      <vt:variant>
        <vt:i4>38</vt:i4>
      </vt:variant>
    </vt:vector>
  </HeadingPairs>
  <TitlesOfParts>
    <vt:vector size="39" baseType="lpstr">
      <vt:lpstr>LC.BRev.FY97</vt:lpstr>
      <vt:lpstr>区块链操作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yang li</dc:creator>
  <cp:lastModifiedBy>Lenovo</cp:lastModifiedBy>
  <cp:revision>1065</cp:revision>
  <cp:lastPrinted>2018-07-21T02:34:42Z</cp:lastPrinted>
  <dcterms:created xsi:type="dcterms:W3CDTF">2017-11-06T09:09:30Z</dcterms:created>
  <dcterms:modified xsi:type="dcterms:W3CDTF">2025-06-27T06:08:55Z</dcterms:modified>
</cp:coreProperties>
</file>