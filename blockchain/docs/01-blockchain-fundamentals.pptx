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11" r:id="rId2"/>
  </p:sldMasterIdLst>
  <p:notesMasterIdLst>
    <p:notesMasterId r:id="rId27"/>
  </p:notesMasterIdLst>
  <p:sldIdLst>
    <p:sldId id="323" r:id="rId3"/>
    <p:sldId id="606" r:id="rId4"/>
    <p:sldId id="767" r:id="rId5"/>
    <p:sldId id="768" r:id="rId6"/>
    <p:sldId id="709" r:id="rId7"/>
    <p:sldId id="710" r:id="rId8"/>
    <p:sldId id="708" r:id="rId9"/>
    <p:sldId id="770" r:id="rId10"/>
    <p:sldId id="712" r:id="rId11"/>
    <p:sldId id="771" r:id="rId12"/>
    <p:sldId id="772" r:id="rId13"/>
    <p:sldId id="773" r:id="rId14"/>
    <p:sldId id="774" r:id="rId15"/>
    <p:sldId id="775" r:id="rId16"/>
    <p:sldId id="776" r:id="rId17"/>
    <p:sldId id="777" r:id="rId18"/>
    <p:sldId id="778" r:id="rId19"/>
    <p:sldId id="779" r:id="rId20"/>
    <p:sldId id="785" r:id="rId21"/>
    <p:sldId id="781" r:id="rId22"/>
    <p:sldId id="780" r:id="rId23"/>
    <p:sldId id="782" r:id="rId24"/>
    <p:sldId id="783" r:id="rId25"/>
    <p:sldId id="784" r:id="rId26"/>
  </p:sldIdLst>
  <p:sldSz cx="9144000" cy="6858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xmlns="">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7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81920" autoAdjust="0"/>
  </p:normalViewPr>
  <p:slideViewPr>
    <p:cSldViewPr snapToGrid="0" showGuides="1">
      <p:cViewPr varScale="1">
        <p:scale>
          <a:sx n="70" d="100"/>
          <a:sy n="70" d="100"/>
        </p:scale>
        <p:origin x="-1699"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6" d="100"/>
          <a:sy n="96" d="100"/>
        </p:scale>
        <p:origin x="-1596" y="-9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zh-CN" altLang="en-US"/>
          </a:p>
        </p:txBody>
      </p:sp>
      <p:sp>
        <p:nvSpPr>
          <p:cNvPr id="3" name="日期占位符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7BA6A6D8-A047-4A30-9DAD-B589E52CC8BD}" type="datetimeFigureOut">
              <a:rPr lang="zh-CN" altLang="en-US" smtClean="0"/>
              <a:pPr/>
              <a:t>2025/6/27</a:t>
            </a:fld>
            <a:endParaRPr lang="zh-CN" altLang="en-US"/>
          </a:p>
        </p:txBody>
      </p:sp>
      <p:sp>
        <p:nvSpPr>
          <p:cNvPr id="4" name="幻灯片图像占位符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9075" tIns="49538" rIns="99075" bIns="49538"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964C083B-3359-4272-80A3-FFF9ECA3CA08}" type="slidenum">
              <a:rPr lang="zh-CN" altLang="en-US" smtClean="0"/>
              <a:pPr/>
              <a:t>‹#›</a:t>
            </a:fld>
            <a:endParaRPr lang="zh-CN" altLang="en-US"/>
          </a:p>
        </p:txBody>
      </p:sp>
    </p:spTree>
    <p:extLst>
      <p:ext uri="{BB962C8B-B14F-4D97-AF65-F5344CB8AC3E}">
        <p14:creationId xmlns:p14="http://schemas.microsoft.com/office/powerpoint/2010/main" val="246771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14</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15</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16</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17</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18</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19</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20</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21</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22</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23</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4C083B-3359-4272-80A3-FFF9ECA3CA08}" type="slidenum">
              <a:rPr lang="zh-CN" altLang="en-US" smtClean="0"/>
              <a:pPr/>
              <a:t>24</a:t>
            </a:fld>
            <a:endParaRPr lang="zh-CN" altLang="en-US"/>
          </a:p>
        </p:txBody>
      </p:sp>
    </p:spTree>
    <p:extLst>
      <p:ext uri="{BB962C8B-B14F-4D97-AF65-F5344CB8AC3E}">
        <p14:creationId xmlns:p14="http://schemas.microsoft.com/office/powerpoint/2010/main" val="1418576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474640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4149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55658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64552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83085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7712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04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27106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14943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0447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3688" y="152400"/>
            <a:ext cx="2085975" cy="6172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52400"/>
            <a:ext cx="6110288" cy="6172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7814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411163" y="1143000"/>
            <a:ext cx="83185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11163" y="3810000"/>
            <a:ext cx="831850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90585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411163" y="1143000"/>
            <a:ext cx="408305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6613" y="1143000"/>
            <a:ext cx="408305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6613" y="3810000"/>
            <a:ext cx="4083050"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5659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表格占位符 2"/>
          <p:cNvSpPr>
            <a:spLocks noGrp="1"/>
          </p:cNvSpPr>
          <p:nvPr>
            <p:ph type="tbl" idx="1"/>
          </p:nvPr>
        </p:nvSpPr>
        <p:spPr>
          <a:xfrm>
            <a:off x="411163" y="1143000"/>
            <a:ext cx="8318500" cy="5181600"/>
          </a:xfrm>
        </p:spPr>
        <p:txBody>
          <a:bodyPr/>
          <a:lstStyle/>
          <a:p>
            <a:pPr lvl="0"/>
            <a:endParaRPr lang="zh-CN" altLang="en-US" noProof="0"/>
          </a:p>
        </p:txBody>
      </p:sp>
    </p:spTree>
    <p:extLst>
      <p:ext uri="{BB962C8B-B14F-4D97-AF65-F5344CB8AC3E}">
        <p14:creationId xmlns:p14="http://schemas.microsoft.com/office/powerpoint/2010/main" val="2377159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8" name="文本占位符 2"/>
          <p:cNvSpPr>
            <a:spLocks noGrp="1"/>
          </p:cNvSpPr>
          <p:nvPr>
            <p:ph idx="1"/>
          </p:nvPr>
        </p:nvSpPr>
        <p:spPr>
          <a:xfrm>
            <a:off x="628650" y="1224076"/>
            <a:ext cx="7886700" cy="5110521"/>
          </a:xfrm>
          <a:prstGeom prst="rect">
            <a:avLst/>
          </a:prstGeom>
        </p:spPr>
        <p:txBody>
          <a:bodyPr vert="horz" lIns="91440" tIns="45720" rIns="91440" bIns="45720" rtlCol="0">
            <a:normAutofit/>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标题占位符 1"/>
          <p:cNvSpPr>
            <a:spLocks noGrp="1"/>
          </p:cNvSpPr>
          <p:nvPr>
            <p:ph type="title"/>
          </p:nvPr>
        </p:nvSpPr>
        <p:spPr>
          <a:xfrm>
            <a:off x="204097" y="250835"/>
            <a:ext cx="7886700" cy="854073"/>
          </a:xfrm>
          <a:prstGeom prst="rect">
            <a:avLst/>
          </a:prstGeom>
        </p:spPr>
        <p:txBody>
          <a:bodyPr vert="horz" lIns="91440" tIns="45720" rIns="91440" bIns="45720" rtlCol="0" anchor="ctr">
            <a:normAutofit/>
          </a:bodyPr>
          <a:lstStyle>
            <a:lvl1pPr>
              <a:defRPr b="1">
                <a:latin typeface="微软雅黑" pitchFamily="34" charset="-122"/>
                <a:ea typeface="微软雅黑"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24151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627321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97556" y="228600"/>
            <a:ext cx="8280400" cy="533400"/>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310791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129710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78260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84014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438951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1784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3320875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254177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598484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3688" y="152400"/>
            <a:ext cx="2085975" cy="6172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52400"/>
            <a:ext cx="6110288" cy="6172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12665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82804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411163" y="1143000"/>
            <a:ext cx="408305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143000"/>
            <a:ext cx="4083050"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236717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AD6D5D30-D2A2-49CE-BE8C-C1FD083D1765}" type="datetime1">
              <a:rPr lang="zh-CN" altLang="en-US" sz="1400" b="1" smtClean="0">
                <a:solidFill>
                  <a:prstClr val="black"/>
                </a:solidFill>
                <a:latin typeface="Arial" panose="02080604020202020204" charset="0"/>
              </a:rPr>
              <a:pPr defTabSz="914400" eaLnBrk="0" fontAlgn="base" hangingPunct="0">
                <a:spcBef>
                  <a:spcPct val="0"/>
                </a:spcBef>
                <a:spcAft>
                  <a:spcPct val="0"/>
                </a:spcAft>
              </a:pPr>
              <a:t>2025/6/27</a:t>
            </a:fld>
            <a:endParaRPr lang="zh-CN" altLang="en-US" sz="1400" b="1">
              <a:solidFill>
                <a:prstClr val="black"/>
              </a:solidFill>
              <a:latin typeface="Arial" panose="02080604020202020204" charset="0"/>
            </a:endParaRPr>
          </a:p>
        </p:txBody>
      </p:sp>
      <p:sp>
        <p:nvSpPr>
          <p:cNvPr id="5" name="Footer Placeholder 4"/>
          <p:cNvSpPr>
            <a:spLocks noGrp="1"/>
          </p:cNvSpPr>
          <p:nvPr>
            <p:ph type="ftr" sz="quarter" idx="11"/>
          </p:nvPr>
        </p:nvSpPr>
        <p:spPr>
          <a:xfrm>
            <a:off x="3028951" y="6356352"/>
            <a:ext cx="3086100" cy="365125"/>
          </a:xfrm>
          <a:prstGeom prst="rect">
            <a:avLst/>
          </a:prstGeom>
        </p:spPr>
        <p:txBody>
          <a:bodyPr lIns="121917" tIns="60958" rIns="121917" bIns="60958"/>
          <a:lstStyle/>
          <a:p>
            <a:pPr defTabSz="914400" eaLnBrk="0" fontAlgn="base" hangingPunct="0">
              <a:spcBef>
                <a:spcPct val="0"/>
              </a:spcBef>
              <a:spcAft>
                <a:spcPct val="0"/>
              </a:spcAft>
            </a:pPr>
            <a:endParaRPr lang="zh-CN" altLang="en-US" sz="1400" b="1">
              <a:solidFill>
                <a:prstClr val="black"/>
              </a:solidFill>
              <a:latin typeface="Arial" panose="02080604020202020204" charset="0"/>
            </a:endParaRPr>
          </a:p>
        </p:txBody>
      </p:sp>
      <p:sp>
        <p:nvSpPr>
          <p:cNvPr id="6" name="Slide Number Placeholder 5"/>
          <p:cNvSpPr>
            <a:spLocks noGrp="1"/>
          </p:cNvSpPr>
          <p:nvPr>
            <p:ph type="sldNum" sz="quarter" idx="12"/>
          </p:nvPr>
        </p:nvSpPr>
        <p:spPr>
          <a:xfrm>
            <a:off x="64579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E1BEBC7A-FD02-486B-81B5-A845787C689C}" type="slidenum">
              <a:rPr lang="zh-CN" altLang="en-US" sz="1400" b="1" smtClean="0">
                <a:solidFill>
                  <a:prstClr val="black"/>
                </a:solidFill>
                <a:latin typeface="Arial" panose="02080604020202020204" charset="0"/>
              </a:rPr>
              <a:pPr defTabSz="914400" eaLnBrk="0" fontAlgn="base" hangingPunct="0">
                <a:spcBef>
                  <a:spcPct val="0"/>
                </a:spcBef>
                <a:spcAft>
                  <a:spcPct val="0"/>
                </a:spcAft>
              </a:pPr>
              <a:t>‹#›</a:t>
            </a:fld>
            <a:endParaRPr lang="zh-CN" altLang="en-US" sz="1400" b="1">
              <a:solidFill>
                <a:prstClr val="black"/>
              </a:solidFill>
              <a:latin typeface="Arial" panose="02080604020202020204" charset="0"/>
            </a:endParaRPr>
          </a:p>
        </p:txBody>
      </p:sp>
    </p:spTree>
    <p:extLst>
      <p:ext uri="{BB962C8B-B14F-4D97-AF65-F5344CB8AC3E}">
        <p14:creationId xmlns:p14="http://schemas.microsoft.com/office/powerpoint/2010/main" val="1489622320"/>
      </p:ext>
    </p:extLst>
  </p:cSld>
  <p:clrMapOvr>
    <a:masterClrMapping/>
  </p:clrMapOvr>
  <p:transition spd="slow">
    <p:pull/>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AD6D5D30-D2A2-49CE-BE8C-C1FD083D1765}" type="datetime1">
              <a:rPr lang="zh-CN" altLang="en-US" sz="1400" b="1" smtClean="0">
                <a:solidFill>
                  <a:prstClr val="black"/>
                </a:solidFill>
                <a:latin typeface="Arial" panose="02080604020202020204" charset="0"/>
              </a:rPr>
              <a:pPr defTabSz="914400" eaLnBrk="0" fontAlgn="base" hangingPunct="0">
                <a:spcBef>
                  <a:spcPct val="0"/>
                </a:spcBef>
                <a:spcAft>
                  <a:spcPct val="0"/>
                </a:spcAft>
              </a:pPr>
              <a:t>2025/6/27</a:t>
            </a:fld>
            <a:endParaRPr lang="zh-CN" altLang="en-US" sz="1400" b="1">
              <a:solidFill>
                <a:prstClr val="black"/>
              </a:solidFill>
              <a:latin typeface="Arial" panose="02080604020202020204" charset="0"/>
            </a:endParaRPr>
          </a:p>
        </p:txBody>
      </p:sp>
      <p:sp>
        <p:nvSpPr>
          <p:cNvPr id="5" name="Footer Placeholder 4"/>
          <p:cNvSpPr>
            <a:spLocks noGrp="1"/>
          </p:cNvSpPr>
          <p:nvPr>
            <p:ph type="ftr" sz="quarter" idx="11"/>
          </p:nvPr>
        </p:nvSpPr>
        <p:spPr>
          <a:xfrm>
            <a:off x="3028951" y="6356352"/>
            <a:ext cx="3086100" cy="365125"/>
          </a:xfrm>
          <a:prstGeom prst="rect">
            <a:avLst/>
          </a:prstGeom>
        </p:spPr>
        <p:txBody>
          <a:bodyPr lIns="121917" tIns="60958" rIns="121917" bIns="60958"/>
          <a:lstStyle/>
          <a:p>
            <a:pPr defTabSz="914400" eaLnBrk="0" fontAlgn="base" hangingPunct="0">
              <a:spcBef>
                <a:spcPct val="0"/>
              </a:spcBef>
              <a:spcAft>
                <a:spcPct val="0"/>
              </a:spcAft>
            </a:pPr>
            <a:endParaRPr lang="zh-CN" altLang="en-US" sz="1400" b="1">
              <a:solidFill>
                <a:prstClr val="black"/>
              </a:solidFill>
              <a:latin typeface="Arial" panose="02080604020202020204" charset="0"/>
            </a:endParaRPr>
          </a:p>
        </p:txBody>
      </p:sp>
      <p:sp>
        <p:nvSpPr>
          <p:cNvPr id="6" name="Slide Number Placeholder 5"/>
          <p:cNvSpPr>
            <a:spLocks noGrp="1"/>
          </p:cNvSpPr>
          <p:nvPr>
            <p:ph type="sldNum" sz="quarter" idx="12"/>
          </p:nvPr>
        </p:nvSpPr>
        <p:spPr>
          <a:xfrm>
            <a:off x="64579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E1BEBC7A-FD02-486B-81B5-A845787C689C}" type="slidenum">
              <a:rPr lang="zh-CN" altLang="en-US" sz="1400" b="1" smtClean="0">
                <a:solidFill>
                  <a:prstClr val="black"/>
                </a:solidFill>
                <a:latin typeface="Arial" panose="02080604020202020204" charset="0"/>
              </a:rPr>
              <a:pPr defTabSz="914400" eaLnBrk="0" fontAlgn="base" hangingPunct="0">
                <a:spcBef>
                  <a:spcPct val="0"/>
                </a:spcBef>
                <a:spcAft>
                  <a:spcPct val="0"/>
                </a:spcAft>
              </a:pPr>
              <a:t>‹#›</a:t>
            </a:fld>
            <a:endParaRPr lang="zh-CN" altLang="en-US" sz="1400" b="1">
              <a:solidFill>
                <a:prstClr val="black"/>
              </a:solidFill>
              <a:latin typeface="Arial" panose="02080604020202020204" charset="0"/>
            </a:endParaRPr>
          </a:p>
        </p:txBody>
      </p:sp>
    </p:spTree>
    <p:extLst>
      <p:ext uri="{BB962C8B-B14F-4D97-AF65-F5344CB8AC3E}">
        <p14:creationId xmlns:p14="http://schemas.microsoft.com/office/powerpoint/2010/main" val="502907215"/>
      </p:ext>
    </p:extLst>
  </p:cSld>
  <p:clrMapOvr>
    <a:masterClrMapping/>
  </p:clrMapOvr>
  <p:transition spd="slow">
    <p:pull/>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AD6D5D30-D2A2-49CE-BE8C-C1FD083D1765}" type="datetime1">
              <a:rPr lang="zh-CN" altLang="en-US" sz="1400" b="1" smtClean="0">
                <a:solidFill>
                  <a:prstClr val="black"/>
                </a:solidFill>
                <a:latin typeface="Arial" panose="02080604020202020204" charset="0"/>
              </a:rPr>
              <a:pPr defTabSz="914400" eaLnBrk="0" fontAlgn="base" hangingPunct="0">
                <a:spcBef>
                  <a:spcPct val="0"/>
                </a:spcBef>
                <a:spcAft>
                  <a:spcPct val="0"/>
                </a:spcAft>
              </a:pPr>
              <a:t>2025/6/27</a:t>
            </a:fld>
            <a:endParaRPr lang="zh-CN" altLang="en-US" sz="1400" b="1">
              <a:solidFill>
                <a:prstClr val="black"/>
              </a:solidFill>
              <a:latin typeface="Arial" panose="02080604020202020204" charset="0"/>
            </a:endParaRPr>
          </a:p>
        </p:txBody>
      </p:sp>
      <p:sp>
        <p:nvSpPr>
          <p:cNvPr id="5" name="Footer Placeholder 4"/>
          <p:cNvSpPr>
            <a:spLocks noGrp="1"/>
          </p:cNvSpPr>
          <p:nvPr>
            <p:ph type="ftr" sz="quarter" idx="11"/>
          </p:nvPr>
        </p:nvSpPr>
        <p:spPr>
          <a:xfrm>
            <a:off x="3028951" y="6356352"/>
            <a:ext cx="3086100" cy="365125"/>
          </a:xfrm>
          <a:prstGeom prst="rect">
            <a:avLst/>
          </a:prstGeom>
        </p:spPr>
        <p:txBody>
          <a:bodyPr lIns="121917" tIns="60958" rIns="121917" bIns="60958"/>
          <a:lstStyle/>
          <a:p>
            <a:pPr defTabSz="914400" eaLnBrk="0" fontAlgn="base" hangingPunct="0">
              <a:spcBef>
                <a:spcPct val="0"/>
              </a:spcBef>
              <a:spcAft>
                <a:spcPct val="0"/>
              </a:spcAft>
            </a:pPr>
            <a:endParaRPr lang="zh-CN" altLang="en-US" sz="1400" b="1">
              <a:solidFill>
                <a:prstClr val="black"/>
              </a:solidFill>
              <a:latin typeface="Arial" panose="02080604020202020204" charset="0"/>
            </a:endParaRPr>
          </a:p>
        </p:txBody>
      </p:sp>
      <p:sp>
        <p:nvSpPr>
          <p:cNvPr id="6" name="Slide Number Placeholder 5"/>
          <p:cNvSpPr>
            <a:spLocks noGrp="1"/>
          </p:cNvSpPr>
          <p:nvPr>
            <p:ph type="sldNum" sz="quarter" idx="12"/>
          </p:nvPr>
        </p:nvSpPr>
        <p:spPr>
          <a:xfrm>
            <a:off x="64579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E1BEBC7A-FD02-486B-81B5-A845787C689C}" type="slidenum">
              <a:rPr lang="zh-CN" altLang="en-US" sz="1400" b="1" smtClean="0">
                <a:solidFill>
                  <a:prstClr val="black"/>
                </a:solidFill>
                <a:latin typeface="Arial" panose="02080604020202020204" charset="0"/>
              </a:rPr>
              <a:pPr defTabSz="914400" eaLnBrk="0" fontAlgn="base" hangingPunct="0">
                <a:spcBef>
                  <a:spcPct val="0"/>
                </a:spcBef>
                <a:spcAft>
                  <a:spcPct val="0"/>
                </a:spcAft>
              </a:pPr>
              <a:t>‹#›</a:t>
            </a:fld>
            <a:endParaRPr lang="zh-CN" altLang="en-US" sz="1400" b="1">
              <a:solidFill>
                <a:prstClr val="black"/>
              </a:solidFill>
              <a:latin typeface="Arial" panose="02080604020202020204" charset="0"/>
            </a:endParaRPr>
          </a:p>
        </p:txBody>
      </p:sp>
    </p:spTree>
    <p:extLst>
      <p:ext uri="{BB962C8B-B14F-4D97-AF65-F5344CB8AC3E}">
        <p14:creationId xmlns:p14="http://schemas.microsoft.com/office/powerpoint/2010/main" val="2657611326"/>
      </p:ext>
    </p:extLst>
  </p:cSld>
  <p:clrMapOvr>
    <a:masterClrMapping/>
  </p:clrMapOvr>
  <p:transition spd="slow">
    <p:pull/>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AD6D5D30-D2A2-49CE-BE8C-C1FD083D1765}" type="datetime1">
              <a:rPr lang="zh-CN" altLang="en-US" sz="1400" b="1" smtClean="0">
                <a:solidFill>
                  <a:prstClr val="black"/>
                </a:solidFill>
                <a:latin typeface="Arial" panose="02080604020202020204" charset="0"/>
              </a:rPr>
              <a:pPr defTabSz="914400" eaLnBrk="0" fontAlgn="base" hangingPunct="0">
                <a:spcBef>
                  <a:spcPct val="0"/>
                </a:spcBef>
                <a:spcAft>
                  <a:spcPct val="0"/>
                </a:spcAft>
              </a:pPr>
              <a:t>2025/6/27</a:t>
            </a:fld>
            <a:endParaRPr lang="zh-CN" altLang="en-US" sz="1400" b="1">
              <a:solidFill>
                <a:prstClr val="black"/>
              </a:solidFill>
              <a:latin typeface="Arial" panose="02080604020202020204" charset="0"/>
            </a:endParaRPr>
          </a:p>
        </p:txBody>
      </p:sp>
      <p:sp>
        <p:nvSpPr>
          <p:cNvPr id="5" name="Footer Placeholder 4"/>
          <p:cNvSpPr>
            <a:spLocks noGrp="1"/>
          </p:cNvSpPr>
          <p:nvPr>
            <p:ph type="ftr" sz="quarter" idx="11"/>
          </p:nvPr>
        </p:nvSpPr>
        <p:spPr>
          <a:xfrm>
            <a:off x="3028951" y="6356352"/>
            <a:ext cx="3086100" cy="365125"/>
          </a:xfrm>
          <a:prstGeom prst="rect">
            <a:avLst/>
          </a:prstGeom>
        </p:spPr>
        <p:txBody>
          <a:bodyPr lIns="121917" tIns="60958" rIns="121917" bIns="60958"/>
          <a:lstStyle/>
          <a:p>
            <a:pPr defTabSz="914400" eaLnBrk="0" fontAlgn="base" hangingPunct="0">
              <a:spcBef>
                <a:spcPct val="0"/>
              </a:spcBef>
              <a:spcAft>
                <a:spcPct val="0"/>
              </a:spcAft>
            </a:pPr>
            <a:endParaRPr lang="zh-CN" altLang="en-US" sz="1400" b="1">
              <a:solidFill>
                <a:prstClr val="black"/>
              </a:solidFill>
              <a:latin typeface="Arial" panose="02080604020202020204" charset="0"/>
            </a:endParaRPr>
          </a:p>
        </p:txBody>
      </p:sp>
      <p:sp>
        <p:nvSpPr>
          <p:cNvPr id="6" name="Slide Number Placeholder 5"/>
          <p:cNvSpPr>
            <a:spLocks noGrp="1"/>
          </p:cNvSpPr>
          <p:nvPr>
            <p:ph type="sldNum" sz="quarter" idx="12"/>
          </p:nvPr>
        </p:nvSpPr>
        <p:spPr>
          <a:xfrm>
            <a:off x="6457951" y="6356352"/>
            <a:ext cx="2057400" cy="365125"/>
          </a:xfrm>
          <a:prstGeom prst="rect">
            <a:avLst/>
          </a:prstGeom>
        </p:spPr>
        <p:txBody>
          <a:bodyPr lIns="121917" tIns="60958" rIns="121917" bIns="60958"/>
          <a:lstStyle/>
          <a:p>
            <a:pPr defTabSz="914400" eaLnBrk="0" fontAlgn="base" hangingPunct="0">
              <a:spcBef>
                <a:spcPct val="0"/>
              </a:spcBef>
              <a:spcAft>
                <a:spcPct val="0"/>
              </a:spcAft>
            </a:pPr>
            <a:fld id="{E1BEBC7A-FD02-486B-81B5-A845787C689C}" type="slidenum">
              <a:rPr lang="zh-CN" altLang="en-US" sz="1400" b="1" smtClean="0">
                <a:solidFill>
                  <a:prstClr val="black"/>
                </a:solidFill>
                <a:latin typeface="Arial" panose="02080604020202020204" charset="0"/>
              </a:rPr>
              <a:pPr defTabSz="914400" eaLnBrk="0" fontAlgn="base" hangingPunct="0">
                <a:spcBef>
                  <a:spcPct val="0"/>
                </a:spcBef>
                <a:spcAft>
                  <a:spcPct val="0"/>
                </a:spcAft>
              </a:pPr>
              <a:t>‹#›</a:t>
            </a:fld>
            <a:endParaRPr lang="zh-CN" altLang="en-US" sz="1400" b="1">
              <a:solidFill>
                <a:prstClr val="black"/>
              </a:solidFill>
              <a:latin typeface="Arial" panose="02080604020202020204" charset="0"/>
            </a:endParaRPr>
          </a:p>
        </p:txBody>
      </p:sp>
    </p:spTree>
    <p:extLst>
      <p:ext uri="{BB962C8B-B14F-4D97-AF65-F5344CB8AC3E}">
        <p14:creationId xmlns:p14="http://schemas.microsoft.com/office/powerpoint/2010/main" val="2449411220"/>
      </p:ext>
    </p:extLst>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zh-CN"/>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 Third Level</a:t>
            </a:r>
          </a:p>
        </p:txBody>
      </p:sp>
      <p:cxnSp>
        <p:nvCxnSpPr>
          <p:cNvPr id="10" name="直接连接符 9"/>
          <p:cNvCxnSpPr/>
          <p:nvPr/>
        </p:nvCxnSpPr>
        <p:spPr>
          <a:xfrm>
            <a:off x="0" y="928688"/>
            <a:ext cx="9144000" cy="0"/>
          </a:xfrm>
          <a:prstGeom prst="line">
            <a:avLst/>
          </a:prstGeom>
          <a:ln w="38100">
            <a:solidFill>
              <a:srgbClr val="3F7141"/>
            </a:solidFill>
          </a:ln>
        </p:spPr>
        <p:style>
          <a:lnRef idx="1">
            <a:schemeClr val="accent1"/>
          </a:lnRef>
          <a:fillRef idx="0">
            <a:schemeClr val="accent1"/>
          </a:fillRef>
          <a:effectRef idx="0">
            <a:schemeClr val="accent1"/>
          </a:effectRef>
          <a:fontRef idx="minor">
            <a:schemeClr val="tx1"/>
          </a:fontRef>
        </p:style>
      </p:cxnSp>
      <p:sp>
        <p:nvSpPr>
          <p:cNvPr id="9" name="Rectangle 21"/>
          <p:cNvSpPr>
            <a:spLocks noChangeArrowheads="1"/>
          </p:cNvSpPr>
          <p:nvPr/>
        </p:nvSpPr>
        <p:spPr bwMode="auto">
          <a:xfrm>
            <a:off x="381000" y="6397625"/>
            <a:ext cx="8364538"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nSpc>
                <a:spcPts val="2000"/>
              </a:lnSpc>
            </a:pPr>
            <a:r>
              <a:rPr lang="en-US" altLang="zh-CN" sz="1200" b="0" dirty="0">
                <a:solidFill>
                  <a:srgbClr val="000000"/>
                </a:solidFill>
                <a:ea typeface="宋体" charset="-122"/>
              </a:rPr>
              <a:t>								                   </a:t>
            </a:r>
            <a:fld id="{22B54924-A7E0-4231-A067-C7DF1FEEF9D5}" type="slidenum">
              <a:rPr lang="en-US" altLang="zh-CN" sz="1200" b="0" smtClean="0">
                <a:solidFill>
                  <a:srgbClr val="000000"/>
                </a:solidFill>
                <a:ea typeface="宋体" charset="-122"/>
              </a:rPr>
              <a:pPr>
                <a:lnSpc>
                  <a:spcPts val="2000"/>
                </a:lnSpc>
              </a:pPr>
              <a:t>‹#›</a:t>
            </a:fld>
            <a:r>
              <a:rPr lang="en-US" altLang="zh-CN" sz="1200" b="0" dirty="0">
                <a:solidFill>
                  <a:srgbClr val="000000"/>
                </a:solidFill>
                <a:ea typeface="宋体" charset="-122"/>
              </a:rPr>
              <a:t> </a:t>
            </a:r>
          </a:p>
        </p:txBody>
      </p:sp>
    </p:spTree>
    <p:extLst>
      <p:ext uri="{BB962C8B-B14F-4D97-AF65-F5344CB8AC3E}">
        <p14:creationId xmlns:p14="http://schemas.microsoft.com/office/powerpoint/2010/main" val="14171608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hf hdr="0" ftr="0" dt="0"/>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lstStyle/>
          <a:p>
            <a:pPr lvl="0"/>
            <a:r>
              <a:rPr lang="en-US" altLang="zh-CN"/>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lstStyle/>
          <a:p>
            <a:pPr lvl="0"/>
            <a:r>
              <a:rPr lang="en-US" altLang="zh-CN"/>
              <a:t>Click to edit Master text styles</a:t>
            </a:r>
          </a:p>
          <a:p>
            <a:pPr lvl="1"/>
            <a:r>
              <a:rPr lang="en-US" altLang="zh-CN"/>
              <a:t>Second Level</a:t>
            </a:r>
          </a:p>
          <a:p>
            <a:pPr lvl="2"/>
            <a:r>
              <a:rPr lang="en-US" altLang="zh-CN"/>
              <a:t> Third Level</a:t>
            </a:r>
          </a:p>
        </p:txBody>
      </p:sp>
      <p:sp>
        <p:nvSpPr>
          <p:cNvPr id="1028" name="Rectangle 21"/>
          <p:cNvSpPr>
            <a:spLocks noChangeArrowheads="1"/>
          </p:cNvSpPr>
          <p:nvPr/>
        </p:nvSpPr>
        <p:spPr bwMode="auto">
          <a:xfrm>
            <a:off x="381000" y="6397625"/>
            <a:ext cx="8364538"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spAutoFit/>
          </a:bodyPr>
          <a:lstStyle>
            <a:lvl1pPr>
              <a:defRPr sz="1400" b="1">
                <a:solidFill>
                  <a:schemeClr val="tx1"/>
                </a:solidFill>
                <a:latin typeface="Arial" panose="02080604020202020204" charset="0"/>
              </a:defRPr>
            </a:lvl1pPr>
            <a:lvl2pPr marL="742950" indent="-285750">
              <a:defRPr sz="1400" b="1">
                <a:solidFill>
                  <a:schemeClr val="tx1"/>
                </a:solidFill>
                <a:latin typeface="Arial" panose="02080604020202020204" charset="0"/>
              </a:defRPr>
            </a:lvl2pPr>
            <a:lvl3pPr marL="1143000" indent="-228600">
              <a:defRPr sz="1400" b="1">
                <a:solidFill>
                  <a:schemeClr val="tx1"/>
                </a:solidFill>
                <a:latin typeface="Arial" panose="02080604020202020204" charset="0"/>
              </a:defRPr>
            </a:lvl3pPr>
            <a:lvl4pPr marL="1600200" indent="-228600">
              <a:defRPr sz="1400" b="1">
                <a:solidFill>
                  <a:schemeClr val="tx1"/>
                </a:solidFill>
                <a:latin typeface="Arial" panose="02080604020202020204" charset="0"/>
              </a:defRPr>
            </a:lvl4pPr>
            <a:lvl5pPr marL="2057400" indent="-228600">
              <a:defRPr sz="1400" b="1">
                <a:solidFill>
                  <a:schemeClr val="tx1"/>
                </a:solidFill>
                <a:latin typeface="Arial" panose="02080604020202020204" charset="0"/>
              </a:defRPr>
            </a:lvl5pPr>
            <a:lvl6pPr marL="2514600" indent="-228600" eaLnBrk="0" fontAlgn="base" hangingPunct="0">
              <a:spcBef>
                <a:spcPct val="0"/>
              </a:spcBef>
              <a:spcAft>
                <a:spcPct val="0"/>
              </a:spcAft>
              <a:defRPr sz="1400" b="1">
                <a:solidFill>
                  <a:schemeClr val="tx1"/>
                </a:solidFill>
                <a:latin typeface="Arial" panose="02080604020202020204" charset="0"/>
              </a:defRPr>
            </a:lvl6pPr>
            <a:lvl7pPr marL="2971800" indent="-228600" eaLnBrk="0" fontAlgn="base" hangingPunct="0">
              <a:spcBef>
                <a:spcPct val="0"/>
              </a:spcBef>
              <a:spcAft>
                <a:spcPct val="0"/>
              </a:spcAft>
              <a:defRPr sz="1400" b="1">
                <a:solidFill>
                  <a:schemeClr val="tx1"/>
                </a:solidFill>
                <a:latin typeface="Arial" panose="02080604020202020204" charset="0"/>
              </a:defRPr>
            </a:lvl7pPr>
            <a:lvl8pPr marL="3429000" indent="-228600" eaLnBrk="0" fontAlgn="base" hangingPunct="0">
              <a:spcBef>
                <a:spcPct val="0"/>
              </a:spcBef>
              <a:spcAft>
                <a:spcPct val="0"/>
              </a:spcAft>
              <a:defRPr sz="1400" b="1">
                <a:solidFill>
                  <a:schemeClr val="tx1"/>
                </a:solidFill>
                <a:latin typeface="Arial" panose="02080604020202020204" charset="0"/>
              </a:defRPr>
            </a:lvl8pPr>
            <a:lvl9pPr marL="3886200" indent="-228600" eaLnBrk="0" fontAlgn="base" hangingPunct="0">
              <a:spcBef>
                <a:spcPct val="0"/>
              </a:spcBef>
              <a:spcAft>
                <a:spcPct val="0"/>
              </a:spcAft>
              <a:defRPr sz="1400" b="1">
                <a:solidFill>
                  <a:schemeClr val="tx1"/>
                </a:solidFill>
                <a:latin typeface="Arial" panose="02080604020202020204" charset="0"/>
              </a:defRPr>
            </a:lvl9pPr>
          </a:lstStyle>
          <a:p>
            <a:pPr defTabSz="914400" eaLnBrk="0" fontAlgn="base" hangingPunct="0">
              <a:lnSpc>
                <a:spcPts val="2000"/>
              </a:lnSpc>
              <a:spcBef>
                <a:spcPct val="0"/>
              </a:spcBef>
              <a:spcAft>
                <a:spcPct val="0"/>
              </a:spcAft>
              <a:defRPr/>
            </a:pPr>
            <a:r>
              <a:rPr lang="en-US" altLang="zh-CN" sz="1200" b="0">
                <a:solidFill>
                  <a:prstClr val="black"/>
                </a:solidFill>
                <a:ea typeface="SimSun" pitchFamily="2" charset="-122"/>
              </a:rPr>
              <a:t>								                   </a:t>
            </a:r>
            <a:fld id="{5C160F3F-37EA-4420-937D-9728EED9D580}" type="slidenum">
              <a:rPr lang="en-US" altLang="zh-CN" sz="1200" b="0" smtClean="0">
                <a:solidFill>
                  <a:prstClr val="black"/>
                </a:solidFill>
                <a:ea typeface="SimSun" pitchFamily="2" charset="-122"/>
              </a:rPr>
              <a:pPr defTabSz="914400" eaLnBrk="0" fontAlgn="base" hangingPunct="0">
                <a:lnSpc>
                  <a:spcPts val="2000"/>
                </a:lnSpc>
                <a:spcBef>
                  <a:spcPct val="0"/>
                </a:spcBef>
                <a:spcAft>
                  <a:spcPct val="0"/>
                </a:spcAft>
                <a:defRPr/>
              </a:pPr>
              <a:t>‹#›</a:t>
            </a:fld>
            <a:r>
              <a:rPr lang="en-US" altLang="zh-CN" sz="1200" b="0">
                <a:solidFill>
                  <a:prstClr val="black"/>
                </a:solidFill>
                <a:ea typeface="SimSun" pitchFamily="2" charset="-122"/>
              </a:rPr>
              <a:t> </a:t>
            </a:r>
          </a:p>
        </p:txBody>
      </p:sp>
      <p:cxnSp>
        <p:nvCxnSpPr>
          <p:cNvPr id="10" name="直接连接符 9"/>
          <p:cNvCxnSpPr/>
          <p:nvPr/>
        </p:nvCxnSpPr>
        <p:spPr>
          <a:xfrm>
            <a:off x="0" y="928688"/>
            <a:ext cx="9144000" cy="0"/>
          </a:xfrm>
          <a:prstGeom prst="line">
            <a:avLst/>
          </a:prstGeom>
          <a:ln w="38100">
            <a:solidFill>
              <a:srgbClr val="3F714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239715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5" r:id="rId13"/>
    <p:sldLayoutId id="2147483726" r:id="rId14"/>
    <p:sldLayoutId id="2147483727" r:id="rId15"/>
    <p:sldLayoutId id="2147483728" r:id="rId16"/>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80604020202020204" charset="0"/>
        <a:buChar char="–"/>
        <a:defRPr sz="24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charset="2"/>
        <a:buChar char="u"/>
        <a:defRPr sz="20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19.svg"/><Relationship Id="rId5" Type="http://schemas.openxmlformats.org/officeDocument/2006/relationships/image" Target="../media/image35.png"/><Relationship Id="rId4" Type="http://schemas.openxmlformats.org/officeDocument/2006/relationships/image" Target="../media/image18.svg"/><Relationship Id="rId9" Type="http://schemas.openxmlformats.org/officeDocument/2006/relationships/image" Target="../media/image11.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image" Target="../media/image40.png"/><Relationship Id="rId12" Type="http://schemas.openxmlformats.org/officeDocument/2006/relationships/image" Target="../media/image11.svg"/><Relationship Id="rId2" Type="http://schemas.openxmlformats.org/officeDocument/2006/relationships/notesSlide" Target="../notesSlides/notesSlide11.xml"/><Relationship Id="rId16" Type="http://schemas.openxmlformats.org/officeDocument/2006/relationships/image" Target="../media/image15.svg"/><Relationship Id="rId1" Type="http://schemas.openxmlformats.org/officeDocument/2006/relationships/slideLayout" Target="../slideLayouts/slideLayout17.xml"/><Relationship Id="rId6" Type="http://schemas.openxmlformats.org/officeDocument/2006/relationships/image" Target="../media/image5.svg"/><Relationship Id="rId11" Type="http://schemas.openxmlformats.org/officeDocument/2006/relationships/image" Target="../media/image37.png"/><Relationship Id="rId5" Type="http://schemas.openxmlformats.org/officeDocument/2006/relationships/image" Target="../media/image39.png"/><Relationship Id="rId15" Type="http://schemas.openxmlformats.org/officeDocument/2006/relationships/image" Target="../media/image43.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41.pn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标题 1"/>
          <p:cNvSpPr>
            <a:spLocks noGrp="1"/>
          </p:cNvSpPr>
          <p:nvPr>
            <p:ph type="ctrTitle"/>
          </p:nvPr>
        </p:nvSpPr>
        <p:spPr>
          <a:xfrm>
            <a:off x="0" y="1727373"/>
            <a:ext cx="9144000" cy="888683"/>
          </a:xfrm>
        </p:spPr>
        <p:txBody>
          <a:bodyPr>
            <a:noAutofit/>
          </a:bodyPr>
          <a:lstStyle/>
          <a:p>
            <a:pPr algn="ctr">
              <a:lnSpc>
                <a:spcPct val="150000"/>
              </a:lnSpc>
            </a:pPr>
            <a:r>
              <a:rPr lang="zh-CN" altLang="en-US" sz="4800" dirty="0">
                <a:solidFill>
                  <a:srgbClr val="C00000"/>
                </a:solidFill>
                <a:latin typeface="微软雅黑" panose="020B0503020204020204" pitchFamily="34" charset="-122"/>
                <a:ea typeface="微软雅黑" panose="020B0503020204020204" pitchFamily="34" charset="-122"/>
              </a:rPr>
              <a:t>区</a:t>
            </a:r>
            <a:r>
              <a:rPr lang="zh-CN" altLang="en-US" sz="4800" dirty="0" smtClean="0">
                <a:solidFill>
                  <a:srgbClr val="C00000"/>
                </a:solidFill>
                <a:latin typeface="微软雅黑" panose="020B0503020204020204" pitchFamily="34" charset="-122"/>
                <a:ea typeface="微软雅黑" panose="020B0503020204020204" pitchFamily="34" charset="-122"/>
              </a:rPr>
              <a:t>块链基础知识</a:t>
            </a:r>
            <a:endParaRPr lang="zh-CN" altLang="en-US" sz="4000" b="0" dirty="0">
              <a:solidFill>
                <a:srgbClr val="C00000"/>
              </a:solidFill>
              <a:latin typeface="微软雅黑" pitchFamily="34" charset="-122"/>
              <a:ea typeface="微软雅黑" pitchFamily="34" charset="-122"/>
            </a:endParaRPr>
          </a:p>
        </p:txBody>
      </p:sp>
      <p:sp>
        <p:nvSpPr>
          <p:cNvPr id="12" name="副标题 2"/>
          <p:cNvSpPr>
            <a:spLocks noGrp="1"/>
          </p:cNvSpPr>
          <p:nvPr>
            <p:ph type="subTitle" idx="1"/>
          </p:nvPr>
        </p:nvSpPr>
        <p:spPr>
          <a:xfrm>
            <a:off x="0" y="3566376"/>
            <a:ext cx="9144000" cy="1829999"/>
          </a:xfrm>
        </p:spPr>
        <p:txBody>
          <a:bodyPr>
            <a:normAutofit/>
          </a:bodyPr>
          <a:lstStyle/>
          <a:p>
            <a:pPr>
              <a:spcBef>
                <a:spcPts val="1800"/>
              </a:spcBef>
            </a:pPr>
            <a:r>
              <a:rPr lang="zh-CN" altLang="en-US" dirty="0" smtClean="0">
                <a:latin typeface="微软雅黑" panose="020B0503020204020204" pitchFamily="34" charset="-122"/>
                <a:ea typeface="微软雅黑" panose="020B0503020204020204" pitchFamily="34" charset="-122"/>
              </a:rPr>
              <a:t>教师：李晓丽，</a:t>
            </a:r>
            <a:r>
              <a:rPr lang="en-US" altLang="zh-CN" dirty="0" smtClean="0">
                <a:latin typeface="微软雅黑" panose="020B0503020204020204" pitchFamily="34" charset="-122"/>
                <a:ea typeface="微软雅黑" panose="020B0503020204020204" pitchFamily="34" charset="-122"/>
              </a:rPr>
              <a:t>414317496</a:t>
            </a:r>
            <a:endParaRPr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3405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区块链定义</a:t>
            </a:r>
          </a:p>
        </p:txBody>
      </p:sp>
      <p:sp>
        <p:nvSpPr>
          <p:cNvPr id="3" name="TextBox 2"/>
          <p:cNvSpPr txBox="1"/>
          <p:nvPr/>
        </p:nvSpPr>
        <p:spPr>
          <a:xfrm>
            <a:off x="1338942" y="2355035"/>
            <a:ext cx="2034531" cy="769441"/>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zh-CN" altLang="en-US" sz="4400" dirty="0" smtClean="0"/>
              <a:t>区块链 </a:t>
            </a:r>
            <a:endParaRPr lang="zh-CN" altLang="en-US" sz="4400" dirty="0"/>
          </a:p>
        </p:txBody>
      </p:sp>
      <p:sp>
        <p:nvSpPr>
          <p:cNvPr id="4" name="TextBox 3"/>
          <p:cNvSpPr txBox="1"/>
          <p:nvPr/>
        </p:nvSpPr>
        <p:spPr>
          <a:xfrm>
            <a:off x="3918855" y="2385812"/>
            <a:ext cx="870857" cy="707886"/>
          </a:xfrm>
          <a:prstGeom prst="rect">
            <a:avLst/>
          </a:prstGeom>
          <a:noFill/>
        </p:spPr>
        <p:txBody>
          <a:bodyPr wrap="square" rtlCol="0">
            <a:spAutoFit/>
          </a:bodyPr>
          <a:lstStyle/>
          <a:p>
            <a:pPr algn="ctr"/>
            <a:r>
              <a:rPr lang="zh-CN" altLang="en-US" sz="4000" dirty="0" smtClean="0"/>
              <a:t>≠</a:t>
            </a:r>
            <a:endParaRPr lang="zh-CN" altLang="en-US" sz="4000" dirty="0"/>
          </a:p>
        </p:txBody>
      </p:sp>
      <p:sp>
        <p:nvSpPr>
          <p:cNvPr id="10" name="TextBox 9"/>
          <p:cNvSpPr txBox="1"/>
          <p:nvPr/>
        </p:nvSpPr>
        <p:spPr>
          <a:xfrm>
            <a:off x="5249260" y="2385812"/>
            <a:ext cx="1877437" cy="769441"/>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zh-CN" altLang="en-US" sz="4400" dirty="0" smtClean="0"/>
              <a:t>比特币</a:t>
            </a:r>
            <a:endParaRPr lang="zh-CN" altLang="en-US" sz="4400" dirty="0"/>
          </a:p>
        </p:txBody>
      </p:sp>
      <p:sp>
        <p:nvSpPr>
          <p:cNvPr id="8" name="TextBox 7"/>
          <p:cNvSpPr txBox="1"/>
          <p:nvPr/>
        </p:nvSpPr>
        <p:spPr>
          <a:xfrm>
            <a:off x="3338620" y="4114801"/>
            <a:ext cx="2031325" cy="646331"/>
          </a:xfrm>
          <a:prstGeom prst="rect">
            <a:avLst/>
          </a:prstGeom>
          <a:noFill/>
        </p:spPr>
        <p:txBody>
          <a:bodyPr wrap="none" rtlCol="0">
            <a:spAutoFit/>
          </a:bodyPr>
          <a:lstStyle/>
          <a:p>
            <a:r>
              <a:rPr lang="zh-CN" altLang="en-US" sz="3600" b="1" dirty="0" smtClean="0">
                <a:solidFill>
                  <a:srgbClr val="FF0000"/>
                </a:solidFill>
              </a:rPr>
              <a:t>谨防诈骗</a:t>
            </a:r>
            <a:endParaRPr lang="zh-CN" altLang="en-US" sz="3600" b="1" dirty="0">
              <a:solidFill>
                <a:srgbClr val="FF0000"/>
              </a:solidFill>
            </a:endParaRPr>
          </a:p>
        </p:txBody>
      </p:sp>
    </p:spTree>
    <p:extLst>
      <p:ext uri="{BB962C8B-B14F-4D97-AF65-F5344CB8AC3E}">
        <p14:creationId xmlns:p14="http://schemas.microsoft.com/office/powerpoint/2010/main" val="626210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292370" y="1272225"/>
            <a:ext cx="8733001" cy="4323031"/>
            <a:chOff x="-899641" y="1004720"/>
            <a:chExt cx="10846281" cy="5369153"/>
          </a:xfrm>
        </p:grpSpPr>
        <p:sp>
          <p:nvSpPr>
            <p:cNvPr id="5" name="内容占位符 2"/>
            <p:cNvSpPr txBox="1">
              <a:spLocks/>
            </p:cNvSpPr>
            <p:nvPr/>
          </p:nvSpPr>
          <p:spPr>
            <a:xfrm>
              <a:off x="-885174" y="1004720"/>
              <a:ext cx="10163370" cy="82711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按照时间顺序将数据区块以顺序相连的方式组合成的一种</a:t>
              </a:r>
              <a:r>
                <a:rPr lang="zh-CN" altLang="en-US" sz="1800" b="1" dirty="0">
                  <a:solidFill>
                    <a:srgbClr val="FF0000"/>
                  </a:solidFill>
                  <a:latin typeface="微软雅黑" panose="020B0503020204020204" pitchFamily="34" charset="-122"/>
                  <a:ea typeface="微软雅黑" panose="020B0503020204020204" pitchFamily="34" charset="-122"/>
                </a:rPr>
                <a:t>链式数据结构</a:t>
              </a:r>
            </a:p>
          </p:txBody>
        </p:sp>
        <p:pic>
          <p:nvPicPr>
            <p:cNvPr id="6" name="内容占位符 3"/>
            <p:cNvPicPr>
              <a:picLocks noChangeAspect="1"/>
            </p:cNvPicPr>
            <p:nvPr/>
          </p:nvPicPr>
          <p:blipFill>
            <a:blip r:embed="rId2" cstate="print"/>
            <a:stretch>
              <a:fillRect/>
            </a:stretch>
          </p:blipFill>
          <p:spPr bwMode="auto">
            <a:xfrm>
              <a:off x="-899641" y="1811534"/>
              <a:ext cx="10163370" cy="224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 name="矩形 6"/>
            <p:cNvSpPr/>
            <p:nvPr/>
          </p:nvSpPr>
          <p:spPr>
            <a:xfrm>
              <a:off x="-763616" y="4195021"/>
              <a:ext cx="10710256" cy="2178852"/>
            </a:xfrm>
            <a:prstGeom prst="rect">
              <a:avLst/>
            </a:prstGeom>
          </p:spPr>
          <p:txBody>
            <a:bodyPr wrap="square">
              <a:spAutoFit/>
            </a:bodyPr>
            <a:lstStyle/>
            <a:p>
              <a:pPr marL="428583" indent="-428583">
                <a:lnSpc>
                  <a:spcPct val="150000"/>
                </a:lnSpc>
                <a:buFont typeface="Wingdings" panose="05000000000000000000" charset="2"/>
                <a:buChar char="n"/>
              </a:pPr>
              <a:r>
                <a:rPr lang="zh-CN" altLang="en-US" dirty="0">
                  <a:latin typeface="微软雅黑" panose="020B0503020204020204" pitchFamily="34" charset="-122"/>
                  <a:ea typeface="微软雅黑" panose="020B0503020204020204" pitchFamily="34" charset="-122"/>
                </a:rPr>
                <a:t>区块链是一个</a:t>
              </a:r>
              <a:r>
                <a:rPr lang="zh-CN" altLang="en-US" b="1" dirty="0">
                  <a:solidFill>
                    <a:srgbClr val="FF0000"/>
                  </a:solidFill>
                  <a:latin typeface="微软雅黑" panose="020B0503020204020204" pitchFamily="34" charset="-122"/>
                  <a:ea typeface="微软雅黑" panose="020B0503020204020204" pitchFamily="34" charset="-122"/>
                </a:rPr>
                <a:t>分布式的账本数据库</a:t>
              </a:r>
              <a:endParaRPr lang="en-US" altLang="zh-CN" dirty="0">
                <a:latin typeface="微软雅黑" panose="020B0503020204020204" pitchFamily="34" charset="-122"/>
                <a:ea typeface="微软雅黑" panose="020B0503020204020204" pitchFamily="34" charset="-122"/>
              </a:endParaRPr>
            </a:p>
            <a:p>
              <a:pPr marL="428583" indent="-428583">
                <a:lnSpc>
                  <a:spcPct val="150000"/>
                </a:lnSpc>
                <a:buFont typeface="Wingdings" panose="05000000000000000000" charset="2"/>
                <a:buChar char="n"/>
              </a:pPr>
              <a:r>
                <a:rPr lang="zh-CN" altLang="en-US" dirty="0">
                  <a:latin typeface="微软雅黑" panose="020B0503020204020204" pitchFamily="34" charset="-122"/>
                  <a:ea typeface="微软雅黑" panose="020B0503020204020204" pitchFamily="34" charset="-122"/>
                </a:rPr>
                <a:t>网络中的每个节点都有一本完整的账本</a:t>
              </a:r>
              <a:endParaRPr lang="en-US" altLang="zh-CN" dirty="0">
                <a:latin typeface="微软雅黑" panose="020B0503020204020204" pitchFamily="34" charset="-122"/>
                <a:ea typeface="微软雅黑" panose="020B0503020204020204" pitchFamily="34" charset="-122"/>
              </a:endParaRPr>
            </a:p>
            <a:p>
              <a:pPr marL="428583" indent="-428583">
                <a:lnSpc>
                  <a:spcPct val="150000"/>
                </a:lnSpc>
                <a:buFont typeface="Wingdings" panose="05000000000000000000" charset="2"/>
                <a:buChar char="n"/>
              </a:pPr>
              <a:r>
                <a:rPr lang="zh-CN" altLang="en-US" dirty="0">
                  <a:latin typeface="微软雅黑" panose="020B0503020204020204" pitchFamily="34" charset="-122"/>
                  <a:ea typeface="微软雅黑" panose="020B0503020204020204" pitchFamily="34" charset="-122"/>
                </a:rPr>
                <a:t>无法篡改</a:t>
              </a:r>
              <a:endParaRPr lang="en-US" altLang="zh-CN" dirty="0">
                <a:latin typeface="微软雅黑" panose="020B0503020204020204" pitchFamily="34" charset="-122"/>
                <a:ea typeface="微软雅黑" panose="020B0503020204020204" pitchFamily="34" charset="-122"/>
              </a:endParaRPr>
            </a:p>
            <a:p>
              <a:pPr marL="428583" indent="-428583">
                <a:lnSpc>
                  <a:spcPct val="150000"/>
                </a:lnSpc>
                <a:buFont typeface="Wingdings" panose="05000000000000000000" charset="2"/>
                <a:buChar char="n"/>
              </a:pPr>
              <a:r>
                <a:rPr lang="zh-CN" altLang="en-US" dirty="0">
                  <a:solidFill>
                    <a:srgbClr val="FF0000"/>
                  </a:solidFill>
                  <a:latin typeface="微软雅黑" panose="020B0503020204020204" pitchFamily="34" charset="-122"/>
                  <a:ea typeface="微软雅黑" panose="020B0503020204020204" pitchFamily="34" charset="-122"/>
                </a:rPr>
                <a:t>去中心化</a:t>
              </a:r>
              <a:r>
                <a:rPr lang="zh-CN" altLang="en-US" dirty="0">
                  <a:latin typeface="微软雅黑" panose="020B0503020204020204" pitchFamily="34" charset="-122"/>
                  <a:ea typeface="微软雅黑" panose="020B0503020204020204" pitchFamily="34" charset="-122"/>
                </a:rPr>
                <a:t>，降低成本，提高效率</a:t>
              </a:r>
              <a:endParaRPr lang="en-US" altLang="zh-CN" dirty="0">
                <a:latin typeface="微软雅黑" panose="020B0503020204020204" pitchFamily="34" charset="-122"/>
                <a:ea typeface="微软雅黑" panose="020B0503020204020204" pitchFamily="34" charset="-122"/>
              </a:endParaRPr>
            </a:p>
          </p:txBody>
        </p:sp>
      </p:grpSp>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区块链定义</a:t>
            </a:r>
          </a:p>
        </p:txBody>
      </p:sp>
    </p:spTree>
    <p:extLst>
      <p:ext uri="{BB962C8B-B14F-4D97-AF65-F5344CB8AC3E}">
        <p14:creationId xmlns:p14="http://schemas.microsoft.com/office/powerpoint/2010/main" val="217363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xmlns="" id="{0DB7D9EB-DB90-4870-89F8-48E0F85E933D}"/>
              </a:ext>
            </a:extLst>
          </p:cNvPr>
          <p:cNvSpPr txBox="1">
            <a:spLocks/>
          </p:cNvSpPr>
          <p:nvPr/>
        </p:nvSpPr>
        <p:spPr>
          <a:xfrm>
            <a:off x="381000" y="135148"/>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pPr defTabSz="914400"/>
            <a:r>
              <a:rPr lang="zh-CN" altLang="en-US" kern="0" dirty="0">
                <a:latin typeface="微软雅黑" panose="020B0503020204020204" pitchFamily="34" charset="-122"/>
                <a:ea typeface="微软雅黑" panose="020B0503020204020204" pitchFamily="34" charset="-122"/>
              </a:rPr>
              <a:t>区块链定义</a:t>
            </a:r>
          </a:p>
        </p:txBody>
      </p:sp>
      <p:sp>
        <p:nvSpPr>
          <p:cNvPr id="3" name="TextBox 2"/>
          <p:cNvSpPr txBox="1"/>
          <p:nvPr/>
        </p:nvSpPr>
        <p:spPr>
          <a:xfrm>
            <a:off x="1512946" y="1893723"/>
            <a:ext cx="1107996" cy="369332"/>
          </a:xfrm>
          <a:prstGeom prst="rect">
            <a:avLst/>
          </a:prstGeom>
          <a:noFill/>
        </p:spPr>
        <p:txBody>
          <a:bodyPr wrap="none" rtlCol="0">
            <a:spAutoFit/>
          </a:bodyPr>
          <a:lstStyle/>
          <a:p>
            <a:r>
              <a:rPr lang="zh-CN" altLang="en-US" b="1" dirty="0" smtClean="0"/>
              <a:t>老师打分</a:t>
            </a:r>
            <a:endParaRPr lang="zh-CN" altLang="en-US" b="1" dirty="0"/>
          </a:p>
        </p:txBody>
      </p:sp>
      <p:sp>
        <p:nvSpPr>
          <p:cNvPr id="4" name="TextBox 3"/>
          <p:cNvSpPr txBox="1"/>
          <p:nvPr/>
        </p:nvSpPr>
        <p:spPr>
          <a:xfrm>
            <a:off x="5736769" y="1871951"/>
            <a:ext cx="1569660" cy="369332"/>
          </a:xfrm>
          <a:prstGeom prst="rect">
            <a:avLst/>
          </a:prstGeom>
          <a:noFill/>
        </p:spPr>
        <p:txBody>
          <a:bodyPr wrap="none" rtlCol="0">
            <a:spAutoFit/>
          </a:bodyPr>
          <a:lstStyle/>
          <a:p>
            <a:r>
              <a:rPr lang="zh-CN" altLang="en-US" b="1" dirty="0" smtClean="0"/>
              <a:t>去中心化打分</a:t>
            </a:r>
            <a:endParaRPr lang="zh-CN" altLang="en-US" b="1" dirty="0"/>
          </a:p>
        </p:txBody>
      </p:sp>
      <p:sp>
        <p:nvSpPr>
          <p:cNvPr id="8" name="TextBox 7"/>
          <p:cNvSpPr txBox="1"/>
          <p:nvPr/>
        </p:nvSpPr>
        <p:spPr>
          <a:xfrm>
            <a:off x="381000" y="1219200"/>
            <a:ext cx="2973891" cy="369332"/>
          </a:xfrm>
          <a:prstGeom prst="rect">
            <a:avLst/>
          </a:prstGeom>
          <a:noFill/>
        </p:spPr>
        <p:txBody>
          <a:bodyPr wrap="none" rtlCol="0">
            <a:spAutoFit/>
          </a:bodyPr>
          <a:lstStyle/>
          <a:p>
            <a:r>
              <a:rPr lang="zh-CN" altLang="en-US" b="1" dirty="0" smtClean="0"/>
              <a:t>关于学生成绩打分的例子：</a:t>
            </a:r>
            <a:endParaRPr lang="zh-CN" altLang="en-US"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4" y="2263055"/>
            <a:ext cx="3670340" cy="3064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5003" y="2350143"/>
            <a:ext cx="3927522" cy="2793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5249029" y="5137449"/>
            <a:ext cx="3894971" cy="923330"/>
          </a:xfrm>
          <a:prstGeom prst="rect">
            <a:avLst/>
          </a:prstGeom>
        </p:spPr>
        <p:txBody>
          <a:bodyPr wrap="square">
            <a:spAutoFit/>
          </a:bodyPr>
          <a:lstStyle/>
          <a:p>
            <a:pPr>
              <a:buFont typeface="Wingdings" panose="05000000000000000000" pitchFamily="2" charset="2"/>
              <a:buChar char="l"/>
            </a:pPr>
            <a:r>
              <a:rPr lang="zh-CN" altLang="en-US" dirty="0"/>
              <a:t>分布式数据库</a:t>
            </a:r>
            <a:endParaRPr lang="en-US" altLang="zh-CN" dirty="0"/>
          </a:p>
          <a:p>
            <a:pPr>
              <a:buFont typeface="Wingdings" panose="05000000000000000000" pitchFamily="2" charset="2"/>
              <a:buChar char="l"/>
            </a:pPr>
            <a:r>
              <a:rPr lang="zh-CN" altLang="en-US" dirty="0"/>
              <a:t>不可篡改</a:t>
            </a:r>
            <a:endParaRPr lang="en-US" altLang="zh-CN" dirty="0"/>
          </a:p>
          <a:p>
            <a:pPr>
              <a:buFont typeface="Wingdings" panose="05000000000000000000" pitchFamily="2" charset="2"/>
              <a:buChar char="l"/>
            </a:pPr>
            <a:r>
              <a:rPr lang="zh-CN" altLang="en-US" dirty="0"/>
              <a:t>多方协作、相互不信任（联盟链）</a:t>
            </a:r>
            <a:endParaRPr lang="en-US" altLang="zh-CN" dirty="0"/>
          </a:p>
        </p:txBody>
      </p:sp>
    </p:spTree>
    <p:extLst>
      <p:ext uri="{BB962C8B-B14F-4D97-AF65-F5344CB8AC3E}">
        <p14:creationId xmlns:p14="http://schemas.microsoft.com/office/powerpoint/2010/main" val="2756492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xmlns="" id="{CCB90151-08E7-4270-9D1C-2DDAA7818422}"/>
              </a:ext>
            </a:extLst>
          </p:cNvPr>
          <p:cNvSpPr txBox="1">
            <a:spLocks/>
          </p:cNvSpPr>
          <p:nvPr/>
        </p:nvSpPr>
        <p:spPr>
          <a:xfrm>
            <a:off x="4147447" y="1790980"/>
            <a:ext cx="4681972" cy="39767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2"/>
              <a:buChar char="n"/>
            </a:pPr>
            <a:r>
              <a:rPr lang="zh-CN" altLang="en-US" dirty="0">
                <a:latin typeface="Microsoft Yahei" panose="020B0503020204020204" pitchFamily="34" charset="-122"/>
                <a:ea typeface="Microsoft Yahei" panose="020B0503020204020204" pitchFamily="34" charset="-122"/>
              </a:rPr>
              <a:t>两个互不认识的人要达成协作，必须要依靠</a:t>
            </a:r>
            <a:r>
              <a:rPr lang="zh-CN" altLang="en-US" dirty="0">
                <a:solidFill>
                  <a:srgbClr val="FF0000"/>
                </a:solidFill>
                <a:latin typeface="Microsoft Yahei" panose="020B0503020204020204" pitchFamily="34" charset="-122"/>
                <a:ea typeface="Microsoft Yahei" panose="020B0503020204020204" pitchFamily="34" charset="-122"/>
              </a:rPr>
              <a:t>第三方</a:t>
            </a:r>
            <a:endParaRPr lang="en-US" altLang="zh-CN" dirty="0">
              <a:solidFill>
                <a:srgbClr val="FF0000"/>
              </a:solidFill>
              <a:latin typeface="Microsoft Yahei" panose="020B0503020204020204" pitchFamily="34" charset="-122"/>
              <a:ea typeface="Microsoft Yahei" panose="020B0503020204020204" pitchFamily="34" charset="-122"/>
            </a:endParaRPr>
          </a:p>
          <a:p>
            <a:pPr>
              <a:buFont typeface="Wingdings" panose="05000000000000000000" charset="2"/>
              <a:buChar char="n"/>
            </a:pPr>
            <a:endParaRPr lang="en-US" altLang="zh-CN" dirty="0">
              <a:latin typeface="Microsoft Yahei" panose="020B0503020204020204" pitchFamily="34" charset="-122"/>
              <a:ea typeface="Microsoft Yahei" panose="020B0503020204020204" pitchFamily="34" charset="-122"/>
            </a:endParaRPr>
          </a:p>
          <a:p>
            <a:pPr>
              <a:buFont typeface="Wingdings" panose="05000000000000000000" charset="2"/>
              <a:buChar char="n"/>
            </a:pPr>
            <a:r>
              <a:rPr lang="zh-CN" altLang="en-US" dirty="0">
                <a:latin typeface="Microsoft Yahei" panose="020B0503020204020204" pitchFamily="34" charset="-122"/>
                <a:ea typeface="Microsoft Yahei" panose="020B0503020204020204" pitchFamily="34" charset="-122"/>
              </a:rPr>
              <a:t>传统转账，需要银行等</a:t>
            </a:r>
            <a:r>
              <a:rPr lang="zh-CN" altLang="en-US" dirty="0">
                <a:solidFill>
                  <a:srgbClr val="FF0000"/>
                </a:solidFill>
                <a:latin typeface="Microsoft Yahei" panose="020B0503020204020204" pitchFamily="34" charset="-122"/>
                <a:ea typeface="Microsoft Yahei" panose="020B0503020204020204" pitchFamily="34" charset="-122"/>
              </a:rPr>
              <a:t>中间机构</a:t>
            </a:r>
            <a:endParaRPr lang="en-US" altLang="zh-CN" dirty="0">
              <a:solidFill>
                <a:srgbClr val="FF0000"/>
              </a:solidFill>
              <a:latin typeface="Microsoft Yahei" panose="020B0503020204020204" pitchFamily="34" charset="-122"/>
              <a:ea typeface="Microsoft Yahei" panose="020B0503020204020204" pitchFamily="34" charset="-122"/>
            </a:endParaRPr>
          </a:p>
          <a:p>
            <a:pPr>
              <a:buFont typeface="Wingdings" panose="05000000000000000000" charset="2"/>
              <a:buChar char="n"/>
            </a:pPr>
            <a:endParaRPr lang="en-US" altLang="zh-CN" dirty="0">
              <a:latin typeface="Microsoft Yahei" panose="020B0503020204020204" pitchFamily="34" charset="-122"/>
              <a:ea typeface="Microsoft Yahei" panose="020B0503020204020204" pitchFamily="34" charset="-122"/>
            </a:endParaRPr>
          </a:p>
          <a:p>
            <a:pPr>
              <a:buFont typeface="Wingdings" panose="05000000000000000000" charset="2"/>
              <a:buChar char="n"/>
            </a:pPr>
            <a:r>
              <a:rPr lang="zh-CN" altLang="en-US" dirty="0">
                <a:latin typeface="Microsoft Yahei" panose="020B0503020204020204" pitchFamily="34" charset="-122"/>
                <a:ea typeface="Microsoft Yahei" panose="020B0503020204020204" pitchFamily="34" charset="-122"/>
              </a:rPr>
              <a:t> 信用</a:t>
            </a:r>
            <a:r>
              <a:rPr lang="zh-CN" altLang="en-US" dirty="0">
                <a:solidFill>
                  <a:srgbClr val="FF0000"/>
                </a:solidFill>
                <a:latin typeface="Microsoft Yahei" panose="020B0503020204020204" pitchFamily="34" charset="-122"/>
                <a:ea typeface="Microsoft Yahei" panose="020B0503020204020204" pitchFamily="34" charset="-122"/>
              </a:rPr>
              <a:t>中介</a:t>
            </a:r>
            <a:r>
              <a:rPr lang="zh-CN" altLang="en-US" dirty="0">
                <a:latin typeface="Microsoft Yahei" panose="020B0503020204020204" pitchFamily="34" charset="-122"/>
                <a:ea typeface="Microsoft Yahei" panose="020B0503020204020204" pitchFamily="34" charset="-122"/>
              </a:rPr>
              <a:t>：信息不对称、交易双方无法建立</a:t>
            </a:r>
            <a:r>
              <a:rPr lang="zh-CN" altLang="en-US" dirty="0">
                <a:solidFill>
                  <a:srgbClr val="FF0000"/>
                </a:solidFill>
                <a:latin typeface="Microsoft Yahei" panose="020B0503020204020204" pitchFamily="34" charset="-122"/>
                <a:ea typeface="Microsoft Yahei" panose="020B0503020204020204" pitchFamily="34" charset="-122"/>
              </a:rPr>
              <a:t>信任</a:t>
            </a:r>
            <a:r>
              <a:rPr lang="zh-CN" altLang="en-US" dirty="0">
                <a:latin typeface="Microsoft Yahei" panose="020B0503020204020204" pitchFamily="34" charset="-122"/>
                <a:ea typeface="Microsoft Yahei" panose="020B0503020204020204" pitchFamily="34" charset="-122"/>
              </a:rPr>
              <a:t>关系</a:t>
            </a:r>
            <a:endParaRPr lang="en-US" altLang="zh-CN" dirty="0">
              <a:latin typeface="Microsoft Yahei" panose="020B0503020204020204" pitchFamily="34" charset="-122"/>
              <a:ea typeface="Microsoft Yahei" panose="020B0503020204020204" pitchFamily="34" charset="-122"/>
            </a:endParaRPr>
          </a:p>
        </p:txBody>
      </p:sp>
      <p:pic>
        <p:nvPicPr>
          <p:cNvPr id="6" name="Picture 2" descr="http://photocdn.sohu.com/20150829/Img420041671.jpg">
            <a:extLst>
              <a:ext uri="{FF2B5EF4-FFF2-40B4-BE49-F238E27FC236}">
                <a16:creationId xmlns:a16="http://schemas.microsoft.com/office/drawing/2014/main" xmlns="" id="{DB8DF214-FE34-4F0C-8D70-39F84635820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6614"/>
          <a:stretch/>
        </p:blipFill>
        <p:spPr bwMode="auto">
          <a:xfrm>
            <a:off x="204097" y="1414202"/>
            <a:ext cx="3842657" cy="3390596"/>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xmlns="" id="{F0B4CE5A-704F-4E70-B088-4CB974E7F83F}"/>
              </a:ext>
            </a:extLst>
          </p:cNvPr>
          <p:cNvSpPr/>
          <p:nvPr/>
        </p:nvSpPr>
        <p:spPr>
          <a:xfrm>
            <a:off x="204097" y="4923966"/>
            <a:ext cx="4038600" cy="338554"/>
          </a:xfrm>
          <a:prstGeom prst="rect">
            <a:avLst/>
          </a:prstGeom>
        </p:spPr>
        <p:txBody>
          <a:bodyPr wrap="square">
            <a:spAutoFit/>
          </a:bodyPr>
          <a:lstStyle/>
          <a:p>
            <a:r>
              <a:rPr lang="en-US" altLang="zh-CN" sz="1600" b="0" dirty="0"/>
              <a:t> Peter Steiner 1993</a:t>
            </a:r>
            <a:r>
              <a:rPr lang="zh-CN" altLang="en-US" sz="1600" b="0" dirty="0"/>
              <a:t>年发表于</a:t>
            </a:r>
            <a:r>
              <a:rPr lang="en-US" altLang="zh-CN" sz="1600" b="0" dirty="0"/>
              <a:t>《</a:t>
            </a:r>
            <a:r>
              <a:rPr lang="zh-CN" altLang="en-US" sz="1600" b="0" dirty="0"/>
              <a:t>纽约客</a:t>
            </a:r>
            <a:r>
              <a:rPr lang="en-US" altLang="zh-CN" sz="1600" b="0" dirty="0"/>
              <a:t>》</a:t>
            </a:r>
            <a:endParaRPr lang="zh-CN" altLang="en-US" sz="1600" dirty="0"/>
          </a:p>
        </p:txBody>
      </p:sp>
      <p:sp>
        <p:nvSpPr>
          <p:cNvPr id="8" name="标题 1"/>
          <p:cNvSpPr>
            <a:spLocks noGrp="1"/>
          </p:cNvSpPr>
          <p:nvPr>
            <p:ph type="title"/>
          </p:nvPr>
        </p:nvSpPr>
        <p:spPr>
          <a:xfrm>
            <a:off x="381000" y="152400"/>
            <a:ext cx="8280400" cy="533400"/>
          </a:xfrm>
        </p:spPr>
        <p:txBody>
          <a:bodyPr>
            <a:normAutofit fontScale="90000"/>
          </a:bodyPr>
          <a:lstStyle/>
          <a:p>
            <a:r>
              <a:rPr lang="zh-CN" altLang="en-US" dirty="0">
                <a:latin typeface="微软雅黑" panose="020B0503020204020204" pitchFamily="34" charset="-122"/>
                <a:ea typeface="微软雅黑" panose="020B0503020204020204" pitchFamily="34" charset="-122"/>
              </a:rPr>
              <a:t>信任</a:t>
            </a:r>
          </a:p>
        </p:txBody>
      </p:sp>
    </p:spTree>
    <p:extLst>
      <p:ext uri="{BB962C8B-B14F-4D97-AF65-F5344CB8AC3E}">
        <p14:creationId xmlns:p14="http://schemas.microsoft.com/office/powerpoint/2010/main" val="429426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xmlns="" id="{61539B89-B3BF-4AC0-A21F-C8C8270D4F62}"/>
              </a:ext>
            </a:extLst>
          </p:cNvPr>
          <p:cNvSpPr txBox="1">
            <a:spLocks/>
          </p:cNvSpPr>
          <p:nvPr/>
        </p:nvSpPr>
        <p:spPr>
          <a:xfrm>
            <a:off x="420433" y="1293237"/>
            <a:ext cx="8318500" cy="5181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dirty="0"/>
              <a:t> </a:t>
            </a:r>
            <a:r>
              <a:rPr lang="zh-CN" altLang="en-US" dirty="0">
                <a:solidFill>
                  <a:srgbClr val="FF0000"/>
                </a:solidFill>
              </a:rPr>
              <a:t>信任</a:t>
            </a:r>
            <a:r>
              <a:rPr lang="zh-CN" altLang="en-US" dirty="0"/>
              <a:t>是数字经济的必要条件</a:t>
            </a:r>
            <a:endParaRPr lang="en-US" altLang="zh-CN" dirty="0"/>
          </a:p>
          <a:p>
            <a:pPr>
              <a:lnSpc>
                <a:spcPct val="150000"/>
              </a:lnSpc>
              <a:spcBef>
                <a:spcPts val="2400"/>
              </a:spcBef>
              <a:buFont typeface="Wingdings" panose="05000000000000000000" pitchFamily="2" charset="2"/>
              <a:buChar char="n"/>
            </a:pPr>
            <a:r>
              <a:rPr lang="zh-CN" altLang="en-US" dirty="0"/>
              <a:t> 一种能取代</a:t>
            </a:r>
            <a:r>
              <a:rPr lang="zh-CN" altLang="en-US" dirty="0">
                <a:solidFill>
                  <a:srgbClr val="FF0000"/>
                </a:solidFill>
              </a:rPr>
              <a:t>中介机构</a:t>
            </a:r>
            <a:r>
              <a:rPr lang="zh-CN" altLang="en-US" dirty="0"/>
              <a:t>的技术协议、一个能解决</a:t>
            </a:r>
            <a:r>
              <a:rPr lang="zh-CN" altLang="en-US" dirty="0">
                <a:solidFill>
                  <a:srgbClr val="FF0000"/>
                </a:solidFill>
              </a:rPr>
              <a:t>信任问题</a:t>
            </a:r>
            <a:r>
              <a:rPr lang="zh-CN" altLang="en-US" dirty="0"/>
              <a:t>的安全可靠的网络 </a:t>
            </a:r>
            <a:r>
              <a:rPr lang="en-US" altLang="zh-CN" dirty="0">
                <a:sym typeface="Wingdings" panose="05000000000000000000" pitchFamily="2" charset="2"/>
              </a:rPr>
              <a:t> </a:t>
            </a:r>
            <a:r>
              <a:rPr lang="zh-CN" altLang="en-US" dirty="0"/>
              <a:t>推动</a:t>
            </a:r>
            <a:r>
              <a:rPr lang="zh-CN" altLang="en-US" dirty="0">
                <a:solidFill>
                  <a:srgbClr val="FF0000"/>
                </a:solidFill>
              </a:rPr>
              <a:t>新型社会与组织</a:t>
            </a:r>
            <a:r>
              <a:rPr lang="zh-CN" altLang="en-US" dirty="0"/>
              <a:t>的出现</a:t>
            </a:r>
            <a:endParaRPr lang="en-US" altLang="zh-CN" dirty="0"/>
          </a:p>
          <a:p>
            <a:pPr>
              <a:lnSpc>
                <a:spcPct val="150000"/>
              </a:lnSpc>
              <a:spcBef>
                <a:spcPts val="2400"/>
              </a:spcBef>
              <a:buFont typeface="Wingdings" panose="05000000000000000000" pitchFamily="2" charset="2"/>
              <a:buChar char="n"/>
            </a:pPr>
            <a:r>
              <a:rPr lang="zh-CN" altLang="en-US" dirty="0"/>
              <a:t> 区块链成为金融科技的底层技术：低成本地通过技术手段解决信任难题</a:t>
            </a:r>
            <a:endParaRPr lang="en-US" altLang="zh-CN" dirty="0"/>
          </a:p>
        </p:txBody>
      </p:sp>
      <p:sp>
        <p:nvSpPr>
          <p:cNvPr id="6" name="标题 1"/>
          <p:cNvSpPr>
            <a:spLocks noGrp="1"/>
          </p:cNvSpPr>
          <p:nvPr>
            <p:ph type="title"/>
          </p:nvPr>
        </p:nvSpPr>
        <p:spPr>
          <a:xfrm>
            <a:off x="381000" y="152400"/>
            <a:ext cx="8280400" cy="533400"/>
          </a:xfrm>
        </p:spPr>
        <p:txBody>
          <a:bodyPr>
            <a:normAutofit fontScale="90000"/>
          </a:bodyPr>
          <a:lstStyle/>
          <a:p>
            <a:r>
              <a:rPr lang="zh-CN" altLang="en-US" dirty="0">
                <a:latin typeface="微软雅黑" panose="020B0503020204020204" pitchFamily="34" charset="-122"/>
                <a:ea typeface="微软雅黑" panose="020B0503020204020204" pitchFamily="34" charset="-122"/>
              </a:rPr>
              <a:t>信任</a:t>
            </a:r>
          </a:p>
        </p:txBody>
      </p:sp>
    </p:spTree>
    <p:extLst>
      <p:ext uri="{BB962C8B-B14F-4D97-AF65-F5344CB8AC3E}">
        <p14:creationId xmlns:p14="http://schemas.microsoft.com/office/powerpoint/2010/main" val="3311108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80D2D5F-1581-4F58-8C4C-DD2E29381250}"/>
              </a:ext>
            </a:extLst>
          </p:cNvPr>
          <p:cNvSpPr>
            <a:spLocks noGrp="1"/>
          </p:cNvSpPr>
          <p:nvPr>
            <p:ph type="title"/>
          </p:nvPr>
        </p:nvSpPr>
        <p:spPr/>
        <p:txBody>
          <a:bodyPr/>
          <a:lstStyle/>
          <a:p>
            <a:r>
              <a:rPr lang="zh-CN" altLang="en-US" dirty="0">
                <a:latin typeface="微软雅黑" pitchFamily="34" charset="-122"/>
                <a:ea typeface="微软雅黑" pitchFamily="34" charset="-122"/>
              </a:rPr>
              <a:t>生产力 </a:t>
            </a:r>
            <a:r>
              <a:rPr lang="en-US" altLang="zh-CN" dirty="0">
                <a:latin typeface="微软雅黑" pitchFamily="34" charset="-122"/>
                <a:ea typeface="微软雅黑" pitchFamily="34" charset="-122"/>
              </a:rPr>
              <a:t>vs </a:t>
            </a:r>
            <a:r>
              <a:rPr lang="zh-CN" altLang="en-US" dirty="0">
                <a:latin typeface="微软雅黑" pitchFamily="34" charset="-122"/>
                <a:ea typeface="微软雅黑" pitchFamily="34" charset="-122"/>
              </a:rPr>
              <a:t>生产关系</a:t>
            </a:r>
          </a:p>
        </p:txBody>
      </p:sp>
      <p:sp>
        <p:nvSpPr>
          <p:cNvPr id="3" name="内容占位符 2">
            <a:extLst>
              <a:ext uri="{FF2B5EF4-FFF2-40B4-BE49-F238E27FC236}">
                <a16:creationId xmlns:a16="http://schemas.microsoft.com/office/drawing/2014/main" xmlns="" id="{1943A8B5-0FDE-40C1-9251-EF4B80D100E7}"/>
              </a:ext>
            </a:extLst>
          </p:cNvPr>
          <p:cNvSpPr>
            <a:spLocks noGrp="1"/>
          </p:cNvSpPr>
          <p:nvPr>
            <p:ph idx="1"/>
          </p:nvPr>
        </p:nvSpPr>
        <p:spPr/>
        <p:txBody>
          <a:bodyPr/>
          <a:lstStyle/>
          <a:p>
            <a:pPr>
              <a:buFont typeface="Wingdings" panose="05000000000000000000" pitchFamily="2" charset="2"/>
              <a:buChar char="l"/>
            </a:pPr>
            <a:r>
              <a:rPr lang="zh-CN" altLang="en-US" b="1" dirty="0">
                <a:solidFill>
                  <a:srgbClr val="0070C0"/>
                </a:solidFill>
                <a:latin typeface="微软雅黑" pitchFamily="34" charset="-122"/>
                <a:ea typeface="微软雅黑" pitchFamily="34" charset="-122"/>
              </a:rPr>
              <a:t>人工智能</a:t>
            </a:r>
            <a:r>
              <a:rPr lang="zh-CN" altLang="en-US" dirty="0">
                <a:latin typeface="微软雅黑" pitchFamily="34" charset="-122"/>
                <a:ea typeface="微软雅黑" pitchFamily="34" charset="-122"/>
              </a:rPr>
              <a:t>：解放</a:t>
            </a:r>
            <a:r>
              <a:rPr lang="zh-CN" altLang="en-US" dirty="0">
                <a:solidFill>
                  <a:srgbClr val="FF0000"/>
                </a:solidFill>
                <a:latin typeface="微软雅黑" pitchFamily="34" charset="-122"/>
                <a:ea typeface="微软雅黑" pitchFamily="34" charset="-122"/>
              </a:rPr>
              <a:t>生产力</a:t>
            </a:r>
            <a:endParaRPr lang="en-US" altLang="zh-CN" dirty="0">
              <a:solidFill>
                <a:srgbClr val="FF0000"/>
              </a:solidFill>
              <a:latin typeface="微软雅黑" pitchFamily="34" charset="-122"/>
              <a:ea typeface="微软雅黑" pitchFamily="34" charset="-122"/>
            </a:endParaRPr>
          </a:p>
          <a:p>
            <a:pPr lvl="1"/>
            <a:r>
              <a:rPr lang="zh-CN" altLang="en-US" dirty="0">
                <a:latin typeface="微软雅黑" pitchFamily="34" charset="-122"/>
                <a:ea typeface="微软雅黑" pitchFamily="34" charset="-122"/>
              </a:rPr>
              <a:t>剧烈地改变了人类的生活</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没有改变组织模式（银行柜台</a:t>
            </a:r>
            <a:r>
              <a:rPr lang="en-US" altLang="zh-CN" dirty="0">
                <a:latin typeface="微软雅黑" pitchFamily="34" charset="-122"/>
                <a:ea typeface="微软雅黑" pitchFamily="34" charset="-122"/>
                <a:sym typeface="Wingdings" pitchFamily="2" charset="2"/>
              </a:rPr>
              <a:t></a:t>
            </a:r>
            <a:r>
              <a:rPr lang="zh-CN" altLang="en-US" dirty="0">
                <a:latin typeface="微软雅黑" pitchFamily="34" charset="-122"/>
                <a:ea typeface="微软雅黑" pitchFamily="34" charset="-122"/>
              </a:rPr>
              <a:t>移动支付）</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以人为中心来执行判断，做决策</a:t>
            </a:r>
            <a:endParaRPr lang="en-US" altLang="zh-CN" dirty="0">
              <a:latin typeface="微软雅黑" pitchFamily="34" charset="-122"/>
              <a:ea typeface="微软雅黑" pitchFamily="34" charset="-122"/>
            </a:endParaRPr>
          </a:p>
          <a:p>
            <a:pPr lvl="1"/>
            <a:endParaRPr lang="en-US" altLang="zh-CN" dirty="0">
              <a:solidFill>
                <a:srgbClr val="FF0000"/>
              </a:solidFill>
              <a:latin typeface="微软雅黑" pitchFamily="34" charset="-122"/>
              <a:ea typeface="微软雅黑" pitchFamily="34" charset="-122"/>
            </a:endParaRPr>
          </a:p>
          <a:p>
            <a:pPr>
              <a:buFont typeface="Wingdings" panose="05000000000000000000" pitchFamily="2" charset="2"/>
              <a:buChar char="l"/>
            </a:pPr>
            <a:r>
              <a:rPr lang="zh-CN" altLang="en-US" b="1" dirty="0">
                <a:solidFill>
                  <a:srgbClr val="0070C0"/>
                </a:solidFill>
                <a:latin typeface="微软雅黑" pitchFamily="34" charset="-122"/>
                <a:ea typeface="微软雅黑" pitchFamily="34" charset="-122"/>
              </a:rPr>
              <a:t>区块链</a:t>
            </a:r>
            <a:r>
              <a:rPr lang="zh-CN" altLang="en-US" dirty="0">
                <a:latin typeface="微软雅黑" pitchFamily="34" charset="-122"/>
                <a:ea typeface="微软雅黑" pitchFamily="34" charset="-122"/>
              </a:rPr>
              <a:t>：改变</a:t>
            </a:r>
            <a:r>
              <a:rPr lang="zh-CN" altLang="en-US" dirty="0">
                <a:solidFill>
                  <a:srgbClr val="FF0000"/>
                </a:solidFill>
                <a:latin typeface="微软雅黑" pitchFamily="34" charset="-122"/>
                <a:ea typeface="微软雅黑" pitchFamily="34" charset="-122"/>
              </a:rPr>
              <a:t>生产关系</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它挑战和改变了人类的组织模式</a:t>
            </a:r>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几十年后回头看可能发现很多机构都消失不见</a:t>
            </a:r>
            <a:endParaRPr lang="en-US" altLang="zh-CN" dirty="0">
              <a:latin typeface="微软雅黑" pitchFamily="34" charset="-122"/>
              <a:ea typeface="微软雅黑" pitchFamily="34" charset="-122"/>
            </a:endParaRPr>
          </a:p>
          <a:p>
            <a:pPr marL="457200" lvl="1" indent="0">
              <a:buNone/>
            </a:pPr>
            <a:endParaRPr lang="en-US" altLang="zh-CN" dirty="0">
              <a:latin typeface="微软雅黑" pitchFamily="34" charset="-122"/>
              <a:ea typeface="微软雅黑" pitchFamily="34" charset="-122"/>
            </a:endParaRPr>
          </a:p>
          <a:p>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19893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A400BB7-D0CE-4868-9753-5035D0457C1A}"/>
              </a:ext>
            </a:extLst>
          </p:cNvPr>
          <p:cNvSpPr>
            <a:spLocks noGrp="1"/>
          </p:cNvSpPr>
          <p:nvPr>
            <p:ph type="title"/>
          </p:nvPr>
        </p:nvSpPr>
        <p:spPr/>
        <p:txBody>
          <a:bodyPr/>
          <a:lstStyle/>
          <a:p>
            <a:r>
              <a:rPr lang="zh-CN" altLang="en-US" dirty="0">
                <a:latin typeface="微软雅黑" pitchFamily="34" charset="-122"/>
                <a:ea typeface="微软雅黑" pitchFamily="34" charset="-122"/>
              </a:rPr>
              <a:t>类型</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3179"/>
            <a:ext cx="899160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4101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endParaRPr lang="zh-CN" altLang="en-US" dirty="0"/>
          </a:p>
        </p:txBody>
      </p:sp>
      <p:pic>
        <p:nvPicPr>
          <p:cNvPr id="6148" name="Picture 4" descr="https://pics4.baidu.com/feed/503d269759ee3d6d7cce946e059cf22a4e4ade99.jpeg@f_auto?token=f876ded466a8da69a96c2c3e0250a72a"/>
          <p:cNvPicPr>
            <a:picLocks noChangeAspect="1" noChangeArrowheads="1"/>
          </p:cNvPicPr>
          <p:nvPr/>
        </p:nvPicPr>
        <p:blipFill rotWithShape="1">
          <a:blip r:embed="rId2">
            <a:extLst>
              <a:ext uri="{28A0092B-C50C-407E-A947-70E740481C1C}">
                <a14:useLocalDpi xmlns:a14="http://schemas.microsoft.com/office/drawing/2010/main" val="0"/>
              </a:ext>
            </a:extLst>
          </a:blip>
          <a:srcRect l="18698" t="14618" r="17021" b="7347"/>
          <a:stretch/>
        </p:blipFill>
        <p:spPr bwMode="auto">
          <a:xfrm>
            <a:off x="1469572" y="1164770"/>
            <a:ext cx="6183085" cy="5377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105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smtClean="0"/>
              <a:t>数据层</a:t>
            </a:r>
            <a:endParaRPr lang="zh-CN" altLang="en-US" dirty="0"/>
          </a:p>
        </p:txBody>
      </p:sp>
      <p:sp>
        <p:nvSpPr>
          <p:cNvPr id="3" name="矩形 2"/>
          <p:cNvSpPr/>
          <p:nvPr/>
        </p:nvSpPr>
        <p:spPr>
          <a:xfrm>
            <a:off x="1284514" y="1146406"/>
            <a:ext cx="6716486" cy="369332"/>
          </a:xfrm>
          <a:prstGeom prst="rect">
            <a:avLst/>
          </a:prstGeom>
        </p:spPr>
        <p:txBody>
          <a:bodyPr wrap="square">
            <a:spAutoFit/>
          </a:bodyPr>
          <a:lstStyle/>
          <a:p>
            <a:r>
              <a:rPr lang="zh-CN" altLang="en-US" dirty="0" smtClean="0"/>
              <a:t>数据层：解决</a:t>
            </a:r>
            <a:r>
              <a:rPr lang="zh-CN" altLang="en-US" dirty="0"/>
              <a:t>区块链数据如何存储的问题，数据结构的问 题 </a:t>
            </a: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43" y="1820537"/>
            <a:ext cx="8893724" cy="2181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0321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smtClean="0"/>
              <a:t>网络层</a:t>
            </a:r>
            <a:endParaRPr lang="zh-CN" altLang="en-US" dirty="0"/>
          </a:p>
        </p:txBody>
      </p:sp>
      <p:sp>
        <p:nvSpPr>
          <p:cNvPr id="3" name="矩形 2"/>
          <p:cNvSpPr/>
          <p:nvPr/>
        </p:nvSpPr>
        <p:spPr>
          <a:xfrm>
            <a:off x="326571" y="1146406"/>
            <a:ext cx="8490858" cy="369332"/>
          </a:xfrm>
          <a:prstGeom prst="rect">
            <a:avLst/>
          </a:prstGeom>
        </p:spPr>
        <p:txBody>
          <a:bodyPr wrap="square">
            <a:spAutoFit/>
          </a:bodyPr>
          <a:lstStyle/>
          <a:p>
            <a:r>
              <a:rPr lang="zh-CN" altLang="en-US" dirty="0"/>
              <a:t>网络层：基于</a:t>
            </a:r>
            <a:r>
              <a:rPr lang="en-US" altLang="zh-CN" dirty="0" smtClean="0"/>
              <a:t>P2P</a:t>
            </a:r>
            <a:r>
              <a:rPr lang="zh-CN" altLang="en-US" dirty="0" smtClean="0"/>
              <a:t>（对等）网络</a:t>
            </a:r>
            <a:r>
              <a:rPr lang="zh-CN" altLang="en-US" dirty="0"/>
              <a:t>架构，解决节点间的数据广播、传输与同步问 题 </a:t>
            </a:r>
          </a:p>
        </p:txBody>
      </p:sp>
      <p:pic>
        <p:nvPicPr>
          <p:cNvPr id="8194" name="Picture 2" descr="https://pic.baike.soso.com/ugc/baikepic2/21328/20180323023714-952750838_jpeg_660_474_21998.jpg/8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199" y="1657644"/>
            <a:ext cx="6286500" cy="4514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946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smtClean="0"/>
              <a:t>共识层</a:t>
            </a:r>
            <a:endParaRPr lang="zh-CN" altLang="en-US" dirty="0"/>
          </a:p>
        </p:txBody>
      </p:sp>
      <p:sp>
        <p:nvSpPr>
          <p:cNvPr id="5" name="TextBox 4"/>
          <p:cNvSpPr txBox="1"/>
          <p:nvPr/>
        </p:nvSpPr>
        <p:spPr>
          <a:xfrm>
            <a:off x="1266066" y="2074317"/>
            <a:ext cx="1569660" cy="369332"/>
          </a:xfrm>
          <a:prstGeom prst="rect">
            <a:avLst/>
          </a:prstGeom>
          <a:noFill/>
        </p:spPr>
        <p:txBody>
          <a:bodyPr wrap="none" rtlCol="0">
            <a:spAutoFit/>
          </a:bodyPr>
          <a:lstStyle/>
          <a:p>
            <a:r>
              <a:rPr lang="zh-CN" altLang="en-US" b="1" dirty="0" smtClean="0"/>
              <a:t>去中心化打分</a:t>
            </a:r>
            <a:endParaRPr lang="zh-CN" altLang="en-US" b="1"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2552509"/>
            <a:ext cx="3927522" cy="2793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78971" y="1208314"/>
            <a:ext cx="8783174" cy="646331"/>
          </a:xfrm>
          <a:prstGeom prst="rect">
            <a:avLst/>
          </a:prstGeom>
          <a:noFill/>
        </p:spPr>
        <p:txBody>
          <a:bodyPr wrap="none" rtlCol="0">
            <a:spAutoFit/>
          </a:bodyPr>
          <a:lstStyle/>
          <a:p>
            <a:r>
              <a:rPr lang="zh-CN" altLang="en-US" dirty="0" smtClean="0"/>
              <a:t>区</a:t>
            </a:r>
            <a:r>
              <a:rPr lang="zh-CN" altLang="en-US" dirty="0"/>
              <a:t>块链网络如何确保所有节点的数据是一致的 ，大家遵循什么样的规范和共同约定</a:t>
            </a:r>
            <a:r>
              <a:rPr lang="zh-CN" altLang="en-US" dirty="0" smtClean="0"/>
              <a:t>，</a:t>
            </a:r>
            <a:endParaRPr lang="en-US" altLang="zh-CN" dirty="0" smtClean="0"/>
          </a:p>
          <a:p>
            <a:r>
              <a:rPr lang="zh-CN" altLang="en-US" dirty="0" smtClean="0"/>
              <a:t>使</a:t>
            </a:r>
            <a:r>
              <a:rPr lang="zh-CN" altLang="en-US" dirty="0"/>
              <a:t>最终生 成的区块数据没有异议。</a:t>
            </a:r>
          </a:p>
        </p:txBody>
      </p:sp>
      <p:sp>
        <p:nvSpPr>
          <p:cNvPr id="7" name="TextBox 6"/>
          <p:cNvSpPr txBox="1"/>
          <p:nvPr/>
        </p:nvSpPr>
        <p:spPr>
          <a:xfrm>
            <a:off x="4994910" y="2443649"/>
            <a:ext cx="2598788" cy="1200329"/>
          </a:xfrm>
          <a:prstGeom prst="rect">
            <a:avLst/>
          </a:prstGeom>
          <a:noFill/>
        </p:spPr>
        <p:txBody>
          <a:bodyPr wrap="none" rtlCol="0">
            <a:spAutoFit/>
          </a:bodyPr>
          <a:lstStyle/>
          <a:p>
            <a:pPr marL="285750" indent="-285750">
              <a:lnSpc>
                <a:spcPct val="150000"/>
              </a:lnSpc>
              <a:buFont typeface="Wingdings" pitchFamily="2" charset="2"/>
              <a:buChar char="Ø"/>
            </a:pPr>
            <a:r>
              <a:rPr lang="en-US" altLang="zh-CN" dirty="0" smtClean="0"/>
              <a:t>POW</a:t>
            </a:r>
            <a:r>
              <a:rPr lang="zh-CN" altLang="en-US" dirty="0"/>
              <a:t>挖矿 </a:t>
            </a:r>
            <a:endParaRPr lang="en-US" altLang="zh-CN" dirty="0" smtClean="0"/>
          </a:p>
          <a:p>
            <a:pPr marL="285750" indent="-285750">
              <a:lnSpc>
                <a:spcPct val="150000"/>
              </a:lnSpc>
              <a:buFont typeface="Wingdings" pitchFamily="2" charset="2"/>
              <a:buChar char="Ø"/>
            </a:pPr>
            <a:r>
              <a:rPr lang="en-US" altLang="zh-CN" b="1" dirty="0" smtClean="0"/>
              <a:t>PBFT</a:t>
            </a:r>
            <a:r>
              <a:rPr lang="zh-CN" altLang="en-US" b="1" dirty="0"/>
              <a:t>拜占庭容错</a:t>
            </a:r>
            <a:r>
              <a:rPr lang="zh-CN" altLang="en-US" b="1" dirty="0" smtClean="0"/>
              <a:t>共识</a:t>
            </a:r>
            <a:endParaRPr lang="en-US" altLang="zh-CN" dirty="0" smtClean="0"/>
          </a:p>
          <a:p>
            <a:r>
              <a:rPr lang="zh-CN" altLang="en-US" dirty="0" smtClean="0"/>
              <a:t> </a:t>
            </a:r>
            <a:endParaRPr lang="zh-CN" altLang="en-US" dirty="0"/>
          </a:p>
        </p:txBody>
      </p:sp>
    </p:spTree>
    <p:extLst>
      <p:ext uri="{BB962C8B-B14F-4D97-AF65-F5344CB8AC3E}">
        <p14:creationId xmlns:p14="http://schemas.microsoft.com/office/powerpoint/2010/main" val="718987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smtClean="0"/>
              <a:t>共识层</a:t>
            </a:r>
            <a:endParaRPr lang="zh-CN" altLang="en-US" dirty="0"/>
          </a:p>
        </p:txBody>
      </p:sp>
      <p:sp>
        <p:nvSpPr>
          <p:cNvPr id="4" name="TextBox 3"/>
          <p:cNvSpPr txBox="1"/>
          <p:nvPr/>
        </p:nvSpPr>
        <p:spPr>
          <a:xfrm>
            <a:off x="478971" y="1208314"/>
            <a:ext cx="2598788" cy="454483"/>
          </a:xfrm>
          <a:prstGeom prst="rect">
            <a:avLst/>
          </a:prstGeom>
          <a:noFill/>
        </p:spPr>
        <p:txBody>
          <a:bodyPr wrap="none" rtlCol="0">
            <a:spAutoFit/>
          </a:bodyPr>
          <a:lstStyle/>
          <a:p>
            <a:pPr marL="285750" indent="-285750">
              <a:lnSpc>
                <a:spcPct val="150000"/>
              </a:lnSpc>
              <a:buFont typeface="Wingdings" pitchFamily="2" charset="2"/>
              <a:buChar char="Ø"/>
            </a:pPr>
            <a:r>
              <a:rPr lang="en-US" altLang="zh-CN" b="1" dirty="0"/>
              <a:t>PBFT</a:t>
            </a:r>
            <a:r>
              <a:rPr lang="zh-CN" altLang="en-US" b="1" dirty="0"/>
              <a:t>拜占庭容错共识</a:t>
            </a:r>
            <a:endParaRPr lang="en-US" altLang="zh-CN" dirty="0"/>
          </a:p>
        </p:txBody>
      </p:sp>
      <p:pic>
        <p:nvPicPr>
          <p:cNvPr id="9218" name="Picture 2"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71" y="1662797"/>
            <a:ext cx="6659847" cy="2963632"/>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0" y="4725182"/>
            <a:ext cx="8962710" cy="1700978"/>
          </a:xfrm>
          <a:prstGeom prst="rect">
            <a:avLst/>
          </a:prstGeom>
        </p:spPr>
        <p:txBody>
          <a:bodyPr wrap="none">
            <a:spAutoFit/>
          </a:bodyPr>
          <a:lstStyle/>
          <a:p>
            <a:pPr>
              <a:lnSpc>
                <a:spcPct val="150000"/>
              </a:lnSpc>
            </a:pPr>
            <a:r>
              <a:rPr lang="en-US" altLang="zh-CN" dirty="0"/>
              <a:t>0</a:t>
            </a:r>
            <a:r>
              <a:rPr lang="zh-CN" altLang="en-US" dirty="0"/>
              <a:t>在这里为主节点，</a:t>
            </a:r>
            <a:r>
              <a:rPr lang="en-US" altLang="zh-CN" dirty="0"/>
              <a:t>1</a:t>
            </a:r>
            <a:r>
              <a:rPr lang="zh-CN" altLang="en-US" dirty="0"/>
              <a:t>，</a:t>
            </a:r>
            <a:r>
              <a:rPr lang="en-US" altLang="zh-CN" dirty="0"/>
              <a:t>2</a:t>
            </a:r>
            <a:r>
              <a:rPr lang="zh-CN" altLang="en-US" dirty="0"/>
              <a:t>，</a:t>
            </a:r>
            <a:r>
              <a:rPr lang="en-US" altLang="zh-CN" dirty="0"/>
              <a:t>3</a:t>
            </a:r>
            <a:r>
              <a:rPr lang="zh-CN" altLang="en-US" dirty="0"/>
              <a:t>为从</a:t>
            </a:r>
            <a:r>
              <a:rPr lang="zh-CN" altLang="en-US" dirty="0" smtClean="0"/>
              <a:t>节点</a:t>
            </a:r>
            <a:endParaRPr lang="en-US" altLang="zh-CN" dirty="0" smtClean="0"/>
          </a:p>
          <a:p>
            <a:pPr>
              <a:lnSpc>
                <a:spcPct val="150000"/>
              </a:lnSpc>
            </a:pPr>
            <a:r>
              <a:rPr lang="en-US" altLang="zh-CN" dirty="0"/>
              <a:t>3</a:t>
            </a:r>
            <a:r>
              <a:rPr lang="zh-CN" altLang="en-US" dirty="0"/>
              <a:t>为故障</a:t>
            </a:r>
            <a:r>
              <a:rPr lang="zh-CN" altLang="en-US" dirty="0" smtClean="0"/>
              <a:t>节点</a:t>
            </a:r>
            <a:endParaRPr lang="en-US" altLang="zh-CN" dirty="0" smtClean="0"/>
          </a:p>
          <a:p>
            <a:pPr>
              <a:lnSpc>
                <a:spcPct val="150000"/>
              </a:lnSpc>
            </a:pPr>
            <a:r>
              <a:rPr lang="zh-CN" altLang="en-US" dirty="0"/>
              <a:t>至少需要</a:t>
            </a:r>
            <a:r>
              <a:rPr lang="en-US" altLang="zh-CN" dirty="0"/>
              <a:t>N=3F+1</a:t>
            </a:r>
            <a:r>
              <a:rPr lang="zh-CN" altLang="en-US" dirty="0"/>
              <a:t>个节点</a:t>
            </a:r>
            <a:br>
              <a:rPr lang="zh-CN" altLang="en-US" dirty="0"/>
            </a:br>
            <a:r>
              <a:rPr lang="zh-CN" altLang="en-US" b="1" dirty="0" smtClean="0"/>
              <a:t>当</a:t>
            </a:r>
            <a:r>
              <a:rPr lang="zh-CN" altLang="en-US" b="1" dirty="0"/>
              <a:t>网络中有</a:t>
            </a:r>
            <a:r>
              <a:rPr lang="en-US" altLang="zh-CN" b="1" dirty="0"/>
              <a:t>F</a:t>
            </a:r>
            <a:r>
              <a:rPr lang="zh-CN" altLang="en-US" b="1" dirty="0"/>
              <a:t>台有问题的计算机时，至少需要</a:t>
            </a:r>
            <a:r>
              <a:rPr lang="en-US" altLang="zh-CN" b="1" dirty="0"/>
              <a:t>3F+1</a:t>
            </a:r>
            <a:r>
              <a:rPr lang="zh-CN" altLang="en-US" b="1" dirty="0"/>
              <a:t>台计算机才能保证一致性问题的</a:t>
            </a:r>
            <a:r>
              <a:rPr lang="zh-CN" altLang="en-US" b="1" dirty="0" smtClean="0"/>
              <a:t>解决</a:t>
            </a:r>
            <a:endParaRPr lang="zh-CN" altLang="en-US" dirty="0"/>
          </a:p>
        </p:txBody>
      </p:sp>
    </p:spTree>
    <p:extLst>
      <p:ext uri="{BB962C8B-B14F-4D97-AF65-F5344CB8AC3E}">
        <p14:creationId xmlns:p14="http://schemas.microsoft.com/office/powerpoint/2010/main" val="2104361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激励</a:t>
            </a:r>
            <a:r>
              <a:rPr lang="zh-CN" altLang="en-US" dirty="0" smtClean="0"/>
              <a:t>层</a:t>
            </a:r>
            <a:endParaRPr lang="zh-CN" altLang="en-US" dirty="0"/>
          </a:p>
        </p:txBody>
      </p:sp>
      <p:sp>
        <p:nvSpPr>
          <p:cNvPr id="5" name="TextBox 4"/>
          <p:cNvSpPr txBox="1"/>
          <p:nvPr/>
        </p:nvSpPr>
        <p:spPr>
          <a:xfrm>
            <a:off x="751114" y="1230085"/>
            <a:ext cx="5262979" cy="369332"/>
          </a:xfrm>
          <a:prstGeom prst="rect">
            <a:avLst/>
          </a:prstGeom>
          <a:noFill/>
        </p:spPr>
        <p:txBody>
          <a:bodyPr wrap="none" rtlCol="0">
            <a:spAutoFit/>
          </a:bodyPr>
          <a:lstStyle/>
          <a:p>
            <a:r>
              <a:rPr lang="zh-CN" altLang="en-US" dirty="0" smtClean="0"/>
              <a:t>激励层：为了</a:t>
            </a:r>
            <a:r>
              <a:rPr lang="zh-CN" altLang="en-US" dirty="0"/>
              <a:t>确保并鼓励大家参与网络算力的提供</a:t>
            </a:r>
          </a:p>
        </p:txBody>
      </p:sp>
      <p:sp>
        <p:nvSpPr>
          <p:cNvPr id="6" name="矩形 5"/>
          <p:cNvSpPr/>
          <p:nvPr/>
        </p:nvSpPr>
        <p:spPr>
          <a:xfrm>
            <a:off x="457200" y="1791011"/>
            <a:ext cx="7815943" cy="3416320"/>
          </a:xfrm>
          <a:prstGeom prst="rect">
            <a:avLst/>
          </a:prstGeom>
        </p:spPr>
        <p:txBody>
          <a:bodyPr wrap="square">
            <a:spAutoFit/>
          </a:bodyPr>
          <a:lstStyle/>
          <a:p>
            <a:pPr marL="285750" indent="-285750" latinLnBrk="1">
              <a:lnSpc>
                <a:spcPct val="150000"/>
              </a:lnSpc>
              <a:buFont typeface="Wingdings" pitchFamily="2" charset="2"/>
              <a:buChar char="Ø"/>
            </a:pPr>
            <a:r>
              <a:rPr lang="zh-CN" altLang="en-US" dirty="0"/>
              <a:t>区块链共识过程通过汇聚大规模共识节点的算力资源来实现共享区块链账本的数据验证和记账工作</a:t>
            </a:r>
            <a:r>
              <a:rPr lang="en-US" altLang="zh-CN" dirty="0"/>
              <a:t>, </a:t>
            </a:r>
            <a:r>
              <a:rPr lang="zh-CN" altLang="en-US" dirty="0"/>
              <a:t>因而其本质上</a:t>
            </a:r>
            <a:r>
              <a:rPr lang="zh-CN" altLang="en-US" b="1" dirty="0"/>
              <a:t>是一种共识节点间的任务众包过程。</a:t>
            </a:r>
            <a:r>
              <a:rPr lang="zh-CN" altLang="en-US" dirty="0"/>
              <a:t>去中心化系统中的共识节点本身是自利的</a:t>
            </a:r>
            <a:r>
              <a:rPr lang="en-US" altLang="zh-CN" dirty="0"/>
              <a:t>, </a:t>
            </a:r>
            <a:r>
              <a:rPr lang="zh-CN" altLang="en-US" b="1" dirty="0"/>
              <a:t>最大化自身收益是其参与数据验证和记账的根本目标。</a:t>
            </a:r>
            <a:endParaRPr lang="zh-CN" altLang="en-US" dirty="0"/>
          </a:p>
          <a:p>
            <a:pPr marL="285750" indent="-285750" latinLnBrk="1">
              <a:lnSpc>
                <a:spcPct val="150000"/>
              </a:lnSpc>
              <a:buFont typeface="Wingdings" pitchFamily="2" charset="2"/>
              <a:buChar char="Ø"/>
            </a:pPr>
            <a:r>
              <a:rPr lang="zh-CN" altLang="en-US" dirty="0"/>
              <a:t>因此</a:t>
            </a:r>
            <a:r>
              <a:rPr lang="en-US" altLang="zh-CN" dirty="0"/>
              <a:t>, </a:t>
            </a:r>
            <a:r>
              <a:rPr lang="zh-CN" altLang="en-US" dirty="0"/>
              <a:t>必须设计激励相容的合理众包机制</a:t>
            </a:r>
            <a:r>
              <a:rPr lang="en-US" altLang="zh-CN" dirty="0"/>
              <a:t>, </a:t>
            </a:r>
            <a:r>
              <a:rPr lang="zh-CN" altLang="en-US" dirty="0"/>
              <a:t>使得共识节点最大化自身收益的个体理性行为与保障去中心化区块链系统的安全和有效性的整体目标相吻合</a:t>
            </a:r>
            <a:r>
              <a:rPr lang="zh-CN" altLang="en-US" dirty="0" smtClean="0"/>
              <a:t>。</a:t>
            </a:r>
            <a:endParaRPr lang="en-US" altLang="zh-CN" dirty="0" smtClean="0"/>
          </a:p>
          <a:p>
            <a:pPr marL="285750" indent="-285750" latinLnBrk="1">
              <a:lnSpc>
                <a:spcPct val="150000"/>
              </a:lnSpc>
              <a:buFont typeface="Wingdings" pitchFamily="2" charset="2"/>
              <a:buChar char="Ø"/>
            </a:pPr>
            <a:r>
              <a:rPr lang="zh-CN" altLang="en-US" dirty="0" smtClean="0"/>
              <a:t>博弈论、强化学习等选择一种最优的策略</a:t>
            </a:r>
            <a:endParaRPr lang="zh-CN" altLang="en-US" dirty="0"/>
          </a:p>
        </p:txBody>
      </p:sp>
    </p:spTree>
    <p:extLst>
      <p:ext uri="{BB962C8B-B14F-4D97-AF65-F5344CB8AC3E}">
        <p14:creationId xmlns:p14="http://schemas.microsoft.com/office/powerpoint/2010/main" val="2788329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smtClean="0"/>
              <a:t>合约层</a:t>
            </a:r>
            <a:endParaRPr lang="zh-CN" altLang="en-US" dirty="0"/>
          </a:p>
        </p:txBody>
      </p:sp>
      <p:sp>
        <p:nvSpPr>
          <p:cNvPr id="5" name="TextBox 4"/>
          <p:cNvSpPr txBox="1"/>
          <p:nvPr/>
        </p:nvSpPr>
        <p:spPr>
          <a:xfrm>
            <a:off x="566057" y="1144680"/>
            <a:ext cx="7571303" cy="1338828"/>
          </a:xfrm>
          <a:prstGeom prst="rect">
            <a:avLst/>
          </a:prstGeom>
          <a:noFill/>
        </p:spPr>
        <p:txBody>
          <a:bodyPr wrap="none" rtlCol="0">
            <a:spAutoFit/>
          </a:bodyPr>
          <a:lstStyle/>
          <a:p>
            <a:pPr>
              <a:lnSpc>
                <a:spcPct val="150000"/>
              </a:lnSpc>
              <a:buFont typeface="Wingdings" panose="05000000000000000000" pitchFamily="2" charset="2"/>
              <a:buChar char="l"/>
            </a:pPr>
            <a:r>
              <a:rPr lang="zh-CN" altLang="en-US" dirty="0">
                <a:solidFill>
                  <a:srgbClr val="FF0000"/>
                </a:solidFill>
                <a:latin typeface="微软雅黑" pitchFamily="34" charset="-122"/>
                <a:ea typeface="微软雅黑" pitchFamily="34" charset="-122"/>
              </a:rPr>
              <a:t>智能合约</a:t>
            </a:r>
            <a:r>
              <a:rPr lang="zh-CN" altLang="en-US" dirty="0">
                <a:latin typeface="微软雅黑" pitchFamily="34" charset="-122"/>
                <a:ea typeface="微软雅黑" pitchFamily="34" charset="-122"/>
              </a:rPr>
              <a:t>顾名思义就是</a:t>
            </a:r>
            <a:r>
              <a:rPr lang="zh-CN" altLang="en-US" dirty="0">
                <a:solidFill>
                  <a:srgbClr val="FF0000"/>
                </a:solidFill>
                <a:latin typeface="微软雅黑" pitchFamily="34" charset="-122"/>
                <a:ea typeface="微软雅黑" pitchFamily="34" charset="-122"/>
              </a:rPr>
              <a:t>自动化合约</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a:lnSpc>
                <a:spcPct val="150000"/>
              </a:lnSpc>
            </a:pPr>
            <a:r>
              <a:rPr lang="zh-CN" altLang="en-US" dirty="0">
                <a:latin typeface="微软雅黑" pitchFamily="34" charset="-122"/>
                <a:ea typeface="微软雅黑" pitchFamily="34" charset="-122"/>
              </a:rPr>
              <a:t>智能合约是一种自动执行合约的计算机程序</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a:lnSpc>
                <a:spcPct val="150000"/>
              </a:lnSpc>
            </a:pPr>
            <a:r>
              <a:rPr lang="zh-CN" altLang="en-US" dirty="0" smtClean="0">
                <a:latin typeface="微软雅黑" pitchFamily="34" charset="-122"/>
                <a:ea typeface="微软雅黑" pitchFamily="34" charset="-122"/>
              </a:rPr>
              <a:t>可以</a:t>
            </a:r>
            <a:r>
              <a:rPr lang="zh-CN" altLang="en-US" dirty="0">
                <a:latin typeface="微软雅黑" pitchFamily="34" charset="-122"/>
                <a:ea typeface="微软雅黑" pitchFamily="34" charset="-122"/>
              </a:rPr>
              <a:t>在区块链上定义和执行各种业务规则和逻辑，实现去中心化的应用。</a:t>
            </a:r>
            <a:endParaRPr lang="zh-CN" altLang="en-US" sz="1200" dirty="0">
              <a:latin typeface="微软雅黑" pitchFamily="34" charset="-122"/>
              <a:ea typeface="微软雅黑" pitchFamily="34" charset="-122"/>
            </a:endParaRPr>
          </a:p>
        </p:txBody>
      </p:sp>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9483" y="3305854"/>
            <a:ext cx="5094515" cy="280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28" y="2569028"/>
            <a:ext cx="3918857" cy="2139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28" y="4708071"/>
            <a:ext cx="3918857" cy="2071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934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smtClean="0"/>
              <a:t>合约层</a:t>
            </a:r>
            <a:endParaRPr lang="zh-CN" altLang="en-US" dirty="0"/>
          </a:p>
        </p:txBody>
      </p:sp>
      <p:pic>
        <p:nvPicPr>
          <p:cNvPr id="11266" name="Picture 2" descr="https://pics4.baidu.com/feed/d6ca7bcb0a46f21fe739fbe84607c06d0c33ae29.jpeg@f_auto?token=23227e120234225f9d5c7e54e4c1f8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446" y="2782659"/>
            <a:ext cx="4677585" cy="3724338"/>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135" y="978352"/>
            <a:ext cx="7100208" cy="1804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9146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pic>
        <p:nvPicPr>
          <p:cNvPr id="5" name="内容占位符 5"/>
          <p:cNvPicPr>
            <a:picLocks noGrp="1" noChangeAspect="1"/>
          </p:cNvPicPr>
          <p:nvPr>
            <p:ph idx="1"/>
          </p:nvPr>
        </p:nvPicPr>
        <p:blipFill>
          <a:blip r:embed="rId3" cstate="print"/>
          <a:stretch>
            <a:fillRect/>
          </a:stretch>
        </p:blipFill>
        <p:spPr>
          <a:xfrm>
            <a:off x="0" y="1317171"/>
            <a:ext cx="4719981" cy="4582886"/>
          </a:xfrm>
          <a:prstGeom prst="rect">
            <a:avLst/>
          </a:prstGeom>
        </p:spPr>
      </p:pic>
      <p:pic>
        <p:nvPicPr>
          <p:cNvPr id="6" name="图片 5"/>
          <p:cNvPicPr>
            <a:picLocks noChangeAspect="1"/>
          </p:cNvPicPr>
          <p:nvPr/>
        </p:nvPicPr>
        <p:blipFill>
          <a:blip r:embed="rId4" cstate="print"/>
          <a:stretch>
            <a:fillRect/>
          </a:stretch>
        </p:blipFill>
        <p:spPr>
          <a:xfrm>
            <a:off x="4654109" y="1256572"/>
            <a:ext cx="4265684" cy="4796038"/>
          </a:xfrm>
          <a:prstGeom prst="rect">
            <a:avLst/>
          </a:prstGeom>
        </p:spPr>
      </p:pic>
    </p:spTree>
    <p:extLst>
      <p:ext uri="{BB962C8B-B14F-4D97-AF65-F5344CB8AC3E}">
        <p14:creationId xmlns:p14="http://schemas.microsoft.com/office/powerpoint/2010/main" val="3477371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09" y="1171688"/>
            <a:ext cx="8745780" cy="133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686" y="2661331"/>
            <a:ext cx="7720013"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686" y="3064556"/>
            <a:ext cx="8253413"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686" y="3467781"/>
            <a:ext cx="74993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3"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873" y="3904910"/>
            <a:ext cx="7513637"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4"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873" y="4316073"/>
            <a:ext cx="79629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5"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686" y="4817836"/>
            <a:ext cx="67595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6"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686" y="5271748"/>
            <a:ext cx="77882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7"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452" y="5682911"/>
            <a:ext cx="8618537"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0781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23760"/>
            <a:ext cx="7620000"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28600" y="990991"/>
            <a:ext cx="1338828" cy="369332"/>
          </a:xfrm>
          <a:prstGeom prst="rect">
            <a:avLst/>
          </a:prstGeom>
          <a:noFill/>
        </p:spPr>
        <p:txBody>
          <a:bodyPr wrap="none" rtlCol="0">
            <a:spAutoFit/>
          </a:bodyPr>
          <a:lstStyle/>
          <a:p>
            <a:r>
              <a:rPr lang="zh-CN" altLang="en-US" dirty="0" smtClean="0"/>
              <a:t>信息安全赛</a:t>
            </a:r>
            <a:endParaRPr lang="zh-CN" altLang="en-US"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645" y="1796823"/>
            <a:ext cx="7666037"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482" y="2322286"/>
            <a:ext cx="76962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2673123"/>
            <a:ext cx="7796213"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781" y="2965790"/>
            <a:ext cx="76898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8966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sp>
        <p:nvSpPr>
          <p:cNvPr id="4" name="TextBox 3"/>
          <p:cNvSpPr txBox="1"/>
          <p:nvPr/>
        </p:nvSpPr>
        <p:spPr>
          <a:xfrm>
            <a:off x="326572" y="1132115"/>
            <a:ext cx="1935145" cy="369332"/>
          </a:xfrm>
          <a:prstGeom prst="rect">
            <a:avLst/>
          </a:prstGeom>
          <a:noFill/>
        </p:spPr>
        <p:txBody>
          <a:bodyPr wrap="none" rtlCol="0">
            <a:spAutoFit/>
          </a:bodyPr>
          <a:lstStyle/>
          <a:p>
            <a:r>
              <a:rPr lang="en-US" altLang="zh-CN" dirty="0" smtClean="0"/>
              <a:t>1</a:t>
            </a:r>
            <a:r>
              <a:rPr lang="zh-CN" altLang="en-US" dirty="0" smtClean="0"/>
              <a:t>、商品的溯源：</a:t>
            </a:r>
            <a:endParaRPr lang="en-US" altLang="zh-CN" dirty="0" smtClean="0"/>
          </a:p>
        </p:txBody>
      </p:sp>
      <p:pic>
        <p:nvPicPr>
          <p:cNvPr id="5" name="Picture 293"/>
          <p:cNvPicPr/>
          <p:nvPr/>
        </p:nvPicPr>
        <p:blipFill>
          <a:blip r:embed="rId3" cstate="print"/>
          <a:stretch>
            <a:fillRect/>
          </a:stretch>
        </p:blipFill>
        <p:spPr>
          <a:xfrm>
            <a:off x="3074867" y="1136126"/>
            <a:ext cx="5725486" cy="2905502"/>
          </a:xfrm>
          <a:prstGeom prst="rect">
            <a:avLst/>
          </a:prstGeom>
        </p:spPr>
      </p:pic>
      <p:sp>
        <p:nvSpPr>
          <p:cNvPr id="6" name="矩形 5"/>
          <p:cNvSpPr/>
          <p:nvPr/>
        </p:nvSpPr>
        <p:spPr>
          <a:xfrm>
            <a:off x="0" y="1490436"/>
            <a:ext cx="9005207" cy="2196883"/>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2400" dirty="0"/>
              <a:t>商品信息全程实时溯源</a:t>
            </a:r>
            <a:endParaRPr lang="en-US" altLang="zh-CN" sz="2400" dirty="0"/>
          </a:p>
          <a:p>
            <a:pPr marL="285750" indent="-285750">
              <a:lnSpc>
                <a:spcPct val="200000"/>
              </a:lnSpc>
              <a:buFont typeface="Arial" panose="020B0604020202020204" pitchFamily="34" charset="0"/>
              <a:buChar char="•"/>
            </a:pPr>
            <a:r>
              <a:rPr lang="zh-CN" altLang="en-US" sz="2400" dirty="0"/>
              <a:t>商品信息不可篡改</a:t>
            </a:r>
            <a:endParaRPr lang="en-US" altLang="zh-CN" sz="2400" dirty="0"/>
          </a:p>
          <a:p>
            <a:pPr marL="285750" indent="-285750">
              <a:lnSpc>
                <a:spcPct val="200000"/>
              </a:lnSpc>
              <a:buFont typeface="Arial" panose="020B0604020202020204" pitchFamily="34" charset="0"/>
              <a:buChar char="•"/>
            </a:pPr>
            <a:r>
              <a:rPr lang="zh-CN" altLang="zh-CN" sz="2400" dirty="0"/>
              <a:t>降低物流成本</a:t>
            </a:r>
            <a:endParaRPr lang="zh-CN" altLang="en-US" sz="2400" dirty="0">
              <a:latin typeface="微软雅黑" panose="020B0503020204020204" pitchFamily="34" charset="-122"/>
              <a:ea typeface="微软雅黑" panose="020B0503020204020204" pitchFamily="34" charset="-122"/>
            </a:endParaRPr>
          </a:p>
        </p:txBody>
      </p:sp>
      <p:sp>
        <p:nvSpPr>
          <p:cNvPr id="3" name="TextBox 2"/>
          <p:cNvSpPr txBox="1"/>
          <p:nvPr/>
        </p:nvSpPr>
        <p:spPr>
          <a:xfrm>
            <a:off x="279218" y="4032159"/>
            <a:ext cx="8446770" cy="2585323"/>
          </a:xfrm>
          <a:prstGeom prst="rect">
            <a:avLst/>
          </a:prstGeom>
          <a:noFill/>
        </p:spPr>
        <p:txBody>
          <a:bodyPr wrap="square" rtlCol="0">
            <a:spAutoFit/>
          </a:bodyPr>
          <a:lstStyle/>
          <a:p>
            <a:pPr marL="228600" lvl="0" indent="-228600" algn="just">
              <a:spcAft>
                <a:spcPts val="0"/>
              </a:spcAft>
              <a:buFont typeface="+mj-lt"/>
              <a:buAutoNum type="romanLcPeriod"/>
            </a:pPr>
            <a:r>
              <a:rPr lang="zh-CN" altLang="zh-CN" kern="100" dirty="0">
                <a:latin typeface="等线" panose="02010600030101010101" pitchFamily="2" charset="-122"/>
                <a:cs typeface="Times New Roman" panose="02020603050405020304" pitchFamily="18" charset="0"/>
              </a:rPr>
              <a:t>商品信息全程实时溯源，从原材料到加工到流通最后到销售，是一个以时间为顺序的流程化的过程，区块链内信息同样也是按时间顺序排序并且可实时追溯的，两者刚好完美契合。</a:t>
            </a:r>
          </a:p>
          <a:p>
            <a:pPr marL="228600" lvl="0" indent="-228600" algn="just">
              <a:spcAft>
                <a:spcPts val="0"/>
              </a:spcAft>
              <a:buFont typeface="+mj-lt"/>
              <a:buAutoNum type="romanLcPeriod"/>
            </a:pPr>
            <a:r>
              <a:rPr lang="zh-CN" altLang="zh-CN" kern="100" dirty="0">
                <a:latin typeface="等线" panose="02010600030101010101" pitchFamily="2" charset="-122"/>
                <a:cs typeface="Times New Roman" panose="02020603050405020304" pitchFamily="18" charset="0"/>
              </a:rPr>
              <a:t>商品信息不可篡改：利用区块链的特点，将商品全流程的信息放在链上，不可篡改</a:t>
            </a:r>
          </a:p>
          <a:p>
            <a:pPr marL="228600" lvl="0" indent="-228600" algn="just">
              <a:spcAft>
                <a:spcPts val="0"/>
              </a:spcAft>
              <a:buFont typeface="+mj-lt"/>
              <a:buAutoNum type="romanLcPeriod"/>
            </a:pPr>
            <a:r>
              <a:rPr lang="zh-CN" altLang="zh-CN" kern="100" dirty="0">
                <a:latin typeface="等线" panose="02010600030101010101" pitchFamily="2" charset="-122"/>
                <a:cs typeface="Times New Roman" panose="02020603050405020304" pitchFamily="18" charset="0"/>
              </a:rPr>
              <a:t>降低物流成本：区块链上的数据，由监管部门对产品信息储存、传递、核实、分析，并在不同部门之间进行流转，达到统一凭证、全程记录、企业征信，能够有效解决多方参与、信息碎片化、流通环节重复审核等问题，从而降低物流成本、提高效率</a:t>
            </a:r>
            <a:r>
              <a:rPr lang="zh-CN" altLang="zh-CN" kern="100" dirty="0" smtClean="0">
                <a:latin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64481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sp>
        <p:nvSpPr>
          <p:cNvPr id="4" name="TextBox 3"/>
          <p:cNvSpPr txBox="1"/>
          <p:nvPr/>
        </p:nvSpPr>
        <p:spPr>
          <a:xfrm>
            <a:off x="326572" y="1132115"/>
            <a:ext cx="8493671" cy="1285480"/>
          </a:xfrm>
          <a:prstGeom prst="rect">
            <a:avLst/>
          </a:prstGeom>
          <a:noFill/>
        </p:spPr>
        <p:txBody>
          <a:bodyPr wrap="square" rtlCol="0">
            <a:spAutoFit/>
          </a:bodyPr>
          <a:lstStyle/>
          <a:p>
            <a:pPr>
              <a:lnSpc>
                <a:spcPct val="150000"/>
              </a:lnSpc>
            </a:pPr>
            <a:r>
              <a:rPr lang="en-US" altLang="zh-CN" dirty="0" smtClean="0"/>
              <a:t>2</a:t>
            </a:r>
            <a:r>
              <a:rPr lang="zh-CN" altLang="en-US" dirty="0" smtClean="0"/>
              <a:t>、证书存证</a:t>
            </a:r>
            <a:endParaRPr lang="en-US" altLang="zh-CN" dirty="0" smtClean="0"/>
          </a:p>
          <a:p>
            <a:pPr>
              <a:lnSpc>
                <a:spcPct val="150000"/>
              </a:lnSpc>
            </a:pPr>
            <a:r>
              <a:rPr lang="zh-CN" altLang="en-US" b="1" dirty="0"/>
              <a:t>区块链与</a:t>
            </a:r>
            <a:r>
              <a:rPr lang="en-US" altLang="zh-CN" b="1" dirty="0"/>
              <a:t>IPFS</a:t>
            </a:r>
            <a:r>
              <a:rPr lang="zh-CN" altLang="en-US" b="1" dirty="0"/>
              <a:t>集成（</a:t>
            </a:r>
            <a:r>
              <a:rPr lang="en-US" altLang="zh-CN" b="1" dirty="0"/>
              <a:t>IPFS</a:t>
            </a:r>
            <a:r>
              <a:rPr lang="zh-CN" altLang="en-US" b="1" dirty="0"/>
              <a:t>是一种</a:t>
            </a:r>
            <a:r>
              <a:rPr lang="en-US" altLang="zh-CN" b="1" dirty="0"/>
              <a:t>P2P</a:t>
            </a:r>
            <a:r>
              <a:rPr lang="zh-CN" altLang="en-US" b="1" dirty="0"/>
              <a:t>超媒体协议），该协议可以在区块链上使用哈希和安全时间戳数据，对数据进行标识，而无需实际将数据存储在区块链本身上。</a:t>
            </a:r>
            <a:endParaRPr lang="zh-CN" altLang="en-US" dirty="0"/>
          </a:p>
        </p:txBody>
      </p:sp>
      <p:sp>
        <p:nvSpPr>
          <p:cNvPr id="3" name="TextBox 2"/>
          <p:cNvSpPr txBox="1"/>
          <p:nvPr/>
        </p:nvSpPr>
        <p:spPr>
          <a:xfrm>
            <a:off x="326572" y="2688771"/>
            <a:ext cx="8218714" cy="2585323"/>
          </a:xfrm>
          <a:prstGeom prst="rect">
            <a:avLst/>
          </a:prstGeom>
          <a:noFill/>
        </p:spPr>
        <p:txBody>
          <a:bodyPr wrap="square" rtlCol="0">
            <a:spAutoFit/>
          </a:bodyPr>
          <a:lstStyle/>
          <a:p>
            <a:r>
              <a:rPr lang="en-US" altLang="zh-CN" dirty="0" smtClean="0"/>
              <a:t>	</a:t>
            </a:r>
            <a:r>
              <a:rPr lang="zh-CN" altLang="en-US" dirty="0" smtClean="0"/>
              <a:t>随着</a:t>
            </a:r>
            <a:r>
              <a:rPr lang="zh-CN" altLang="en-US" dirty="0"/>
              <a:t>时代的发展与科技的进步，电子证据在诉讼中使用占比日益增加。除了易保存、易传输等优点外，电子证据同样具有易被篡改、易被删除等缺点。但随着区块链技术的诞生，这一情况发生了改变，区块链技术天然具有难以篡改，伴随时间戳等特性，对于其他电子证据具有极大的优势，因此区块链存证技术在电子证据发展中具有里程碑意义。</a:t>
            </a:r>
          </a:p>
          <a:p>
            <a:r>
              <a:rPr lang="zh-CN" altLang="en-US" dirty="0"/>
              <a:t>　　随着区块链证据的使用越来越多，最高人民法院在</a:t>
            </a:r>
            <a:r>
              <a:rPr lang="en-US" altLang="zh-CN" dirty="0"/>
              <a:t>《</a:t>
            </a:r>
            <a:r>
              <a:rPr lang="zh-CN" altLang="en-US" dirty="0"/>
              <a:t>最高人民法院关于互联网法院审理案件若干问题的规定</a:t>
            </a:r>
            <a:r>
              <a:rPr lang="en-US" altLang="zh-CN" dirty="0"/>
              <a:t>》《</a:t>
            </a:r>
            <a:r>
              <a:rPr lang="zh-CN" altLang="en-US" dirty="0"/>
              <a:t>人民法院在线诉讼规则</a:t>
            </a:r>
            <a:r>
              <a:rPr lang="en-US" altLang="zh-CN" dirty="0"/>
              <a:t>》《</a:t>
            </a:r>
            <a:r>
              <a:rPr lang="zh-CN" altLang="en-US" dirty="0"/>
              <a:t>最高人民法院关于加强区块链司法应用的意见</a:t>
            </a:r>
            <a:r>
              <a:rPr lang="en-US" altLang="zh-CN" dirty="0"/>
              <a:t>》</a:t>
            </a:r>
            <a:r>
              <a:rPr lang="zh-CN" altLang="en-US" dirty="0"/>
              <a:t>等司法文件中制定了一系列</a:t>
            </a:r>
            <a:r>
              <a:rPr lang="zh-CN" altLang="en-US" b="1" dirty="0">
                <a:solidFill>
                  <a:srgbClr val="FF0000"/>
                </a:solidFill>
              </a:rPr>
              <a:t>关于区块链证据的规定</a:t>
            </a:r>
            <a:r>
              <a:rPr lang="zh-CN" altLang="en-US" b="1" dirty="0" smtClean="0">
                <a:solidFill>
                  <a:srgbClr val="FF0000"/>
                </a:solidFill>
              </a:rPr>
              <a:t>。</a:t>
            </a:r>
            <a:endParaRPr lang="zh-CN" altLang="en-US" b="1" dirty="0">
              <a:solidFill>
                <a:srgbClr val="FF0000"/>
              </a:solidFill>
            </a:endParaRPr>
          </a:p>
        </p:txBody>
      </p:sp>
    </p:spTree>
    <p:extLst>
      <p:ext uri="{BB962C8B-B14F-4D97-AF65-F5344CB8AC3E}">
        <p14:creationId xmlns:p14="http://schemas.microsoft.com/office/powerpoint/2010/main" val="1380177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sp>
        <p:nvSpPr>
          <p:cNvPr id="4" name="TextBox 3"/>
          <p:cNvSpPr txBox="1"/>
          <p:nvPr/>
        </p:nvSpPr>
        <p:spPr>
          <a:xfrm>
            <a:off x="326572" y="1132115"/>
            <a:ext cx="7705956" cy="369332"/>
          </a:xfrm>
          <a:prstGeom prst="rect">
            <a:avLst/>
          </a:prstGeom>
          <a:noFill/>
        </p:spPr>
        <p:txBody>
          <a:bodyPr wrap="none" rtlCol="0">
            <a:spAutoFit/>
          </a:bodyPr>
          <a:lstStyle/>
          <a:p>
            <a:r>
              <a:rPr lang="en-US" altLang="zh-CN" dirty="0" smtClean="0"/>
              <a:t>3</a:t>
            </a:r>
            <a:r>
              <a:rPr lang="zh-CN" altLang="en-US" dirty="0" smtClean="0"/>
              <a:t>、数据共享：</a:t>
            </a:r>
            <a:r>
              <a:rPr lang="zh-CN" altLang="en-US" dirty="0"/>
              <a:t>医疗保健的最大问题之一是不同提供商和诊所的数据分散。</a:t>
            </a:r>
          </a:p>
        </p:txBody>
      </p:sp>
      <p:pic>
        <p:nvPicPr>
          <p:cNvPr id="5" name="内容占位符 3"/>
          <p:cNvPicPr>
            <a:picLocks noGrp="1"/>
          </p:cNvPicPr>
          <p:nvPr>
            <p:ph idx="1"/>
          </p:nvPr>
        </p:nvPicPr>
        <p:blipFill rotWithShape="1">
          <a:blip r:embed="rId3">
            <a:extLst>
              <a:ext uri="{28A0092B-C50C-407E-A947-70E740481C1C}">
                <a14:useLocalDpi xmlns:a14="http://schemas.microsoft.com/office/drawing/2010/main" val="0"/>
              </a:ext>
            </a:extLst>
          </a:blip>
          <a:srcRect b="12062"/>
          <a:stretch/>
        </p:blipFill>
        <p:spPr bwMode="auto">
          <a:xfrm>
            <a:off x="0" y="1501447"/>
            <a:ext cx="6818036" cy="5286811"/>
          </a:xfrm>
          <a:prstGeom prst="rect">
            <a:avLst/>
          </a:prstGeom>
          <a:ln>
            <a:noFill/>
          </a:ln>
          <a:extLst>
            <a:ext uri="{53640926-AAD7-44D8-BBD7-CCE9431645EC}">
              <a14:shadowObscured xmlns:a14="http://schemas.microsoft.com/office/drawing/2010/main"/>
            </a:ext>
          </a:extLst>
        </p:spPr>
      </p:pic>
      <p:pic>
        <p:nvPicPr>
          <p:cNvPr id="6" name="图片 5"/>
          <p:cNvPicPr>
            <a:picLocks noChangeAspect="1"/>
          </p:cNvPicPr>
          <p:nvPr/>
        </p:nvPicPr>
        <p:blipFill>
          <a:blip r:embed="rId4"/>
          <a:stretch>
            <a:fillRect/>
          </a:stretch>
        </p:blipFill>
        <p:spPr>
          <a:xfrm>
            <a:off x="6818036" y="1501448"/>
            <a:ext cx="2238282" cy="5475183"/>
          </a:xfrm>
          <a:prstGeom prst="rect">
            <a:avLst/>
          </a:prstGeom>
        </p:spPr>
      </p:pic>
      <p:sp>
        <p:nvSpPr>
          <p:cNvPr id="7" name="圆角右箭头 6"/>
          <p:cNvSpPr/>
          <p:nvPr/>
        </p:nvSpPr>
        <p:spPr>
          <a:xfrm>
            <a:off x="6166683" y="3631699"/>
            <a:ext cx="651353" cy="839244"/>
          </a:xfrm>
          <a:prstGeom prst="ben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060627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sp>
        <p:nvSpPr>
          <p:cNvPr id="4" name="TextBox 3"/>
          <p:cNvSpPr txBox="1"/>
          <p:nvPr/>
        </p:nvSpPr>
        <p:spPr>
          <a:xfrm>
            <a:off x="326572" y="1132115"/>
            <a:ext cx="1935145" cy="369332"/>
          </a:xfrm>
          <a:prstGeom prst="rect">
            <a:avLst/>
          </a:prstGeom>
          <a:noFill/>
        </p:spPr>
        <p:txBody>
          <a:bodyPr wrap="none" rtlCol="0">
            <a:spAutoFit/>
          </a:bodyPr>
          <a:lstStyle/>
          <a:p>
            <a:r>
              <a:rPr lang="en-US" altLang="zh-CN" dirty="0" smtClean="0"/>
              <a:t>4</a:t>
            </a:r>
            <a:r>
              <a:rPr lang="zh-CN" altLang="en-US" dirty="0" smtClean="0"/>
              <a:t>、招投标、竞价</a:t>
            </a:r>
            <a:endParaRPr lang="zh-CN" altLang="en-US" dirty="0"/>
          </a:p>
        </p:txBody>
      </p:sp>
      <p:sp>
        <p:nvSpPr>
          <p:cNvPr id="5" name="文本框 14">
            <a:extLst>
              <a:ext uri="{FF2B5EF4-FFF2-40B4-BE49-F238E27FC236}">
                <a16:creationId xmlns="" xmlns:a16="http://schemas.microsoft.com/office/drawing/2014/main" id="{5B05123A-D84E-4C01-A070-10A434CEC08E}"/>
              </a:ext>
            </a:extLst>
          </p:cNvPr>
          <p:cNvSpPr txBox="1"/>
          <p:nvPr/>
        </p:nvSpPr>
        <p:spPr>
          <a:xfrm>
            <a:off x="169652" y="2170537"/>
            <a:ext cx="4968757" cy="3062512"/>
          </a:xfrm>
          <a:prstGeom prst="rect">
            <a:avLst/>
          </a:prstGeom>
        </p:spPr>
        <p:txBody>
          <a:bodyPr/>
          <a:lstStyle>
            <a:defPPr>
              <a:defRPr lang="en-US"/>
            </a:defPPr>
            <a:lvl1pPr marL="742950" indent="-742950" defTabSz="1460754">
              <a:lnSpc>
                <a:spcPct val="90000"/>
              </a:lnSpc>
              <a:spcBef>
                <a:spcPts val="1598"/>
              </a:spcBef>
              <a:buFont typeface="Wingdings" panose="05000000000000000000" pitchFamily="2" charset="2"/>
              <a:buChar char="Ø"/>
              <a:defRPr sz="4000">
                <a:solidFill>
                  <a:schemeClr val="bg1"/>
                </a:solidFill>
                <a:latin typeface="方正风雅宋简体" panose="02000000000000000000" pitchFamily="2" charset="-122"/>
                <a:ea typeface="方正风雅宋简体" panose="02000000000000000000" pitchFamily="2" charset="-122"/>
              </a:defRPr>
            </a:lvl1pPr>
            <a:lvl2pPr marL="1095566" indent="-365189" defTabSz="1460754">
              <a:lnSpc>
                <a:spcPct val="90000"/>
              </a:lnSpc>
              <a:spcBef>
                <a:spcPts val="799"/>
              </a:spcBef>
              <a:buFont typeface="Arial" panose="020B0604020202020204" pitchFamily="34" charset="0"/>
              <a:buChar char="•"/>
              <a:defRPr sz="3834"/>
            </a:lvl2pPr>
            <a:lvl3pPr marL="1825943" indent="-365189" defTabSz="1460754">
              <a:lnSpc>
                <a:spcPct val="90000"/>
              </a:lnSpc>
              <a:spcBef>
                <a:spcPts val="799"/>
              </a:spcBef>
              <a:buFont typeface="Arial" panose="020B0604020202020204" pitchFamily="34" charset="0"/>
              <a:buChar char="•"/>
              <a:defRPr sz="3195"/>
            </a:lvl3pPr>
            <a:lvl4pPr marL="2556320" indent="-365189" defTabSz="1460754">
              <a:lnSpc>
                <a:spcPct val="90000"/>
              </a:lnSpc>
              <a:spcBef>
                <a:spcPts val="799"/>
              </a:spcBef>
              <a:buFont typeface="Arial" panose="020B0604020202020204" pitchFamily="34" charset="0"/>
              <a:buChar char="•"/>
              <a:defRPr sz="2876"/>
            </a:lvl4pPr>
            <a:lvl5pPr marL="3286697" indent="-365189" defTabSz="1460754">
              <a:lnSpc>
                <a:spcPct val="90000"/>
              </a:lnSpc>
              <a:spcBef>
                <a:spcPts val="799"/>
              </a:spcBef>
              <a:buFont typeface="Arial" panose="020B0604020202020204" pitchFamily="34" charset="0"/>
              <a:buChar char="•"/>
              <a:defRPr sz="2876"/>
            </a:lvl5pPr>
            <a:lvl6pPr marL="4017074" indent="-365189" defTabSz="1460754">
              <a:lnSpc>
                <a:spcPct val="90000"/>
              </a:lnSpc>
              <a:spcBef>
                <a:spcPts val="799"/>
              </a:spcBef>
              <a:buFont typeface="Arial" panose="020B0604020202020204" pitchFamily="34" charset="0"/>
              <a:buChar char="•"/>
              <a:defRPr sz="2876"/>
            </a:lvl6pPr>
            <a:lvl7pPr marL="4747451" indent="-365189" defTabSz="1460754">
              <a:lnSpc>
                <a:spcPct val="90000"/>
              </a:lnSpc>
              <a:spcBef>
                <a:spcPts val="799"/>
              </a:spcBef>
              <a:buFont typeface="Arial" panose="020B0604020202020204" pitchFamily="34" charset="0"/>
              <a:buChar char="•"/>
              <a:defRPr sz="2876"/>
            </a:lvl7pPr>
            <a:lvl8pPr marL="5477828" indent="-365189" defTabSz="1460754">
              <a:lnSpc>
                <a:spcPct val="90000"/>
              </a:lnSpc>
              <a:spcBef>
                <a:spcPts val="799"/>
              </a:spcBef>
              <a:buFont typeface="Arial" panose="020B0604020202020204" pitchFamily="34" charset="0"/>
              <a:buChar char="•"/>
              <a:defRPr sz="2876"/>
            </a:lvl8pPr>
            <a:lvl9pPr marL="6208205" indent="-365189" defTabSz="1460754">
              <a:lnSpc>
                <a:spcPct val="90000"/>
              </a:lnSpc>
              <a:spcBef>
                <a:spcPts val="799"/>
              </a:spcBef>
              <a:buFont typeface="Arial" panose="020B0604020202020204" pitchFamily="34" charset="0"/>
              <a:buChar char="•"/>
              <a:defRPr sz="2876"/>
            </a:lvl9pPr>
          </a:lstStyle>
          <a:p>
            <a:pPr marL="464344" indent="-464344" defTabSz="912971">
              <a:spcBef>
                <a:spcPts val="999"/>
              </a:spcBef>
              <a:buFont typeface="Wingdings" panose="05000000000000000000" pitchFamily="2" charset="2"/>
              <a:buChar char="ü"/>
            </a:pPr>
            <a:r>
              <a:rPr lang="zh-CN" altLang="en-US" sz="2000" dirty="0">
                <a:solidFill>
                  <a:schemeClr val="tx1"/>
                </a:solidFill>
                <a:latin typeface="+mn-ea"/>
                <a:ea typeface="+mn-ea"/>
              </a:rPr>
              <a:t>避免抄袭欺骗</a:t>
            </a:r>
            <a:endParaRPr lang="en-US" altLang="zh-CN" sz="2000" dirty="0">
              <a:solidFill>
                <a:schemeClr val="tx1"/>
              </a:solidFill>
              <a:latin typeface="+mn-ea"/>
              <a:ea typeface="+mn-ea"/>
            </a:endParaRPr>
          </a:p>
          <a:p>
            <a:pPr marL="0" indent="0" defTabSz="912971">
              <a:spcBef>
                <a:spcPts val="999"/>
              </a:spcBef>
              <a:buNone/>
            </a:pPr>
            <a:endParaRPr lang="en-US" altLang="zh-CN" sz="2000" dirty="0">
              <a:solidFill>
                <a:schemeClr val="tx1"/>
              </a:solidFill>
              <a:latin typeface="+mn-ea"/>
              <a:ea typeface="+mn-ea"/>
            </a:endParaRPr>
          </a:p>
          <a:p>
            <a:pPr marL="464344" indent="-464344" defTabSz="912971">
              <a:spcBef>
                <a:spcPts val="999"/>
              </a:spcBef>
              <a:buFont typeface="Wingdings" panose="05000000000000000000" pitchFamily="2" charset="2"/>
              <a:buChar char="ü"/>
            </a:pPr>
            <a:r>
              <a:rPr lang="zh-CN" altLang="en-US" sz="2000" dirty="0">
                <a:solidFill>
                  <a:schemeClr val="tx1"/>
                </a:solidFill>
                <a:latin typeface="+mn-ea"/>
                <a:ea typeface="+mn-ea"/>
              </a:rPr>
              <a:t>通过加密原语轻松实现</a:t>
            </a:r>
            <a:endParaRPr lang="en-US" altLang="zh-CN" sz="2000" dirty="0">
              <a:solidFill>
                <a:schemeClr val="tx1"/>
              </a:solidFill>
              <a:latin typeface="+mn-ea"/>
              <a:ea typeface="+mn-ea"/>
            </a:endParaRPr>
          </a:p>
          <a:p>
            <a:pPr marL="0" indent="0" defTabSz="912971">
              <a:spcBef>
                <a:spcPts val="999"/>
              </a:spcBef>
              <a:buNone/>
            </a:pPr>
            <a:endParaRPr lang="en-US" altLang="zh-CN" sz="2000" dirty="0">
              <a:solidFill>
                <a:schemeClr val="tx1"/>
              </a:solidFill>
              <a:latin typeface="+mn-ea"/>
              <a:ea typeface="+mn-ea"/>
            </a:endParaRPr>
          </a:p>
          <a:p>
            <a:pPr marL="464344" indent="-464344" defTabSz="912971">
              <a:spcBef>
                <a:spcPts val="999"/>
              </a:spcBef>
              <a:buFont typeface="Wingdings" panose="05000000000000000000" pitchFamily="2" charset="2"/>
              <a:buChar char="ü"/>
            </a:pPr>
            <a:r>
              <a:rPr lang="zh-CN" altLang="en-US" sz="2000" dirty="0">
                <a:solidFill>
                  <a:schemeClr val="tx1"/>
                </a:solidFill>
                <a:latin typeface="+mn-ea"/>
                <a:ea typeface="+mn-ea"/>
              </a:rPr>
              <a:t>具有强大的安全属性</a:t>
            </a:r>
            <a:endParaRPr lang="en-US" altLang="zh-CN" sz="2000" dirty="0">
              <a:solidFill>
                <a:schemeClr val="tx1"/>
              </a:solidFill>
              <a:latin typeface="+mn-ea"/>
              <a:ea typeface="+mn-ea"/>
            </a:endParaRPr>
          </a:p>
          <a:p>
            <a:pPr marL="0" indent="0" defTabSz="912971">
              <a:spcBef>
                <a:spcPts val="999"/>
              </a:spcBef>
              <a:buNone/>
            </a:pPr>
            <a:endParaRPr lang="en-US" altLang="zh-CN" sz="2000" dirty="0">
              <a:solidFill>
                <a:schemeClr val="tx1"/>
              </a:solidFill>
              <a:latin typeface="+mn-ea"/>
              <a:ea typeface="+mn-ea"/>
            </a:endParaRPr>
          </a:p>
          <a:p>
            <a:pPr marL="464344" indent="-464344" defTabSz="912971">
              <a:spcBef>
                <a:spcPts val="999"/>
              </a:spcBef>
              <a:buFont typeface="Wingdings" panose="05000000000000000000" pitchFamily="2" charset="2"/>
              <a:buChar char="ü"/>
            </a:pPr>
            <a:r>
              <a:rPr lang="zh-CN" altLang="en-US" sz="2000" dirty="0">
                <a:solidFill>
                  <a:schemeClr val="tx1"/>
                </a:solidFill>
                <a:latin typeface="+mn-ea"/>
                <a:ea typeface="+mn-ea"/>
              </a:rPr>
              <a:t>智能合约计算自动中标</a:t>
            </a:r>
          </a:p>
        </p:txBody>
      </p:sp>
      <p:grpSp>
        <p:nvGrpSpPr>
          <p:cNvPr id="6" name="组合 5">
            <a:extLst>
              <a:ext uri="{FF2B5EF4-FFF2-40B4-BE49-F238E27FC236}">
                <a16:creationId xmlns="" xmlns:a16="http://schemas.microsoft.com/office/drawing/2014/main" id="{DF3540A8-C7E9-4A56-8FD0-EEAD8F6B62C9}"/>
              </a:ext>
            </a:extLst>
          </p:cNvPr>
          <p:cNvGrpSpPr/>
          <p:nvPr/>
        </p:nvGrpSpPr>
        <p:grpSpPr>
          <a:xfrm>
            <a:off x="3280979" y="1935444"/>
            <a:ext cx="5670354" cy="4257113"/>
            <a:chOff x="1740464" y="331477"/>
            <a:chExt cx="6555334" cy="4676628"/>
          </a:xfrm>
        </p:grpSpPr>
        <p:grpSp>
          <p:nvGrpSpPr>
            <p:cNvPr id="7" name="组合 6">
              <a:extLst>
                <a:ext uri="{FF2B5EF4-FFF2-40B4-BE49-F238E27FC236}">
                  <a16:creationId xmlns="" xmlns:a16="http://schemas.microsoft.com/office/drawing/2014/main" id="{6245D58C-41CD-4D11-8ABD-B36FE0992D63}"/>
                </a:ext>
              </a:extLst>
            </p:cNvPr>
            <p:cNvGrpSpPr/>
            <p:nvPr/>
          </p:nvGrpSpPr>
          <p:grpSpPr>
            <a:xfrm>
              <a:off x="1740464" y="1972547"/>
              <a:ext cx="1107996" cy="1208158"/>
              <a:chOff x="5542002" y="1640358"/>
              <a:chExt cx="1107996" cy="1208158"/>
            </a:xfrm>
          </p:grpSpPr>
          <p:pic>
            <p:nvPicPr>
              <p:cNvPr id="25" name="图形 25" descr="校舍">
                <a:extLst>
                  <a:ext uri="{FF2B5EF4-FFF2-40B4-BE49-F238E27FC236}">
                    <a16:creationId xmlns="" xmlns:a16="http://schemas.microsoft.com/office/drawing/2014/main" id="{B0039860-52E6-4CE1-9AF9-E84D1AEEE51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5638800" y="1640358"/>
                <a:ext cx="914400" cy="914400"/>
              </a:xfrm>
              <a:prstGeom prst="rect">
                <a:avLst/>
              </a:prstGeom>
            </p:spPr>
          </p:pic>
          <p:sp>
            <p:nvSpPr>
              <p:cNvPr id="26" name="文本框 26">
                <a:extLst>
                  <a:ext uri="{FF2B5EF4-FFF2-40B4-BE49-F238E27FC236}">
                    <a16:creationId xmlns="" xmlns:a16="http://schemas.microsoft.com/office/drawing/2014/main" id="{A5276470-0792-4DB8-81D7-4CAB9CB34E38}"/>
                  </a:ext>
                </a:extLst>
              </p:cNvPr>
              <p:cNvSpPr txBox="1"/>
              <p:nvPr/>
            </p:nvSpPr>
            <p:spPr>
              <a:xfrm>
                <a:off x="5542002" y="2479184"/>
                <a:ext cx="1107996" cy="369332"/>
              </a:xfrm>
              <a:prstGeom prst="rect">
                <a:avLst/>
              </a:prstGeom>
              <a:noFill/>
            </p:spPr>
            <p:txBody>
              <a:bodyPr wrap="none" rtlCol="0">
                <a:spAutoFit/>
              </a:bodyPr>
              <a:lstStyle/>
              <a:p>
                <a:pPr algn="ctr"/>
                <a:r>
                  <a:rPr lang="zh-CN" altLang="en-US" dirty="0">
                    <a:solidFill>
                      <a:schemeClr val="accent2">
                        <a:lumMod val="50000"/>
                      </a:schemeClr>
                    </a:solidFill>
                  </a:rPr>
                  <a:t>红十字会</a:t>
                </a:r>
              </a:p>
            </p:txBody>
          </p:sp>
        </p:grpSp>
        <p:pic>
          <p:nvPicPr>
            <p:cNvPr id="8" name="图形 8" descr="商店">
              <a:extLst>
                <a:ext uri="{FF2B5EF4-FFF2-40B4-BE49-F238E27FC236}">
                  <a16:creationId xmlns="" xmlns:a16="http://schemas.microsoft.com/office/drawing/2014/main" id="{FE0B6D49-3951-4BDB-B475-ECF7D68EE36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p:blipFill>
          <p:spPr>
            <a:xfrm>
              <a:off x="7381398" y="1954333"/>
              <a:ext cx="914400" cy="914400"/>
            </a:xfrm>
            <a:prstGeom prst="rect">
              <a:avLst/>
            </a:prstGeom>
          </p:spPr>
        </p:pic>
        <p:pic>
          <p:nvPicPr>
            <p:cNvPr id="9" name="图片 8">
              <a:extLst>
                <a:ext uri="{FF2B5EF4-FFF2-40B4-BE49-F238E27FC236}">
                  <a16:creationId xmlns="" xmlns:a16="http://schemas.microsoft.com/office/drawing/2014/main" id="{4DCD4409-869E-4825-9BC4-045A7E2047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07454" y="773431"/>
              <a:ext cx="619211" cy="857370"/>
            </a:xfrm>
            <a:prstGeom prst="rect">
              <a:avLst/>
            </a:prstGeom>
          </p:spPr>
        </p:pic>
        <p:sp>
          <p:nvSpPr>
            <p:cNvPr id="10" name="文本框 10">
              <a:extLst>
                <a:ext uri="{FF2B5EF4-FFF2-40B4-BE49-F238E27FC236}">
                  <a16:creationId xmlns="" xmlns:a16="http://schemas.microsoft.com/office/drawing/2014/main" id="{23EC055F-B37A-48F6-8514-86F38F12DFA0}"/>
                </a:ext>
              </a:extLst>
            </p:cNvPr>
            <p:cNvSpPr txBox="1"/>
            <p:nvPr/>
          </p:nvSpPr>
          <p:spPr>
            <a:xfrm>
              <a:off x="4064033" y="331477"/>
              <a:ext cx="1800493" cy="369332"/>
            </a:xfrm>
            <a:prstGeom prst="rect">
              <a:avLst/>
            </a:prstGeom>
            <a:noFill/>
          </p:spPr>
          <p:txBody>
            <a:bodyPr wrap="none" rtlCol="0">
              <a:spAutoFit/>
            </a:bodyPr>
            <a:lstStyle/>
            <a:p>
              <a:r>
                <a:rPr lang="zh-CN" altLang="en-US" dirty="0"/>
                <a:t>招投标智能合约</a:t>
              </a:r>
            </a:p>
          </p:txBody>
        </p:sp>
        <p:pic>
          <p:nvPicPr>
            <p:cNvPr id="11" name="图形 11" descr="线箭头平直">
              <a:extLst>
                <a:ext uri="{FF2B5EF4-FFF2-40B4-BE49-F238E27FC236}">
                  <a16:creationId xmlns="" xmlns:a16="http://schemas.microsoft.com/office/drawing/2014/main" id="{5D5D4F50-E41B-4C35-A6CF-F8A311C6719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rcRect/>
            <a:stretch/>
          </p:blipFill>
          <p:spPr>
            <a:xfrm rot="1598633">
              <a:off x="5458655" y="950058"/>
              <a:ext cx="2099890" cy="914400"/>
            </a:xfrm>
            <a:prstGeom prst="rect">
              <a:avLst/>
            </a:prstGeom>
          </p:spPr>
        </p:pic>
        <p:sp>
          <p:nvSpPr>
            <p:cNvPr id="12" name="矩形 11">
              <a:extLst>
                <a:ext uri="{FF2B5EF4-FFF2-40B4-BE49-F238E27FC236}">
                  <a16:creationId xmlns="" xmlns:a16="http://schemas.microsoft.com/office/drawing/2014/main" id="{540F3401-9A23-4CDE-9399-EC1E8875565B}"/>
                </a:ext>
              </a:extLst>
            </p:cNvPr>
            <p:cNvSpPr/>
            <p:nvPr/>
          </p:nvSpPr>
          <p:spPr>
            <a:xfrm rot="1788547">
              <a:off x="6119834" y="1072512"/>
              <a:ext cx="1107996" cy="369332"/>
            </a:xfrm>
            <a:prstGeom prst="rect">
              <a:avLst/>
            </a:prstGeom>
          </p:spPr>
          <p:txBody>
            <a:bodyPr wrap="none">
              <a:spAutoFit/>
            </a:bodyPr>
            <a:lstStyle/>
            <a:p>
              <a:r>
                <a:rPr lang="zh-CN" altLang="en-US" dirty="0">
                  <a:latin typeface="方正风雅宋简体" panose="02000000000000000000" pitchFamily="2" charset="-122"/>
                  <a:ea typeface="方正风雅宋简体" panose="02000000000000000000" pitchFamily="2" charset="-122"/>
                </a:rPr>
                <a:t>承诺投标</a:t>
              </a:r>
              <a:endParaRPr lang="zh-CN" altLang="en-US" dirty="0"/>
            </a:p>
          </p:txBody>
        </p:sp>
        <p:pic>
          <p:nvPicPr>
            <p:cNvPr id="13" name="图形 13" descr="线箭头平直">
              <a:extLst>
                <a:ext uri="{FF2B5EF4-FFF2-40B4-BE49-F238E27FC236}">
                  <a16:creationId xmlns="" xmlns:a16="http://schemas.microsoft.com/office/drawing/2014/main" id="{09BFCD0D-DCE8-42E9-A908-B1BFDB0323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rcRect/>
            <a:stretch/>
          </p:blipFill>
          <p:spPr>
            <a:xfrm rot="8701826">
              <a:off x="2435084" y="1214290"/>
              <a:ext cx="2099890" cy="914400"/>
            </a:xfrm>
            <a:prstGeom prst="rect">
              <a:avLst/>
            </a:prstGeom>
          </p:spPr>
        </p:pic>
        <p:sp>
          <p:nvSpPr>
            <p:cNvPr id="14" name="文本框 14">
              <a:extLst>
                <a:ext uri="{FF2B5EF4-FFF2-40B4-BE49-F238E27FC236}">
                  <a16:creationId xmlns="" xmlns:a16="http://schemas.microsoft.com/office/drawing/2014/main" id="{9DC862E8-E28C-4E80-8DD2-50B06BE1EEB8}"/>
                </a:ext>
              </a:extLst>
            </p:cNvPr>
            <p:cNvSpPr txBox="1"/>
            <p:nvPr/>
          </p:nvSpPr>
          <p:spPr>
            <a:xfrm rot="19500416">
              <a:off x="2889745" y="1465794"/>
              <a:ext cx="646331" cy="369332"/>
            </a:xfrm>
            <a:prstGeom prst="rect">
              <a:avLst/>
            </a:prstGeom>
            <a:noFill/>
          </p:spPr>
          <p:txBody>
            <a:bodyPr wrap="none" rtlCol="0">
              <a:spAutoFit/>
            </a:bodyPr>
            <a:lstStyle/>
            <a:p>
              <a:r>
                <a:rPr lang="zh-CN" altLang="en-US" dirty="0"/>
                <a:t>招标</a:t>
              </a:r>
            </a:p>
          </p:txBody>
        </p:sp>
        <p:pic>
          <p:nvPicPr>
            <p:cNvPr id="15" name="图形 15" descr="线箭头平直">
              <a:extLst>
                <a:ext uri="{FF2B5EF4-FFF2-40B4-BE49-F238E27FC236}">
                  <a16:creationId xmlns="" xmlns:a16="http://schemas.microsoft.com/office/drawing/2014/main" id="{21DF1471-3973-480B-B27E-F10D988E70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rcRect/>
            <a:stretch/>
          </p:blipFill>
          <p:spPr>
            <a:xfrm rot="12404261">
              <a:off x="5321127" y="1294722"/>
              <a:ext cx="2080641" cy="914400"/>
            </a:xfrm>
            <a:prstGeom prst="rect">
              <a:avLst/>
            </a:prstGeom>
          </p:spPr>
        </p:pic>
        <p:sp>
          <p:nvSpPr>
            <p:cNvPr id="16" name="文本框 16">
              <a:extLst>
                <a:ext uri="{FF2B5EF4-FFF2-40B4-BE49-F238E27FC236}">
                  <a16:creationId xmlns="" xmlns:a16="http://schemas.microsoft.com/office/drawing/2014/main" id="{DC4D9AE6-3AAD-4945-BE40-1E0518FF216E}"/>
                </a:ext>
              </a:extLst>
            </p:cNvPr>
            <p:cNvSpPr txBox="1"/>
            <p:nvPr/>
          </p:nvSpPr>
          <p:spPr>
            <a:xfrm rot="1738164">
              <a:off x="5609203" y="1667696"/>
              <a:ext cx="1107996" cy="369332"/>
            </a:xfrm>
            <a:prstGeom prst="rect">
              <a:avLst/>
            </a:prstGeom>
            <a:noFill/>
          </p:spPr>
          <p:txBody>
            <a:bodyPr wrap="none" rtlCol="0">
              <a:spAutoFit/>
            </a:bodyPr>
            <a:lstStyle/>
            <a:p>
              <a:r>
                <a:rPr lang="zh-CN" altLang="en-US" dirty="0"/>
                <a:t>自动中标</a:t>
              </a:r>
            </a:p>
          </p:txBody>
        </p:sp>
        <p:sp>
          <p:nvSpPr>
            <p:cNvPr id="17" name="文本框 17">
              <a:extLst>
                <a:ext uri="{FF2B5EF4-FFF2-40B4-BE49-F238E27FC236}">
                  <a16:creationId xmlns="" xmlns:a16="http://schemas.microsoft.com/office/drawing/2014/main" id="{1A9636C3-33FC-487A-96AB-957EE5AE83C9}"/>
                </a:ext>
              </a:extLst>
            </p:cNvPr>
            <p:cNvSpPr txBox="1"/>
            <p:nvPr/>
          </p:nvSpPr>
          <p:spPr>
            <a:xfrm rot="19388644">
              <a:off x="2918844" y="1713789"/>
              <a:ext cx="1107996" cy="369332"/>
            </a:xfrm>
            <a:prstGeom prst="rect">
              <a:avLst/>
            </a:prstGeom>
            <a:noFill/>
          </p:spPr>
          <p:txBody>
            <a:bodyPr wrap="none" rtlCol="0">
              <a:spAutoFit/>
            </a:bodyPr>
            <a:lstStyle/>
            <a:p>
              <a:r>
                <a:rPr lang="zh-CN" altLang="en-US" dirty="0"/>
                <a:t>中标条件</a:t>
              </a:r>
            </a:p>
          </p:txBody>
        </p:sp>
        <p:pic>
          <p:nvPicPr>
            <p:cNvPr id="18" name="图片 17">
              <a:extLst>
                <a:ext uri="{FF2B5EF4-FFF2-40B4-BE49-F238E27FC236}">
                  <a16:creationId xmlns="" xmlns:a16="http://schemas.microsoft.com/office/drawing/2014/main" id="{B0158629-802A-4F64-A5B6-E35E7595BE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03836" y="3781403"/>
              <a:ext cx="619211" cy="857370"/>
            </a:xfrm>
            <a:prstGeom prst="rect">
              <a:avLst/>
            </a:prstGeom>
          </p:spPr>
        </p:pic>
        <p:sp>
          <p:nvSpPr>
            <p:cNvPr id="19" name="文本框 19">
              <a:extLst>
                <a:ext uri="{FF2B5EF4-FFF2-40B4-BE49-F238E27FC236}">
                  <a16:creationId xmlns="" xmlns:a16="http://schemas.microsoft.com/office/drawing/2014/main" id="{6F47042C-DAE8-4F56-A479-01384CB7981C}"/>
                </a:ext>
              </a:extLst>
            </p:cNvPr>
            <p:cNvSpPr txBox="1"/>
            <p:nvPr/>
          </p:nvSpPr>
          <p:spPr>
            <a:xfrm>
              <a:off x="3997778" y="4638773"/>
              <a:ext cx="2031325" cy="369332"/>
            </a:xfrm>
            <a:prstGeom prst="rect">
              <a:avLst/>
            </a:prstGeom>
            <a:noFill/>
          </p:spPr>
          <p:txBody>
            <a:bodyPr wrap="none" rtlCol="0">
              <a:spAutoFit/>
            </a:bodyPr>
            <a:lstStyle/>
            <a:p>
              <a:r>
                <a:rPr lang="zh-CN" altLang="en-US" dirty="0"/>
                <a:t>仓储管理智能合约</a:t>
              </a:r>
            </a:p>
          </p:txBody>
        </p:sp>
        <p:pic>
          <p:nvPicPr>
            <p:cNvPr id="20" name="图形 20" descr="线箭头平直">
              <a:extLst>
                <a:ext uri="{FF2B5EF4-FFF2-40B4-BE49-F238E27FC236}">
                  <a16:creationId xmlns="" xmlns:a16="http://schemas.microsoft.com/office/drawing/2014/main" id="{EC09CC88-D1BC-48B6-B4D1-EF7F06FAA55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rcRect/>
            <a:stretch/>
          </p:blipFill>
          <p:spPr>
            <a:xfrm rot="12984934">
              <a:off x="2533402" y="3162228"/>
              <a:ext cx="1962929" cy="914400"/>
            </a:xfrm>
            <a:prstGeom prst="rect">
              <a:avLst/>
            </a:prstGeom>
          </p:spPr>
        </p:pic>
        <p:sp>
          <p:nvSpPr>
            <p:cNvPr id="21" name="文本框 21">
              <a:extLst>
                <a:ext uri="{FF2B5EF4-FFF2-40B4-BE49-F238E27FC236}">
                  <a16:creationId xmlns="" xmlns:a16="http://schemas.microsoft.com/office/drawing/2014/main" id="{58855DDF-E7F8-47DD-9DCD-198ED2644756}"/>
                </a:ext>
              </a:extLst>
            </p:cNvPr>
            <p:cNvSpPr txBox="1"/>
            <p:nvPr/>
          </p:nvSpPr>
          <p:spPr>
            <a:xfrm>
              <a:off x="7381398" y="2770745"/>
              <a:ext cx="877163" cy="369332"/>
            </a:xfrm>
            <a:prstGeom prst="rect">
              <a:avLst/>
            </a:prstGeom>
            <a:noFill/>
          </p:spPr>
          <p:txBody>
            <a:bodyPr wrap="none" rtlCol="0">
              <a:spAutoFit/>
            </a:bodyPr>
            <a:lstStyle/>
            <a:p>
              <a:pPr algn="ctr"/>
              <a:r>
                <a:rPr lang="zh-CN" altLang="en-US" dirty="0">
                  <a:solidFill>
                    <a:schemeClr val="accent4">
                      <a:lumMod val="75000"/>
                    </a:schemeClr>
                  </a:solidFill>
                </a:rPr>
                <a:t>供货商</a:t>
              </a:r>
            </a:p>
          </p:txBody>
        </p:sp>
        <p:pic>
          <p:nvPicPr>
            <p:cNvPr id="22" name="图形 22" descr="线箭头平直">
              <a:extLst>
                <a:ext uri="{FF2B5EF4-FFF2-40B4-BE49-F238E27FC236}">
                  <a16:creationId xmlns="" xmlns:a16="http://schemas.microsoft.com/office/drawing/2014/main" id="{AABE264C-BBC9-4D4D-880A-68651CBFE9E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rcRect/>
            <a:stretch/>
          </p:blipFill>
          <p:spPr>
            <a:xfrm rot="19471896">
              <a:off x="5598354" y="3176328"/>
              <a:ext cx="1962929" cy="914400"/>
            </a:xfrm>
            <a:prstGeom prst="rect">
              <a:avLst/>
            </a:prstGeom>
          </p:spPr>
        </p:pic>
        <p:sp>
          <p:nvSpPr>
            <p:cNvPr id="23" name="文本框 23">
              <a:extLst>
                <a:ext uri="{FF2B5EF4-FFF2-40B4-BE49-F238E27FC236}">
                  <a16:creationId xmlns="" xmlns:a16="http://schemas.microsoft.com/office/drawing/2014/main" id="{80DEDB04-1D3C-4013-BAF6-7C97AE133C25}"/>
                </a:ext>
              </a:extLst>
            </p:cNvPr>
            <p:cNvSpPr txBox="1"/>
            <p:nvPr/>
          </p:nvSpPr>
          <p:spPr>
            <a:xfrm rot="2231010">
              <a:off x="3325091" y="3162490"/>
              <a:ext cx="646331" cy="369332"/>
            </a:xfrm>
            <a:prstGeom prst="rect">
              <a:avLst/>
            </a:prstGeom>
            <a:noFill/>
          </p:spPr>
          <p:txBody>
            <a:bodyPr wrap="none" rtlCol="0">
              <a:spAutoFit/>
            </a:bodyPr>
            <a:lstStyle/>
            <a:p>
              <a:r>
                <a:rPr lang="zh-CN" altLang="en-US" dirty="0"/>
                <a:t>付款</a:t>
              </a:r>
            </a:p>
          </p:txBody>
        </p:sp>
        <p:sp>
          <p:nvSpPr>
            <p:cNvPr id="24" name="文本框 24">
              <a:extLst>
                <a:ext uri="{FF2B5EF4-FFF2-40B4-BE49-F238E27FC236}">
                  <a16:creationId xmlns="" xmlns:a16="http://schemas.microsoft.com/office/drawing/2014/main" id="{F89ECD5B-4EBD-48FE-8B51-0030083CFF9E}"/>
                </a:ext>
              </a:extLst>
            </p:cNvPr>
            <p:cNvSpPr txBox="1"/>
            <p:nvPr/>
          </p:nvSpPr>
          <p:spPr>
            <a:xfrm rot="19562993">
              <a:off x="6251240" y="3171262"/>
              <a:ext cx="646331" cy="369332"/>
            </a:xfrm>
            <a:prstGeom prst="rect">
              <a:avLst/>
            </a:prstGeom>
            <a:noFill/>
          </p:spPr>
          <p:txBody>
            <a:bodyPr wrap="none" rtlCol="0">
              <a:spAutoFit/>
            </a:bodyPr>
            <a:lstStyle/>
            <a:p>
              <a:r>
                <a:rPr lang="zh-CN" altLang="en-US" dirty="0"/>
                <a:t>发货</a:t>
              </a:r>
            </a:p>
          </p:txBody>
        </p:sp>
      </p:grpSp>
      <p:sp>
        <p:nvSpPr>
          <p:cNvPr id="27" name="矩形 26">
            <a:extLst>
              <a:ext uri="{FF2B5EF4-FFF2-40B4-BE49-F238E27FC236}">
                <a16:creationId xmlns="" xmlns:a16="http://schemas.microsoft.com/office/drawing/2014/main" id="{D623396A-73F4-439E-AFA5-CAF1EBA27B94}"/>
              </a:ext>
            </a:extLst>
          </p:cNvPr>
          <p:cNvSpPr/>
          <p:nvPr/>
        </p:nvSpPr>
        <p:spPr>
          <a:xfrm>
            <a:off x="169652" y="1550967"/>
            <a:ext cx="3518912" cy="400110"/>
          </a:xfrm>
          <a:prstGeom prst="rect">
            <a:avLst/>
          </a:prstGeom>
        </p:spPr>
        <p:txBody>
          <a:bodyPr wrap="none">
            <a:spAutoFit/>
          </a:bodyPr>
          <a:lstStyle/>
          <a:p>
            <a:pPr defTabSz="912971">
              <a:spcBef>
                <a:spcPts val="999"/>
              </a:spcBef>
            </a:pPr>
            <a:r>
              <a:rPr lang="zh-CN" altLang="en-US" sz="2000" dirty="0">
                <a:latin typeface="+mn-ea"/>
              </a:rPr>
              <a:t>基于</a:t>
            </a:r>
            <a:r>
              <a:rPr lang="en-US" altLang="zh-CN" sz="2000" dirty="0">
                <a:latin typeface="+mn-ea"/>
              </a:rPr>
              <a:t>Pedersen</a:t>
            </a:r>
            <a:r>
              <a:rPr lang="zh-CN" altLang="en-US" sz="2000" dirty="0">
                <a:latin typeface="+mn-ea"/>
              </a:rPr>
              <a:t>加密的智能合约</a:t>
            </a:r>
            <a:endParaRPr lang="en-US" altLang="zh-CN" sz="2000" dirty="0">
              <a:latin typeface="+mn-ea"/>
            </a:endParaRPr>
          </a:p>
        </p:txBody>
      </p:sp>
    </p:spTree>
    <p:extLst>
      <p:ext uri="{BB962C8B-B14F-4D97-AF65-F5344CB8AC3E}">
        <p14:creationId xmlns:p14="http://schemas.microsoft.com/office/powerpoint/2010/main" val="3805648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640997C-D643-4855-842F-9CE0CB699613}"/>
              </a:ext>
            </a:extLst>
          </p:cNvPr>
          <p:cNvSpPr>
            <a:spLocks noGrp="1"/>
          </p:cNvSpPr>
          <p:nvPr>
            <p:ph type="title"/>
          </p:nvPr>
        </p:nvSpPr>
        <p:spPr/>
        <p:txBody>
          <a:bodyPr/>
          <a:lstStyle/>
          <a:p>
            <a:r>
              <a:rPr lang="zh-CN" altLang="en-US" dirty="0"/>
              <a:t>区</a:t>
            </a:r>
            <a:r>
              <a:rPr lang="zh-CN" altLang="en-US" dirty="0" smtClean="0"/>
              <a:t>块链架构</a:t>
            </a:r>
            <a:r>
              <a:rPr lang="en-US" altLang="zh-CN" dirty="0" smtClean="0"/>
              <a:t>---</a:t>
            </a:r>
            <a:r>
              <a:rPr lang="zh-CN" altLang="en-US" dirty="0"/>
              <a:t>应用</a:t>
            </a:r>
            <a:r>
              <a:rPr lang="zh-CN" altLang="en-US" dirty="0" smtClean="0"/>
              <a:t>层</a:t>
            </a:r>
            <a:endParaRPr lang="zh-CN" altLang="en-US" dirty="0"/>
          </a:p>
        </p:txBody>
      </p:sp>
      <p:sp>
        <p:nvSpPr>
          <p:cNvPr id="4" name="TextBox 3"/>
          <p:cNvSpPr txBox="1"/>
          <p:nvPr/>
        </p:nvSpPr>
        <p:spPr>
          <a:xfrm>
            <a:off x="326572" y="1132115"/>
            <a:ext cx="1011815" cy="369332"/>
          </a:xfrm>
          <a:prstGeom prst="rect">
            <a:avLst/>
          </a:prstGeom>
          <a:noFill/>
        </p:spPr>
        <p:txBody>
          <a:bodyPr wrap="none" rtlCol="0">
            <a:spAutoFit/>
          </a:bodyPr>
          <a:lstStyle/>
          <a:p>
            <a:r>
              <a:rPr lang="en-US" altLang="zh-CN" dirty="0" smtClean="0"/>
              <a:t>5</a:t>
            </a:r>
            <a:r>
              <a:rPr lang="zh-CN" altLang="en-US" dirty="0" smtClean="0"/>
              <a:t>、捐赠</a:t>
            </a:r>
            <a:endParaRPr lang="zh-CN" altLang="en-US" dirty="0"/>
          </a:p>
        </p:txBody>
      </p:sp>
      <p:grpSp>
        <p:nvGrpSpPr>
          <p:cNvPr id="5" name="组合 4">
            <a:extLst>
              <a:ext uri="{FF2B5EF4-FFF2-40B4-BE49-F238E27FC236}">
                <a16:creationId xmlns="" xmlns:a16="http://schemas.microsoft.com/office/drawing/2014/main" id="{B0AAED78-4358-42A0-9B41-3CDD28C32EC9}"/>
              </a:ext>
            </a:extLst>
          </p:cNvPr>
          <p:cNvGrpSpPr/>
          <p:nvPr/>
        </p:nvGrpSpPr>
        <p:grpSpPr>
          <a:xfrm>
            <a:off x="436753" y="1589313"/>
            <a:ext cx="8225723" cy="4903761"/>
            <a:chOff x="2993407" y="522329"/>
            <a:chExt cx="6268544" cy="4601252"/>
          </a:xfrm>
        </p:grpSpPr>
        <p:grpSp>
          <p:nvGrpSpPr>
            <p:cNvPr id="6" name="组合 5">
              <a:extLst>
                <a:ext uri="{FF2B5EF4-FFF2-40B4-BE49-F238E27FC236}">
                  <a16:creationId xmlns="" xmlns:a16="http://schemas.microsoft.com/office/drawing/2014/main" id="{54B62D09-BF41-40B8-8843-89A915396E26}"/>
                </a:ext>
              </a:extLst>
            </p:cNvPr>
            <p:cNvGrpSpPr/>
            <p:nvPr/>
          </p:nvGrpSpPr>
          <p:grpSpPr>
            <a:xfrm>
              <a:off x="2993407" y="3098098"/>
              <a:ext cx="914400" cy="1208158"/>
              <a:chOff x="5638800" y="1640358"/>
              <a:chExt cx="914400" cy="1208158"/>
            </a:xfrm>
          </p:grpSpPr>
          <p:pic>
            <p:nvPicPr>
              <p:cNvPr id="39" name="图形 86" descr="商店">
                <a:extLst>
                  <a:ext uri="{FF2B5EF4-FFF2-40B4-BE49-F238E27FC236}">
                    <a16:creationId xmlns="" xmlns:a16="http://schemas.microsoft.com/office/drawing/2014/main" id="{33162D55-7CCB-4F58-AE37-3590B8A7856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p:blipFill>
            <p:spPr>
              <a:xfrm>
                <a:off x="5638800" y="1640358"/>
                <a:ext cx="914400" cy="914400"/>
              </a:xfrm>
              <a:prstGeom prst="rect">
                <a:avLst/>
              </a:prstGeom>
            </p:spPr>
          </p:pic>
          <p:sp>
            <p:nvSpPr>
              <p:cNvPr id="40" name="文本框 87">
                <a:extLst>
                  <a:ext uri="{FF2B5EF4-FFF2-40B4-BE49-F238E27FC236}">
                    <a16:creationId xmlns="" xmlns:a16="http://schemas.microsoft.com/office/drawing/2014/main" id="{99ACD6A6-F506-4766-AF19-9FAE46D8416A}"/>
                  </a:ext>
                </a:extLst>
              </p:cNvPr>
              <p:cNvSpPr txBox="1"/>
              <p:nvPr/>
            </p:nvSpPr>
            <p:spPr>
              <a:xfrm>
                <a:off x="5657422" y="2479184"/>
                <a:ext cx="877163" cy="369332"/>
              </a:xfrm>
              <a:prstGeom prst="rect">
                <a:avLst/>
              </a:prstGeom>
              <a:noFill/>
            </p:spPr>
            <p:txBody>
              <a:bodyPr wrap="none" rtlCol="0">
                <a:spAutoFit/>
              </a:bodyPr>
              <a:lstStyle/>
              <a:p>
                <a:pPr algn="ctr"/>
                <a:r>
                  <a:rPr lang="zh-CN" altLang="en-US" dirty="0">
                    <a:solidFill>
                      <a:schemeClr val="accent4">
                        <a:lumMod val="75000"/>
                      </a:schemeClr>
                    </a:solidFill>
                  </a:rPr>
                  <a:t>供货商</a:t>
                </a:r>
              </a:p>
            </p:txBody>
          </p:sp>
        </p:grpSp>
        <p:grpSp>
          <p:nvGrpSpPr>
            <p:cNvPr id="7" name="组合 6">
              <a:extLst>
                <a:ext uri="{FF2B5EF4-FFF2-40B4-BE49-F238E27FC236}">
                  <a16:creationId xmlns="" xmlns:a16="http://schemas.microsoft.com/office/drawing/2014/main" id="{6C3DFDBE-69FA-4A3E-8340-364141B01D6C}"/>
                </a:ext>
              </a:extLst>
            </p:cNvPr>
            <p:cNvGrpSpPr/>
            <p:nvPr/>
          </p:nvGrpSpPr>
          <p:grpSpPr>
            <a:xfrm>
              <a:off x="8347551" y="3098098"/>
              <a:ext cx="914400" cy="1208158"/>
              <a:chOff x="5638800" y="1640358"/>
              <a:chExt cx="914400" cy="1208158"/>
            </a:xfrm>
          </p:grpSpPr>
          <p:pic>
            <p:nvPicPr>
              <p:cNvPr id="37" name="图形 84" descr="房子">
                <a:extLst>
                  <a:ext uri="{FF2B5EF4-FFF2-40B4-BE49-F238E27FC236}">
                    <a16:creationId xmlns="" xmlns:a16="http://schemas.microsoft.com/office/drawing/2014/main" id="{0C146872-D3AC-4895-901D-E38B202C756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p:blipFill>
            <p:spPr>
              <a:xfrm>
                <a:off x="5638800" y="1640358"/>
                <a:ext cx="914400" cy="914400"/>
              </a:xfrm>
              <a:prstGeom prst="rect">
                <a:avLst/>
              </a:prstGeom>
            </p:spPr>
          </p:pic>
          <p:sp>
            <p:nvSpPr>
              <p:cNvPr id="38" name="文本框 85">
                <a:extLst>
                  <a:ext uri="{FF2B5EF4-FFF2-40B4-BE49-F238E27FC236}">
                    <a16:creationId xmlns="" xmlns:a16="http://schemas.microsoft.com/office/drawing/2014/main" id="{3A8924DE-7F00-4AEE-964F-3E3BF26056C6}"/>
                  </a:ext>
                </a:extLst>
              </p:cNvPr>
              <p:cNvSpPr txBox="1"/>
              <p:nvPr/>
            </p:nvSpPr>
            <p:spPr>
              <a:xfrm>
                <a:off x="5657420" y="2479184"/>
                <a:ext cx="877163" cy="369332"/>
              </a:xfrm>
              <a:prstGeom prst="rect">
                <a:avLst/>
              </a:prstGeom>
              <a:noFill/>
            </p:spPr>
            <p:txBody>
              <a:bodyPr wrap="none" rtlCol="0">
                <a:spAutoFit/>
              </a:bodyPr>
              <a:lstStyle/>
              <a:p>
                <a:pPr algn="ctr"/>
                <a:r>
                  <a:rPr lang="zh-CN" altLang="en-US" dirty="0">
                    <a:solidFill>
                      <a:schemeClr val="accent6">
                        <a:lumMod val="50000"/>
                      </a:schemeClr>
                    </a:solidFill>
                  </a:rPr>
                  <a:t>受助者</a:t>
                </a:r>
              </a:p>
            </p:txBody>
          </p:sp>
        </p:grpSp>
        <p:grpSp>
          <p:nvGrpSpPr>
            <p:cNvPr id="8" name="组合 7">
              <a:extLst>
                <a:ext uri="{FF2B5EF4-FFF2-40B4-BE49-F238E27FC236}">
                  <a16:creationId xmlns="" xmlns:a16="http://schemas.microsoft.com/office/drawing/2014/main" id="{837A9230-D1E9-4EE9-A15F-21E4C87872A1}"/>
                </a:ext>
              </a:extLst>
            </p:cNvPr>
            <p:cNvGrpSpPr/>
            <p:nvPr/>
          </p:nvGrpSpPr>
          <p:grpSpPr>
            <a:xfrm>
              <a:off x="4210915" y="2891539"/>
              <a:ext cx="923709" cy="1621277"/>
              <a:chOff x="4116452" y="2891539"/>
              <a:chExt cx="923709" cy="1621277"/>
            </a:xfrm>
          </p:grpSpPr>
          <p:pic>
            <p:nvPicPr>
              <p:cNvPr id="32" name="图形 75" descr="钱">
                <a:extLst>
                  <a:ext uri="{FF2B5EF4-FFF2-40B4-BE49-F238E27FC236}">
                    <a16:creationId xmlns="" xmlns:a16="http://schemas.microsoft.com/office/drawing/2014/main" id="{0C790CFB-2497-4BB1-A8C6-B541A5B1896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4279973" y="3937638"/>
                <a:ext cx="575178" cy="575178"/>
              </a:xfrm>
              <a:prstGeom prst="rect">
                <a:avLst/>
              </a:prstGeom>
            </p:spPr>
          </p:pic>
          <p:pic>
            <p:nvPicPr>
              <p:cNvPr id="33" name="图形 76" descr="盒子">
                <a:extLst>
                  <a:ext uri="{FF2B5EF4-FFF2-40B4-BE49-F238E27FC236}">
                    <a16:creationId xmlns="" xmlns:a16="http://schemas.microsoft.com/office/drawing/2014/main" id="{739D9679-717E-4AB4-900B-EE90784A9D52}"/>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4295372" y="2891539"/>
                <a:ext cx="575178" cy="575178"/>
              </a:xfrm>
              <a:prstGeom prst="rect">
                <a:avLst/>
              </a:prstGeom>
            </p:spPr>
          </p:pic>
          <p:grpSp>
            <p:nvGrpSpPr>
              <p:cNvPr id="34" name="组合 33">
                <a:extLst>
                  <a:ext uri="{FF2B5EF4-FFF2-40B4-BE49-F238E27FC236}">
                    <a16:creationId xmlns="" xmlns:a16="http://schemas.microsoft.com/office/drawing/2014/main" id="{4AE10FF5-F20C-49F5-9F25-122258D8C2F7}"/>
                  </a:ext>
                </a:extLst>
              </p:cNvPr>
              <p:cNvGrpSpPr/>
              <p:nvPr/>
            </p:nvGrpSpPr>
            <p:grpSpPr>
              <a:xfrm>
                <a:off x="4116452" y="3144158"/>
                <a:ext cx="923709" cy="1196224"/>
                <a:chOff x="4068169" y="3156466"/>
                <a:chExt cx="923709" cy="1196224"/>
              </a:xfrm>
            </p:grpSpPr>
            <p:pic>
              <p:nvPicPr>
                <p:cNvPr id="35" name="图形 81" descr="线箭头平直">
                  <a:extLst>
                    <a:ext uri="{FF2B5EF4-FFF2-40B4-BE49-F238E27FC236}">
                      <a16:creationId xmlns="" xmlns:a16="http://schemas.microsoft.com/office/drawing/2014/main" id="{8922D4DC-0440-4D64-9B40-2AA30C0A1FCC}"/>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rot="10800000">
                  <a:off x="4068169" y="3156466"/>
                  <a:ext cx="914400" cy="914400"/>
                </a:xfrm>
                <a:prstGeom prst="rect">
                  <a:avLst/>
                </a:prstGeom>
              </p:spPr>
            </p:pic>
            <p:pic>
              <p:nvPicPr>
                <p:cNvPr id="36" name="图形 82" descr="线箭头平直">
                  <a:extLst>
                    <a:ext uri="{FF2B5EF4-FFF2-40B4-BE49-F238E27FC236}">
                      <a16:creationId xmlns="" xmlns:a16="http://schemas.microsoft.com/office/drawing/2014/main" id="{D3BCDC4F-49A3-44BD-8EB6-FFAD0879ACF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4077478" y="3438290"/>
                  <a:ext cx="914400" cy="914400"/>
                </a:xfrm>
                <a:prstGeom prst="rect">
                  <a:avLst/>
                </a:prstGeom>
              </p:spPr>
            </p:pic>
          </p:grpSp>
        </p:grpSp>
        <p:grpSp>
          <p:nvGrpSpPr>
            <p:cNvPr id="9" name="组合 8">
              <a:extLst>
                <a:ext uri="{FF2B5EF4-FFF2-40B4-BE49-F238E27FC236}">
                  <a16:creationId xmlns="" xmlns:a16="http://schemas.microsoft.com/office/drawing/2014/main" id="{3238B666-2599-4D04-84B2-AB7276CF1774}"/>
                </a:ext>
              </a:extLst>
            </p:cNvPr>
            <p:cNvGrpSpPr/>
            <p:nvPr/>
          </p:nvGrpSpPr>
          <p:grpSpPr>
            <a:xfrm>
              <a:off x="5578335" y="3098098"/>
              <a:ext cx="1107996" cy="1208158"/>
              <a:chOff x="5542002" y="1640358"/>
              <a:chExt cx="1107996" cy="1208158"/>
            </a:xfrm>
          </p:grpSpPr>
          <p:pic>
            <p:nvPicPr>
              <p:cNvPr id="30" name="图形 73" descr="校舍">
                <a:extLst>
                  <a:ext uri="{FF2B5EF4-FFF2-40B4-BE49-F238E27FC236}">
                    <a16:creationId xmlns="" xmlns:a16="http://schemas.microsoft.com/office/drawing/2014/main" id="{7F6B8580-1EC4-4B23-9AF7-7D369E6E0A1D}"/>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5638800" y="1640358"/>
                <a:ext cx="914400" cy="914400"/>
              </a:xfrm>
              <a:prstGeom prst="rect">
                <a:avLst/>
              </a:prstGeom>
            </p:spPr>
          </p:pic>
          <p:sp>
            <p:nvSpPr>
              <p:cNvPr id="31" name="文本框 74">
                <a:extLst>
                  <a:ext uri="{FF2B5EF4-FFF2-40B4-BE49-F238E27FC236}">
                    <a16:creationId xmlns="" xmlns:a16="http://schemas.microsoft.com/office/drawing/2014/main" id="{14F5A64F-D1C6-437E-A175-F1AE7479BF9C}"/>
                  </a:ext>
                </a:extLst>
              </p:cNvPr>
              <p:cNvSpPr txBox="1"/>
              <p:nvPr/>
            </p:nvSpPr>
            <p:spPr>
              <a:xfrm>
                <a:off x="5542002" y="2479184"/>
                <a:ext cx="1107996" cy="369332"/>
              </a:xfrm>
              <a:prstGeom prst="rect">
                <a:avLst/>
              </a:prstGeom>
              <a:noFill/>
            </p:spPr>
            <p:txBody>
              <a:bodyPr wrap="none" rtlCol="0">
                <a:spAutoFit/>
              </a:bodyPr>
              <a:lstStyle/>
              <a:p>
                <a:pPr algn="ctr"/>
                <a:r>
                  <a:rPr lang="zh-CN" altLang="en-US" dirty="0">
                    <a:solidFill>
                      <a:schemeClr val="accent2">
                        <a:lumMod val="50000"/>
                      </a:schemeClr>
                    </a:solidFill>
                  </a:rPr>
                  <a:t>红十字会</a:t>
                </a:r>
              </a:p>
            </p:txBody>
          </p:sp>
        </p:grpSp>
        <p:grpSp>
          <p:nvGrpSpPr>
            <p:cNvPr id="10" name="组合 9">
              <a:extLst>
                <a:ext uri="{FF2B5EF4-FFF2-40B4-BE49-F238E27FC236}">
                  <a16:creationId xmlns="" xmlns:a16="http://schemas.microsoft.com/office/drawing/2014/main" id="{F96D7410-4DB4-47FE-B32C-EA8364787171}"/>
                </a:ext>
              </a:extLst>
            </p:cNvPr>
            <p:cNvGrpSpPr/>
            <p:nvPr/>
          </p:nvGrpSpPr>
          <p:grpSpPr>
            <a:xfrm>
              <a:off x="5675133" y="522329"/>
              <a:ext cx="914400" cy="1208158"/>
              <a:chOff x="5638800" y="1640358"/>
              <a:chExt cx="914400" cy="1208158"/>
            </a:xfrm>
          </p:grpSpPr>
          <p:pic>
            <p:nvPicPr>
              <p:cNvPr id="28" name="图形 71" descr="城市">
                <a:extLst>
                  <a:ext uri="{FF2B5EF4-FFF2-40B4-BE49-F238E27FC236}">
                    <a16:creationId xmlns="" xmlns:a16="http://schemas.microsoft.com/office/drawing/2014/main" id="{22C8F058-2C56-4D26-B287-DBDCAE490655}"/>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rcRect/>
              <a:stretch/>
            </p:blipFill>
            <p:spPr>
              <a:xfrm>
                <a:off x="5638800" y="1640358"/>
                <a:ext cx="914400" cy="914400"/>
              </a:xfrm>
              <a:prstGeom prst="rect">
                <a:avLst/>
              </a:prstGeom>
            </p:spPr>
          </p:pic>
          <p:sp>
            <p:nvSpPr>
              <p:cNvPr id="29" name="文本框 72">
                <a:extLst>
                  <a:ext uri="{FF2B5EF4-FFF2-40B4-BE49-F238E27FC236}">
                    <a16:creationId xmlns="" xmlns:a16="http://schemas.microsoft.com/office/drawing/2014/main" id="{A1752606-F36A-4DF9-87F7-BE00BC385274}"/>
                  </a:ext>
                </a:extLst>
              </p:cNvPr>
              <p:cNvSpPr txBox="1"/>
              <p:nvPr/>
            </p:nvSpPr>
            <p:spPr>
              <a:xfrm>
                <a:off x="5657422" y="2479184"/>
                <a:ext cx="877163" cy="369332"/>
              </a:xfrm>
              <a:prstGeom prst="rect">
                <a:avLst/>
              </a:prstGeom>
              <a:noFill/>
            </p:spPr>
            <p:txBody>
              <a:bodyPr wrap="none" rtlCol="0">
                <a:spAutoFit/>
              </a:bodyPr>
              <a:lstStyle/>
              <a:p>
                <a:pPr algn="ctr"/>
                <a:r>
                  <a:rPr lang="zh-CN" altLang="en-US" dirty="0">
                    <a:solidFill>
                      <a:schemeClr val="accent5">
                        <a:lumMod val="50000"/>
                      </a:schemeClr>
                    </a:solidFill>
                  </a:rPr>
                  <a:t>捐款人</a:t>
                </a:r>
              </a:p>
            </p:txBody>
          </p:sp>
        </p:grpSp>
        <p:grpSp>
          <p:nvGrpSpPr>
            <p:cNvPr id="11" name="组合 10">
              <a:extLst>
                <a:ext uri="{FF2B5EF4-FFF2-40B4-BE49-F238E27FC236}">
                  <a16:creationId xmlns="" xmlns:a16="http://schemas.microsoft.com/office/drawing/2014/main" id="{EBD00A60-5F21-41AA-BB57-80180FA79498}"/>
                </a:ext>
              </a:extLst>
            </p:cNvPr>
            <p:cNvGrpSpPr/>
            <p:nvPr/>
          </p:nvGrpSpPr>
          <p:grpSpPr>
            <a:xfrm>
              <a:off x="5437732" y="1977139"/>
              <a:ext cx="1389203" cy="914400"/>
              <a:chOff x="5520822" y="1977139"/>
              <a:chExt cx="1389203" cy="914400"/>
            </a:xfrm>
          </p:grpSpPr>
          <p:pic>
            <p:nvPicPr>
              <p:cNvPr id="25" name="图形 67" descr="线箭头平直">
                <a:extLst>
                  <a:ext uri="{FF2B5EF4-FFF2-40B4-BE49-F238E27FC236}">
                    <a16:creationId xmlns="" xmlns:a16="http://schemas.microsoft.com/office/drawing/2014/main" id="{92C1C21C-92D9-46B3-AC1F-9293C0505C10}"/>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rcRect/>
              <a:stretch/>
            </p:blipFill>
            <p:spPr>
              <a:xfrm rot="16200000">
                <a:off x="5726651" y="1977139"/>
                <a:ext cx="914400" cy="914400"/>
              </a:xfrm>
              <a:prstGeom prst="rect">
                <a:avLst/>
              </a:prstGeom>
            </p:spPr>
          </p:pic>
          <p:pic>
            <p:nvPicPr>
              <p:cNvPr id="26" name="图形 69" descr="钱">
                <a:extLst>
                  <a:ext uri="{FF2B5EF4-FFF2-40B4-BE49-F238E27FC236}">
                    <a16:creationId xmlns="" xmlns:a16="http://schemas.microsoft.com/office/drawing/2014/main" id="{72844357-6252-42DE-BE40-0CDAB7BBC32C}"/>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334847" y="2152098"/>
                <a:ext cx="575178" cy="575178"/>
              </a:xfrm>
              <a:prstGeom prst="rect">
                <a:avLst/>
              </a:prstGeom>
            </p:spPr>
          </p:pic>
          <p:pic>
            <p:nvPicPr>
              <p:cNvPr id="27" name="图形 70" descr="盒子">
                <a:extLst>
                  <a:ext uri="{FF2B5EF4-FFF2-40B4-BE49-F238E27FC236}">
                    <a16:creationId xmlns="" xmlns:a16="http://schemas.microsoft.com/office/drawing/2014/main" id="{A17AA397-62C7-4D7D-BE81-FA87808D88BB}"/>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5520822" y="2152098"/>
                <a:ext cx="575178" cy="575178"/>
              </a:xfrm>
              <a:prstGeom prst="rect">
                <a:avLst/>
              </a:prstGeom>
            </p:spPr>
          </p:pic>
        </p:grpSp>
        <p:grpSp>
          <p:nvGrpSpPr>
            <p:cNvPr id="12" name="组合 11">
              <a:extLst>
                <a:ext uri="{FF2B5EF4-FFF2-40B4-BE49-F238E27FC236}">
                  <a16:creationId xmlns="" xmlns:a16="http://schemas.microsoft.com/office/drawing/2014/main" id="{68DA5084-E84C-4F62-A7A1-9C5D891A3B3E}"/>
                </a:ext>
              </a:extLst>
            </p:cNvPr>
            <p:cNvGrpSpPr/>
            <p:nvPr/>
          </p:nvGrpSpPr>
          <p:grpSpPr>
            <a:xfrm>
              <a:off x="7130043" y="2891539"/>
              <a:ext cx="914400" cy="1621277"/>
              <a:chOff x="7240050" y="2891539"/>
              <a:chExt cx="914400" cy="1621277"/>
            </a:xfrm>
          </p:grpSpPr>
          <p:pic>
            <p:nvPicPr>
              <p:cNvPr id="22" name="图形 64" descr="线箭头平直">
                <a:extLst>
                  <a:ext uri="{FF2B5EF4-FFF2-40B4-BE49-F238E27FC236}">
                    <a16:creationId xmlns="" xmlns:a16="http://schemas.microsoft.com/office/drawing/2014/main" id="{D97E64D1-78E5-4588-A225-FB884EB2601A}"/>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rcRect/>
              <a:stretch/>
            </p:blipFill>
            <p:spPr>
              <a:xfrm rot="10800000">
                <a:off x="7240050" y="3285071"/>
                <a:ext cx="914400" cy="914400"/>
              </a:xfrm>
              <a:prstGeom prst="rect">
                <a:avLst/>
              </a:prstGeom>
            </p:spPr>
          </p:pic>
          <p:pic>
            <p:nvPicPr>
              <p:cNvPr id="23" name="图形 65" descr="盒子">
                <a:extLst>
                  <a:ext uri="{FF2B5EF4-FFF2-40B4-BE49-F238E27FC236}">
                    <a16:creationId xmlns="" xmlns:a16="http://schemas.microsoft.com/office/drawing/2014/main" id="{BB468FF4-9669-44D7-B0F7-39BADF14D68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7409661" y="2891539"/>
                <a:ext cx="575178" cy="575178"/>
              </a:xfrm>
              <a:prstGeom prst="rect">
                <a:avLst/>
              </a:prstGeom>
            </p:spPr>
          </p:pic>
          <p:pic>
            <p:nvPicPr>
              <p:cNvPr id="24" name="图形 66" descr="钱">
                <a:extLst>
                  <a:ext uri="{FF2B5EF4-FFF2-40B4-BE49-F238E27FC236}">
                    <a16:creationId xmlns="" xmlns:a16="http://schemas.microsoft.com/office/drawing/2014/main" id="{176F9920-0C47-4C52-AA1B-A336F249884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409661" y="3937638"/>
                <a:ext cx="575178" cy="575178"/>
              </a:xfrm>
              <a:prstGeom prst="rect">
                <a:avLst/>
              </a:prstGeom>
            </p:spPr>
          </p:pic>
        </p:grpSp>
        <p:cxnSp>
          <p:nvCxnSpPr>
            <p:cNvPr id="13" name="连接符: 曲线 51">
              <a:extLst>
                <a:ext uri="{FF2B5EF4-FFF2-40B4-BE49-F238E27FC236}">
                  <a16:creationId xmlns="" xmlns:a16="http://schemas.microsoft.com/office/drawing/2014/main" id="{521F13B9-1F7C-4B66-B541-8AB5BFF6CBF1}"/>
                </a:ext>
              </a:extLst>
            </p:cNvPr>
            <p:cNvCxnSpPr>
              <a:cxnSpLocks/>
              <a:stCxn id="31" idx="2"/>
              <a:endCxn id="40" idx="2"/>
            </p:cNvCxnSpPr>
            <p:nvPr/>
          </p:nvCxnSpPr>
          <p:spPr>
            <a:xfrm rot="5400000">
              <a:off x="4791472" y="2965395"/>
              <a:ext cx="12700" cy="2681722"/>
            </a:xfrm>
            <a:prstGeom prst="curvedConnector3">
              <a:avLst>
                <a:gd name="adj1" fmla="val 1800000"/>
              </a:avLst>
            </a:prstGeom>
            <a:ln w="57150">
              <a:solidFill>
                <a:schemeClr val="accent4">
                  <a:lumMod val="50000"/>
                </a:schemeClr>
              </a:solidFill>
              <a:tailEnd type="stealth" w="lg" len="lg"/>
            </a:ln>
          </p:spPr>
          <p:style>
            <a:lnRef idx="3">
              <a:schemeClr val="accent1"/>
            </a:lnRef>
            <a:fillRef idx="0">
              <a:schemeClr val="accent1"/>
            </a:fillRef>
            <a:effectRef idx="2">
              <a:schemeClr val="accent1"/>
            </a:effectRef>
            <a:fontRef idx="minor">
              <a:schemeClr val="tx1"/>
            </a:fontRef>
          </p:style>
        </p:cxnSp>
        <p:cxnSp>
          <p:nvCxnSpPr>
            <p:cNvPr id="14" name="连接符: 曲线 55">
              <a:extLst>
                <a:ext uri="{FF2B5EF4-FFF2-40B4-BE49-F238E27FC236}">
                  <a16:creationId xmlns="" xmlns:a16="http://schemas.microsoft.com/office/drawing/2014/main" id="{733CFD65-C4C5-4DE4-86E4-E3ADA207590C}"/>
                </a:ext>
              </a:extLst>
            </p:cNvPr>
            <p:cNvCxnSpPr>
              <a:cxnSpLocks/>
              <a:stCxn id="28" idx="3"/>
              <a:endCxn id="37" idx="0"/>
            </p:cNvCxnSpPr>
            <p:nvPr/>
          </p:nvCxnSpPr>
          <p:spPr>
            <a:xfrm>
              <a:off x="6589533" y="979529"/>
              <a:ext cx="2215218" cy="2118569"/>
            </a:xfrm>
            <a:prstGeom prst="curvedConnector2">
              <a:avLst/>
            </a:prstGeom>
            <a:ln w="57150">
              <a:solidFill>
                <a:schemeClr val="accent5">
                  <a:lumMod val="75000"/>
                </a:schemeClr>
              </a:solidFill>
              <a:tailEnd type="stealth" w="lg" len="lg"/>
            </a:ln>
          </p:spPr>
          <p:style>
            <a:lnRef idx="3">
              <a:schemeClr val="accent1"/>
            </a:lnRef>
            <a:fillRef idx="0">
              <a:schemeClr val="accent1"/>
            </a:fillRef>
            <a:effectRef idx="2">
              <a:schemeClr val="accent1"/>
            </a:effectRef>
            <a:fontRef idx="minor">
              <a:schemeClr val="tx1"/>
            </a:fontRef>
          </p:style>
        </p:cxnSp>
        <p:sp>
          <p:nvSpPr>
            <p:cNvPr id="15" name="文本框 56">
              <a:extLst>
                <a:ext uri="{FF2B5EF4-FFF2-40B4-BE49-F238E27FC236}">
                  <a16:creationId xmlns="" xmlns:a16="http://schemas.microsoft.com/office/drawing/2014/main" id="{CC85F691-7738-4320-A29A-42A85042115B}"/>
                </a:ext>
              </a:extLst>
            </p:cNvPr>
            <p:cNvSpPr txBox="1"/>
            <p:nvPr/>
          </p:nvSpPr>
          <p:spPr>
            <a:xfrm>
              <a:off x="3969538" y="4661916"/>
              <a:ext cx="1415772" cy="461665"/>
            </a:xfrm>
            <a:prstGeom prst="rect">
              <a:avLst/>
            </a:prstGeom>
            <a:noFill/>
          </p:spPr>
          <p:txBody>
            <a:bodyPr wrap="none" rtlCol="0">
              <a:spAutoFit/>
            </a:bodyPr>
            <a:lstStyle/>
            <a:p>
              <a:r>
                <a:rPr lang="zh-CN" altLang="en-US" sz="2400" b="1" dirty="0"/>
                <a:t>商品溯源</a:t>
              </a:r>
            </a:p>
          </p:txBody>
        </p:sp>
        <p:sp>
          <p:nvSpPr>
            <p:cNvPr id="16" name="文本框 57">
              <a:extLst>
                <a:ext uri="{FF2B5EF4-FFF2-40B4-BE49-F238E27FC236}">
                  <a16:creationId xmlns="" xmlns:a16="http://schemas.microsoft.com/office/drawing/2014/main" id="{D4F7842E-F0E1-4529-90A8-457172C9E1D5}"/>
                </a:ext>
              </a:extLst>
            </p:cNvPr>
            <p:cNvSpPr txBox="1"/>
            <p:nvPr/>
          </p:nvSpPr>
          <p:spPr>
            <a:xfrm rot="2700000">
              <a:off x="7742387" y="1301793"/>
              <a:ext cx="1415772" cy="461665"/>
            </a:xfrm>
            <a:prstGeom prst="rect">
              <a:avLst/>
            </a:prstGeom>
            <a:noFill/>
          </p:spPr>
          <p:txBody>
            <a:bodyPr wrap="none" rtlCol="0">
              <a:spAutoFit/>
            </a:bodyPr>
            <a:lstStyle/>
            <a:p>
              <a:r>
                <a:rPr lang="zh-CN" altLang="en-US" sz="2400" b="1" dirty="0"/>
                <a:t>捐款追踪</a:t>
              </a:r>
            </a:p>
          </p:txBody>
        </p:sp>
        <p:cxnSp>
          <p:nvCxnSpPr>
            <p:cNvPr id="17" name="连接符: 曲线 58">
              <a:extLst>
                <a:ext uri="{FF2B5EF4-FFF2-40B4-BE49-F238E27FC236}">
                  <a16:creationId xmlns="" xmlns:a16="http://schemas.microsoft.com/office/drawing/2014/main" id="{4ABDD321-C87A-4291-8FDD-DEB9271A5783}"/>
                </a:ext>
              </a:extLst>
            </p:cNvPr>
            <p:cNvCxnSpPr>
              <a:cxnSpLocks/>
              <a:stCxn id="28" idx="1"/>
              <a:endCxn id="30" idx="1"/>
            </p:cNvCxnSpPr>
            <p:nvPr/>
          </p:nvCxnSpPr>
          <p:spPr>
            <a:xfrm rot="10800000" flipV="1">
              <a:off x="5675133" y="979528"/>
              <a:ext cx="12700" cy="2575769"/>
            </a:xfrm>
            <a:prstGeom prst="curvedConnector3">
              <a:avLst>
                <a:gd name="adj1" fmla="val 2640000"/>
              </a:avLst>
            </a:prstGeom>
            <a:ln w="57150">
              <a:solidFill>
                <a:schemeClr val="accent2">
                  <a:lumMod val="75000"/>
                </a:schemeClr>
              </a:solidFill>
              <a:headEnd type="stealth" w="lg" len="med"/>
              <a:tailEnd type="stealth" w="lg" len="med"/>
            </a:ln>
          </p:spPr>
          <p:style>
            <a:lnRef idx="3">
              <a:schemeClr val="accent1"/>
            </a:lnRef>
            <a:fillRef idx="0">
              <a:schemeClr val="accent1"/>
            </a:fillRef>
            <a:effectRef idx="2">
              <a:schemeClr val="accent1"/>
            </a:effectRef>
            <a:fontRef idx="minor">
              <a:schemeClr val="tx1"/>
            </a:fontRef>
          </p:style>
        </p:cxnSp>
        <p:cxnSp>
          <p:nvCxnSpPr>
            <p:cNvPr id="18" name="连接符: 曲线 59">
              <a:extLst>
                <a:ext uri="{FF2B5EF4-FFF2-40B4-BE49-F238E27FC236}">
                  <a16:creationId xmlns="" xmlns:a16="http://schemas.microsoft.com/office/drawing/2014/main" id="{858477DC-E7F7-4C7A-A1F5-5A47D083F737}"/>
                </a:ext>
              </a:extLst>
            </p:cNvPr>
            <p:cNvCxnSpPr>
              <a:cxnSpLocks/>
              <a:stCxn id="39" idx="0"/>
              <a:endCxn id="30" idx="0"/>
            </p:cNvCxnSpPr>
            <p:nvPr/>
          </p:nvCxnSpPr>
          <p:spPr>
            <a:xfrm rot="5400000" flipH="1" flipV="1">
              <a:off x="4791470" y="1757235"/>
              <a:ext cx="12700" cy="2681726"/>
            </a:xfrm>
            <a:prstGeom prst="curvedConnector3">
              <a:avLst>
                <a:gd name="adj1" fmla="val 2280000"/>
              </a:avLst>
            </a:prstGeom>
            <a:ln w="57150">
              <a:solidFill>
                <a:schemeClr val="accent2">
                  <a:lumMod val="75000"/>
                </a:schemeClr>
              </a:solidFill>
              <a:headEnd type="stealth" w="lg" len="med"/>
              <a:tailEnd type="stealth" w="lg" len="med"/>
            </a:ln>
          </p:spPr>
          <p:style>
            <a:lnRef idx="3">
              <a:schemeClr val="accent1"/>
            </a:lnRef>
            <a:fillRef idx="0">
              <a:schemeClr val="accent1"/>
            </a:fillRef>
            <a:effectRef idx="2">
              <a:schemeClr val="accent1"/>
            </a:effectRef>
            <a:fontRef idx="minor">
              <a:schemeClr val="tx1"/>
            </a:fontRef>
          </p:style>
        </p:cxnSp>
        <p:sp>
          <p:nvSpPr>
            <p:cNvPr id="19" name="文本框 60">
              <a:extLst>
                <a:ext uri="{FF2B5EF4-FFF2-40B4-BE49-F238E27FC236}">
                  <a16:creationId xmlns="" xmlns:a16="http://schemas.microsoft.com/office/drawing/2014/main" id="{B520D773-006E-4195-8FB9-CF2E30BCB842}"/>
                </a:ext>
              </a:extLst>
            </p:cNvPr>
            <p:cNvSpPr txBox="1"/>
            <p:nvPr/>
          </p:nvSpPr>
          <p:spPr>
            <a:xfrm>
              <a:off x="3770589" y="2016988"/>
              <a:ext cx="1415772" cy="461665"/>
            </a:xfrm>
            <a:prstGeom prst="rect">
              <a:avLst/>
            </a:prstGeom>
            <a:noFill/>
          </p:spPr>
          <p:txBody>
            <a:bodyPr wrap="none" rtlCol="0">
              <a:spAutoFit/>
            </a:bodyPr>
            <a:lstStyle/>
            <a:p>
              <a:r>
                <a:rPr lang="zh-CN" altLang="en-US" sz="2400" b="1" dirty="0"/>
                <a:t>交易记账</a:t>
              </a:r>
            </a:p>
          </p:txBody>
        </p:sp>
        <p:cxnSp>
          <p:nvCxnSpPr>
            <p:cNvPr id="20" name="连接符: 曲线 61">
              <a:extLst>
                <a:ext uri="{FF2B5EF4-FFF2-40B4-BE49-F238E27FC236}">
                  <a16:creationId xmlns="" xmlns:a16="http://schemas.microsoft.com/office/drawing/2014/main" id="{524364A9-1F73-4C11-8386-48D6AF3A4E42}"/>
                </a:ext>
              </a:extLst>
            </p:cNvPr>
            <p:cNvCxnSpPr>
              <a:stCxn id="31" idx="2"/>
              <a:endCxn id="30" idx="3"/>
            </p:cNvCxnSpPr>
            <p:nvPr/>
          </p:nvCxnSpPr>
          <p:spPr>
            <a:xfrm rot="5400000" flipH="1" flipV="1">
              <a:off x="5985454" y="3702177"/>
              <a:ext cx="750958" cy="457200"/>
            </a:xfrm>
            <a:prstGeom prst="curvedConnector4">
              <a:avLst>
                <a:gd name="adj1" fmla="val -30441"/>
                <a:gd name="adj2" fmla="val 171172"/>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7848585"/>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LC.BRev.FY97">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400" b="1" i="0" u="none" strike="noStrike" cap="none" normalizeH="0" baseline="0" smtClean="0">
            <a:ln>
              <a:noFill/>
            </a:ln>
            <a:solidFill>
              <a:schemeClr val="tx1"/>
            </a:solidFill>
            <a:effectLst/>
            <a:latin typeface="Arial" panose="0208060402020202020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400" b="1" i="0" u="none" strike="noStrike" cap="none" normalizeH="0" baseline="0" smtClean="0">
            <a:ln>
              <a:noFill/>
            </a:ln>
            <a:solidFill>
              <a:schemeClr val="tx1"/>
            </a:solidFill>
            <a:effectLst/>
            <a:latin typeface="Arial" panose="02080604020202020204"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9953</TotalTime>
  <Words>860</Words>
  <Application>Microsoft Office PowerPoint</Application>
  <PresentationFormat>全屏显示(4:3)</PresentationFormat>
  <Paragraphs>127</Paragraphs>
  <Slides>24</Slides>
  <Notes>11</Notes>
  <HiddenSlides>0</HiddenSlides>
  <MMClips>0</MMClips>
  <ScaleCrop>false</ScaleCrop>
  <HeadingPairs>
    <vt:vector size="4" baseType="variant">
      <vt:variant>
        <vt:lpstr>主题</vt:lpstr>
      </vt:variant>
      <vt:variant>
        <vt:i4>2</vt:i4>
      </vt:variant>
      <vt:variant>
        <vt:lpstr>幻灯片标题</vt:lpstr>
      </vt:variant>
      <vt:variant>
        <vt:i4>24</vt:i4>
      </vt:variant>
    </vt:vector>
  </HeadingPairs>
  <TitlesOfParts>
    <vt:vector size="26" baseType="lpstr">
      <vt:lpstr>LC.BRev.FY97</vt:lpstr>
      <vt:lpstr>1_LC.BRev.FY97</vt:lpstr>
      <vt:lpstr>区块链基础知识</vt:lpstr>
      <vt:lpstr>PowerPoint 演示文稿</vt:lpstr>
      <vt:lpstr>PowerPoint 演示文稿</vt:lpstr>
      <vt:lpstr>PowerPoint 演示文稿</vt:lpstr>
      <vt:lpstr>信任</vt:lpstr>
      <vt:lpstr>信任</vt:lpstr>
      <vt:lpstr>生产力 vs 生产关系</vt:lpstr>
      <vt:lpstr>类型</vt:lpstr>
      <vt:lpstr>区块链架构</vt:lpstr>
      <vt:lpstr>区块链架构---数据层</vt:lpstr>
      <vt:lpstr>区块链架构---网络层</vt:lpstr>
      <vt:lpstr>区块链架构---共识层</vt:lpstr>
      <vt:lpstr>区块链架构---共识层</vt:lpstr>
      <vt:lpstr>区块链架构---激励层</vt:lpstr>
      <vt:lpstr>区块链架构---合约层</vt:lpstr>
      <vt:lpstr>区块链架构---合约层</vt:lpstr>
      <vt:lpstr>区块链架构---应用层</vt:lpstr>
      <vt:lpstr>区块链架构---应用层</vt:lpstr>
      <vt:lpstr>区块链架构---应用层</vt:lpstr>
      <vt:lpstr>区块链架构---应用层</vt:lpstr>
      <vt:lpstr>区块链架构---应用层</vt:lpstr>
      <vt:lpstr>区块链架构---应用层</vt:lpstr>
      <vt:lpstr>区块链架构---应用层</vt:lpstr>
      <vt:lpstr>区块链架构---应用层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 li</dc:creator>
  <cp:lastModifiedBy>Lenovo</cp:lastModifiedBy>
  <cp:revision>1002</cp:revision>
  <cp:lastPrinted>2018-07-21T02:34:42Z</cp:lastPrinted>
  <dcterms:created xsi:type="dcterms:W3CDTF">2017-11-06T09:09:30Z</dcterms:created>
  <dcterms:modified xsi:type="dcterms:W3CDTF">2025-06-27T06:08:18Z</dcterms:modified>
</cp:coreProperties>
</file>